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90" r:id="rId1"/>
  </p:sldMasterIdLst>
  <p:notesMasterIdLst>
    <p:notesMasterId r:id="rId71"/>
  </p:notesMasterIdLst>
  <p:handoutMasterIdLst>
    <p:handoutMasterId r:id="rId72"/>
  </p:handoutMasterIdLst>
  <p:sldIdLst>
    <p:sldId id="937" r:id="rId2"/>
    <p:sldId id="879" r:id="rId3"/>
    <p:sldId id="920" r:id="rId4"/>
    <p:sldId id="856" r:id="rId5"/>
    <p:sldId id="880" r:id="rId6"/>
    <p:sldId id="881" r:id="rId7"/>
    <p:sldId id="858" r:id="rId8"/>
    <p:sldId id="859" r:id="rId9"/>
    <p:sldId id="882" r:id="rId10"/>
    <p:sldId id="883" r:id="rId11"/>
    <p:sldId id="910" r:id="rId12"/>
    <p:sldId id="884" r:id="rId13"/>
    <p:sldId id="885" r:id="rId14"/>
    <p:sldId id="886" r:id="rId15"/>
    <p:sldId id="889" r:id="rId16"/>
    <p:sldId id="908" r:id="rId17"/>
    <p:sldId id="909" r:id="rId18"/>
    <p:sldId id="887" r:id="rId19"/>
    <p:sldId id="749" r:id="rId20"/>
    <p:sldId id="863" r:id="rId21"/>
    <p:sldId id="890" r:id="rId22"/>
    <p:sldId id="903" r:id="rId23"/>
    <p:sldId id="891" r:id="rId24"/>
    <p:sldId id="907" r:id="rId25"/>
    <p:sldId id="917" r:id="rId26"/>
    <p:sldId id="808" r:id="rId27"/>
    <p:sldId id="864" r:id="rId28"/>
    <p:sldId id="811" r:id="rId29"/>
    <p:sldId id="923" r:id="rId30"/>
    <p:sldId id="916" r:id="rId31"/>
    <p:sldId id="913" r:id="rId32"/>
    <p:sldId id="914" r:id="rId33"/>
    <p:sldId id="911" r:id="rId34"/>
    <p:sldId id="888" r:id="rId35"/>
    <p:sldId id="719" r:id="rId36"/>
    <p:sldId id="781" r:id="rId37"/>
    <p:sldId id="892" r:id="rId38"/>
    <p:sldId id="787" r:id="rId39"/>
    <p:sldId id="893" r:id="rId40"/>
    <p:sldId id="894" r:id="rId41"/>
    <p:sldId id="905" r:id="rId42"/>
    <p:sldId id="895" r:id="rId43"/>
    <p:sldId id="896" r:id="rId44"/>
    <p:sldId id="897" r:id="rId45"/>
    <p:sldId id="912" r:id="rId46"/>
    <p:sldId id="898" r:id="rId47"/>
    <p:sldId id="921" r:id="rId48"/>
    <p:sldId id="899" r:id="rId49"/>
    <p:sldId id="900" r:id="rId50"/>
    <p:sldId id="901" r:id="rId51"/>
    <p:sldId id="919" r:id="rId52"/>
    <p:sldId id="915" r:id="rId53"/>
    <p:sldId id="926" r:id="rId54"/>
    <p:sldId id="924" r:id="rId55"/>
    <p:sldId id="918" r:id="rId56"/>
    <p:sldId id="925" r:id="rId57"/>
    <p:sldId id="928" r:id="rId58"/>
    <p:sldId id="927" r:id="rId59"/>
    <p:sldId id="929" r:id="rId60"/>
    <p:sldId id="930" r:id="rId61"/>
    <p:sldId id="931" r:id="rId62"/>
    <p:sldId id="932" r:id="rId63"/>
    <p:sldId id="933" r:id="rId64"/>
    <p:sldId id="934" r:id="rId65"/>
    <p:sldId id="935" r:id="rId66"/>
    <p:sldId id="936" r:id="rId67"/>
    <p:sldId id="877" r:id="rId68"/>
    <p:sldId id="922" r:id="rId69"/>
    <p:sldId id="906"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51" userDrawn="1">
          <p15:clr>
            <a:srgbClr val="A4A3A4"/>
          </p15:clr>
        </p15:guide>
        <p15:guide id="2" pos="6743"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41" autoAdjust="0"/>
    <p:restoredTop sz="82784" autoAdjust="0"/>
  </p:normalViewPr>
  <p:slideViewPr>
    <p:cSldViewPr showGuides="1">
      <p:cViewPr varScale="1">
        <p:scale>
          <a:sx n="127" d="100"/>
          <a:sy n="127" d="100"/>
        </p:scale>
        <p:origin x="1824" y="184"/>
      </p:cViewPr>
      <p:guideLst>
        <p:guide orient="horz" pos="1551"/>
        <p:guide pos="67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48"/>
    </p:cViewPr>
  </p:sorterViewPr>
  <p:notesViewPr>
    <p:cSldViewPr snapToGrid="0" snapToObjects="1" showGuides="1">
      <p:cViewPr varScale="1">
        <p:scale>
          <a:sx n="93" d="100"/>
          <a:sy n="93" d="100"/>
        </p:scale>
        <p:origin x="-2936"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66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200">
                <a:latin typeface="Times" charset="0"/>
              </a:defRPr>
            </a:lvl1pPr>
          </a:lstStyle>
          <a:p>
            <a:endParaRPr lang="en-US"/>
          </a:p>
        </p:txBody>
      </p:sp>
      <p:sp>
        <p:nvSpPr>
          <p:cNvPr id="19661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200">
                <a:latin typeface="Times" charset="0"/>
              </a:defRPr>
            </a:lvl1pPr>
          </a:lstStyle>
          <a:p>
            <a:endParaRPr lang="en-US"/>
          </a:p>
        </p:txBody>
      </p:sp>
      <p:sp>
        <p:nvSpPr>
          <p:cNvPr id="19661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defRPr sz="1200">
                <a:latin typeface="Times" charset="0"/>
              </a:defRPr>
            </a:lvl1pPr>
          </a:lstStyle>
          <a:p>
            <a:endParaRPr lang="en-US"/>
          </a:p>
        </p:txBody>
      </p:sp>
      <p:sp>
        <p:nvSpPr>
          <p:cNvPr id="19661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r">
              <a:defRPr sz="1200">
                <a:latin typeface="Times" charset="0"/>
              </a:defRPr>
            </a:lvl1pPr>
          </a:lstStyle>
          <a:p>
            <a:fld id="{207565E4-7364-D745-8DE7-F35B18504395}" type="slidenum">
              <a:rPr lang="en-US"/>
              <a:pPr/>
              <a:t>‹#›</a:t>
            </a:fld>
            <a:endParaRPr lang="en-US"/>
          </a:p>
        </p:txBody>
      </p:sp>
    </p:spTree>
    <p:extLst>
      <p:ext uri="{BB962C8B-B14F-4D97-AF65-F5344CB8AC3E}">
        <p14:creationId xmlns:p14="http://schemas.microsoft.com/office/powerpoint/2010/main" val="15248211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200">
                <a:latin typeface="Times" charset="0"/>
              </a:defRPr>
            </a:lvl1pPr>
          </a:lstStyle>
          <a:p>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200">
                <a:latin typeface="Times" charset="0"/>
              </a:defRPr>
            </a:lvl1pPr>
          </a:lstStyle>
          <a:p>
            <a:endParaRPr lang="en-US"/>
          </a:p>
        </p:txBody>
      </p:sp>
      <p:sp>
        <p:nvSpPr>
          <p:cNvPr id="41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defRPr sz="1200">
                <a:latin typeface="Times" charset="0"/>
              </a:defRPr>
            </a:lvl1pPr>
          </a:lstStyle>
          <a:p>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r">
              <a:defRPr sz="1200">
                <a:latin typeface="Times" charset="0"/>
              </a:defRPr>
            </a:lvl1pPr>
          </a:lstStyle>
          <a:p>
            <a:fld id="{8ADD7956-AF07-4444-94C5-9D1D5FBA9C0F}" type="slidenum">
              <a:rPr lang="en-US"/>
              <a:pPr/>
              <a:t>‹#›</a:t>
            </a:fld>
            <a:endParaRPr lang="en-US"/>
          </a:p>
        </p:txBody>
      </p:sp>
    </p:spTree>
    <p:extLst>
      <p:ext uri="{BB962C8B-B14F-4D97-AF65-F5344CB8AC3E}">
        <p14:creationId xmlns:p14="http://schemas.microsoft.com/office/powerpoint/2010/main" val="1745083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FontTx/>
      <a:buNone/>
      <a:defRPr sz="1200" kern="1200">
        <a:solidFill>
          <a:schemeClr val="tx1"/>
        </a:solidFill>
        <a:latin typeface="Verdana"/>
        <a:ea typeface="ＭＳ Ｐゴシック" charset="0"/>
        <a:cs typeface="Verdana"/>
      </a:defRPr>
    </a:lvl1pPr>
    <a:lvl2pPr marL="4572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2pPr>
    <a:lvl3pPr marL="9144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3pPr>
    <a:lvl4pPr marL="13716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4pPr>
    <a:lvl5pPr marL="18288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when</a:t>
            </a:r>
            <a:r>
              <a:rPr lang="en-US" baseline="0" dirty="0"/>
              <a:t> a bridge fails or a plane crashes, there’s an investigation, with findings made public</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aseline="0" dirty="0"/>
              <a:t>when software fails?</a:t>
            </a:r>
            <a:endParaRPr lang="en-US" dirty="0"/>
          </a:p>
          <a:p>
            <a:pPr marL="171450" indent="-171450">
              <a:buFontTx/>
              <a:buChar char="-"/>
            </a:pPr>
            <a:endParaRPr lang="en-US" dirty="0"/>
          </a:p>
          <a:p>
            <a:r>
              <a:rPr lang="en-US" dirty="0"/>
              <a:t>Standish 1995 survey of 350 companies and 8000 projects</a:t>
            </a:r>
          </a:p>
          <a:p>
            <a:endParaRPr lang="en-US" dirty="0"/>
          </a:p>
          <a:p>
            <a:r>
              <a:rPr lang="en-US" dirty="0"/>
              <a:t>developers not talking enough with users</a:t>
            </a:r>
          </a:p>
          <a:p>
            <a:r>
              <a:rPr lang="en-US" dirty="0"/>
              <a:t>-</a:t>
            </a:r>
            <a:r>
              <a:rPr lang="en-US" baseline="0" dirty="0"/>
              <a:t> end up having developers developing what they want, not what users want</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3</a:t>
            </a:fld>
            <a:endParaRPr lang="en-US"/>
          </a:p>
        </p:txBody>
      </p:sp>
    </p:spTree>
    <p:extLst>
      <p:ext uri="{BB962C8B-B14F-4D97-AF65-F5344CB8AC3E}">
        <p14:creationId xmlns:p14="http://schemas.microsoft.com/office/powerpoint/2010/main" val="2937287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written in natural English</a:t>
            </a:r>
            <a:r>
              <a:rPr lang="en-US" baseline="0" dirty="0"/>
              <a:t>, but structured</a:t>
            </a:r>
          </a:p>
          <a:p>
            <a:endParaRPr lang="en-US" baseline="0" dirty="0"/>
          </a:p>
          <a:p>
            <a:r>
              <a:rPr lang="en-US" baseline="0" dirty="0"/>
              <a:t>focus on these three</a:t>
            </a:r>
          </a:p>
          <a:p>
            <a:endParaRPr lang="en-US" baseline="0" dirty="0"/>
          </a:p>
          <a:p>
            <a:r>
              <a:rPr lang="en-US" baseline="0" dirty="0"/>
              <a:t>user requirement</a:t>
            </a:r>
          </a:p>
          <a:p>
            <a:pPr marL="171450" indent="-171450">
              <a:buFontTx/>
              <a:buChar char="-"/>
            </a:pPr>
            <a:r>
              <a:rPr lang="en-US" baseline="0" dirty="0"/>
              <a:t>use cases for step by step tasks</a:t>
            </a:r>
          </a:p>
          <a:p>
            <a:pPr marL="171450" indent="-171450">
              <a:buFontTx/>
              <a:buChar char="-"/>
            </a:pPr>
            <a:r>
              <a:rPr lang="en-US" baseline="0" dirty="0"/>
              <a:t>user stories sometimes</a:t>
            </a:r>
          </a:p>
          <a:p>
            <a:pPr marL="0" indent="0">
              <a:buFontTx/>
              <a:buNone/>
            </a:pPr>
            <a:endParaRPr lang="en-US" baseline="0" dirty="0"/>
          </a:p>
          <a:p>
            <a:pPr marL="0" indent="0">
              <a:buFontTx/>
              <a:buNone/>
            </a:pPr>
            <a:r>
              <a:rPr lang="en-US" baseline="0" dirty="0"/>
              <a:t>functional requirements</a:t>
            </a:r>
          </a:p>
          <a:p>
            <a:pPr marL="171450" indent="-171450">
              <a:buFontTx/>
              <a:buChar char="-"/>
            </a:pPr>
            <a:r>
              <a:rPr lang="en-US" baseline="0" dirty="0"/>
              <a:t>user stories for features</a:t>
            </a:r>
          </a:p>
          <a:p>
            <a:pPr marL="171450" indent="-171450">
              <a:buFontTx/>
              <a:buChar char="-"/>
            </a:pPr>
            <a:r>
              <a:rPr lang="en-US" baseline="0" dirty="0"/>
              <a:t>model behavior using state machines</a:t>
            </a:r>
            <a:endParaRPr lang="en-US" dirty="0"/>
          </a:p>
          <a:p>
            <a:endParaRPr lang="en-US" dirty="0"/>
          </a:p>
          <a:p>
            <a:r>
              <a:rPr lang="en-US" baseline="0" dirty="0"/>
              <a:t>security</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4</a:t>
            </a:fld>
            <a:endParaRPr lang="en-US"/>
          </a:p>
        </p:txBody>
      </p:sp>
    </p:spTree>
    <p:extLst>
      <p:ext uri="{BB962C8B-B14F-4D97-AF65-F5344CB8AC3E}">
        <p14:creationId xmlns:p14="http://schemas.microsoft.com/office/powerpoint/2010/main" val="476483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5</a:t>
            </a:fld>
            <a:endParaRPr lang="en-US"/>
          </a:p>
        </p:txBody>
      </p:sp>
    </p:spTree>
    <p:extLst>
      <p:ext uri="{BB962C8B-B14F-4D97-AF65-F5344CB8AC3E}">
        <p14:creationId xmlns:p14="http://schemas.microsoft.com/office/powerpoint/2010/main" val="4256654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easier said than done</a:t>
            </a:r>
          </a:p>
          <a:p>
            <a:endParaRPr lang="en-US" dirty="0"/>
          </a:p>
          <a:p>
            <a:r>
              <a:rPr lang="en-US" dirty="0"/>
              <a:t>better</a:t>
            </a:r>
            <a:r>
              <a:rPr lang="en-US" baseline="0" dirty="0"/>
              <a:t> to be specific</a:t>
            </a:r>
          </a:p>
          <a:p>
            <a:pPr marL="171450" indent="-171450">
              <a:buFontTx/>
              <a:buChar char="-"/>
            </a:pPr>
            <a:r>
              <a:rPr lang="en-US" baseline="0" dirty="0"/>
              <a:t>if too vague, it leaves decisions up to the developers, allowing them to build whatever they want to build (which may not satisfy the users)</a:t>
            </a:r>
          </a:p>
          <a:p>
            <a:pPr marL="171450" indent="-171450">
              <a:buFontTx/>
              <a:buChar char="-"/>
            </a:pPr>
            <a:endParaRPr lang="en-US" baseline="0" dirty="0"/>
          </a:p>
          <a:p>
            <a:pPr marL="0" indent="0">
              <a:buFontTx/>
              <a:buNone/>
            </a:pPr>
            <a:r>
              <a:rPr lang="en-US" baseline="0" dirty="0"/>
              <a:t>SMART</a:t>
            </a:r>
          </a:p>
          <a:p>
            <a:pPr marL="171450" indent="-171450">
              <a:buFontTx/>
              <a:buChar char="-"/>
            </a:pPr>
            <a:r>
              <a:rPr lang="en-US" baseline="0" dirty="0"/>
              <a:t>specific</a:t>
            </a:r>
          </a:p>
          <a:p>
            <a:pPr marL="171450" indent="-171450">
              <a:buFontTx/>
              <a:buChar char="-"/>
            </a:pPr>
            <a:r>
              <a:rPr lang="en-US" baseline="0" dirty="0"/>
              <a:t>measurable</a:t>
            </a:r>
          </a:p>
          <a:p>
            <a:pPr marL="171450" indent="-171450">
              <a:buFontTx/>
              <a:buChar char="-"/>
            </a:pPr>
            <a:r>
              <a:rPr lang="en-US" baseline="0" dirty="0"/>
              <a:t>achievable</a:t>
            </a:r>
          </a:p>
          <a:p>
            <a:pPr marL="171450" indent="-171450">
              <a:buFontTx/>
              <a:buChar char="-"/>
            </a:pPr>
            <a:r>
              <a:rPr lang="en-US" baseline="0" dirty="0"/>
              <a:t>realistic/relevant</a:t>
            </a:r>
          </a:p>
          <a:p>
            <a:pPr marL="171450" indent="-171450">
              <a:buFontTx/>
              <a:buChar char="-"/>
            </a:pPr>
            <a:r>
              <a:rPr lang="en-US" baseline="0" dirty="0"/>
              <a:t>timely/time-bound</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7</a:t>
            </a:fld>
            <a:endParaRPr lang="en-US"/>
          </a:p>
        </p:txBody>
      </p:sp>
    </p:spTree>
    <p:extLst>
      <p:ext uri="{BB962C8B-B14F-4D97-AF65-F5344CB8AC3E}">
        <p14:creationId xmlns:p14="http://schemas.microsoft.com/office/powerpoint/2010/main" val="2338905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number the requirements for easier cross referencing in tasks, change logs, system documentation</a:t>
            </a:r>
          </a:p>
        </p:txBody>
      </p:sp>
      <p:sp>
        <p:nvSpPr>
          <p:cNvPr id="4" name="Slide Number Placeholder 3"/>
          <p:cNvSpPr>
            <a:spLocks noGrp="1"/>
          </p:cNvSpPr>
          <p:nvPr>
            <p:ph type="sldNum" sz="quarter" idx="10"/>
          </p:nvPr>
        </p:nvSpPr>
        <p:spPr/>
        <p:txBody>
          <a:bodyPr/>
          <a:lstStyle/>
          <a:p>
            <a:fld id="{8ADD7956-AF07-4444-94C5-9D1D5FBA9C0F}" type="slidenum">
              <a:rPr lang="en-US" smtClean="0"/>
              <a:pPr/>
              <a:t>8</a:t>
            </a:fld>
            <a:endParaRPr lang="en-US"/>
          </a:p>
        </p:txBody>
      </p:sp>
    </p:spTree>
    <p:extLst>
      <p:ext uri="{BB962C8B-B14F-4D97-AF65-F5344CB8AC3E}">
        <p14:creationId xmlns:p14="http://schemas.microsoft.com/office/powerpoint/2010/main" val="2529100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can we state it better?</a:t>
            </a:r>
          </a:p>
          <a:p>
            <a:endParaRPr lang="en-US" dirty="0"/>
          </a:p>
          <a:p>
            <a:r>
              <a:rPr lang="en-US" dirty="0"/>
              <a:t>usability (learnable, consistent, etc.) is not a quality you can easily verify with a test</a:t>
            </a:r>
          </a:p>
          <a:p>
            <a:pPr marL="171450" indent="-171450">
              <a:buFontTx/>
              <a:buChar char="-"/>
            </a:pPr>
            <a:r>
              <a:rPr lang="en-US" dirty="0"/>
              <a:t>not verifiable, need to validate by involving the user to gain feedback, and possibly through user experiments</a:t>
            </a:r>
          </a:p>
          <a:p>
            <a:pPr marL="0" indent="0">
              <a:buFontTx/>
              <a:buNone/>
            </a:pPr>
            <a:endParaRPr lang="en-US" dirty="0"/>
          </a:p>
          <a:p>
            <a:pPr marL="0" indent="0">
              <a:buFontTx/>
              <a:buNone/>
            </a:pPr>
            <a:r>
              <a:rPr lang="en-US" dirty="0"/>
              <a:t>Google</a:t>
            </a:r>
            <a:r>
              <a:rPr lang="en-US" baseline="0" dirty="0"/>
              <a:t> story</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9</a:t>
            </a:fld>
            <a:endParaRPr lang="en-US"/>
          </a:p>
        </p:txBody>
      </p:sp>
    </p:spTree>
    <p:extLst>
      <p:ext uri="{BB962C8B-B14F-4D97-AF65-F5344CB8AC3E}">
        <p14:creationId xmlns:p14="http://schemas.microsoft.com/office/powerpoint/2010/main" val="1327434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which tasks?</a:t>
            </a:r>
          </a:p>
        </p:txBody>
      </p:sp>
      <p:sp>
        <p:nvSpPr>
          <p:cNvPr id="4" name="Slide Number Placeholder 3"/>
          <p:cNvSpPr>
            <a:spLocks noGrp="1"/>
          </p:cNvSpPr>
          <p:nvPr>
            <p:ph type="sldNum" sz="quarter" idx="10"/>
          </p:nvPr>
        </p:nvSpPr>
        <p:spPr/>
        <p:txBody>
          <a:bodyPr/>
          <a:lstStyle/>
          <a:p>
            <a:fld id="{8ADD7956-AF07-4444-94C5-9D1D5FBA9C0F}" type="slidenum">
              <a:rPr lang="en-US" smtClean="0"/>
              <a:pPr/>
              <a:t>10</a:t>
            </a:fld>
            <a:endParaRPr lang="en-US"/>
          </a:p>
        </p:txBody>
      </p:sp>
    </p:spTree>
    <p:extLst>
      <p:ext uri="{BB962C8B-B14F-4D97-AF65-F5344CB8AC3E}">
        <p14:creationId xmlns:p14="http://schemas.microsoft.com/office/powerpoint/2010/main" val="3707810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what is logged? new state and time of state change</a:t>
            </a:r>
          </a:p>
        </p:txBody>
      </p:sp>
      <p:sp>
        <p:nvSpPr>
          <p:cNvPr id="4" name="Slide Number Placeholder 3"/>
          <p:cNvSpPr>
            <a:spLocks noGrp="1"/>
          </p:cNvSpPr>
          <p:nvPr>
            <p:ph type="sldNum" sz="quarter" idx="10"/>
          </p:nvPr>
        </p:nvSpPr>
        <p:spPr/>
        <p:txBody>
          <a:bodyPr/>
          <a:lstStyle/>
          <a:p>
            <a:fld id="{8ADD7956-AF07-4444-94C5-9D1D5FBA9C0F}" type="slidenum">
              <a:rPr lang="en-US" smtClean="0"/>
              <a:pPr/>
              <a:t>11</a:t>
            </a:fld>
            <a:endParaRPr lang="en-US"/>
          </a:p>
        </p:txBody>
      </p:sp>
    </p:spTree>
    <p:extLst>
      <p:ext uri="{BB962C8B-B14F-4D97-AF65-F5344CB8AC3E}">
        <p14:creationId xmlns:p14="http://schemas.microsoft.com/office/powerpoint/2010/main" val="4047316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policy of post-release defects</a:t>
            </a:r>
          </a:p>
          <a:p>
            <a:endParaRPr lang="en-US" dirty="0"/>
          </a:p>
          <a:p>
            <a:r>
              <a:rPr lang="en-US" dirty="0"/>
              <a:t>end</a:t>
            </a:r>
            <a:r>
              <a:rPr lang="en-US" baseline="0" dirty="0"/>
              <a:t> user license agreements</a:t>
            </a:r>
          </a:p>
          <a:p>
            <a:pPr marL="171450" indent="-171450">
              <a:buFontTx/>
              <a:buChar char="-"/>
            </a:pPr>
            <a:r>
              <a:rPr lang="en-US" baseline="0" dirty="0"/>
              <a:t>disclaimer of warranty</a:t>
            </a:r>
          </a:p>
          <a:p>
            <a:pPr marL="171450" indent="-171450">
              <a:buFontTx/>
              <a:buChar char="-"/>
            </a:pPr>
            <a:r>
              <a:rPr lang="en-US" baseline="0" dirty="0"/>
              <a:t>the software is licensed “as-is”</a:t>
            </a:r>
          </a:p>
          <a:p>
            <a:pPr marL="171450" indent="-171450">
              <a:buFontTx/>
              <a:buChar char="-"/>
            </a:pPr>
            <a:r>
              <a:rPr lang="en-US" baseline="0" dirty="0"/>
              <a:t>the vendor gives no express warranties, guarantees, or conditions</a:t>
            </a:r>
          </a:p>
          <a:p>
            <a:pPr marL="171450" indent="-171450">
              <a:buFontTx/>
              <a:buChar char="-"/>
            </a:pPr>
            <a:r>
              <a:rPr lang="en-US" baseline="0" dirty="0"/>
              <a:t>the vendor excludes implied warranties of merchantability, fitness for a particular purpose, </a:t>
            </a:r>
          </a:p>
          <a:p>
            <a:pPr marL="171450" indent="-171450">
              <a:buFontTx/>
              <a:buChar char="-"/>
            </a:pPr>
            <a:r>
              <a:rPr lang="en-US" baseline="0" dirty="0"/>
              <a:t>(to the extent permitted under local laws)</a:t>
            </a:r>
          </a:p>
          <a:p>
            <a:pPr marL="0" indent="0">
              <a:buFontTx/>
              <a:buNone/>
            </a:pPr>
            <a:endParaRPr lang="en-US" baseline="0" dirty="0"/>
          </a:p>
          <a:p>
            <a:pPr marL="0" indent="0">
              <a:buFontTx/>
              <a:buNone/>
            </a:pPr>
            <a:endParaRPr lang="en-US" baseline="0"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12</a:t>
            </a:fld>
            <a:endParaRPr lang="en-US"/>
          </a:p>
        </p:txBody>
      </p:sp>
    </p:spTree>
    <p:extLst>
      <p:ext uri="{BB962C8B-B14F-4D97-AF65-F5344CB8AC3E}">
        <p14:creationId xmlns:p14="http://schemas.microsoft.com/office/powerpoint/2010/main" val="2199809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might start from a problem</a:t>
            </a:r>
            <a:r>
              <a:rPr lang="en-US" baseline="0" dirty="0"/>
              <a:t> description</a:t>
            </a:r>
          </a:p>
          <a:p>
            <a:endParaRPr lang="en-US" baseline="0" dirty="0"/>
          </a:p>
          <a:p>
            <a:r>
              <a:rPr lang="en-US" baseline="0" dirty="0"/>
              <a:t>formulating the requirements is a shared exercise</a:t>
            </a:r>
          </a:p>
          <a:p>
            <a:pPr marL="171450" indent="-171450">
              <a:buFontTx/>
              <a:buChar char="-"/>
            </a:pPr>
            <a:r>
              <a:rPr lang="en-US" baseline="0" dirty="0"/>
              <a:t>not only the user to specify it</a:t>
            </a:r>
          </a:p>
          <a:p>
            <a:pPr marL="171450" indent="-171450">
              <a:buFontTx/>
              <a:buChar char="-"/>
            </a:pPr>
            <a:r>
              <a:rPr lang="en-US" baseline="0" dirty="0"/>
              <a:t>not only the developer to specify it</a:t>
            </a:r>
            <a:endParaRPr lang="en-US" dirty="0"/>
          </a:p>
          <a:p>
            <a:endParaRPr lang="en-US" baseline="0" dirty="0"/>
          </a:p>
          <a:p>
            <a:r>
              <a:rPr lang="en-US" baseline="0" dirty="0"/>
              <a:t>users and understanding</a:t>
            </a:r>
          </a:p>
          <a:p>
            <a:endParaRPr lang="en-US" baseline="0"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13</a:t>
            </a:fld>
            <a:endParaRPr lang="en-US"/>
          </a:p>
        </p:txBody>
      </p:sp>
    </p:spTree>
    <p:extLst>
      <p:ext uri="{BB962C8B-B14F-4D97-AF65-F5344CB8AC3E}">
        <p14:creationId xmlns:p14="http://schemas.microsoft.com/office/powerpoint/2010/main" val="2333358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stakeholder</a:t>
            </a:r>
          </a:p>
          <a:p>
            <a:pPr marL="171450" indent="-171450">
              <a:buFontTx/>
              <a:buChar char="-"/>
            </a:pPr>
            <a:r>
              <a:rPr lang="en-US" dirty="0"/>
              <a:t>have some stake in the use of the system</a:t>
            </a:r>
          </a:p>
          <a:p>
            <a:pPr marL="0" indent="0">
              <a:buFontTx/>
              <a:buNone/>
            </a:pPr>
            <a:endParaRPr lang="en-US" dirty="0"/>
          </a:p>
          <a:p>
            <a:pPr marL="0" indent="0">
              <a:buFontTx/>
              <a:buNone/>
            </a:pPr>
            <a:r>
              <a:rPr lang="en-US" dirty="0"/>
              <a:t>the “user” you talk to may just be</a:t>
            </a:r>
            <a:r>
              <a:rPr lang="en-US" baseline="0" dirty="0"/>
              <a:t> a manager or owner, not the real user</a:t>
            </a:r>
          </a:p>
          <a:p>
            <a:pPr marL="0" indent="0">
              <a:buFontTx/>
              <a:buNone/>
            </a:pPr>
            <a:endParaRPr lang="en-US" baseline="0" dirty="0"/>
          </a:p>
          <a:p>
            <a:pPr marL="0" indent="0">
              <a:buFontTx/>
              <a:buNone/>
            </a:pPr>
            <a:r>
              <a:rPr lang="en-US" baseline="0" dirty="0"/>
              <a:t>focus on real, representative users</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14</a:t>
            </a:fld>
            <a:endParaRPr lang="en-US"/>
          </a:p>
        </p:txBody>
      </p:sp>
    </p:spTree>
    <p:extLst>
      <p:ext uri="{BB962C8B-B14F-4D97-AF65-F5344CB8AC3E}">
        <p14:creationId xmlns:p14="http://schemas.microsoft.com/office/powerpoint/2010/main" val="25733422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may be knowledgeable</a:t>
            </a:r>
            <a:r>
              <a:rPr lang="en-US" baseline="0" dirty="0"/>
              <a:t> about the domain, but not computers</a:t>
            </a:r>
          </a:p>
          <a:p>
            <a:r>
              <a:rPr lang="en-US" baseline="0" dirty="0"/>
              <a:t>may be knowledgeable about computers, but not the domain</a:t>
            </a:r>
          </a:p>
          <a:p>
            <a:endParaRPr lang="en-US" baseline="0" dirty="0"/>
          </a:p>
          <a:p>
            <a:r>
              <a:rPr lang="en-US" baseline="0" dirty="0"/>
              <a:t>when you handle the extremes of users, you cover the average user</a:t>
            </a:r>
          </a:p>
          <a:p>
            <a:r>
              <a:rPr lang="en-US" baseline="0" dirty="0"/>
              <a:t>don’t only focus on the “average user” (your perceptions may be skewed)</a:t>
            </a:r>
            <a:endParaRPr lang="en-US" dirty="0"/>
          </a:p>
          <a:p>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15</a:t>
            </a:fld>
            <a:endParaRPr lang="en-US"/>
          </a:p>
        </p:txBody>
      </p:sp>
    </p:spTree>
    <p:extLst>
      <p:ext uri="{BB962C8B-B14F-4D97-AF65-F5344CB8AC3E}">
        <p14:creationId xmlns:p14="http://schemas.microsoft.com/office/powerpoint/2010/main" val="2423059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cartoonist</a:t>
            </a:r>
            <a:r>
              <a:rPr lang="en-US" baseline="0" dirty="0"/>
              <a:t> for the New Yorker</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16</a:t>
            </a:fld>
            <a:endParaRPr lang="en-US"/>
          </a:p>
        </p:txBody>
      </p:sp>
    </p:spTree>
    <p:extLst>
      <p:ext uri="{BB962C8B-B14F-4D97-AF65-F5344CB8AC3E}">
        <p14:creationId xmlns:p14="http://schemas.microsoft.com/office/powerpoint/2010/main" val="1760864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also finger strength</a:t>
            </a:r>
          </a:p>
          <a:p>
            <a:endParaRPr lang="en-US" dirty="0"/>
          </a:p>
          <a:p>
            <a:r>
              <a:rPr lang="en-US" dirty="0"/>
              <a:t>social characteristics</a:t>
            </a:r>
          </a:p>
          <a:p>
            <a:r>
              <a:rPr lang="en-US" dirty="0"/>
              <a:t>- </a:t>
            </a:r>
          </a:p>
        </p:txBody>
      </p:sp>
      <p:sp>
        <p:nvSpPr>
          <p:cNvPr id="4" name="Slide Number Placeholder 3"/>
          <p:cNvSpPr>
            <a:spLocks noGrp="1"/>
          </p:cNvSpPr>
          <p:nvPr>
            <p:ph type="sldNum" sz="quarter" idx="10"/>
          </p:nvPr>
        </p:nvSpPr>
        <p:spPr/>
        <p:txBody>
          <a:bodyPr/>
          <a:lstStyle/>
          <a:p>
            <a:fld id="{8ADD7956-AF07-4444-94C5-9D1D5FBA9C0F}" type="slidenum">
              <a:rPr lang="en-US" smtClean="0"/>
              <a:pPr/>
              <a:t>17</a:t>
            </a:fld>
            <a:endParaRPr lang="en-US"/>
          </a:p>
        </p:txBody>
      </p:sp>
    </p:spTree>
    <p:extLst>
      <p:ext uri="{BB962C8B-B14F-4D97-AF65-F5344CB8AC3E}">
        <p14:creationId xmlns:p14="http://schemas.microsoft.com/office/powerpoint/2010/main" val="2423059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users may want late changes</a:t>
            </a:r>
          </a:p>
          <a:p>
            <a:pPr marL="171450" indent="-171450">
              <a:buFontTx/>
              <a:buChar char="-"/>
            </a:pPr>
            <a:r>
              <a:rPr lang="en-US" dirty="0"/>
              <a:t>not always sympathetic to software engineering issues</a:t>
            </a:r>
          </a:p>
          <a:p>
            <a:pPr marL="0" indent="0">
              <a:buFontTx/>
              <a:buNone/>
            </a:pPr>
            <a:endParaRPr lang="en-US" dirty="0"/>
          </a:p>
          <a:p>
            <a:pPr marL="0" indent="0">
              <a:buFontTx/>
              <a:buNone/>
            </a:pP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19</a:t>
            </a:fld>
            <a:endParaRPr lang="en-US"/>
          </a:p>
        </p:txBody>
      </p:sp>
    </p:spTree>
    <p:extLst>
      <p:ext uri="{BB962C8B-B14F-4D97-AF65-F5344CB8AC3E}">
        <p14:creationId xmlns:p14="http://schemas.microsoft.com/office/powerpoint/2010/main" val="4290001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Innovator’s Dilemma</a:t>
            </a:r>
          </a:p>
          <a:p>
            <a:r>
              <a:rPr lang="en-US" dirty="0"/>
              <a:t>- 1997 book by Clayton Christensen, Harvard Business School</a:t>
            </a:r>
          </a:p>
          <a:p>
            <a:endParaRPr lang="en-US" dirty="0"/>
          </a:p>
          <a:p>
            <a:r>
              <a:rPr lang="en-US" dirty="0"/>
              <a:t>sophisticated and complex</a:t>
            </a:r>
          </a:p>
        </p:txBody>
      </p:sp>
      <p:sp>
        <p:nvSpPr>
          <p:cNvPr id="4" name="Slide Number Placeholder 3"/>
          <p:cNvSpPr>
            <a:spLocks noGrp="1"/>
          </p:cNvSpPr>
          <p:nvPr>
            <p:ph type="sldNum" sz="quarter" idx="10"/>
          </p:nvPr>
        </p:nvSpPr>
        <p:spPr/>
        <p:txBody>
          <a:bodyPr/>
          <a:lstStyle/>
          <a:p>
            <a:fld id="{8ADD7956-AF07-4444-94C5-9D1D5FBA9C0F}" type="slidenum">
              <a:rPr lang="en-US" smtClean="0"/>
              <a:pPr/>
              <a:t>20</a:t>
            </a:fld>
            <a:endParaRPr lang="en-US"/>
          </a:p>
        </p:txBody>
      </p:sp>
    </p:spTree>
    <p:extLst>
      <p:ext uri="{BB962C8B-B14F-4D97-AF65-F5344CB8AC3E}">
        <p14:creationId xmlns:p14="http://schemas.microsoft.com/office/powerpoint/2010/main" val="5841806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sustaining</a:t>
            </a:r>
          </a:p>
          <a:p>
            <a:pPr marL="171450" indent="-171450">
              <a:buFontTx/>
              <a:buChar char="-"/>
            </a:pPr>
            <a:r>
              <a:rPr lang="en-US" baseline="0" dirty="0"/>
              <a:t>companies geared toward incremental improvements</a:t>
            </a:r>
          </a:p>
          <a:p>
            <a:pPr marL="0" indent="0">
              <a:buFontTx/>
              <a:buNone/>
            </a:pPr>
            <a:endParaRPr lang="en-US" baseline="0" dirty="0"/>
          </a:p>
          <a:p>
            <a:pPr marL="0" indent="0">
              <a:buFontTx/>
              <a:buNone/>
            </a:pPr>
            <a:r>
              <a:rPr lang="en-US" baseline="0" dirty="0"/>
              <a:t>less or something cheaper</a:t>
            </a:r>
          </a:p>
          <a:p>
            <a:pPr marL="0" indent="0">
              <a:buFontTx/>
              <a:buNone/>
            </a:pPr>
            <a:endParaRPr lang="en-US" baseline="0" dirty="0"/>
          </a:p>
          <a:p>
            <a:pPr marL="0" indent="0">
              <a:buFontTx/>
              <a:buNone/>
            </a:pPr>
            <a:r>
              <a:rPr lang="en-US" baseline="0" dirty="0"/>
              <a:t>disruptive change</a:t>
            </a:r>
          </a:p>
          <a:p>
            <a:pPr marL="171450" indent="-171450">
              <a:buFontTx/>
              <a:buChar char="-"/>
            </a:pPr>
            <a:r>
              <a:rPr lang="en-US" baseline="0" dirty="0"/>
              <a:t>mobile devices</a:t>
            </a:r>
          </a:p>
          <a:p>
            <a:pPr marL="171450" indent="-171450">
              <a:buFontTx/>
              <a:buChar char="-"/>
            </a:pPr>
            <a:endParaRPr lang="en-US" baseline="0" dirty="0"/>
          </a:p>
          <a:p>
            <a:pPr marL="0" indent="0">
              <a:buFontTx/>
              <a:buNone/>
            </a:pPr>
            <a:r>
              <a:rPr lang="en-US" baseline="0" dirty="0"/>
              <a:t>Example: Language learning programs versus Duolingo, which disrupted the market because it was more accessible (free), addictive, </a:t>
            </a:r>
            <a:r>
              <a:rPr lang="en-US" baseline="0"/>
              <a:t>and scalable</a:t>
            </a:r>
          </a:p>
        </p:txBody>
      </p:sp>
      <p:sp>
        <p:nvSpPr>
          <p:cNvPr id="4" name="Slide Number Placeholder 3"/>
          <p:cNvSpPr>
            <a:spLocks noGrp="1"/>
          </p:cNvSpPr>
          <p:nvPr>
            <p:ph type="sldNum" sz="quarter" idx="10"/>
          </p:nvPr>
        </p:nvSpPr>
        <p:spPr/>
        <p:txBody>
          <a:bodyPr/>
          <a:lstStyle/>
          <a:p>
            <a:fld id="{8ADD7956-AF07-4444-94C5-9D1D5FBA9C0F}" type="slidenum">
              <a:rPr lang="en-US" smtClean="0"/>
              <a:pPr/>
              <a:t>21</a:t>
            </a:fld>
            <a:endParaRPr lang="en-US"/>
          </a:p>
        </p:txBody>
      </p:sp>
    </p:spTree>
    <p:extLst>
      <p:ext uri="{BB962C8B-B14F-4D97-AF65-F5344CB8AC3E}">
        <p14:creationId xmlns:p14="http://schemas.microsoft.com/office/powerpoint/2010/main" val="584180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Simpson’s second season episode</a:t>
            </a:r>
          </a:p>
          <a:p>
            <a:pPr marL="171450" indent="-171450">
              <a:buFontTx/>
              <a:buChar char="-"/>
            </a:pPr>
            <a:r>
              <a:rPr lang="en-US" dirty="0"/>
              <a:t>Herb, Homer’s rich</a:t>
            </a:r>
            <a:r>
              <a:rPr lang="en-US" baseline="0" dirty="0"/>
              <a:t> (at the time) </a:t>
            </a:r>
            <a:r>
              <a:rPr lang="en-US" dirty="0"/>
              <a:t>half brother wants to design a car for the average American</a:t>
            </a:r>
          </a:p>
          <a:p>
            <a:pPr marL="171450" indent="-171450">
              <a:buFontTx/>
              <a:buChar char="-"/>
            </a:pPr>
            <a:r>
              <a:rPr lang="en-US" dirty="0"/>
              <a:t>Homer would be perfect representative, and given free rein to give requirements</a:t>
            </a:r>
          </a:p>
          <a:p>
            <a:pPr marL="171450" indent="-171450">
              <a:buFontTx/>
              <a:buChar char="-"/>
            </a:pPr>
            <a:r>
              <a:rPr lang="en-US" dirty="0"/>
              <a:t>big motor</a:t>
            </a:r>
          </a:p>
          <a:p>
            <a:pPr marL="171450" indent="-171450">
              <a:buFontTx/>
              <a:buChar char="-"/>
            </a:pPr>
            <a:r>
              <a:rPr lang="en-US" dirty="0"/>
              <a:t>huge fins and front</a:t>
            </a:r>
            <a:r>
              <a:rPr lang="en-US" baseline="0" dirty="0"/>
              <a:t> grill</a:t>
            </a:r>
            <a:endParaRPr lang="en-US" dirty="0"/>
          </a:p>
          <a:p>
            <a:pPr marL="171450" indent="-171450">
              <a:buFontTx/>
              <a:buChar char="-"/>
            </a:pPr>
            <a:r>
              <a:rPr lang="en-US" dirty="0"/>
              <a:t>sound proof bubble</a:t>
            </a:r>
            <a:r>
              <a:rPr lang="en-US" baseline="0" dirty="0"/>
              <a:t> for the kids</a:t>
            </a:r>
          </a:p>
          <a:p>
            <a:pPr marL="171450" indent="-171450">
              <a:buFontTx/>
              <a:buChar char="-"/>
            </a:pPr>
            <a:endParaRPr lang="en-US" baseline="0" dirty="0"/>
          </a:p>
          <a:p>
            <a:pPr marL="0" indent="0">
              <a:buFontTx/>
              <a:buNone/>
            </a:pPr>
            <a:r>
              <a:rPr lang="en-US" baseline="0" dirty="0"/>
              <a:t>problem was, he was the only user consulted</a:t>
            </a:r>
            <a:endParaRPr lang="en-US" dirty="0"/>
          </a:p>
          <a:p>
            <a:pPr marL="171450" indent="-171450">
              <a:buFontTx/>
              <a:buChar char="-"/>
            </a:pPr>
            <a:endParaRPr lang="en-US" dirty="0"/>
          </a:p>
          <a:p>
            <a:pPr marL="0" indent="0">
              <a:buFontTx/>
              <a:buNone/>
            </a:pPr>
            <a:r>
              <a:rPr lang="en-US" dirty="0"/>
              <a:t>listening to users</a:t>
            </a:r>
          </a:p>
          <a:p>
            <a:pPr marL="171450" indent="-171450">
              <a:buFontTx/>
              <a:buChar char="-"/>
            </a:pPr>
            <a:r>
              <a:rPr lang="en-US" dirty="0"/>
              <a:t>need to be respectful, but careful</a:t>
            </a:r>
          </a:p>
          <a:p>
            <a:pPr marL="171450" indent="-171450">
              <a:buFontTx/>
              <a:buChar char="-"/>
            </a:pPr>
            <a:r>
              <a:rPr lang="en-US" dirty="0"/>
              <a:t>not always yes</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22</a:t>
            </a:fld>
            <a:endParaRPr lang="en-US"/>
          </a:p>
        </p:txBody>
      </p:sp>
    </p:spTree>
    <p:extLst>
      <p:ext uri="{BB962C8B-B14F-4D97-AF65-F5344CB8AC3E}">
        <p14:creationId xmlns:p14="http://schemas.microsoft.com/office/powerpoint/2010/main" val="4903881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involve the user</a:t>
            </a:r>
          </a:p>
          <a:p>
            <a:pPr marL="171450" indent="-171450">
              <a:buFontTx/>
              <a:buChar char="-"/>
            </a:pPr>
            <a:r>
              <a:rPr lang="en-US" dirty="0"/>
              <a:t>big factor for success, buy-in</a:t>
            </a:r>
          </a:p>
          <a:p>
            <a:pPr marL="171450" indent="-171450">
              <a:buFontTx/>
              <a:buChar char="-"/>
            </a:pPr>
            <a:r>
              <a:rPr lang="en-US" dirty="0"/>
              <a:t>in HCI,</a:t>
            </a:r>
            <a:r>
              <a:rPr lang="en-US" baseline="0" dirty="0"/>
              <a:t> called participatory design or user-centered design</a:t>
            </a:r>
          </a:p>
          <a:p>
            <a:pPr marL="171450" indent="-171450">
              <a:buFontTx/>
              <a:buChar char="-"/>
            </a:pPr>
            <a:r>
              <a:rPr lang="en-US" baseline="0" dirty="0"/>
              <a:t>show something, give alternatives to let the user choose</a:t>
            </a:r>
          </a:p>
          <a:p>
            <a:pPr marL="0" indent="0">
              <a:buFontTx/>
              <a:buNone/>
            </a:pPr>
            <a:endParaRPr lang="en-US"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a:t>maybe developers don’t want feedback, because it might force them to make changes</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a:t>- just like developers don’t like plans, because it shows how behind they are</a:t>
            </a:r>
          </a:p>
          <a:p>
            <a:pPr marL="0" indent="0">
              <a:buFontTx/>
              <a:buNone/>
            </a:pPr>
            <a:endParaRPr lang="en-US" baseline="0" dirty="0"/>
          </a:p>
          <a:p>
            <a:pPr marL="0" indent="0">
              <a:buFontTx/>
              <a:buNone/>
            </a:pPr>
            <a:endParaRPr lang="en-US" baseline="0" dirty="0"/>
          </a:p>
          <a:p>
            <a:pPr marL="0" indent="0">
              <a:buFontTx/>
              <a:buNone/>
            </a:pP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23</a:t>
            </a:fld>
            <a:endParaRPr lang="en-US"/>
          </a:p>
        </p:txBody>
      </p:sp>
    </p:spTree>
    <p:extLst>
      <p:ext uri="{BB962C8B-B14F-4D97-AF65-F5344CB8AC3E}">
        <p14:creationId xmlns:p14="http://schemas.microsoft.com/office/powerpoint/2010/main" val="12568628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a way to specify needs</a:t>
            </a:r>
          </a:p>
          <a:p>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24</a:t>
            </a:fld>
            <a:endParaRPr lang="en-US"/>
          </a:p>
        </p:txBody>
      </p:sp>
    </p:spTree>
    <p:extLst>
      <p:ext uri="{BB962C8B-B14F-4D97-AF65-F5344CB8AC3E}">
        <p14:creationId xmlns:p14="http://schemas.microsoft.com/office/powerpoint/2010/main" val="31801651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Tx/>
              <a:buNone/>
            </a:pPr>
            <a:r>
              <a:rPr lang="en-US" dirty="0"/>
              <a:t>from agile development, where they found use cases were too documentation</a:t>
            </a:r>
            <a:r>
              <a:rPr lang="en-US" baseline="0" dirty="0"/>
              <a:t> heavy</a:t>
            </a:r>
          </a:p>
          <a:p>
            <a:pPr marL="171450" indent="-171450">
              <a:buFontTx/>
              <a:buChar char="-"/>
            </a:pPr>
            <a:r>
              <a:rPr lang="en-US" baseline="0" dirty="0"/>
              <a:t>shift focus from writing to talking</a:t>
            </a:r>
          </a:p>
          <a:p>
            <a:pPr marL="171450" indent="-171450">
              <a:buFontTx/>
              <a:buChar char="-"/>
            </a:pPr>
            <a:r>
              <a:rPr lang="en-US" baseline="0" dirty="0"/>
              <a:t>get validation by involving the user</a:t>
            </a:r>
          </a:p>
          <a:p>
            <a:pPr marL="0" indent="0">
              <a:buFontTx/>
              <a:buNone/>
            </a:pPr>
            <a:endParaRPr lang="en-US" dirty="0"/>
          </a:p>
          <a:p>
            <a:r>
              <a:rPr lang="en-US" dirty="0"/>
              <a:t>less structured than use cases</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dirty="0"/>
              <a:t>but not much detail on user tasks</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dirty="0"/>
              <a:t>can</a:t>
            </a:r>
            <a:r>
              <a:rPr lang="en-US" baseline="0" dirty="0"/>
              <a:t> be augmented by use cases</a:t>
            </a:r>
            <a:endParaRPr lang="en-US" dirty="0"/>
          </a:p>
          <a:p>
            <a:pPr marL="0" indent="0">
              <a:buFontTx/>
              <a:buNone/>
            </a:pPr>
            <a:endParaRPr lang="en-US" dirty="0"/>
          </a:p>
          <a:p>
            <a:pPr marL="0" indent="0">
              <a:buFontTx/>
              <a:buNone/>
            </a:pPr>
            <a:r>
              <a:rPr lang="en-US" dirty="0"/>
              <a:t>for</a:t>
            </a:r>
            <a:r>
              <a:rPr lang="en-US" baseline="0" dirty="0"/>
              <a:t> 301, given user stories (needs), you write fully dressed use cases</a:t>
            </a:r>
          </a:p>
          <a:p>
            <a:pPr marL="0" indent="0">
              <a:buFontTx/>
              <a:buNone/>
            </a:pPr>
            <a:r>
              <a:rPr lang="en-US" baseline="0" dirty="0"/>
              <a:t>- user tasks important when designing interactive, conversational applications</a:t>
            </a:r>
            <a:endParaRPr lang="en-US" dirty="0"/>
          </a:p>
          <a:p>
            <a:pPr marL="0" indent="0">
              <a:buFontTx/>
              <a:buNone/>
            </a:pPr>
            <a:endParaRPr lang="en-US" dirty="0"/>
          </a:p>
          <a:p>
            <a:pPr marL="0" indent="0">
              <a:buFontTx/>
              <a:buNone/>
            </a:pPr>
            <a:r>
              <a:rPr lang="en-US" dirty="0"/>
              <a:t>users also have to learn to talk to developers</a:t>
            </a:r>
          </a:p>
        </p:txBody>
      </p:sp>
      <p:sp>
        <p:nvSpPr>
          <p:cNvPr id="4" name="Slide Number Placeholder 3"/>
          <p:cNvSpPr>
            <a:spLocks noGrp="1"/>
          </p:cNvSpPr>
          <p:nvPr>
            <p:ph type="sldNum" sz="quarter" idx="10"/>
          </p:nvPr>
        </p:nvSpPr>
        <p:spPr/>
        <p:txBody>
          <a:bodyPr/>
          <a:lstStyle/>
          <a:p>
            <a:fld id="{8ADD7956-AF07-4444-94C5-9D1D5FBA9C0F}" type="slidenum">
              <a:rPr lang="en-US" smtClean="0"/>
              <a:pPr/>
              <a:t>25</a:t>
            </a:fld>
            <a:endParaRPr lang="en-US"/>
          </a:p>
        </p:txBody>
      </p:sp>
    </p:spTree>
    <p:extLst>
      <p:ext uri="{BB962C8B-B14F-4D97-AF65-F5344CB8AC3E}">
        <p14:creationId xmlns:p14="http://schemas.microsoft.com/office/powerpoint/2010/main" val="23558430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Tx/>
              <a:buNone/>
            </a:pPr>
            <a:r>
              <a:rPr lang="en-US" dirty="0"/>
              <a:t>describes some functionality that will be valuable to the user</a:t>
            </a:r>
          </a:p>
          <a:p>
            <a:pPr marL="171450" indent="-171450">
              <a:buFontTx/>
              <a:buChar char="-"/>
            </a:pPr>
            <a:r>
              <a:rPr lang="en-US" dirty="0"/>
              <a:t>understandable to the user</a:t>
            </a:r>
          </a:p>
          <a:p>
            <a:pPr marL="171450" indent="-171450">
              <a:buFontTx/>
              <a:buChar char="-"/>
            </a:pPr>
            <a:r>
              <a:rPr lang="en-US" dirty="0"/>
              <a:t>simple enough to have been written by the user</a:t>
            </a:r>
          </a:p>
          <a:p>
            <a:pPr marL="171450" indent="-171450">
              <a:buFontTx/>
              <a:buChar char="-"/>
            </a:pPr>
            <a:r>
              <a:rPr lang="en-US" dirty="0"/>
              <a:t>involves the user</a:t>
            </a:r>
          </a:p>
          <a:p>
            <a:pPr marL="0" indent="0">
              <a:buFontTx/>
              <a:buNone/>
            </a:pPr>
            <a:endParaRPr lang="en-US" dirty="0"/>
          </a:p>
          <a:p>
            <a:pPr marL="0" indent="0">
              <a:buFontTx/>
              <a:buNone/>
            </a:pPr>
            <a:r>
              <a:rPr lang="en-US" dirty="0"/>
              <a:t>see list of room amenities, so that</a:t>
            </a:r>
          </a:p>
          <a:p>
            <a:pPr marL="0" indent="0">
              <a:buFontTx/>
              <a:buNone/>
            </a:pPr>
            <a:r>
              <a:rPr lang="en-US" baseline="0" dirty="0"/>
              <a:t>- I can check it has internet, preferably free</a:t>
            </a:r>
            <a:endParaRPr lang="en-US" dirty="0"/>
          </a:p>
          <a:p>
            <a:pPr marL="0" indent="0">
              <a:buFontTx/>
              <a:buNone/>
            </a:pPr>
            <a:endParaRPr lang="en-US" dirty="0"/>
          </a:p>
          <a:p>
            <a:pPr marL="0" indent="0">
              <a:buFontTx/>
              <a:buNone/>
            </a:pPr>
            <a:r>
              <a:rPr lang="en-US" dirty="0"/>
              <a:t>focus on user goals</a:t>
            </a:r>
          </a:p>
        </p:txBody>
      </p:sp>
      <p:sp>
        <p:nvSpPr>
          <p:cNvPr id="4" name="Slide Number Placeholder 3"/>
          <p:cNvSpPr>
            <a:spLocks noGrp="1"/>
          </p:cNvSpPr>
          <p:nvPr>
            <p:ph type="sldNum" sz="quarter" idx="10"/>
          </p:nvPr>
        </p:nvSpPr>
        <p:spPr/>
        <p:txBody>
          <a:bodyPr/>
          <a:lstStyle/>
          <a:p>
            <a:fld id="{8ADD7956-AF07-4444-94C5-9D1D5FBA9C0F}" type="slidenum">
              <a:rPr lang="en-US" smtClean="0"/>
              <a:pPr/>
              <a:t>26</a:t>
            </a:fld>
            <a:endParaRPr lang="en-US"/>
          </a:p>
        </p:txBody>
      </p:sp>
    </p:spTree>
    <p:extLst>
      <p:ext uri="{BB962C8B-B14F-4D97-AF65-F5344CB8AC3E}">
        <p14:creationId xmlns:p14="http://schemas.microsoft.com/office/powerpoint/2010/main" val="12789837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Tx/>
              <a:buNone/>
            </a:pPr>
            <a:r>
              <a:rPr lang="en-US" dirty="0"/>
              <a:t>epics</a:t>
            </a:r>
          </a:p>
          <a:p>
            <a:pPr marL="171450" indent="-171450">
              <a:buFontTx/>
              <a:buChar char="-"/>
            </a:pPr>
            <a:r>
              <a:rPr lang="en-US" baseline="0" dirty="0"/>
              <a:t>hard to estimate for</a:t>
            </a:r>
          </a:p>
          <a:p>
            <a:pPr marL="171450" indent="-171450">
              <a:buFontTx/>
              <a:buChar char="-"/>
            </a:pPr>
            <a:r>
              <a:rPr lang="en-US" baseline="0" dirty="0"/>
              <a:t>hard to plan</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27</a:t>
            </a:fld>
            <a:endParaRPr lang="en-US"/>
          </a:p>
        </p:txBody>
      </p:sp>
    </p:spTree>
    <p:extLst>
      <p:ext uri="{BB962C8B-B14F-4D97-AF65-F5344CB8AC3E}">
        <p14:creationId xmlns:p14="http://schemas.microsoft.com/office/powerpoint/2010/main" val="10676465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estimation difficulties</a:t>
            </a:r>
          </a:p>
          <a:p>
            <a:pPr marL="171450" indent="-171450">
              <a:buFontTx/>
              <a:buChar char="-"/>
            </a:pPr>
            <a:r>
              <a:rPr lang="en-US" baseline="0" dirty="0"/>
              <a:t>story is too big</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dirty="0"/>
              <a:t>developers lacking</a:t>
            </a:r>
            <a:r>
              <a:rPr lang="en-US" baseline="0" dirty="0"/>
              <a:t> application domain or technical knowledge (do a feasibility study, throwaway prototype, spike)</a:t>
            </a:r>
          </a:p>
          <a:p>
            <a:pPr marL="171450" marR="0" indent="-171450" algn="l" defTabSz="914400" rtl="0" eaLnBrk="0" fontAlgn="base" latinLnBrk="0" hangingPunct="0">
              <a:lnSpc>
                <a:spcPct val="100000"/>
              </a:lnSpc>
              <a:spcBef>
                <a:spcPct val="30000"/>
              </a:spcBef>
              <a:spcAft>
                <a:spcPct val="0"/>
              </a:spcAft>
              <a:buClrTx/>
              <a:buSzTx/>
              <a:buFontTx/>
              <a:buChar char="-"/>
              <a:tabLst/>
              <a:defRPr/>
            </a:pPr>
            <a:endParaRPr lang="en-US"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a:t>for 301, user stories and use cases for certain tasks</a:t>
            </a:r>
          </a:p>
        </p:txBody>
      </p:sp>
      <p:sp>
        <p:nvSpPr>
          <p:cNvPr id="4" name="Slide Number Placeholder 3"/>
          <p:cNvSpPr>
            <a:spLocks noGrp="1"/>
          </p:cNvSpPr>
          <p:nvPr>
            <p:ph type="sldNum" sz="quarter" idx="10"/>
          </p:nvPr>
        </p:nvSpPr>
        <p:spPr/>
        <p:txBody>
          <a:bodyPr/>
          <a:lstStyle/>
          <a:p>
            <a:fld id="{8ADD7956-AF07-4444-94C5-9D1D5FBA9C0F}" type="slidenum">
              <a:rPr lang="en-US" smtClean="0"/>
              <a:pPr/>
              <a:t>28</a:t>
            </a:fld>
            <a:endParaRPr lang="en-US"/>
          </a:p>
        </p:txBody>
      </p:sp>
    </p:spTree>
    <p:extLst>
      <p:ext uri="{BB962C8B-B14F-4D97-AF65-F5344CB8AC3E}">
        <p14:creationId xmlns:p14="http://schemas.microsoft.com/office/powerpoint/2010/main" val="30164093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Tx/>
              <a:buNone/>
            </a:pPr>
            <a:r>
              <a:rPr lang="en-US" dirty="0"/>
              <a:t>specific</a:t>
            </a:r>
          </a:p>
          <a:p>
            <a:pPr marL="171450" indent="-171450">
              <a:buFontTx/>
              <a:buChar char="-"/>
            </a:pPr>
            <a:r>
              <a:rPr lang="en-US" baseline="0" dirty="0"/>
              <a:t>everyone understands what’s involved</a:t>
            </a:r>
          </a:p>
          <a:p>
            <a:pPr marL="0" indent="0">
              <a:buFontTx/>
              <a:buNone/>
            </a:pPr>
            <a:r>
              <a:rPr lang="en-US" dirty="0"/>
              <a:t>measurable</a:t>
            </a:r>
          </a:p>
          <a:p>
            <a:pPr marL="171450" indent="-171450">
              <a:buFontTx/>
              <a:buChar char="-"/>
            </a:pPr>
            <a:r>
              <a:rPr lang="en-US" dirty="0"/>
              <a:t>we</a:t>
            </a:r>
            <a:r>
              <a:rPr lang="en-US" baseline="0" dirty="0"/>
              <a:t> know what it means to be done with it (coded, tested, documented)</a:t>
            </a:r>
          </a:p>
          <a:p>
            <a:pPr marL="0" indent="0">
              <a:buFontTx/>
              <a:buNone/>
            </a:pPr>
            <a:r>
              <a:rPr lang="en-US" baseline="0" dirty="0"/>
              <a:t>achievable</a:t>
            </a:r>
          </a:p>
          <a:p>
            <a:pPr marL="0" indent="0">
              <a:buFontTx/>
              <a:buNone/>
            </a:pPr>
            <a:r>
              <a:rPr lang="en-US" baseline="0" dirty="0"/>
              <a:t>relevant</a:t>
            </a:r>
          </a:p>
          <a:p>
            <a:pPr marL="171450" indent="-171450">
              <a:buFontTx/>
              <a:buChar char="-"/>
            </a:pPr>
            <a:r>
              <a:rPr lang="en-US" baseline="0" dirty="0"/>
              <a:t>contributing to a valued story</a:t>
            </a:r>
          </a:p>
          <a:p>
            <a:pPr marL="0" indent="0">
              <a:buFontTx/>
              <a:buNone/>
            </a:pPr>
            <a:r>
              <a:rPr lang="en-US" baseline="0" dirty="0"/>
              <a:t>time boxed</a:t>
            </a:r>
          </a:p>
          <a:p>
            <a:pPr marL="171450" indent="-171450">
              <a:buFontTx/>
              <a:buChar char="-"/>
            </a:pPr>
            <a:r>
              <a:rPr lang="en-US" baseline="0" dirty="0"/>
              <a:t>assigned to specific iteration</a:t>
            </a:r>
          </a:p>
        </p:txBody>
      </p:sp>
      <p:sp>
        <p:nvSpPr>
          <p:cNvPr id="4" name="Slide Number Placeholder 3"/>
          <p:cNvSpPr>
            <a:spLocks noGrp="1"/>
          </p:cNvSpPr>
          <p:nvPr>
            <p:ph type="sldNum" sz="quarter" idx="10"/>
          </p:nvPr>
        </p:nvSpPr>
        <p:spPr/>
        <p:txBody>
          <a:bodyPr/>
          <a:lstStyle/>
          <a:p>
            <a:fld id="{8ADD7956-AF07-4444-94C5-9D1D5FBA9C0F}" type="slidenum">
              <a:rPr lang="en-US" smtClean="0"/>
              <a:pPr/>
              <a:t>29</a:t>
            </a:fld>
            <a:endParaRPr lang="en-US"/>
          </a:p>
        </p:txBody>
      </p:sp>
    </p:spTree>
    <p:extLst>
      <p:ext uri="{BB962C8B-B14F-4D97-AF65-F5344CB8AC3E}">
        <p14:creationId xmlns:p14="http://schemas.microsoft.com/office/powerpoint/2010/main" val="13223394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independent</a:t>
            </a:r>
          </a:p>
          <a:p>
            <a:pPr marL="171450" indent="-171450">
              <a:buFontTx/>
              <a:buChar char="-"/>
            </a:pPr>
            <a:r>
              <a:rPr lang="en-US" dirty="0"/>
              <a:t>doable</a:t>
            </a:r>
            <a:r>
              <a:rPr lang="en-US" baseline="0" dirty="0"/>
              <a:t> in any order (not always possible)</a:t>
            </a:r>
          </a:p>
          <a:p>
            <a:pPr marL="171450" indent="-171450">
              <a:buFontTx/>
              <a:buChar char="-"/>
            </a:pPr>
            <a:r>
              <a:rPr lang="en-US" baseline="0" dirty="0"/>
              <a:t>combine stories to avoid dependencies, but that makes epics</a:t>
            </a:r>
          </a:p>
          <a:p>
            <a:pPr marL="0" indent="0">
              <a:buFontTx/>
              <a:buNone/>
            </a:pPr>
            <a:r>
              <a:rPr lang="en-US" baseline="0" dirty="0"/>
              <a:t>negotiable</a:t>
            </a:r>
          </a:p>
          <a:p>
            <a:pPr marL="171450" indent="-171450">
              <a:buFontTx/>
              <a:buChar char="-"/>
            </a:pPr>
            <a:r>
              <a:rPr lang="en-US" baseline="0" dirty="0"/>
              <a:t>not a contract, not all details</a:t>
            </a:r>
          </a:p>
          <a:p>
            <a:pPr marL="171450" indent="-171450">
              <a:buFontTx/>
              <a:buChar char="-"/>
            </a:pPr>
            <a:r>
              <a:rPr lang="en-US" baseline="0" dirty="0"/>
              <a:t>details give false impression of completeness</a:t>
            </a:r>
          </a:p>
          <a:p>
            <a:pPr marL="0" indent="0">
              <a:buFontTx/>
              <a:buNone/>
            </a:pPr>
            <a:r>
              <a:rPr lang="en-US" baseline="0" dirty="0"/>
              <a:t>valuable</a:t>
            </a:r>
          </a:p>
          <a:p>
            <a:pPr marL="171450" indent="-171450">
              <a:buFontTx/>
              <a:buChar char="-"/>
            </a:pPr>
            <a:r>
              <a:rPr lang="en-US" baseline="0" dirty="0"/>
              <a:t>depends on user (end user or owner)</a:t>
            </a:r>
          </a:p>
          <a:p>
            <a:pPr marL="171450" indent="-171450">
              <a:buFontTx/>
              <a:buChar char="-"/>
            </a:pPr>
            <a:r>
              <a:rPr lang="en-US" baseline="0" dirty="0"/>
              <a:t>owner might want the project to pass an ISO 9001 audit or be managed in compliance with CMMI level 3, or a specific market share</a:t>
            </a:r>
          </a:p>
          <a:p>
            <a:pPr marL="0" indent="0">
              <a:buFontTx/>
              <a:buNone/>
            </a:pPr>
            <a:r>
              <a:rPr lang="en-US" baseline="0" dirty="0"/>
              <a:t>estimable</a:t>
            </a:r>
          </a:p>
          <a:p>
            <a:pPr marL="0" indent="0">
              <a:buFontTx/>
              <a:buNone/>
            </a:pPr>
            <a:r>
              <a:rPr lang="en-US" baseline="0" dirty="0"/>
              <a:t>small (sized appropriately)</a:t>
            </a:r>
          </a:p>
          <a:p>
            <a:pPr marL="171450" indent="-171450">
              <a:buFontTx/>
              <a:buChar char="-"/>
            </a:pPr>
            <a:r>
              <a:rPr lang="en-US" baseline="0" dirty="0"/>
              <a:t>small for near term</a:t>
            </a:r>
          </a:p>
          <a:p>
            <a:pPr marL="171450" indent="-171450">
              <a:buFontTx/>
              <a:buChar char="-"/>
            </a:pPr>
            <a:r>
              <a:rPr lang="en-US" baseline="0" dirty="0"/>
              <a:t>epics fine for further out</a:t>
            </a:r>
          </a:p>
          <a:p>
            <a:pPr marL="0" indent="0">
              <a:buFontTx/>
              <a:buNone/>
            </a:pPr>
            <a:r>
              <a:rPr lang="en-US" baseline="0" dirty="0"/>
              <a:t>testable</a:t>
            </a:r>
          </a:p>
          <a:p>
            <a:pPr marL="0" indent="0">
              <a:buFontTx/>
              <a:buNone/>
            </a:pP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30</a:t>
            </a:fld>
            <a:endParaRPr lang="en-US"/>
          </a:p>
        </p:txBody>
      </p:sp>
    </p:spTree>
    <p:extLst>
      <p:ext uri="{BB962C8B-B14F-4D97-AF65-F5344CB8AC3E}">
        <p14:creationId xmlns:p14="http://schemas.microsoft.com/office/powerpoint/2010/main" val="33442768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3</a:t>
            </a:r>
            <a:r>
              <a:rPr lang="en-US" baseline="0" dirty="0"/>
              <a:t> C of user stories by Ron Jeffries</a:t>
            </a:r>
          </a:p>
          <a:p>
            <a:pPr marL="171450" indent="-171450">
              <a:buFontTx/>
              <a:buChar char="-"/>
            </a:pPr>
            <a:r>
              <a:rPr lang="en-US" baseline="0" dirty="0"/>
              <a:t>card</a:t>
            </a:r>
          </a:p>
          <a:p>
            <a:pPr marL="171450" indent="-171450">
              <a:buFontTx/>
              <a:buChar char="-"/>
            </a:pPr>
            <a:r>
              <a:rPr lang="en-US" baseline="0" dirty="0"/>
              <a:t>conversation with user</a:t>
            </a:r>
          </a:p>
          <a:p>
            <a:pPr marL="171450" indent="-171450">
              <a:buFontTx/>
              <a:buChar char="-"/>
            </a:pPr>
            <a:r>
              <a:rPr lang="en-US" baseline="0" dirty="0"/>
              <a:t>confirmation with tests</a:t>
            </a:r>
          </a:p>
          <a:p>
            <a:pPr marL="171450" indent="-171450">
              <a:buFontTx/>
              <a:buChar char="-"/>
            </a:pPr>
            <a:endParaRPr lang="en-US" baseline="0" dirty="0"/>
          </a:p>
          <a:p>
            <a:pPr marL="0" indent="0">
              <a:buFontTx/>
              <a:buNone/>
            </a:pPr>
            <a:r>
              <a:rPr lang="en-US" baseline="0" dirty="0"/>
              <a:t>acceptance tests</a:t>
            </a:r>
          </a:p>
          <a:p>
            <a:pPr marL="171450" indent="-171450">
              <a:buFontTx/>
              <a:buChar char="-"/>
            </a:pPr>
            <a:r>
              <a:rPr lang="en-US" baseline="0" dirty="0"/>
              <a:t>done by user when taking acceptance of the system</a:t>
            </a:r>
          </a:p>
          <a:p>
            <a:pPr marL="171450" indent="-171450">
              <a:buFontTx/>
              <a:buChar char="-"/>
            </a:pPr>
            <a:r>
              <a:rPr lang="en-US" baseline="0" dirty="0"/>
              <a:t>or enabled by developer, possibly with automated test scripts</a:t>
            </a:r>
          </a:p>
          <a:p>
            <a:pPr marL="171450" indent="-171450">
              <a:buFontTx/>
              <a:buChar char="-"/>
            </a:pPr>
            <a:r>
              <a:rPr lang="en-US" baseline="0" dirty="0"/>
              <a:t>non necessarily stress testing</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32</a:t>
            </a:fld>
            <a:endParaRPr lang="en-US"/>
          </a:p>
        </p:txBody>
      </p:sp>
    </p:spTree>
    <p:extLst>
      <p:ext uri="{BB962C8B-B14F-4D97-AF65-F5344CB8AC3E}">
        <p14:creationId xmlns:p14="http://schemas.microsoft.com/office/powerpoint/2010/main" val="38355019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Tx/>
              <a:buNone/>
            </a:pPr>
            <a:r>
              <a:rPr lang="en-US" baseline="0" dirty="0"/>
              <a:t>the kinds of development jobs where you are given a finished set of requirements</a:t>
            </a:r>
          </a:p>
          <a:p>
            <a:pPr marL="171450" indent="-171450">
              <a:buFontTx/>
              <a:buChar char="-"/>
            </a:pPr>
            <a:r>
              <a:rPr lang="en-US" baseline="0" dirty="0"/>
              <a:t>tend to be the kinds of jobs that are easily outsourced or offshored</a:t>
            </a:r>
          </a:p>
          <a:p>
            <a:pPr marL="171450" indent="-171450">
              <a:buFontTx/>
              <a:buChar char="-"/>
            </a:pPr>
            <a:r>
              <a:rPr lang="en-US" baseline="0" dirty="0"/>
              <a:t>not bad if it’s a programming task outsourced to Canada from the US</a:t>
            </a:r>
          </a:p>
          <a:p>
            <a:pPr marL="171450" indent="-171450">
              <a:buFontTx/>
              <a:buChar char="-"/>
            </a:pPr>
            <a:r>
              <a:rPr lang="en-US" baseline="0" dirty="0"/>
              <a:t>you may not be able to compete against a team from Romania, India, or China who could do it cheaper</a:t>
            </a:r>
          </a:p>
          <a:p>
            <a:pPr marL="171450" indent="-171450">
              <a:buFontTx/>
              <a:buChar char="-"/>
            </a:pPr>
            <a:r>
              <a:rPr lang="en-US" baseline="0" dirty="0"/>
              <a:t>use your communication skills and maybe local knowledge to advantage</a:t>
            </a:r>
          </a:p>
          <a:p>
            <a:pPr marL="0" indent="0">
              <a:buFontTx/>
              <a:buNone/>
            </a:pPr>
            <a:endParaRPr lang="en-US" baseline="0" dirty="0"/>
          </a:p>
          <a:p>
            <a:pPr marL="0" indent="0">
              <a:buFontTx/>
              <a:buNone/>
            </a:pPr>
            <a:r>
              <a:rPr lang="en-US" baseline="0" dirty="0"/>
              <a:t>big demand for business analysts</a:t>
            </a:r>
          </a:p>
          <a:p>
            <a:pPr marL="171450" indent="-171450">
              <a:buFontTx/>
              <a:buChar char="-"/>
            </a:pPr>
            <a:r>
              <a:rPr lang="en-US" baseline="0" dirty="0"/>
              <a:t>work with clients to figure out their needs</a:t>
            </a:r>
          </a:p>
          <a:p>
            <a:pPr marL="171450" indent="-171450">
              <a:buFontTx/>
              <a:buChar char="-"/>
            </a:pPr>
            <a:r>
              <a:rPr lang="en-US" baseline="0" dirty="0"/>
              <a:t>liaison to developers</a:t>
            </a:r>
          </a:p>
          <a:p>
            <a:pPr marL="171450" indent="-171450">
              <a:buFontTx/>
              <a:buChar char="-"/>
            </a:pPr>
            <a:r>
              <a:rPr lang="en-US" baseline="0" dirty="0"/>
              <a:t>rather than doing grunt work making web pages</a:t>
            </a:r>
          </a:p>
          <a:p>
            <a:pPr marL="171450" indent="-171450">
              <a:buFontTx/>
              <a:buChar char="-"/>
            </a:pPr>
            <a:endParaRPr lang="en-US" baseline="0" dirty="0"/>
          </a:p>
          <a:p>
            <a:r>
              <a:rPr lang="en-US" dirty="0"/>
              <a:t>figuring out and specifying what tasks the user should</a:t>
            </a:r>
            <a:r>
              <a:rPr lang="en-US" baseline="0" dirty="0"/>
              <a:t> be able to do</a:t>
            </a:r>
          </a:p>
          <a:p>
            <a:endParaRPr lang="en-US" baseline="0" dirty="0"/>
          </a:p>
          <a:p>
            <a:r>
              <a:rPr lang="en-US" baseline="0" dirty="0"/>
              <a:t>also functional requirements (features that support those tasks)</a:t>
            </a:r>
          </a:p>
          <a:p>
            <a:endParaRPr lang="en-US" dirty="0"/>
          </a:p>
          <a:p>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34</a:t>
            </a:fld>
            <a:endParaRPr lang="en-US"/>
          </a:p>
        </p:txBody>
      </p:sp>
    </p:spTree>
    <p:extLst>
      <p:ext uri="{BB962C8B-B14F-4D97-AF65-F5344CB8AC3E}">
        <p14:creationId xmlns:p14="http://schemas.microsoft.com/office/powerpoint/2010/main" val="34687795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might be without automation, and</a:t>
            </a:r>
            <a:r>
              <a:rPr lang="en-US" baseline="0" dirty="0"/>
              <a:t> you are designing a computer system</a:t>
            </a:r>
          </a:p>
          <a:p>
            <a:r>
              <a:rPr lang="en-US" baseline="0" dirty="0"/>
              <a:t>might be with automation, and that needs improvement</a:t>
            </a:r>
            <a:endParaRPr lang="en-US" dirty="0"/>
          </a:p>
          <a:p>
            <a:endParaRPr lang="en-US" dirty="0"/>
          </a:p>
          <a:p>
            <a:r>
              <a:rPr lang="en-US" dirty="0"/>
              <a:t>how to do this?</a:t>
            </a:r>
          </a:p>
          <a:p>
            <a:pPr marL="171450" indent="-171450">
              <a:buFontTx/>
              <a:buChar char="-"/>
            </a:pPr>
            <a:r>
              <a:rPr lang="en-US" dirty="0"/>
              <a:t>ask or talk</a:t>
            </a:r>
            <a:r>
              <a:rPr lang="en-US" baseline="0" dirty="0"/>
              <a:t> to them</a:t>
            </a:r>
            <a:endParaRPr lang="en-US" dirty="0"/>
          </a:p>
          <a:p>
            <a:pPr marL="171450" indent="-171450">
              <a:buFontTx/>
              <a:buChar char="-"/>
            </a:pPr>
            <a:r>
              <a:rPr lang="en-US" dirty="0"/>
              <a:t>watch them</a:t>
            </a:r>
          </a:p>
          <a:p>
            <a:pPr marL="171450" indent="-171450">
              <a:buFontTx/>
              <a:buChar char="-"/>
            </a:pPr>
            <a:r>
              <a:rPr lang="en-US" dirty="0"/>
              <a:t>issue a questionnaire</a:t>
            </a:r>
          </a:p>
          <a:p>
            <a:pPr marL="171450" indent="-171450">
              <a:buFontTx/>
              <a:buChar char="-"/>
            </a:pPr>
            <a:r>
              <a:rPr lang="en-US" dirty="0"/>
              <a:t>read existing documentation</a:t>
            </a:r>
          </a:p>
          <a:p>
            <a:pPr marL="0" indent="0">
              <a:buFontTx/>
              <a:buNone/>
            </a:pPr>
            <a:endParaRPr lang="en-US" dirty="0"/>
          </a:p>
          <a:p>
            <a:pPr marL="0" indent="0">
              <a:buFontTx/>
              <a:buNone/>
            </a:pPr>
            <a:r>
              <a:rPr lang="en-US" dirty="0"/>
              <a:t>think about future scenarios rooted in existing tasks</a:t>
            </a:r>
          </a:p>
          <a:p>
            <a:pPr marL="0" indent="0">
              <a:buFontTx/>
              <a:buNone/>
            </a:pPr>
            <a:endParaRPr lang="en-US" dirty="0"/>
          </a:p>
          <a:p>
            <a:pPr marL="0" indent="0">
              <a:buFontTx/>
              <a:buNone/>
            </a:pPr>
            <a:r>
              <a:rPr lang="en-US" dirty="0"/>
              <a:t>think about improving efficiencies</a:t>
            </a:r>
          </a:p>
        </p:txBody>
      </p:sp>
      <p:sp>
        <p:nvSpPr>
          <p:cNvPr id="4" name="Slide Number Placeholder 3"/>
          <p:cNvSpPr>
            <a:spLocks noGrp="1"/>
          </p:cNvSpPr>
          <p:nvPr>
            <p:ph type="sldNum" sz="quarter" idx="10"/>
          </p:nvPr>
        </p:nvSpPr>
        <p:spPr/>
        <p:txBody>
          <a:bodyPr/>
          <a:lstStyle/>
          <a:p>
            <a:fld id="{8ADD7956-AF07-4444-94C5-9D1D5FBA9C0F}" type="slidenum">
              <a:rPr lang="en-US" smtClean="0"/>
              <a:pPr/>
              <a:t>35</a:t>
            </a:fld>
            <a:endParaRPr lang="en-US"/>
          </a:p>
        </p:txBody>
      </p:sp>
    </p:spTree>
    <p:extLst>
      <p:ext uri="{BB962C8B-B14F-4D97-AF65-F5344CB8AC3E}">
        <p14:creationId xmlns:p14="http://schemas.microsoft.com/office/powerpoint/2010/main" val="39810343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a:t>
            </a:r>
            <a:r>
              <a:rPr lang="en-US" dirty="0" err="1"/>
              <a:t>www.nal.usda.gov</a:t>
            </a:r>
            <a:r>
              <a:rPr lang="en-US" dirty="0"/>
              <a:t>/</a:t>
            </a:r>
            <a:r>
              <a:rPr lang="en-US" dirty="0" err="1"/>
              <a:t>fnic</a:t>
            </a:r>
            <a:r>
              <a:rPr lang="en-US" dirty="0"/>
              <a:t>/</a:t>
            </a:r>
            <a:r>
              <a:rPr lang="en-US" dirty="0" err="1"/>
              <a:t>foodcomp</a:t>
            </a:r>
            <a:r>
              <a:rPr lang="en-US" dirty="0"/>
              <a:t>/search/</a:t>
            </a:r>
          </a:p>
          <a:p>
            <a:endParaRPr lang="en-US" dirty="0"/>
          </a:p>
          <a:p>
            <a:r>
              <a:rPr lang="en-US" dirty="0"/>
              <a:t>irritants</a:t>
            </a:r>
          </a:p>
          <a:p>
            <a:pPr marL="171450" indent="-171450">
              <a:buFontTx/>
              <a:buChar char="-"/>
            </a:pPr>
            <a:r>
              <a:rPr lang="en-US" dirty="0"/>
              <a:t>getting the item right</a:t>
            </a:r>
          </a:p>
          <a:p>
            <a:pPr marL="171450" indent="-171450">
              <a:buFontTx/>
              <a:buChar char="-"/>
            </a:pPr>
            <a:r>
              <a:rPr lang="en-US" dirty="0"/>
              <a:t>too many choices, even irrelevant ones</a:t>
            </a:r>
          </a:p>
          <a:p>
            <a:pPr marL="171450" indent="-171450">
              <a:buFontTx/>
              <a:buChar char="-"/>
            </a:pPr>
            <a:r>
              <a:rPr lang="en-US" dirty="0"/>
              <a:t>multiple of 100 g</a:t>
            </a:r>
          </a:p>
          <a:p>
            <a:pPr marL="171450" indent="-171450">
              <a:buFontTx/>
              <a:buChar char="-"/>
            </a:pPr>
            <a:r>
              <a:rPr lang="en-US" dirty="0"/>
              <a:t>scanning table</a:t>
            </a:r>
          </a:p>
        </p:txBody>
      </p:sp>
      <p:sp>
        <p:nvSpPr>
          <p:cNvPr id="4" name="Slide Number Placeholder 3"/>
          <p:cNvSpPr>
            <a:spLocks noGrp="1"/>
          </p:cNvSpPr>
          <p:nvPr>
            <p:ph type="sldNum" sz="quarter" idx="10"/>
          </p:nvPr>
        </p:nvSpPr>
        <p:spPr/>
        <p:txBody>
          <a:bodyPr/>
          <a:lstStyle/>
          <a:p>
            <a:fld id="{8ADD7956-AF07-4444-94C5-9D1D5FBA9C0F}" type="slidenum">
              <a:rPr lang="en-US" smtClean="0"/>
              <a:pPr/>
              <a:t>37</a:t>
            </a:fld>
            <a:endParaRPr lang="en-US"/>
          </a:p>
        </p:txBody>
      </p:sp>
    </p:spTree>
    <p:extLst>
      <p:ext uri="{BB962C8B-B14F-4D97-AF65-F5344CB8AC3E}">
        <p14:creationId xmlns:p14="http://schemas.microsoft.com/office/powerpoint/2010/main" val="29665098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idea</a:t>
            </a:r>
            <a:r>
              <a:rPr lang="en-US" baseline="0" dirty="0"/>
              <a:t> initially formulated by </a:t>
            </a:r>
            <a:r>
              <a:rPr lang="en-US" baseline="0" dirty="0" err="1"/>
              <a:t>Ivar</a:t>
            </a:r>
            <a:r>
              <a:rPr lang="en-US" baseline="0" dirty="0"/>
              <a:t> Jacobson (from Ericsson) in 1986</a:t>
            </a:r>
            <a:endParaRPr lang="en-US" dirty="0"/>
          </a:p>
          <a:p>
            <a:endParaRPr lang="en-US" dirty="0"/>
          </a:p>
          <a:p>
            <a:r>
              <a:rPr lang="en-US" dirty="0"/>
              <a:t>actor is a user role (like end</a:t>
            </a:r>
            <a:r>
              <a:rPr lang="en-US" baseline="0" dirty="0"/>
              <a:t> user, manager, administrator)</a:t>
            </a:r>
          </a:p>
          <a:p>
            <a:endParaRPr lang="en-US" baseline="0" dirty="0"/>
          </a:p>
          <a:p>
            <a:r>
              <a:rPr lang="en-US" baseline="0" dirty="0"/>
              <a:t>take the scenarios or results of watching users, and define use cases</a:t>
            </a:r>
          </a:p>
          <a:p>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38</a:t>
            </a:fld>
            <a:endParaRPr lang="en-US"/>
          </a:p>
        </p:txBody>
      </p:sp>
    </p:spTree>
    <p:extLst>
      <p:ext uri="{BB962C8B-B14F-4D97-AF65-F5344CB8AC3E}">
        <p14:creationId xmlns:p14="http://schemas.microsoft.com/office/powerpoint/2010/main" val="33566865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use</a:t>
            </a:r>
            <a:r>
              <a:rPr lang="en-US" baseline="0" dirty="0"/>
              <a:t> cases have a diagrammatic part and a textual part</a:t>
            </a:r>
            <a:endParaRPr lang="en-US" dirty="0"/>
          </a:p>
          <a:p>
            <a:endParaRPr lang="en-US" dirty="0"/>
          </a:p>
          <a:p>
            <a:r>
              <a:rPr lang="en-US" dirty="0"/>
              <a:t>then it’s OO analysis (identify objects) after this</a:t>
            </a:r>
          </a:p>
        </p:txBody>
      </p:sp>
      <p:sp>
        <p:nvSpPr>
          <p:cNvPr id="4" name="Slide Number Placeholder 3"/>
          <p:cNvSpPr>
            <a:spLocks noGrp="1"/>
          </p:cNvSpPr>
          <p:nvPr>
            <p:ph type="sldNum" sz="quarter" idx="10"/>
          </p:nvPr>
        </p:nvSpPr>
        <p:spPr/>
        <p:txBody>
          <a:bodyPr/>
          <a:lstStyle/>
          <a:p>
            <a:fld id="{8ADD7956-AF07-4444-94C5-9D1D5FBA9C0F}" type="slidenum">
              <a:rPr lang="en-US" smtClean="0"/>
              <a:pPr/>
              <a:t>39</a:t>
            </a:fld>
            <a:endParaRPr lang="en-US"/>
          </a:p>
        </p:txBody>
      </p:sp>
    </p:spTree>
    <p:extLst>
      <p:ext uri="{BB962C8B-B14F-4D97-AF65-F5344CB8AC3E}">
        <p14:creationId xmlns:p14="http://schemas.microsoft.com/office/powerpoint/2010/main" val="7597662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similar to context diagram</a:t>
            </a:r>
          </a:p>
          <a:p>
            <a:endParaRPr lang="en-US" dirty="0"/>
          </a:p>
          <a:p>
            <a:r>
              <a:rPr lang="en-US" dirty="0"/>
              <a:t>also</a:t>
            </a:r>
            <a:r>
              <a:rPr lang="en-US" baseline="0" dirty="0"/>
              <a:t> relate actors to use cases with association, and what use cases (tasks) are supported by the system</a:t>
            </a:r>
          </a:p>
          <a:p>
            <a:r>
              <a:rPr lang="en-US" baseline="0" dirty="0"/>
              <a:t>- not features of the system (like search and browse components)</a:t>
            </a:r>
          </a:p>
          <a:p>
            <a:endParaRPr lang="en-US"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not always one user and the system, could have</a:t>
            </a:r>
            <a:r>
              <a:rPr lang="en-US" baseline="0" dirty="0"/>
              <a:t> one user communicate with a second user through the system</a:t>
            </a:r>
            <a:endParaRPr lang="en-US" dirty="0"/>
          </a:p>
          <a:p>
            <a:endParaRPr lang="en-US" baseline="0" dirty="0"/>
          </a:p>
          <a:p>
            <a:r>
              <a:rPr lang="en-US" baseline="0" dirty="0"/>
              <a:t>actor could be an external system</a:t>
            </a:r>
          </a:p>
          <a:p>
            <a:r>
              <a:rPr lang="en-US" baseline="0" dirty="0"/>
              <a:t>- e.g., other database system that the search talks to</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40</a:t>
            </a:fld>
            <a:endParaRPr lang="en-US"/>
          </a:p>
        </p:txBody>
      </p:sp>
    </p:spTree>
    <p:extLst>
      <p:ext uri="{BB962C8B-B14F-4D97-AF65-F5344CB8AC3E}">
        <p14:creationId xmlns:p14="http://schemas.microsoft.com/office/powerpoint/2010/main" val="648418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fully dressed example versus simplified</a:t>
            </a:r>
          </a:p>
          <a:p>
            <a:r>
              <a:rPr lang="en-US" dirty="0"/>
              <a:t>- use this as a basis of</a:t>
            </a:r>
            <a:r>
              <a:rPr lang="en-US" baseline="0" dirty="0"/>
              <a:t> a template for project use cases</a:t>
            </a:r>
            <a:endParaRPr lang="en-US" dirty="0"/>
          </a:p>
          <a:p>
            <a:endParaRPr lang="en-US" dirty="0"/>
          </a:p>
          <a:p>
            <a:r>
              <a:rPr lang="en-US" dirty="0"/>
              <a:t>unique name, or use an ID</a:t>
            </a:r>
          </a:p>
          <a:p>
            <a:endParaRPr lang="en-US" dirty="0"/>
          </a:p>
          <a:p>
            <a:r>
              <a:rPr lang="en-US" dirty="0"/>
              <a:t>primary actor here is a</a:t>
            </a:r>
            <a:r>
              <a:rPr lang="en-US" baseline="0" dirty="0"/>
              <a:t> Meal Planner</a:t>
            </a:r>
          </a:p>
          <a:p>
            <a:pPr marL="171450" indent="-171450">
              <a:buFontTx/>
              <a:buChar char="-"/>
            </a:pPr>
            <a:r>
              <a:rPr lang="en-US" baseline="0" dirty="0"/>
              <a:t>use case describes this actor trying to achieve a goal</a:t>
            </a:r>
          </a:p>
          <a:p>
            <a:pPr marL="171450" indent="-171450">
              <a:buFontTx/>
              <a:buChar char="-"/>
            </a:pPr>
            <a:r>
              <a:rPr lang="en-US" baseline="0" dirty="0"/>
              <a:t>point of view is the user</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42</a:t>
            </a:fld>
            <a:endParaRPr lang="en-US"/>
          </a:p>
        </p:txBody>
      </p:sp>
    </p:spTree>
    <p:extLst>
      <p:ext uri="{BB962C8B-B14F-4D97-AF65-F5344CB8AC3E}">
        <p14:creationId xmlns:p14="http://schemas.microsoft.com/office/powerpoint/2010/main" val="32688565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shows the interaction (back and forth exchange)</a:t>
            </a:r>
          </a:p>
          <a:p>
            <a:r>
              <a:rPr lang="en-US" dirty="0"/>
              <a:t>- use</a:t>
            </a:r>
            <a:r>
              <a:rPr lang="en-US" baseline="0" dirty="0"/>
              <a:t> cases are suited for capturing non-interactive requirements (e.g., algorithmic requirement)</a:t>
            </a:r>
            <a:endParaRPr lang="en-US" dirty="0"/>
          </a:p>
          <a:p>
            <a:endParaRPr lang="en-US" dirty="0"/>
          </a:p>
          <a:p>
            <a:r>
              <a:rPr lang="en-US" dirty="0"/>
              <a:t>system is considered a black box</a:t>
            </a:r>
            <a:r>
              <a:rPr lang="en-US" baseline="0" dirty="0"/>
              <a:t> (no detail on how it internally works)</a:t>
            </a:r>
          </a:p>
          <a:p>
            <a:pPr marL="171450" indent="-171450">
              <a:buFontTx/>
              <a:buChar char="-"/>
            </a:pPr>
            <a:r>
              <a:rPr lang="en-US" baseline="0" dirty="0"/>
              <a:t>focus on what the system does, not how (e.g., queries database)</a:t>
            </a:r>
          </a:p>
          <a:p>
            <a:pPr marL="171450" indent="-171450">
              <a:buFontTx/>
              <a:buChar char="-"/>
            </a:pPr>
            <a:endParaRPr lang="en-US" baseline="0" dirty="0"/>
          </a:p>
          <a:p>
            <a:pPr marL="0" indent="0">
              <a:buFontTx/>
              <a:buNone/>
            </a:pPr>
            <a:r>
              <a:rPr lang="en-US" baseline="0" dirty="0"/>
              <a:t>generally try to avoid implementation specific language</a:t>
            </a:r>
          </a:p>
          <a:p>
            <a:pPr marL="171450" indent="-171450">
              <a:buFontTx/>
              <a:buChar char="-"/>
            </a:pPr>
            <a:r>
              <a:rPr lang="en-US" baseline="0" dirty="0"/>
              <a:t>like user interface specifics, clicking OK button</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aseline="0" dirty="0"/>
              <a:t>passwords are just one choice of authentication technology</a:t>
            </a:r>
          </a:p>
          <a:p>
            <a:pPr marL="171450" indent="-171450">
              <a:buFontTx/>
              <a:buChar char="-"/>
            </a:pPr>
            <a:r>
              <a:rPr lang="en-US" dirty="0"/>
              <a:t>can be awkward</a:t>
            </a:r>
            <a:r>
              <a:rPr lang="en-US" baseline="0" dirty="0"/>
              <a:t> to abstract out the user interface</a:t>
            </a:r>
          </a:p>
          <a:p>
            <a:pPr marL="0" indent="0">
              <a:buFontTx/>
              <a:buNone/>
            </a:pP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43</a:t>
            </a:fld>
            <a:endParaRPr lang="en-US"/>
          </a:p>
        </p:txBody>
      </p:sp>
    </p:spTree>
    <p:extLst>
      <p:ext uri="{BB962C8B-B14F-4D97-AF65-F5344CB8AC3E}">
        <p14:creationId xmlns:p14="http://schemas.microsoft.com/office/powerpoint/2010/main" val="27131246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could add enough detail to help develop test cases</a:t>
            </a:r>
          </a:p>
          <a:p>
            <a:r>
              <a:rPr lang="en-US" dirty="0"/>
              <a:t>- in a more critical application, could specify</a:t>
            </a:r>
            <a:r>
              <a:rPr lang="en-US" baseline="0" dirty="0"/>
              <a:t> </a:t>
            </a:r>
            <a:r>
              <a:rPr lang="en-US" dirty="0"/>
              <a:t>field length, ranges, default values,</a:t>
            </a:r>
            <a:r>
              <a:rPr lang="en-US" baseline="0" dirty="0"/>
              <a:t> whether a field is mandatory or optional</a:t>
            </a:r>
            <a:endParaRPr lang="en-US" dirty="0"/>
          </a:p>
          <a:p>
            <a:endParaRPr lang="en-US" dirty="0"/>
          </a:p>
          <a:p>
            <a:r>
              <a:rPr lang="en-US" dirty="0"/>
              <a:t>more detail when</a:t>
            </a:r>
          </a:p>
          <a:p>
            <a:r>
              <a:rPr lang="en-US" dirty="0"/>
              <a:t>- team members cannot meet easily</a:t>
            </a:r>
          </a:p>
          <a:p>
            <a:r>
              <a:rPr lang="en-US" dirty="0"/>
              <a:t>- comprehensive testing needed</a:t>
            </a:r>
          </a:p>
          <a:p>
            <a:endParaRPr lang="en-US" dirty="0"/>
          </a:p>
          <a:p>
            <a:r>
              <a:rPr lang="en-US" dirty="0"/>
              <a:t>good</a:t>
            </a:r>
            <a:r>
              <a:rPr lang="en-US" baseline="0" dirty="0"/>
              <a:t> detail, but some resistance at the level of formality</a:t>
            </a:r>
          </a:p>
          <a:p>
            <a:endParaRPr lang="en-US" baseline="0" dirty="0"/>
          </a:p>
          <a:p>
            <a:r>
              <a:rPr lang="en-US" baseline="0" dirty="0"/>
              <a:t>if flow gets very complex, might be better to use a UML activity diagram (flow chart)</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44</a:t>
            </a:fld>
            <a:endParaRPr lang="en-US"/>
          </a:p>
        </p:txBody>
      </p:sp>
    </p:spTree>
    <p:extLst>
      <p:ext uri="{BB962C8B-B14F-4D97-AF65-F5344CB8AC3E}">
        <p14:creationId xmlns:p14="http://schemas.microsoft.com/office/powerpoint/2010/main" val="11874815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related artifacts (optional)</a:t>
            </a:r>
          </a:p>
          <a:p>
            <a:pPr marL="171450" indent="-171450">
              <a:buFontTx/>
              <a:buChar char="-"/>
            </a:pPr>
            <a:r>
              <a:rPr lang="en-US" dirty="0"/>
              <a:t>forward</a:t>
            </a:r>
            <a:r>
              <a:rPr lang="en-US" baseline="0" dirty="0"/>
              <a:t> traceability to a design artifact (UML class diagram with relevant classes)</a:t>
            </a:r>
          </a:p>
          <a:p>
            <a:pPr marL="171450" indent="-171450">
              <a:buFontTx/>
              <a:buChar char="-"/>
            </a:pPr>
            <a:r>
              <a:rPr lang="en-US" baseline="0" dirty="0"/>
              <a:t>link to user interface mockup or storyboard</a:t>
            </a:r>
          </a:p>
          <a:p>
            <a:pPr marL="0" indent="0">
              <a:buFontTx/>
              <a:buNone/>
            </a:pPr>
            <a:endParaRPr lang="en-US" baseline="0"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45</a:t>
            </a:fld>
            <a:endParaRPr lang="en-US"/>
          </a:p>
        </p:txBody>
      </p:sp>
    </p:spTree>
    <p:extLst>
      <p:ext uri="{BB962C8B-B14F-4D97-AF65-F5344CB8AC3E}">
        <p14:creationId xmlns:p14="http://schemas.microsoft.com/office/powerpoint/2010/main" val="11874815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also called business use case</a:t>
            </a:r>
          </a:p>
        </p:txBody>
      </p:sp>
      <p:sp>
        <p:nvSpPr>
          <p:cNvPr id="4" name="Slide Number Placeholder 3"/>
          <p:cNvSpPr>
            <a:spLocks noGrp="1"/>
          </p:cNvSpPr>
          <p:nvPr>
            <p:ph type="sldNum" sz="quarter" idx="10"/>
          </p:nvPr>
        </p:nvSpPr>
        <p:spPr/>
        <p:txBody>
          <a:bodyPr/>
          <a:lstStyle/>
          <a:p>
            <a:fld id="{8ADD7956-AF07-4444-94C5-9D1D5FBA9C0F}" type="slidenum">
              <a:rPr lang="en-US" smtClean="0"/>
              <a:pPr/>
              <a:t>46</a:t>
            </a:fld>
            <a:endParaRPr lang="en-US"/>
          </a:p>
        </p:txBody>
      </p:sp>
    </p:spTree>
    <p:extLst>
      <p:ext uri="{BB962C8B-B14F-4D97-AF65-F5344CB8AC3E}">
        <p14:creationId xmlns:p14="http://schemas.microsoft.com/office/powerpoint/2010/main" val="5648453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HCI</a:t>
            </a:r>
          </a:p>
          <a:p>
            <a:pPr marL="171450" indent="-171450">
              <a:buFontTx/>
              <a:buChar char="-"/>
            </a:pPr>
            <a:r>
              <a:rPr lang="en-US" dirty="0"/>
              <a:t>task analysis</a:t>
            </a:r>
          </a:p>
          <a:p>
            <a:pPr marL="171450" indent="-171450">
              <a:buFontTx/>
              <a:buChar char="-"/>
            </a:pPr>
            <a:r>
              <a:rPr lang="en-US" dirty="0"/>
              <a:t>cognitive walkthrough</a:t>
            </a:r>
          </a:p>
          <a:p>
            <a:pPr marL="171450" indent="-171450">
              <a:buFontTx/>
              <a:buChar char="-"/>
            </a:pPr>
            <a:r>
              <a:rPr lang="en-US" dirty="0"/>
              <a:t>would the user know what to do next?</a:t>
            </a:r>
          </a:p>
          <a:p>
            <a:pPr marL="171450" indent="-171450">
              <a:buFontTx/>
              <a:buChar char="-"/>
            </a:pPr>
            <a:endParaRPr lang="en-US" dirty="0"/>
          </a:p>
          <a:p>
            <a:pPr marL="0" indent="0">
              <a:buFontTx/>
              <a:buNone/>
            </a:pPr>
            <a:r>
              <a:rPr lang="en-US" dirty="0"/>
              <a:t>you’ll know it when it wasn’t thought through (no flow)</a:t>
            </a:r>
          </a:p>
          <a:p>
            <a:pPr marL="171450" indent="-171450">
              <a:buFontTx/>
              <a:buChar char="-"/>
            </a:pPr>
            <a:r>
              <a:rPr lang="en-US" dirty="0"/>
              <a:t>eyes</a:t>
            </a:r>
            <a:r>
              <a:rPr lang="en-US" baseline="0" dirty="0"/>
              <a:t> jumping around the dialog</a:t>
            </a:r>
          </a:p>
          <a:p>
            <a:pPr marL="171450" indent="-171450">
              <a:buFontTx/>
              <a:buChar char="-"/>
            </a:pPr>
            <a:r>
              <a:rPr lang="en-US" baseline="0" dirty="0"/>
              <a:t>hands moving a lot between keyboard and mouse</a:t>
            </a:r>
          </a:p>
          <a:p>
            <a:pPr marL="171450" indent="-171450">
              <a:buFontTx/>
              <a:buChar char="-"/>
            </a:pPr>
            <a:r>
              <a:rPr lang="en-US" baseline="0" dirty="0"/>
              <a:t>more mistakes</a:t>
            </a:r>
            <a:endParaRPr lang="en-US" dirty="0"/>
          </a:p>
          <a:p>
            <a:endParaRPr lang="en-US" dirty="0"/>
          </a:p>
          <a:p>
            <a:r>
              <a:rPr lang="en-US" dirty="0"/>
              <a:t>(system prompts)</a:t>
            </a:r>
          </a:p>
          <a:p>
            <a:r>
              <a:rPr lang="en-US" dirty="0"/>
              <a:t>user inserts card</a:t>
            </a:r>
          </a:p>
          <a:p>
            <a:r>
              <a:rPr lang="en-US" dirty="0"/>
              <a:t>(system prompts for language</a:t>
            </a:r>
          </a:p>
          <a:p>
            <a:r>
              <a:rPr lang="en-US" dirty="0"/>
              <a:t>user chooses language)</a:t>
            </a:r>
          </a:p>
          <a:p>
            <a:r>
              <a:rPr lang="en-US" dirty="0"/>
              <a:t>system prompts for PIN</a:t>
            </a:r>
          </a:p>
          <a:p>
            <a:r>
              <a:rPr lang="en-US" dirty="0"/>
              <a:t>user enters PIN</a:t>
            </a:r>
          </a:p>
          <a:p>
            <a:r>
              <a:rPr lang="en-US" dirty="0"/>
              <a:t>system shows choices</a:t>
            </a:r>
          </a:p>
          <a:p>
            <a:r>
              <a:rPr lang="en-US" dirty="0"/>
              <a:t>user chooses withdraw cash</a:t>
            </a:r>
          </a:p>
          <a:p>
            <a:r>
              <a:rPr lang="en-US" dirty="0"/>
              <a:t>system prompts for amount</a:t>
            </a:r>
          </a:p>
          <a:p>
            <a:r>
              <a:rPr lang="en-US" dirty="0"/>
              <a:t>user enters</a:t>
            </a:r>
            <a:r>
              <a:rPr lang="en-US" baseline="0" dirty="0"/>
              <a:t> amount</a:t>
            </a:r>
          </a:p>
          <a:p>
            <a:r>
              <a:rPr lang="en-US" baseline="0" dirty="0"/>
              <a:t>system ejects card (card before cash), highlighting slot</a:t>
            </a:r>
          </a:p>
          <a:p>
            <a:r>
              <a:rPr lang="en-US" baseline="0" dirty="0"/>
              <a:t>user takes card</a:t>
            </a:r>
          </a:p>
          <a:p>
            <a:r>
              <a:rPr lang="en-US" baseline="0" dirty="0"/>
              <a:t>system prints receipt</a:t>
            </a:r>
          </a:p>
          <a:p>
            <a:r>
              <a:rPr lang="en-US" baseline="0" dirty="0"/>
              <a:t>system dispenses cash</a:t>
            </a:r>
          </a:p>
          <a:p>
            <a:endParaRPr lang="en-US" baseline="0" dirty="0"/>
          </a:p>
          <a:p>
            <a:r>
              <a:rPr lang="en-US" baseline="0" dirty="0"/>
              <a:t>common mistake at chip terminals is forgetting to take back the card</a:t>
            </a:r>
          </a:p>
          <a:p>
            <a:endParaRPr lang="en-US" baseline="0" dirty="0"/>
          </a:p>
          <a:p>
            <a:r>
              <a:rPr lang="en-US" baseline="0" dirty="0"/>
              <a:t>consider chip card transaction, and forgetting card</a:t>
            </a:r>
          </a:p>
        </p:txBody>
      </p:sp>
      <p:sp>
        <p:nvSpPr>
          <p:cNvPr id="4" name="Slide Number Placeholder 3"/>
          <p:cNvSpPr>
            <a:spLocks noGrp="1"/>
          </p:cNvSpPr>
          <p:nvPr>
            <p:ph type="sldNum" sz="quarter" idx="10"/>
          </p:nvPr>
        </p:nvSpPr>
        <p:spPr/>
        <p:txBody>
          <a:bodyPr/>
          <a:lstStyle/>
          <a:p>
            <a:fld id="{8ADD7956-AF07-4444-94C5-9D1D5FBA9C0F}" type="slidenum">
              <a:rPr lang="en-US" smtClean="0"/>
              <a:pPr/>
              <a:t>47</a:t>
            </a:fld>
            <a:endParaRPr lang="en-US"/>
          </a:p>
        </p:txBody>
      </p:sp>
    </p:spTree>
    <p:extLst>
      <p:ext uri="{BB962C8B-B14F-4D97-AF65-F5344CB8AC3E}">
        <p14:creationId xmlns:p14="http://schemas.microsoft.com/office/powerpoint/2010/main" val="4628006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administrative tasks</a:t>
            </a:r>
          </a:p>
          <a:p>
            <a:endParaRPr lang="en-US" dirty="0"/>
          </a:p>
          <a:p>
            <a:r>
              <a:rPr lang="en-US" dirty="0"/>
              <a:t>consolidate and eliminate redundancies among use cases</a:t>
            </a:r>
          </a:p>
          <a:p>
            <a:endParaRPr lang="en-US" dirty="0"/>
          </a:p>
          <a:p>
            <a:r>
              <a:rPr lang="en-US" dirty="0"/>
              <a:t>included use case is required</a:t>
            </a:r>
          </a:p>
        </p:txBody>
      </p:sp>
      <p:sp>
        <p:nvSpPr>
          <p:cNvPr id="4" name="Slide Number Placeholder 3"/>
          <p:cNvSpPr>
            <a:spLocks noGrp="1"/>
          </p:cNvSpPr>
          <p:nvPr>
            <p:ph type="sldNum" sz="quarter" idx="10"/>
          </p:nvPr>
        </p:nvSpPr>
        <p:spPr/>
        <p:txBody>
          <a:bodyPr/>
          <a:lstStyle/>
          <a:p>
            <a:fld id="{8ADD7956-AF07-4444-94C5-9D1D5FBA9C0F}" type="slidenum">
              <a:rPr lang="en-US" smtClean="0"/>
              <a:pPr/>
              <a:t>48</a:t>
            </a:fld>
            <a:endParaRPr lang="en-US"/>
          </a:p>
        </p:txBody>
      </p:sp>
    </p:spTree>
    <p:extLst>
      <p:ext uri="{BB962C8B-B14F-4D97-AF65-F5344CB8AC3E}">
        <p14:creationId xmlns:p14="http://schemas.microsoft.com/office/powerpoint/2010/main" val="6499330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log error if debugging enabled</a:t>
            </a:r>
          </a:p>
          <a:p>
            <a:endParaRPr lang="en-US" dirty="0"/>
          </a:p>
          <a:p>
            <a:r>
              <a:rPr lang="en-US" dirty="0"/>
              <a:t>some ambiguity here</a:t>
            </a:r>
          </a:p>
        </p:txBody>
      </p:sp>
      <p:sp>
        <p:nvSpPr>
          <p:cNvPr id="4" name="Slide Number Placeholder 3"/>
          <p:cNvSpPr>
            <a:spLocks noGrp="1"/>
          </p:cNvSpPr>
          <p:nvPr>
            <p:ph type="sldNum" sz="quarter" idx="10"/>
          </p:nvPr>
        </p:nvSpPr>
        <p:spPr/>
        <p:txBody>
          <a:bodyPr/>
          <a:lstStyle/>
          <a:p>
            <a:fld id="{8ADD7956-AF07-4444-94C5-9D1D5FBA9C0F}" type="slidenum">
              <a:rPr lang="en-US" smtClean="0"/>
              <a:pPr/>
              <a:t>49</a:t>
            </a:fld>
            <a:endParaRPr lang="en-US"/>
          </a:p>
        </p:txBody>
      </p:sp>
    </p:spTree>
    <p:extLst>
      <p:ext uri="{BB962C8B-B14F-4D97-AF65-F5344CB8AC3E}">
        <p14:creationId xmlns:p14="http://schemas.microsoft.com/office/powerpoint/2010/main" val="6499330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50</a:t>
            </a:fld>
            <a:endParaRPr lang="en-US"/>
          </a:p>
        </p:txBody>
      </p:sp>
    </p:spTree>
    <p:extLst>
      <p:ext uri="{BB962C8B-B14F-4D97-AF65-F5344CB8AC3E}">
        <p14:creationId xmlns:p14="http://schemas.microsoft.com/office/powerpoint/2010/main" val="6499330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storyboard</a:t>
            </a:r>
            <a:r>
              <a:rPr lang="en-US" baseline="0" dirty="0"/>
              <a:t> is a state model</a:t>
            </a:r>
            <a:endParaRPr lang="en-US" dirty="0"/>
          </a:p>
          <a:p>
            <a:endParaRPr lang="en-US" dirty="0"/>
          </a:p>
          <a:p>
            <a:r>
              <a:rPr lang="en-US" dirty="0"/>
              <a:t>state models</a:t>
            </a:r>
          </a:p>
          <a:p>
            <a:endParaRPr lang="en-US" dirty="0"/>
          </a:p>
          <a:p>
            <a:r>
              <a:rPr lang="en-US" dirty="0"/>
              <a:t>blurred line between requirements</a:t>
            </a:r>
            <a:r>
              <a:rPr lang="en-US" baseline="0" dirty="0"/>
              <a:t> </a:t>
            </a:r>
            <a:r>
              <a:rPr lang="en-US" baseline="0"/>
              <a:t>and design</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52</a:t>
            </a:fld>
            <a:endParaRPr lang="en-US"/>
          </a:p>
        </p:txBody>
      </p:sp>
    </p:spTree>
    <p:extLst>
      <p:ext uri="{BB962C8B-B14F-4D97-AF65-F5344CB8AC3E}">
        <p14:creationId xmlns:p14="http://schemas.microsoft.com/office/powerpoint/2010/main" val="57425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53</a:t>
            </a:fld>
            <a:endParaRPr lang="en-US"/>
          </a:p>
        </p:txBody>
      </p:sp>
    </p:spTree>
    <p:extLst>
      <p:ext uri="{BB962C8B-B14F-4D97-AF65-F5344CB8AC3E}">
        <p14:creationId xmlns:p14="http://schemas.microsoft.com/office/powerpoint/2010/main" val="407463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state of something</a:t>
            </a:r>
          </a:p>
          <a:p>
            <a:r>
              <a:rPr lang="en-US" dirty="0"/>
              <a:t>- if that something is you</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 you might be in a happy state</a:t>
            </a:r>
            <a:r>
              <a:rPr lang="en-US" baseline="0" dirty="0"/>
              <a:t> or sad state</a:t>
            </a:r>
          </a:p>
          <a:p>
            <a:endParaRPr lang="en-US" dirty="0"/>
          </a:p>
          <a:p>
            <a:r>
              <a:rPr lang="en-US" dirty="0"/>
              <a:t>something can be the system,</a:t>
            </a:r>
            <a:r>
              <a:rPr lang="en-US" baseline="0" dirty="0"/>
              <a:t> a state representing a snapshot of its memory</a:t>
            </a:r>
          </a:p>
          <a:p>
            <a:pPr marL="171450" indent="-171450">
              <a:buFontTx/>
              <a:buChar char="-"/>
            </a:pPr>
            <a:r>
              <a:rPr lang="en-US" baseline="0" dirty="0"/>
              <a:t>often too big, 2 </a:t>
            </a:r>
            <a:r>
              <a:rPr lang="en-US" baseline="0" dirty="0" err="1"/>
              <a:t>boolean</a:t>
            </a:r>
            <a:r>
              <a:rPr lang="en-US" baseline="0" dirty="0"/>
              <a:t> variables, need four states</a:t>
            </a:r>
          </a:p>
          <a:p>
            <a:pPr marL="171450" indent="-171450">
              <a:buFontTx/>
              <a:buChar char="-"/>
            </a:pPr>
            <a:r>
              <a:rPr lang="en-US" baseline="0" dirty="0"/>
              <a:t>something more specific, maybe a specific object</a:t>
            </a:r>
            <a:endParaRPr lang="en-US" dirty="0"/>
          </a:p>
          <a:p>
            <a:endParaRPr lang="en-US" baseline="0" dirty="0"/>
          </a:p>
          <a:p>
            <a:r>
              <a:rPr lang="en-US" baseline="0" dirty="0"/>
              <a:t>if the thing is in a certain state, and a matching event occurs, take the corresponding transition, doing the action, to the next state</a:t>
            </a:r>
          </a:p>
          <a:p>
            <a:endParaRPr lang="en-US" baseline="0" dirty="0"/>
          </a:p>
          <a:p>
            <a:r>
              <a:rPr lang="en-US" dirty="0"/>
              <a:t>also finite state machine, state transition network, state chart</a:t>
            </a:r>
          </a:p>
          <a:p>
            <a:r>
              <a:rPr lang="en-US" dirty="0"/>
              <a:t>- not a flow chart (transition takes place when matching event happens)</a:t>
            </a:r>
          </a:p>
          <a:p>
            <a:endParaRPr lang="en-US" dirty="0"/>
          </a:p>
          <a:p>
            <a:r>
              <a:rPr lang="en-US" dirty="0"/>
              <a:t>later, how to implement a design for this</a:t>
            </a:r>
          </a:p>
          <a:p>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54</a:t>
            </a:fld>
            <a:endParaRPr lang="en-US"/>
          </a:p>
        </p:txBody>
      </p:sp>
    </p:spTree>
    <p:extLst>
      <p:ext uri="{BB962C8B-B14F-4D97-AF65-F5344CB8AC3E}">
        <p14:creationId xmlns:p14="http://schemas.microsoft.com/office/powerpoint/2010/main" val="13027704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behavior of a hotel</a:t>
            </a:r>
            <a:r>
              <a:rPr lang="en-US" baseline="0" dirty="0"/>
              <a:t> reservation system for a client user</a:t>
            </a:r>
          </a:p>
          <a:p>
            <a:pPr marL="171450" indent="-171450">
              <a:buFontTx/>
              <a:buChar char="-"/>
            </a:pPr>
            <a:r>
              <a:rPr lang="en-US" baseline="0" dirty="0"/>
              <a:t>states of a client user record object</a:t>
            </a:r>
          </a:p>
          <a:p>
            <a:pPr marL="0" indent="0">
              <a:buFontTx/>
              <a:buNone/>
            </a:pPr>
            <a:endParaRPr lang="en-US"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trigger</a:t>
            </a:r>
            <a:r>
              <a:rPr lang="en-US" baseline="0" dirty="0"/>
              <a:t> / effect</a:t>
            </a:r>
          </a:p>
          <a:p>
            <a:pPr marL="0" indent="0">
              <a:buFontTx/>
              <a:buNone/>
            </a:pPr>
            <a:endParaRPr lang="en-US" baseline="0" dirty="0"/>
          </a:p>
          <a:p>
            <a:pPr marL="0" indent="0">
              <a:buFontTx/>
              <a:buNone/>
            </a:pPr>
            <a:r>
              <a:rPr lang="en-US" baseline="0" dirty="0"/>
              <a:t>choice (branching) at Reserved</a:t>
            </a:r>
          </a:p>
          <a:p>
            <a:pPr marL="0" indent="0">
              <a:buFontTx/>
              <a:buNone/>
            </a:pPr>
            <a:endParaRPr lang="en-US" dirty="0"/>
          </a:p>
          <a:p>
            <a:r>
              <a:rPr lang="en-US" dirty="0"/>
              <a:t>used for complex behaviors</a:t>
            </a:r>
          </a:p>
          <a:p>
            <a:pPr marL="171450" indent="-171450">
              <a:buFontTx/>
              <a:buChar char="-"/>
            </a:pPr>
            <a:r>
              <a:rPr lang="en-US" dirty="0"/>
              <a:t>communication</a:t>
            </a:r>
            <a:r>
              <a:rPr lang="en-US" baseline="0" dirty="0"/>
              <a:t> protocols (network connection object in a connected state, sending state, waiting for acknowledgement state, disconnected state)</a:t>
            </a:r>
          </a:p>
          <a:p>
            <a:pPr marL="171450" indent="-171450">
              <a:buFontTx/>
              <a:buChar char="-"/>
            </a:pPr>
            <a:r>
              <a:rPr lang="en-US" baseline="0" dirty="0"/>
              <a:t>user interfaces (clipboard)</a:t>
            </a:r>
          </a:p>
          <a:p>
            <a:pPr marL="0" indent="0">
              <a:buFontTx/>
              <a:buNone/>
            </a:pPr>
            <a:endParaRPr lang="en-US" baseline="0" dirty="0"/>
          </a:p>
          <a:p>
            <a:endParaRPr lang="en-US" baseline="0"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55</a:t>
            </a:fld>
            <a:endParaRPr lang="en-US"/>
          </a:p>
        </p:txBody>
      </p:sp>
    </p:spTree>
    <p:extLst>
      <p:ext uri="{BB962C8B-B14F-4D97-AF65-F5344CB8AC3E}">
        <p14:creationId xmlns:p14="http://schemas.microsoft.com/office/powerpoint/2010/main" val="21847966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something is in a certain state at some point in time</a:t>
            </a:r>
          </a:p>
          <a:p>
            <a:endParaRPr lang="en-US" dirty="0"/>
          </a:p>
          <a:p>
            <a:r>
              <a:rPr lang="en-US" dirty="0"/>
              <a:t>atomic</a:t>
            </a:r>
            <a:r>
              <a:rPr lang="en-US" baseline="0" dirty="0"/>
              <a:t> actions</a:t>
            </a:r>
          </a:p>
          <a:p>
            <a:endParaRPr lang="en-US" baseline="0" dirty="0"/>
          </a:p>
          <a:p>
            <a:r>
              <a:rPr lang="en-US" baseline="0" dirty="0"/>
              <a:t>can add processing to states</a:t>
            </a:r>
          </a:p>
          <a:p>
            <a:r>
              <a:rPr lang="en-US" baseline="0" dirty="0"/>
              <a:t>- confounds the notion that state diagrams and flow charts are different things</a:t>
            </a:r>
            <a:endParaRPr lang="en-US" dirty="0"/>
          </a:p>
          <a:p>
            <a:endParaRPr lang="en-US" dirty="0"/>
          </a:p>
          <a:p>
            <a:r>
              <a:rPr lang="en-US" dirty="0"/>
              <a:t>state of being happy, of smiling, of having candy</a:t>
            </a:r>
          </a:p>
        </p:txBody>
      </p:sp>
      <p:sp>
        <p:nvSpPr>
          <p:cNvPr id="4" name="Slide Number Placeholder 3"/>
          <p:cNvSpPr>
            <a:spLocks noGrp="1"/>
          </p:cNvSpPr>
          <p:nvPr>
            <p:ph type="sldNum" sz="quarter" idx="10"/>
          </p:nvPr>
        </p:nvSpPr>
        <p:spPr/>
        <p:txBody>
          <a:bodyPr/>
          <a:lstStyle/>
          <a:p>
            <a:fld id="{8ADD7956-AF07-4444-94C5-9D1D5FBA9C0F}" type="slidenum">
              <a:rPr lang="en-US" smtClean="0"/>
              <a:pPr/>
              <a:t>56</a:t>
            </a:fld>
            <a:endParaRPr lang="en-US"/>
          </a:p>
        </p:txBody>
      </p:sp>
    </p:spTree>
    <p:extLst>
      <p:ext uri="{BB962C8B-B14F-4D97-AF65-F5344CB8AC3E}">
        <p14:creationId xmlns:p14="http://schemas.microsoft.com/office/powerpoint/2010/main" val="10948668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optional</a:t>
            </a:r>
            <a:r>
              <a:rPr lang="en-US" baseline="0" dirty="0"/>
              <a:t> parts</a:t>
            </a:r>
          </a:p>
          <a:p>
            <a:pPr marL="171450" indent="-171450">
              <a:buFontTx/>
              <a:buChar char="-"/>
            </a:pPr>
            <a:r>
              <a:rPr lang="en-US" baseline="0" dirty="0"/>
              <a:t>no guard</a:t>
            </a:r>
          </a:p>
          <a:p>
            <a:pPr marL="171450" indent="-171450">
              <a:buFontTx/>
              <a:buChar char="-"/>
            </a:pPr>
            <a:r>
              <a:rPr lang="en-US" baseline="0" dirty="0"/>
              <a:t>no transition effect</a:t>
            </a:r>
          </a:p>
          <a:p>
            <a:pPr marL="171450" indent="-171450">
              <a:buFontTx/>
              <a:buChar char="-"/>
            </a:pPr>
            <a:endParaRPr lang="en-US" baseline="0" dirty="0"/>
          </a:p>
          <a:p>
            <a:pPr marL="0" indent="0">
              <a:buFontTx/>
              <a:buNone/>
            </a:pPr>
            <a:r>
              <a:rPr lang="en-US" baseline="0" dirty="0"/>
              <a:t>transitions are essentially instant</a:t>
            </a: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57</a:t>
            </a:fld>
            <a:endParaRPr lang="en-US"/>
          </a:p>
        </p:txBody>
      </p:sp>
    </p:spTree>
    <p:extLst>
      <p:ext uri="{BB962C8B-B14F-4D97-AF65-F5344CB8AC3E}">
        <p14:creationId xmlns:p14="http://schemas.microsoft.com/office/powerpoint/2010/main" val="11190733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example for setting the day</a:t>
            </a:r>
            <a:r>
              <a:rPr lang="en-US" baseline="0" dirty="0"/>
              <a:t> and month on a watch</a:t>
            </a:r>
          </a:p>
          <a:p>
            <a:endParaRPr lang="en-US" baseline="0" dirty="0"/>
          </a:p>
          <a:p>
            <a:r>
              <a:rPr lang="en-US" baseline="0" dirty="0"/>
              <a:t>can have composite state including a state diagram inside it</a:t>
            </a:r>
          </a:p>
          <a:p>
            <a:endParaRPr lang="en-US" baseline="0"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59</a:t>
            </a:fld>
            <a:endParaRPr lang="en-US"/>
          </a:p>
        </p:txBody>
      </p:sp>
    </p:spTree>
    <p:extLst>
      <p:ext uri="{BB962C8B-B14F-4D97-AF65-F5344CB8AC3E}">
        <p14:creationId xmlns:p14="http://schemas.microsoft.com/office/powerpoint/2010/main" val="15025449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60</a:t>
            </a:fld>
            <a:endParaRPr lang="en-US"/>
          </a:p>
        </p:txBody>
      </p:sp>
    </p:spTree>
    <p:extLst>
      <p:ext uri="{BB962C8B-B14F-4D97-AF65-F5344CB8AC3E}">
        <p14:creationId xmlns:p14="http://schemas.microsoft.com/office/powerpoint/2010/main" val="1268904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what states?</a:t>
            </a:r>
          </a:p>
          <a:p>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62</a:t>
            </a:fld>
            <a:endParaRPr lang="en-US"/>
          </a:p>
        </p:txBody>
      </p:sp>
    </p:spTree>
    <p:extLst>
      <p:ext uri="{BB962C8B-B14F-4D97-AF65-F5344CB8AC3E}">
        <p14:creationId xmlns:p14="http://schemas.microsoft.com/office/powerpoint/2010/main" val="16137195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drag is example of iteration</a:t>
            </a:r>
          </a:p>
          <a:p>
            <a:endParaRPr lang="en-US" dirty="0"/>
          </a:p>
          <a:p>
            <a:r>
              <a:rPr lang="en-US" dirty="0"/>
              <a:t>(x, y) is</a:t>
            </a:r>
            <a:r>
              <a:rPr lang="en-US" baseline="0" dirty="0"/>
              <a:t> location of mouse</a:t>
            </a:r>
            <a:endParaRPr lang="en-US" dirty="0"/>
          </a:p>
          <a:p>
            <a:endParaRPr lang="en-US" dirty="0"/>
          </a:p>
          <a:p>
            <a:r>
              <a:rPr lang="en-US" dirty="0"/>
              <a:t>easier to check for incompleteness in diagram than in textual description</a:t>
            </a:r>
          </a:p>
          <a:p>
            <a:endParaRPr lang="en-US" dirty="0"/>
          </a:p>
          <a:p>
            <a:r>
              <a:rPr lang="en-US" dirty="0"/>
              <a:t>what if user places on top of another item?</a:t>
            </a:r>
          </a:p>
          <a:p>
            <a:endParaRPr lang="en-US" dirty="0"/>
          </a:p>
          <a:p>
            <a:r>
              <a:rPr lang="en-US" dirty="0"/>
              <a:t>states reachable?</a:t>
            </a:r>
          </a:p>
          <a:p>
            <a:r>
              <a:rPr lang="en-US" dirty="0"/>
              <a:t>missing</a:t>
            </a:r>
            <a:r>
              <a:rPr lang="en-US" baseline="0" dirty="0"/>
              <a:t> transitions?</a:t>
            </a:r>
          </a:p>
          <a:p>
            <a:r>
              <a:rPr lang="en-US" baseline="0" dirty="0"/>
              <a:t>missing events to consider?</a:t>
            </a:r>
            <a:endParaRPr lang="en-US" dirty="0"/>
          </a:p>
          <a:p>
            <a:endParaRPr lang="en-US" dirty="0"/>
          </a:p>
          <a:p>
            <a:r>
              <a:rPr lang="en-US" dirty="0"/>
              <a:t>getting stuck in a state</a:t>
            </a:r>
          </a:p>
        </p:txBody>
      </p:sp>
      <p:sp>
        <p:nvSpPr>
          <p:cNvPr id="4" name="Slide Number Placeholder 3"/>
          <p:cNvSpPr>
            <a:spLocks noGrp="1"/>
          </p:cNvSpPr>
          <p:nvPr>
            <p:ph type="sldNum" sz="quarter" idx="10"/>
          </p:nvPr>
        </p:nvSpPr>
        <p:spPr/>
        <p:txBody>
          <a:bodyPr/>
          <a:lstStyle/>
          <a:p>
            <a:fld id="{8ADD7956-AF07-4444-94C5-9D1D5FBA9C0F}" type="slidenum">
              <a:rPr lang="en-US" smtClean="0"/>
              <a:pPr/>
              <a:t>64</a:t>
            </a:fld>
            <a:endParaRPr lang="en-US"/>
          </a:p>
        </p:txBody>
      </p:sp>
    </p:spTree>
    <p:extLst>
      <p:ext uri="{BB962C8B-B14F-4D97-AF65-F5344CB8AC3E}">
        <p14:creationId xmlns:p14="http://schemas.microsoft.com/office/powerpoint/2010/main" val="33213889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better to find out problems early, than</a:t>
            </a:r>
            <a:r>
              <a:rPr lang="en-US" baseline="0" dirty="0"/>
              <a:t> later in testing</a:t>
            </a:r>
          </a:p>
          <a:p>
            <a:endParaRPr lang="en-US" baseline="0" dirty="0"/>
          </a:p>
          <a:p>
            <a:r>
              <a:rPr lang="en-US" baseline="0" dirty="0"/>
              <a:t>use model checkers</a:t>
            </a:r>
            <a:endParaRPr lang="en-US" dirty="0"/>
          </a:p>
          <a:p>
            <a:endParaRPr lang="en-US" dirty="0"/>
          </a:p>
          <a:p>
            <a:pPr marL="0" indent="0">
              <a:buFontTx/>
              <a:buNone/>
            </a:pP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65</a:t>
            </a:fld>
            <a:endParaRPr lang="en-US"/>
          </a:p>
        </p:txBody>
      </p:sp>
    </p:spTree>
    <p:extLst>
      <p:ext uri="{BB962C8B-B14F-4D97-AF65-F5344CB8AC3E}">
        <p14:creationId xmlns:p14="http://schemas.microsoft.com/office/powerpoint/2010/main" val="6592747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reversibility</a:t>
            </a:r>
          </a:p>
          <a:p>
            <a:pPr marL="171450" indent="-171450">
              <a:buFontTx/>
              <a:buChar char="-"/>
            </a:pPr>
            <a:r>
              <a:rPr lang="en-US" dirty="0"/>
              <a:t>does it make sense to go back to previous states (undo)</a:t>
            </a:r>
          </a:p>
          <a:p>
            <a:pPr marL="171450" indent="-171450">
              <a:buFontTx/>
              <a:buChar char="-"/>
            </a:pPr>
            <a:r>
              <a:rPr lang="en-US" dirty="0"/>
              <a:t>is</a:t>
            </a:r>
            <a:r>
              <a:rPr lang="en-US" baseline="0" dirty="0"/>
              <a:t> help relevant in a state?</a:t>
            </a:r>
            <a:endParaRPr lang="en-US" dirty="0"/>
          </a:p>
          <a:p>
            <a:pPr marL="0" indent="0">
              <a:buFontTx/>
              <a:buNone/>
            </a:pPr>
            <a:endParaRPr lang="en-US" dirty="0"/>
          </a:p>
          <a:p>
            <a:pPr marL="0" indent="0">
              <a:buFontTx/>
              <a:buNone/>
            </a:pPr>
            <a:endParaRPr lang="en-US" dirty="0"/>
          </a:p>
        </p:txBody>
      </p:sp>
      <p:sp>
        <p:nvSpPr>
          <p:cNvPr id="4" name="Slide Number Placeholder 3"/>
          <p:cNvSpPr>
            <a:spLocks noGrp="1"/>
          </p:cNvSpPr>
          <p:nvPr>
            <p:ph type="sldNum" sz="quarter" idx="10"/>
          </p:nvPr>
        </p:nvSpPr>
        <p:spPr/>
        <p:txBody>
          <a:bodyPr/>
          <a:lstStyle/>
          <a:p>
            <a:fld id="{8ADD7956-AF07-4444-94C5-9D1D5FBA9C0F}" type="slidenum">
              <a:rPr lang="en-US" smtClean="0"/>
              <a:pPr/>
              <a:t>66</a:t>
            </a:fld>
            <a:endParaRPr lang="en-US"/>
          </a:p>
        </p:txBody>
      </p:sp>
    </p:spTree>
    <p:extLst>
      <p:ext uri="{BB962C8B-B14F-4D97-AF65-F5344CB8AC3E}">
        <p14:creationId xmlns:p14="http://schemas.microsoft.com/office/powerpoint/2010/main" val="6592747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280EE6-4668-8F48-AA6C-297873FB6A42}" type="slidenum">
              <a:rPr lang="en-US"/>
              <a:pPr/>
              <a:t>68</a:t>
            </a:fld>
            <a:endParaRPr lang="en-US"/>
          </a:p>
        </p:txBody>
      </p:sp>
      <p:sp>
        <p:nvSpPr>
          <p:cNvPr id="69017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ma14="http://schemas.microsoft.com/office/mac/drawingml/2011/main" xmlns="" val="1"/>
            </a:ext>
          </a:extLst>
        </p:spPr>
      </p:sp>
      <p:sp>
        <p:nvSpPr>
          <p:cNvPr id="69017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CD19B0-5997-D74C-8BA1-4298626F5390}" type="slidenum">
              <a:rPr lang="en-US" smtClean="0"/>
              <a:pPr/>
              <a:t>‹#›</a:t>
            </a:fld>
            <a:endParaRPr lang="en-US"/>
          </a:p>
        </p:txBody>
      </p:sp>
    </p:spTree>
    <p:extLst>
      <p:ext uri="{BB962C8B-B14F-4D97-AF65-F5344CB8AC3E}">
        <p14:creationId xmlns:p14="http://schemas.microsoft.com/office/powerpoint/2010/main" val="4033633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DD82E7-7C10-744D-AD9E-31500693C936}" type="slidenum">
              <a:rPr lang="en-US" smtClean="0"/>
              <a:pPr/>
              <a:t>‹#›</a:t>
            </a:fld>
            <a:endParaRPr lang="en-US"/>
          </a:p>
        </p:txBody>
      </p:sp>
    </p:spTree>
    <p:extLst>
      <p:ext uri="{BB962C8B-B14F-4D97-AF65-F5344CB8AC3E}">
        <p14:creationId xmlns:p14="http://schemas.microsoft.com/office/powerpoint/2010/main" val="135785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417E5-0010-4646-B9AC-DCAE8E418669}" type="slidenum">
              <a:rPr lang="en-US" smtClean="0"/>
              <a:pPr/>
              <a:t>‹#›</a:t>
            </a:fld>
            <a:endParaRPr lang="en-US"/>
          </a:p>
        </p:txBody>
      </p:sp>
    </p:spTree>
    <p:extLst>
      <p:ext uri="{BB962C8B-B14F-4D97-AF65-F5344CB8AC3E}">
        <p14:creationId xmlns:p14="http://schemas.microsoft.com/office/powerpoint/2010/main" val="2409148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058792-7184-754F-AA50-C139534906BD}" type="slidenum">
              <a:rPr lang="en-US" smtClean="0"/>
              <a:pPr/>
              <a:t>‹#›</a:t>
            </a:fld>
            <a:endParaRPr lang="en-US"/>
          </a:p>
        </p:txBody>
      </p:sp>
    </p:spTree>
    <p:extLst>
      <p:ext uri="{BB962C8B-B14F-4D97-AF65-F5344CB8AC3E}">
        <p14:creationId xmlns:p14="http://schemas.microsoft.com/office/powerpoint/2010/main" val="155515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CEEBFF-1E35-A74B-88FE-8D13FA813C2B}" type="slidenum">
              <a:rPr lang="en-US" smtClean="0"/>
              <a:pPr/>
              <a:t>‹#›</a:t>
            </a:fld>
            <a:endParaRPr lang="en-US"/>
          </a:p>
        </p:txBody>
      </p:sp>
    </p:spTree>
    <p:extLst>
      <p:ext uri="{BB962C8B-B14F-4D97-AF65-F5344CB8AC3E}">
        <p14:creationId xmlns:p14="http://schemas.microsoft.com/office/powerpoint/2010/main" val="3978619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6B2A3E-6E5A-7144-90DA-3333D7D38B7F}" type="slidenum">
              <a:rPr lang="en-US" smtClean="0"/>
              <a:pPr/>
              <a:t>‹#›</a:t>
            </a:fld>
            <a:endParaRPr lang="en-US"/>
          </a:p>
        </p:txBody>
      </p:sp>
    </p:spTree>
    <p:extLst>
      <p:ext uri="{BB962C8B-B14F-4D97-AF65-F5344CB8AC3E}">
        <p14:creationId xmlns:p14="http://schemas.microsoft.com/office/powerpoint/2010/main" val="2497123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321B6E-60F6-BE49-AAEB-0AE731B1E195}" type="slidenum">
              <a:rPr lang="en-US" smtClean="0"/>
              <a:pPr/>
              <a:t>‹#›</a:t>
            </a:fld>
            <a:endParaRPr lang="en-US"/>
          </a:p>
        </p:txBody>
      </p:sp>
    </p:spTree>
    <p:extLst>
      <p:ext uri="{BB962C8B-B14F-4D97-AF65-F5344CB8AC3E}">
        <p14:creationId xmlns:p14="http://schemas.microsoft.com/office/powerpoint/2010/main" val="89608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4BDD17-9DDC-2846-9F7B-24B15FF0D6FD}" type="slidenum">
              <a:rPr lang="en-US" smtClean="0"/>
              <a:pPr/>
              <a:t>‹#›</a:t>
            </a:fld>
            <a:endParaRPr lang="en-US"/>
          </a:p>
        </p:txBody>
      </p:sp>
    </p:spTree>
    <p:extLst>
      <p:ext uri="{BB962C8B-B14F-4D97-AF65-F5344CB8AC3E}">
        <p14:creationId xmlns:p14="http://schemas.microsoft.com/office/powerpoint/2010/main" val="3850048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FDD237-C8B8-AD49-B848-AEB03E97F4EC}" type="slidenum">
              <a:rPr lang="en-US" smtClean="0"/>
              <a:pPr/>
              <a:t>‹#›</a:t>
            </a:fld>
            <a:endParaRPr lang="en-US"/>
          </a:p>
        </p:txBody>
      </p:sp>
    </p:spTree>
    <p:extLst>
      <p:ext uri="{BB962C8B-B14F-4D97-AF65-F5344CB8AC3E}">
        <p14:creationId xmlns:p14="http://schemas.microsoft.com/office/powerpoint/2010/main" val="878571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64D67A-6B60-6145-957F-C023B1B678E6}" type="slidenum">
              <a:rPr lang="en-US" smtClean="0"/>
              <a:pPr/>
              <a:t>‹#›</a:t>
            </a:fld>
            <a:endParaRPr lang="en-US"/>
          </a:p>
        </p:txBody>
      </p:sp>
    </p:spTree>
    <p:extLst>
      <p:ext uri="{BB962C8B-B14F-4D97-AF65-F5344CB8AC3E}">
        <p14:creationId xmlns:p14="http://schemas.microsoft.com/office/powerpoint/2010/main" val="2895160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5B81A-CE2B-9244-A3AB-90B5AC75A9BF}" type="slidenum">
              <a:rPr lang="en-US" smtClean="0"/>
              <a:pPr/>
              <a:t>‹#›</a:t>
            </a:fld>
            <a:endParaRPr lang="en-US"/>
          </a:p>
        </p:txBody>
      </p:sp>
    </p:spTree>
    <p:extLst>
      <p:ext uri="{BB962C8B-B14F-4D97-AF65-F5344CB8AC3E}">
        <p14:creationId xmlns:p14="http://schemas.microsoft.com/office/powerpoint/2010/main" val="2531247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4F4CC0-B153-9849-A05F-816B3D0B28E2}" type="slidenum">
              <a:rPr lang="en-US" smtClean="0"/>
              <a:pPr/>
              <a:t>‹#›</a:t>
            </a:fld>
            <a:endParaRPr lang="en-US"/>
          </a:p>
        </p:txBody>
      </p:sp>
    </p:spTree>
    <p:extLst>
      <p:ext uri="{BB962C8B-B14F-4D97-AF65-F5344CB8AC3E}">
        <p14:creationId xmlns:p14="http://schemas.microsoft.com/office/powerpoint/2010/main" val="351669490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projectsmart.co.uk/it-project-management/the-curious-case-of-the-chaos-report-2009.php"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xp123.com/invest-in-good-stories-and-smart-task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xp123.com/invest-in-good-stories-and-smart-tasks/"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ronjeffries.com/xprog/articles/expcardconversationconfirmation/"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www.dilbert.com/strips/comic/2003-01-10/"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www.mountaingoatsoftware.com/presentations/introduction-to-user-stori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E5A1-D681-F83A-1E09-3A34736D0D92}"/>
              </a:ext>
            </a:extLst>
          </p:cNvPr>
          <p:cNvSpPr>
            <a:spLocks noGrp="1"/>
          </p:cNvSpPr>
          <p:nvPr>
            <p:ph type="ctrTitle"/>
          </p:nvPr>
        </p:nvSpPr>
        <p:spPr>
          <a:xfrm>
            <a:off x="-1" y="939892"/>
            <a:ext cx="12192000" cy="2387600"/>
          </a:xfrm>
        </p:spPr>
        <p:txBody>
          <a:bodyPr>
            <a:normAutofit/>
          </a:bodyPr>
          <a:lstStyle/>
          <a:p>
            <a:r>
              <a:rPr lang="en-US" sz="6000" dirty="0"/>
              <a:t>Requirements</a:t>
            </a:r>
            <a:endParaRPr lang="en-CA" dirty="0"/>
          </a:p>
        </p:txBody>
      </p:sp>
      <p:pic>
        <p:nvPicPr>
          <p:cNvPr id="6" name="UA-COLOUR.png" descr="UA-COLOUR.png">
            <a:extLst>
              <a:ext uri="{FF2B5EF4-FFF2-40B4-BE49-F238E27FC236}">
                <a16:creationId xmlns:a16="http://schemas.microsoft.com/office/drawing/2014/main" id="{685CE709-56F6-C1CA-7176-E9AE3428D1CA}"/>
              </a:ext>
            </a:extLst>
          </p:cNvPr>
          <p:cNvPicPr>
            <a:picLocks noChangeAspect="1"/>
          </p:cNvPicPr>
          <p:nvPr/>
        </p:nvPicPr>
        <p:blipFill>
          <a:blip r:embed="rId2"/>
          <a:stretch>
            <a:fillRect/>
          </a:stretch>
        </p:blipFill>
        <p:spPr>
          <a:xfrm>
            <a:off x="4175831" y="5532346"/>
            <a:ext cx="3840339" cy="900357"/>
          </a:xfrm>
          <a:prstGeom prst="rect">
            <a:avLst/>
          </a:prstGeom>
          <a:ln w="12700">
            <a:miter lim="400000"/>
          </a:ln>
        </p:spPr>
      </p:pic>
      <p:sp>
        <p:nvSpPr>
          <p:cNvPr id="5" name="TextBox 4">
            <a:extLst>
              <a:ext uri="{FF2B5EF4-FFF2-40B4-BE49-F238E27FC236}">
                <a16:creationId xmlns:a16="http://schemas.microsoft.com/office/drawing/2014/main" id="{90A96C20-FFFD-6997-461D-735F88863728}"/>
              </a:ext>
            </a:extLst>
          </p:cNvPr>
          <p:cNvSpPr txBox="1"/>
          <p:nvPr/>
        </p:nvSpPr>
        <p:spPr>
          <a:xfrm>
            <a:off x="-777" y="6596390"/>
            <a:ext cx="12190477" cy="261610"/>
          </a:xfrm>
          <a:prstGeom prst="rect">
            <a:avLst/>
          </a:prstGeom>
          <a:noFill/>
        </p:spPr>
        <p:txBody>
          <a:bodyPr wrap="square">
            <a:spAutoFit/>
          </a:bodyPr>
          <a:lstStyle/>
          <a:p>
            <a:r>
              <a:rPr lang="en-US" sz="1100" dirty="0">
                <a:solidFill>
                  <a:schemeClr val="bg1">
                    <a:lumMod val="50000"/>
                  </a:schemeClr>
                </a:solidFill>
                <a:latin typeface="Gill Sans MT" charset="0"/>
              </a:rPr>
              <a:t>Images reproduced in these slides have been included under section 29 of the Copyright Act, as fair dealing for research, private study, criticism, or review. Further distribution or uses may infringe copyright.</a:t>
            </a:r>
          </a:p>
        </p:txBody>
      </p:sp>
      <p:sp>
        <p:nvSpPr>
          <p:cNvPr id="8" name="Subtitle 2">
            <a:extLst>
              <a:ext uri="{FF2B5EF4-FFF2-40B4-BE49-F238E27FC236}">
                <a16:creationId xmlns:a16="http://schemas.microsoft.com/office/drawing/2014/main" id="{2B1A86B0-05FE-5306-7B2B-9B53A3D94546}"/>
              </a:ext>
            </a:extLst>
          </p:cNvPr>
          <p:cNvSpPr>
            <a:spLocks noGrp="1"/>
          </p:cNvSpPr>
          <p:nvPr>
            <p:ph type="subTitle" idx="1"/>
          </p:nvPr>
        </p:nvSpPr>
        <p:spPr>
          <a:xfrm>
            <a:off x="1524000" y="3602038"/>
            <a:ext cx="9144000" cy="1866074"/>
          </a:xfrm>
        </p:spPr>
        <p:txBody>
          <a:bodyPr>
            <a:noAutofit/>
          </a:bodyPr>
          <a:lstStyle/>
          <a:p>
            <a:pPr>
              <a:lnSpc>
                <a:spcPct val="50000"/>
              </a:lnSpc>
            </a:pPr>
            <a:r>
              <a:rPr lang="en-US" sz="1800" dirty="0"/>
              <a:t>Abram Hindle				Henry Tang</a:t>
            </a:r>
          </a:p>
          <a:p>
            <a:pPr>
              <a:lnSpc>
                <a:spcPct val="50000"/>
              </a:lnSpc>
            </a:pPr>
            <a:r>
              <a:rPr lang="en-US" sz="1800" dirty="0"/>
              <a:t>hindle1@ualberta.ca</a:t>
            </a:r>
            <a:r>
              <a:rPr lang="en-US" sz="1800" dirty="0">
                <a:solidFill>
                  <a:srgbClr val="0070C0"/>
                </a:solidFill>
              </a:rPr>
              <a:t>			</a:t>
            </a:r>
            <a:r>
              <a:rPr lang="en-US" sz="1800" dirty="0"/>
              <a:t>hktang@ualberta.ca</a:t>
            </a:r>
          </a:p>
          <a:p>
            <a:pPr>
              <a:lnSpc>
                <a:spcPct val="50000"/>
              </a:lnSpc>
            </a:pPr>
            <a:r>
              <a:rPr lang="en-US" sz="1800" dirty="0"/>
              <a:t>Department of Computing Science</a:t>
            </a:r>
          </a:p>
          <a:p>
            <a:pPr>
              <a:lnSpc>
                <a:spcPct val="50000"/>
              </a:lnSpc>
            </a:pPr>
            <a:r>
              <a:rPr lang="en-US" sz="1800" dirty="0"/>
              <a:t>University of Alberta</a:t>
            </a:r>
          </a:p>
          <a:p>
            <a:pPr>
              <a:lnSpc>
                <a:spcPct val="50000"/>
              </a:lnSpc>
            </a:pPr>
            <a:endParaRPr lang="en-US" sz="1800" dirty="0"/>
          </a:p>
          <a:p>
            <a:pPr>
              <a:lnSpc>
                <a:spcPct val="50000"/>
              </a:lnSpc>
            </a:pPr>
            <a:r>
              <a:rPr lang="en-US" sz="1800" dirty="0"/>
              <a:t>CMPUT  301 – Introduction to Software Engineering</a:t>
            </a:r>
          </a:p>
          <a:p>
            <a:pPr>
              <a:lnSpc>
                <a:spcPct val="50000"/>
              </a:lnSpc>
            </a:pPr>
            <a:r>
              <a:rPr lang="en-CA" sz="1800" dirty="0"/>
              <a:t>Slides adapted from Dr. Hazel Campbell, Dr. Ken Wong</a:t>
            </a:r>
            <a:endParaRPr lang="en-US" sz="1800" dirty="0"/>
          </a:p>
        </p:txBody>
      </p:sp>
    </p:spTree>
    <p:extLst>
      <p:ext uri="{BB962C8B-B14F-4D97-AF65-F5344CB8AC3E}">
        <p14:creationId xmlns:p14="http://schemas.microsoft.com/office/powerpoint/2010/main" val="4204122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a:t>
            </a:r>
          </a:p>
        </p:txBody>
      </p:sp>
      <p:sp>
        <p:nvSpPr>
          <p:cNvPr id="4" name="Slide Number Placeholder 3"/>
          <p:cNvSpPr>
            <a:spLocks noGrp="1"/>
          </p:cNvSpPr>
          <p:nvPr>
            <p:ph type="sldNum" sz="quarter" idx="12"/>
          </p:nvPr>
        </p:nvSpPr>
        <p:spPr/>
        <p:txBody>
          <a:bodyPr/>
          <a:lstStyle/>
          <a:p>
            <a:fld id="{CADD82E7-7C10-744D-AD9E-31500693C936}" type="slidenum">
              <a:rPr lang="en-US" smtClean="0"/>
              <a:pPr/>
              <a:t>2</a:t>
            </a:fld>
            <a:endParaRPr lang="en-US"/>
          </a:p>
        </p:txBody>
      </p:sp>
      <p:sp>
        <p:nvSpPr>
          <p:cNvPr id="7" name="TextBox 6">
            <a:extLst>
              <a:ext uri="{FF2B5EF4-FFF2-40B4-BE49-F238E27FC236}">
                <a16:creationId xmlns:a16="http://schemas.microsoft.com/office/drawing/2014/main" id="{68A5059D-9D08-CD77-C76D-85B2DF0DF2AC}"/>
              </a:ext>
            </a:extLst>
          </p:cNvPr>
          <p:cNvSpPr txBox="1"/>
          <p:nvPr/>
        </p:nvSpPr>
        <p:spPr>
          <a:xfrm>
            <a:off x="4940716" y="4520153"/>
            <a:ext cx="2310569" cy="276999"/>
          </a:xfrm>
          <a:prstGeom prst="rect">
            <a:avLst/>
          </a:prstGeom>
          <a:noFill/>
        </p:spPr>
        <p:txBody>
          <a:bodyPr wrap="none" rtlCol="0">
            <a:spAutoFit/>
          </a:bodyPr>
          <a:lstStyle/>
          <a:p>
            <a:r>
              <a:rPr lang="en-CA" sz="1200" dirty="0"/>
              <a:t>© 2005 Paragon Innovations Inc.</a:t>
            </a:r>
          </a:p>
        </p:txBody>
      </p:sp>
      <p:grpSp>
        <p:nvGrpSpPr>
          <p:cNvPr id="10" name="Group 9">
            <a:extLst>
              <a:ext uri="{FF2B5EF4-FFF2-40B4-BE49-F238E27FC236}">
                <a16:creationId xmlns:a16="http://schemas.microsoft.com/office/drawing/2014/main" id="{1783BA83-092F-4C19-EF63-419A3CC6A343}"/>
              </a:ext>
            </a:extLst>
          </p:cNvPr>
          <p:cNvGrpSpPr/>
          <p:nvPr/>
        </p:nvGrpSpPr>
        <p:grpSpPr>
          <a:xfrm>
            <a:off x="232844" y="2204864"/>
            <a:ext cx="11726312" cy="2340260"/>
            <a:chOff x="527526" y="2312876"/>
            <a:chExt cx="11185098" cy="2232248"/>
          </a:xfrm>
        </p:grpSpPr>
        <p:pic>
          <p:nvPicPr>
            <p:cNvPr id="6" name="Picture 5" descr="A collage of a tree&#10;&#10;Description automatically generated">
              <a:extLst>
                <a:ext uri="{FF2B5EF4-FFF2-40B4-BE49-F238E27FC236}">
                  <a16:creationId xmlns:a16="http://schemas.microsoft.com/office/drawing/2014/main" id="{FFAEEFAD-652C-80FE-A847-38FAA16F844C}"/>
                </a:ext>
              </a:extLst>
            </p:cNvPr>
            <p:cNvPicPr>
              <a:picLocks noChangeAspect="1"/>
            </p:cNvPicPr>
            <p:nvPr/>
          </p:nvPicPr>
          <p:blipFill>
            <a:blip r:embed="rId2"/>
            <a:srcRect t="33800" b="33808"/>
            <a:stretch/>
          </p:blipFill>
          <p:spPr>
            <a:xfrm>
              <a:off x="4232777" y="2350648"/>
              <a:ext cx="3726446" cy="2156705"/>
            </a:xfrm>
            <a:prstGeom prst="rect">
              <a:avLst/>
            </a:prstGeom>
          </p:spPr>
        </p:pic>
        <p:pic>
          <p:nvPicPr>
            <p:cNvPr id="8" name="Picture 7" descr="A collage of a tree&#10;&#10;Description automatically generated">
              <a:extLst>
                <a:ext uri="{FF2B5EF4-FFF2-40B4-BE49-F238E27FC236}">
                  <a16:creationId xmlns:a16="http://schemas.microsoft.com/office/drawing/2014/main" id="{5E5D04A3-9AAF-98E1-1B36-A66C3DF33C23}"/>
                </a:ext>
              </a:extLst>
            </p:cNvPr>
            <p:cNvPicPr>
              <a:picLocks noChangeAspect="1"/>
            </p:cNvPicPr>
            <p:nvPr/>
          </p:nvPicPr>
          <p:blipFill>
            <a:blip r:embed="rId2"/>
            <a:srcRect b="66200"/>
            <a:stretch/>
          </p:blipFill>
          <p:spPr>
            <a:xfrm>
              <a:off x="527526" y="2312876"/>
              <a:ext cx="3696266" cy="2232248"/>
            </a:xfrm>
            <a:prstGeom prst="rect">
              <a:avLst/>
            </a:prstGeom>
          </p:spPr>
        </p:pic>
        <p:pic>
          <p:nvPicPr>
            <p:cNvPr id="9" name="Picture 8" descr="A collage of a tree&#10;&#10;Description automatically generated">
              <a:extLst>
                <a:ext uri="{FF2B5EF4-FFF2-40B4-BE49-F238E27FC236}">
                  <a16:creationId xmlns:a16="http://schemas.microsoft.com/office/drawing/2014/main" id="{67BD0CEE-9446-5C6A-422C-0FD122CDF80B}"/>
                </a:ext>
              </a:extLst>
            </p:cNvPr>
            <p:cNvPicPr>
              <a:picLocks noChangeAspect="1"/>
            </p:cNvPicPr>
            <p:nvPr/>
          </p:nvPicPr>
          <p:blipFill>
            <a:blip r:embed="rId2"/>
            <a:srcRect t="67436"/>
            <a:stretch/>
          </p:blipFill>
          <p:spPr>
            <a:xfrm>
              <a:off x="8005886" y="2350648"/>
              <a:ext cx="3706738" cy="2156705"/>
            </a:xfrm>
            <a:prstGeom prst="rect">
              <a:avLst/>
            </a:prstGeom>
          </p:spPr>
        </p:pic>
      </p:grpSp>
    </p:spTree>
    <p:extLst>
      <p:ext uri="{BB962C8B-B14F-4D97-AF65-F5344CB8AC3E}">
        <p14:creationId xmlns:p14="http://schemas.microsoft.com/office/powerpoint/2010/main" val="1660611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Requirements</a:t>
            </a:r>
          </a:p>
        </p:txBody>
      </p:sp>
      <p:sp>
        <p:nvSpPr>
          <p:cNvPr id="3" name="Content Placeholder 2"/>
          <p:cNvSpPr>
            <a:spLocks noGrp="1"/>
          </p:cNvSpPr>
          <p:nvPr>
            <p:ph idx="1"/>
          </p:nvPr>
        </p:nvSpPr>
        <p:spPr/>
        <p:txBody>
          <a:bodyPr/>
          <a:lstStyle/>
          <a:p>
            <a:r>
              <a:rPr lang="en-US" dirty="0">
                <a:hlinkClick r:id="rId3"/>
              </a:rPr>
              <a:t>https://www.projectsmart.co.uk/it-project-management/the-curious-case-of-the-chaos-report-2009.php</a:t>
            </a:r>
            <a:r>
              <a:rPr lang="en-US" dirty="0"/>
              <a:t> </a:t>
            </a:r>
          </a:p>
        </p:txBody>
      </p:sp>
      <p:sp>
        <p:nvSpPr>
          <p:cNvPr id="4" name="Slide Number Placeholder 3"/>
          <p:cNvSpPr>
            <a:spLocks noGrp="1"/>
          </p:cNvSpPr>
          <p:nvPr>
            <p:ph type="sldNum" sz="quarter" idx="12"/>
          </p:nvPr>
        </p:nvSpPr>
        <p:spPr/>
        <p:txBody>
          <a:bodyPr/>
          <a:lstStyle/>
          <a:p>
            <a:fld id="{CADD82E7-7C10-744D-AD9E-31500693C936}" type="slidenum">
              <a:rPr lang="en-US" smtClean="0"/>
              <a:pPr/>
              <a:t>3</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007091937"/>
              </p:ext>
            </p:extLst>
          </p:nvPr>
        </p:nvGraphicFramePr>
        <p:xfrm>
          <a:off x="2945650" y="2852936"/>
          <a:ext cx="6300700" cy="3566160"/>
        </p:xfrm>
        <a:graphic>
          <a:graphicData uri="http://schemas.openxmlformats.org/drawingml/2006/table">
            <a:tbl>
              <a:tblPr firstRow="1" bandRow="1">
                <a:tableStyleId>{073A0DAA-6AF3-43AB-8588-CEC1D06C72B9}</a:tableStyleId>
              </a:tblPr>
              <a:tblGrid>
                <a:gridCol w="4284476">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tblGrid>
              <a:tr h="370840">
                <a:tc>
                  <a:txBody>
                    <a:bodyPr/>
                    <a:lstStyle/>
                    <a:p>
                      <a:r>
                        <a:rPr lang="en-US" sz="2000" dirty="0"/>
                        <a:t>Reason for Project</a:t>
                      </a:r>
                      <a:r>
                        <a:rPr lang="en-US" sz="2000" baseline="0" dirty="0"/>
                        <a:t> Failure</a:t>
                      </a:r>
                      <a:endParaRPr lang="en-US" sz="2000" dirty="0"/>
                    </a:p>
                  </a:txBody>
                  <a:tcPr/>
                </a:tc>
                <a:tc>
                  <a:txBody>
                    <a:bodyPr/>
                    <a:lstStyle/>
                    <a:p>
                      <a:r>
                        <a:rPr lang="en-US" sz="2000" dirty="0"/>
                        <a:t>% of Responses</a:t>
                      </a:r>
                    </a:p>
                  </a:txBody>
                  <a:tcPr/>
                </a:tc>
                <a:extLst>
                  <a:ext uri="{0D108BD9-81ED-4DB2-BD59-A6C34878D82A}">
                    <a16:rowId xmlns:a16="http://schemas.microsoft.com/office/drawing/2014/main" val="10000"/>
                  </a:ext>
                </a:extLst>
              </a:tr>
              <a:tr h="370840">
                <a:tc>
                  <a:txBody>
                    <a:bodyPr/>
                    <a:lstStyle/>
                    <a:p>
                      <a:r>
                        <a:rPr lang="en-US" sz="2000" dirty="0"/>
                        <a:t>Incomplete requirements</a:t>
                      </a:r>
                    </a:p>
                  </a:txBody>
                  <a:tcPr/>
                </a:tc>
                <a:tc>
                  <a:txBody>
                    <a:bodyPr/>
                    <a:lstStyle/>
                    <a:p>
                      <a:pPr algn="r"/>
                      <a:r>
                        <a:rPr lang="en-US" sz="2000" dirty="0"/>
                        <a:t>13.1</a:t>
                      </a:r>
                    </a:p>
                  </a:txBody>
                  <a:tcPr/>
                </a:tc>
                <a:extLst>
                  <a:ext uri="{0D108BD9-81ED-4DB2-BD59-A6C34878D82A}">
                    <a16:rowId xmlns:a16="http://schemas.microsoft.com/office/drawing/2014/main" val="10001"/>
                  </a:ext>
                </a:extLst>
              </a:tr>
              <a:tr h="370840">
                <a:tc>
                  <a:txBody>
                    <a:bodyPr/>
                    <a:lstStyle/>
                    <a:p>
                      <a:r>
                        <a:rPr lang="en-US" sz="2000" dirty="0"/>
                        <a:t>Lack of user involvement</a:t>
                      </a:r>
                    </a:p>
                  </a:txBody>
                  <a:tcPr/>
                </a:tc>
                <a:tc>
                  <a:txBody>
                    <a:bodyPr/>
                    <a:lstStyle/>
                    <a:p>
                      <a:pPr algn="r"/>
                      <a:r>
                        <a:rPr lang="en-US" sz="2000" dirty="0"/>
                        <a:t>12.4</a:t>
                      </a:r>
                    </a:p>
                  </a:txBody>
                  <a:tcPr/>
                </a:tc>
                <a:extLst>
                  <a:ext uri="{0D108BD9-81ED-4DB2-BD59-A6C34878D82A}">
                    <a16:rowId xmlns:a16="http://schemas.microsoft.com/office/drawing/2014/main" val="10002"/>
                  </a:ext>
                </a:extLst>
              </a:tr>
              <a:tr h="370840">
                <a:tc>
                  <a:txBody>
                    <a:bodyPr/>
                    <a:lstStyle/>
                    <a:p>
                      <a:r>
                        <a:rPr lang="en-US" sz="2000" dirty="0"/>
                        <a:t>Lack of resources</a:t>
                      </a:r>
                    </a:p>
                  </a:txBody>
                  <a:tcPr/>
                </a:tc>
                <a:tc>
                  <a:txBody>
                    <a:bodyPr/>
                    <a:lstStyle/>
                    <a:p>
                      <a:pPr algn="r"/>
                      <a:r>
                        <a:rPr lang="en-US" sz="2000" dirty="0"/>
                        <a:t>10.6</a:t>
                      </a:r>
                    </a:p>
                  </a:txBody>
                  <a:tcPr/>
                </a:tc>
                <a:extLst>
                  <a:ext uri="{0D108BD9-81ED-4DB2-BD59-A6C34878D82A}">
                    <a16:rowId xmlns:a16="http://schemas.microsoft.com/office/drawing/2014/main" val="10003"/>
                  </a:ext>
                </a:extLst>
              </a:tr>
              <a:tr h="370840">
                <a:tc>
                  <a:txBody>
                    <a:bodyPr/>
                    <a:lstStyle/>
                    <a:p>
                      <a:r>
                        <a:rPr lang="en-US" sz="2000" dirty="0"/>
                        <a:t>Unrealistic expectations</a:t>
                      </a:r>
                    </a:p>
                  </a:txBody>
                  <a:tcPr/>
                </a:tc>
                <a:tc>
                  <a:txBody>
                    <a:bodyPr/>
                    <a:lstStyle/>
                    <a:p>
                      <a:pPr algn="r"/>
                      <a:r>
                        <a:rPr lang="en-US" sz="2000" dirty="0"/>
                        <a:t>9.9</a:t>
                      </a:r>
                    </a:p>
                  </a:txBody>
                  <a:tcPr/>
                </a:tc>
                <a:extLst>
                  <a:ext uri="{0D108BD9-81ED-4DB2-BD59-A6C34878D82A}">
                    <a16:rowId xmlns:a16="http://schemas.microsoft.com/office/drawing/2014/main" val="10004"/>
                  </a:ext>
                </a:extLst>
              </a:tr>
              <a:tr h="370840">
                <a:tc>
                  <a:txBody>
                    <a:bodyPr/>
                    <a:lstStyle/>
                    <a:p>
                      <a:r>
                        <a:rPr lang="en-US" sz="2000" dirty="0"/>
                        <a:t>Lack of management support</a:t>
                      </a:r>
                    </a:p>
                  </a:txBody>
                  <a:tcPr/>
                </a:tc>
                <a:tc>
                  <a:txBody>
                    <a:bodyPr/>
                    <a:lstStyle/>
                    <a:p>
                      <a:pPr algn="r"/>
                      <a:r>
                        <a:rPr lang="en-US" sz="2000" dirty="0"/>
                        <a:t>9.3</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Changing</a:t>
                      </a:r>
                      <a:r>
                        <a:rPr lang="en-US" sz="2000" baseline="0" dirty="0"/>
                        <a:t> requirements</a:t>
                      </a:r>
                      <a:endParaRPr lang="en-US" sz="2000" dirty="0"/>
                    </a:p>
                  </a:txBody>
                  <a:tcPr/>
                </a:tc>
                <a:tc>
                  <a:txBody>
                    <a:bodyPr/>
                    <a:lstStyle/>
                    <a:p>
                      <a:pPr algn="r"/>
                      <a:r>
                        <a:rPr lang="en-US" sz="2000" dirty="0"/>
                        <a:t>8.7</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Lack of planning</a:t>
                      </a:r>
                    </a:p>
                  </a:txBody>
                  <a:tcPr/>
                </a:tc>
                <a:tc>
                  <a:txBody>
                    <a:bodyPr/>
                    <a:lstStyle/>
                    <a:p>
                      <a:pPr algn="r"/>
                      <a:r>
                        <a:rPr lang="en-US" sz="2000" dirty="0"/>
                        <a:t>8.1</a:t>
                      </a:r>
                    </a:p>
                  </a:txBody>
                  <a:tcPr/>
                </a:tc>
                <a:extLst>
                  <a:ext uri="{0D108BD9-81ED-4DB2-BD59-A6C34878D82A}">
                    <a16:rowId xmlns:a16="http://schemas.microsoft.com/office/drawing/2014/main" val="10007"/>
                  </a:ext>
                </a:extLst>
              </a:tr>
              <a:tr h="370840">
                <a:tc>
                  <a:txBody>
                    <a:bodyPr/>
                    <a:lstStyle/>
                    <a:p>
                      <a:r>
                        <a:rPr lang="en-US" sz="2000" dirty="0"/>
                        <a:t>System no longer needed</a:t>
                      </a:r>
                    </a:p>
                  </a:txBody>
                  <a:tcPr/>
                </a:tc>
                <a:tc>
                  <a:txBody>
                    <a:bodyPr/>
                    <a:lstStyle/>
                    <a:p>
                      <a:pPr algn="r"/>
                      <a:r>
                        <a:rPr lang="en-US" sz="2000" dirty="0"/>
                        <a:t>7.5</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81601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ChangeArrowheads="1"/>
          </p:cNvSpPr>
          <p:nvPr>
            <p:ph type="title"/>
          </p:nvPr>
        </p:nvSpPr>
        <p:spPr/>
        <p:txBody>
          <a:bodyPr/>
          <a:lstStyle/>
          <a:p>
            <a:r>
              <a:rPr lang="en-US" dirty="0"/>
              <a:t>Requirements</a:t>
            </a:r>
          </a:p>
        </p:txBody>
      </p:sp>
      <p:sp>
        <p:nvSpPr>
          <p:cNvPr id="974851" name="Rectangle 3"/>
          <p:cNvSpPr>
            <a:spLocks noGrp="1" noChangeArrowheads="1"/>
          </p:cNvSpPr>
          <p:nvPr>
            <p:ph idx="1"/>
          </p:nvPr>
        </p:nvSpPr>
        <p:spPr/>
        <p:txBody>
          <a:bodyPr/>
          <a:lstStyle/>
          <a:p>
            <a:r>
              <a:rPr lang="en-US" dirty="0"/>
              <a:t>Types:</a:t>
            </a:r>
          </a:p>
          <a:p>
            <a:pPr lvl="1"/>
            <a:r>
              <a:rPr lang="en-US" dirty="0"/>
              <a:t>User requirements</a:t>
            </a:r>
          </a:p>
          <a:p>
            <a:pPr lvl="2"/>
            <a:r>
              <a:rPr lang="en-US" dirty="0"/>
              <a:t>What tasks the user can do with the system</a:t>
            </a:r>
          </a:p>
          <a:p>
            <a:pPr lvl="1"/>
            <a:r>
              <a:rPr lang="en-US" dirty="0"/>
              <a:t>Functional requirements (features)</a:t>
            </a:r>
          </a:p>
          <a:p>
            <a:pPr lvl="2"/>
            <a:r>
              <a:rPr lang="en-US" dirty="0"/>
              <a:t>What behaviors the system does or supports</a:t>
            </a:r>
          </a:p>
          <a:p>
            <a:pPr lvl="1"/>
            <a:r>
              <a:rPr lang="en-US" dirty="0"/>
              <a:t>Non-functional requirements (qualities)</a:t>
            </a:r>
          </a:p>
          <a:p>
            <a:pPr lvl="2"/>
            <a:r>
              <a:rPr lang="en-US" dirty="0"/>
              <a:t>How well the system should do what it does</a:t>
            </a:r>
          </a:p>
          <a:p>
            <a:pPr lvl="2"/>
            <a:r>
              <a:rPr lang="en-US" dirty="0"/>
              <a:t>E.g., response time, resource usage, availability</a:t>
            </a:r>
          </a:p>
        </p:txBody>
      </p:sp>
      <p:sp>
        <p:nvSpPr>
          <p:cNvPr id="4" name="Slide Number Placeholder 5"/>
          <p:cNvSpPr>
            <a:spLocks noGrp="1"/>
          </p:cNvSpPr>
          <p:nvPr>
            <p:ph type="sldNum" sz="quarter" idx="12"/>
          </p:nvPr>
        </p:nvSpPr>
        <p:spPr/>
        <p:txBody>
          <a:bodyPr/>
          <a:lstStyle/>
          <a:p>
            <a:fld id="{CFD3DA97-14A1-DC48-B338-66B11382FE59}"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ChangeArrowheads="1"/>
          </p:cNvSpPr>
          <p:nvPr>
            <p:ph type="title"/>
          </p:nvPr>
        </p:nvSpPr>
        <p:spPr/>
        <p:txBody>
          <a:bodyPr/>
          <a:lstStyle/>
          <a:p>
            <a:r>
              <a:rPr lang="en-US" dirty="0"/>
              <a:t>Requirements</a:t>
            </a:r>
          </a:p>
        </p:txBody>
      </p:sp>
      <p:sp>
        <p:nvSpPr>
          <p:cNvPr id="974851" name="Rectangle 3"/>
          <p:cNvSpPr>
            <a:spLocks noGrp="1" noChangeArrowheads="1"/>
          </p:cNvSpPr>
          <p:nvPr>
            <p:ph idx="1"/>
          </p:nvPr>
        </p:nvSpPr>
        <p:spPr/>
        <p:txBody>
          <a:bodyPr/>
          <a:lstStyle/>
          <a:p>
            <a:r>
              <a:rPr lang="en-US" dirty="0"/>
              <a:t>Types:</a:t>
            </a:r>
          </a:p>
          <a:p>
            <a:pPr lvl="1"/>
            <a:r>
              <a:rPr lang="en-US" dirty="0"/>
              <a:t>External interfaces</a:t>
            </a:r>
          </a:p>
          <a:p>
            <a:pPr lvl="2"/>
            <a:r>
              <a:rPr lang="en-US" dirty="0"/>
              <a:t>E.g., interfaces to other hardware and software, data sources and sinks, formats, protocols</a:t>
            </a:r>
          </a:p>
          <a:p>
            <a:pPr lvl="1"/>
            <a:r>
              <a:rPr lang="en-US" dirty="0"/>
              <a:t>Physical setting</a:t>
            </a:r>
          </a:p>
          <a:p>
            <a:pPr lvl="2"/>
            <a:r>
              <a:rPr lang="en-US" dirty="0"/>
              <a:t>E.g., location, workspace, lighting, noise, temperature</a:t>
            </a:r>
          </a:p>
          <a:p>
            <a:pPr lvl="1"/>
            <a:r>
              <a:rPr lang="en-US" dirty="0"/>
              <a:t>Developer constraint</a:t>
            </a:r>
          </a:p>
          <a:p>
            <a:pPr lvl="2"/>
            <a:r>
              <a:rPr lang="en-US" dirty="0"/>
              <a:t>E.g., implementation technology, documentation</a:t>
            </a:r>
          </a:p>
          <a:p>
            <a:pPr lvl="2"/>
            <a:endParaRPr lang="en-US" dirty="0"/>
          </a:p>
          <a:p>
            <a:pPr lvl="1"/>
            <a:endParaRPr lang="en-US" dirty="0"/>
          </a:p>
        </p:txBody>
      </p:sp>
      <p:sp>
        <p:nvSpPr>
          <p:cNvPr id="4" name="Slide Number Placeholder 5"/>
          <p:cNvSpPr>
            <a:spLocks noGrp="1"/>
          </p:cNvSpPr>
          <p:nvPr>
            <p:ph type="sldNum" sz="quarter" idx="12"/>
          </p:nvPr>
        </p:nvSpPr>
        <p:spPr/>
        <p:txBody>
          <a:bodyPr/>
          <a:lstStyle/>
          <a:p>
            <a:fld id="{CFD3DA97-14A1-DC48-B338-66B11382FE59}" type="slidenum">
              <a:rPr lang="en-US" smtClean="0"/>
              <a:pPr/>
              <a:t>5</a:t>
            </a:fld>
            <a:endParaRPr lang="en-US"/>
          </a:p>
        </p:txBody>
      </p:sp>
    </p:spTree>
    <p:extLst>
      <p:ext uri="{BB962C8B-B14F-4D97-AF65-F5344CB8AC3E}">
        <p14:creationId xmlns:p14="http://schemas.microsoft.com/office/powerpoint/2010/main" val="3708964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a:t>
            </a:r>
          </a:p>
        </p:txBody>
      </p:sp>
      <p:sp>
        <p:nvSpPr>
          <p:cNvPr id="3" name="Content Placeholder 2"/>
          <p:cNvSpPr>
            <a:spLocks noGrp="1"/>
          </p:cNvSpPr>
          <p:nvPr>
            <p:ph idx="1"/>
          </p:nvPr>
        </p:nvSpPr>
        <p:spPr/>
        <p:txBody>
          <a:bodyPr/>
          <a:lstStyle/>
          <a:p>
            <a:r>
              <a:rPr lang="en-US" dirty="0"/>
              <a:t>Types:</a:t>
            </a:r>
          </a:p>
          <a:p>
            <a:pPr lvl="1"/>
            <a:r>
              <a:rPr lang="en-US" dirty="0"/>
              <a:t>Business requirements</a:t>
            </a:r>
          </a:p>
          <a:p>
            <a:pPr lvl="2"/>
            <a:r>
              <a:rPr lang="en-US" dirty="0"/>
              <a:t>Why the system is needed</a:t>
            </a:r>
          </a:p>
          <a:p>
            <a:pPr lvl="1"/>
            <a:r>
              <a:rPr lang="en-US" dirty="0"/>
              <a:t>Business constraint</a:t>
            </a:r>
          </a:p>
          <a:p>
            <a:pPr lvl="2"/>
            <a:r>
              <a:rPr lang="en-US" dirty="0"/>
              <a:t>What the system or process must comply with</a:t>
            </a:r>
          </a:p>
          <a:p>
            <a:pPr lvl="2"/>
            <a:r>
              <a:rPr lang="en-US" dirty="0"/>
              <a:t>E.g., corporate policy, industry standard, government regulation </a:t>
            </a:r>
          </a:p>
        </p:txBody>
      </p:sp>
      <p:sp>
        <p:nvSpPr>
          <p:cNvPr id="4" name="Slide Number Placeholder 3"/>
          <p:cNvSpPr>
            <a:spLocks noGrp="1"/>
          </p:cNvSpPr>
          <p:nvPr>
            <p:ph type="sldNum" sz="quarter" idx="12"/>
          </p:nvPr>
        </p:nvSpPr>
        <p:spPr/>
        <p:txBody>
          <a:bodyPr/>
          <a:lstStyle/>
          <a:p>
            <a:fld id="{CADD82E7-7C10-744D-AD9E-31500693C936}" type="slidenum">
              <a:rPr lang="en-US" smtClean="0"/>
              <a:pPr/>
              <a:t>6</a:t>
            </a:fld>
            <a:endParaRPr lang="en-US"/>
          </a:p>
        </p:txBody>
      </p:sp>
    </p:spTree>
    <p:extLst>
      <p:ext uri="{BB962C8B-B14F-4D97-AF65-F5344CB8AC3E}">
        <p14:creationId xmlns:p14="http://schemas.microsoft.com/office/powerpoint/2010/main" val="2276566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Rectangle 2"/>
          <p:cNvSpPr>
            <a:spLocks noGrp="1" noChangeArrowheads="1"/>
          </p:cNvSpPr>
          <p:nvPr>
            <p:ph type="title"/>
          </p:nvPr>
        </p:nvSpPr>
        <p:spPr/>
        <p:txBody>
          <a:bodyPr/>
          <a:lstStyle/>
          <a:p>
            <a:r>
              <a:rPr lang="en-US"/>
              <a:t>Requirements</a:t>
            </a:r>
          </a:p>
        </p:txBody>
      </p:sp>
      <p:sp>
        <p:nvSpPr>
          <p:cNvPr id="976899" name="Rectangle 3"/>
          <p:cNvSpPr>
            <a:spLocks noGrp="1" noChangeArrowheads="1"/>
          </p:cNvSpPr>
          <p:nvPr>
            <p:ph idx="1"/>
          </p:nvPr>
        </p:nvSpPr>
        <p:spPr/>
        <p:txBody>
          <a:bodyPr/>
          <a:lstStyle/>
          <a:p>
            <a:r>
              <a:rPr lang="en-US" dirty="0"/>
              <a:t>Requirements should be:</a:t>
            </a:r>
          </a:p>
          <a:p>
            <a:pPr lvl="1"/>
            <a:r>
              <a:rPr lang="en-US" dirty="0"/>
              <a:t>Correct</a:t>
            </a:r>
          </a:p>
          <a:p>
            <a:pPr lvl="2"/>
            <a:r>
              <a:rPr lang="en-US" dirty="0"/>
              <a:t>Requirements properly represent user needs</a:t>
            </a:r>
          </a:p>
          <a:p>
            <a:pPr lvl="1"/>
            <a:r>
              <a:rPr lang="en-US" dirty="0"/>
              <a:t>Complete</a:t>
            </a:r>
          </a:p>
          <a:p>
            <a:pPr lvl="2"/>
            <a:r>
              <a:rPr lang="en-US" dirty="0"/>
              <a:t>All possible scenarios are described</a:t>
            </a:r>
          </a:p>
          <a:p>
            <a:pPr lvl="1"/>
            <a:r>
              <a:rPr lang="en-US" dirty="0"/>
              <a:t>Consistent</a:t>
            </a:r>
          </a:p>
          <a:p>
            <a:pPr lvl="2"/>
            <a:r>
              <a:rPr lang="en-US" dirty="0"/>
              <a:t>Requirements do not contradict each other</a:t>
            </a:r>
          </a:p>
          <a:p>
            <a:pPr lvl="1"/>
            <a:r>
              <a:rPr lang="en-US" dirty="0"/>
              <a:t>Clear</a:t>
            </a:r>
          </a:p>
          <a:p>
            <a:pPr lvl="2"/>
            <a:r>
              <a:rPr lang="en-US" dirty="0"/>
              <a:t>No ambiguities</a:t>
            </a:r>
          </a:p>
          <a:p>
            <a:pPr lvl="1"/>
            <a:r>
              <a:rPr lang="en-US" dirty="0"/>
              <a:t>Realistic</a:t>
            </a:r>
          </a:p>
          <a:p>
            <a:pPr lvl="2"/>
            <a:r>
              <a:rPr lang="en-US" dirty="0"/>
              <a:t>Can be achieved by “mere mortals”</a:t>
            </a:r>
          </a:p>
        </p:txBody>
      </p:sp>
      <p:sp>
        <p:nvSpPr>
          <p:cNvPr id="4" name="Slide Number Placeholder 5"/>
          <p:cNvSpPr>
            <a:spLocks noGrp="1"/>
          </p:cNvSpPr>
          <p:nvPr>
            <p:ph type="sldNum" sz="quarter" idx="12"/>
          </p:nvPr>
        </p:nvSpPr>
        <p:spPr/>
        <p:txBody>
          <a:bodyPr/>
          <a:lstStyle/>
          <a:p>
            <a:fld id="{BA2B6D70-1624-E348-9086-D1C4DA652FF5}"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Rectangle 2"/>
          <p:cNvSpPr>
            <a:spLocks noGrp="1" noChangeArrowheads="1"/>
          </p:cNvSpPr>
          <p:nvPr>
            <p:ph type="title"/>
          </p:nvPr>
        </p:nvSpPr>
        <p:spPr/>
        <p:txBody>
          <a:bodyPr/>
          <a:lstStyle/>
          <a:p>
            <a:r>
              <a:rPr lang="en-US"/>
              <a:t>Requirements</a:t>
            </a:r>
          </a:p>
        </p:txBody>
      </p:sp>
      <p:sp>
        <p:nvSpPr>
          <p:cNvPr id="977923" name="Rectangle 3"/>
          <p:cNvSpPr>
            <a:spLocks noGrp="1" noChangeArrowheads="1"/>
          </p:cNvSpPr>
          <p:nvPr>
            <p:ph idx="1"/>
          </p:nvPr>
        </p:nvSpPr>
        <p:spPr/>
        <p:txBody>
          <a:bodyPr/>
          <a:lstStyle/>
          <a:p>
            <a:r>
              <a:rPr lang="en-US" dirty="0"/>
              <a:t>Also desired:</a:t>
            </a:r>
          </a:p>
          <a:p>
            <a:pPr lvl="1"/>
            <a:r>
              <a:rPr lang="en-US" dirty="0"/>
              <a:t>Traceable</a:t>
            </a:r>
          </a:p>
          <a:p>
            <a:pPr lvl="2"/>
            <a:r>
              <a:rPr lang="en-US" dirty="0"/>
              <a:t>Can trace functionality and tests to the requirement being satisfied</a:t>
            </a:r>
          </a:p>
          <a:p>
            <a:pPr lvl="1"/>
            <a:r>
              <a:rPr lang="en-US" dirty="0"/>
              <a:t>Verifiable</a:t>
            </a:r>
          </a:p>
          <a:p>
            <a:pPr lvl="2"/>
            <a:r>
              <a:rPr lang="en-US" dirty="0"/>
              <a:t>Repeatable test(s) can be designed to show that the system fulfills the requirement</a:t>
            </a:r>
          </a:p>
        </p:txBody>
      </p:sp>
      <p:sp>
        <p:nvSpPr>
          <p:cNvPr id="4" name="Slide Number Placeholder 5"/>
          <p:cNvSpPr>
            <a:spLocks noGrp="1"/>
          </p:cNvSpPr>
          <p:nvPr>
            <p:ph type="sldNum" sz="quarter" idx="12"/>
          </p:nvPr>
        </p:nvSpPr>
        <p:spPr/>
        <p:txBody>
          <a:bodyPr/>
          <a:lstStyle/>
          <a:p>
            <a:fld id="{A5D86746-25A5-D04B-92AE-D2FD6943B607}"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Verifiable Requirements</a:t>
            </a:r>
          </a:p>
        </p:txBody>
      </p:sp>
      <p:sp>
        <p:nvSpPr>
          <p:cNvPr id="3" name="Content Placeholder 2"/>
          <p:cNvSpPr>
            <a:spLocks noGrp="1"/>
          </p:cNvSpPr>
          <p:nvPr>
            <p:ph idx="1"/>
          </p:nvPr>
        </p:nvSpPr>
        <p:spPr/>
        <p:txBody>
          <a:bodyPr/>
          <a:lstStyle/>
          <a:p>
            <a:r>
              <a:rPr lang="en-US" dirty="0"/>
              <a:t>Verifiable?</a:t>
            </a:r>
          </a:p>
          <a:p>
            <a:pPr lvl="1"/>
            <a:r>
              <a:rPr lang="en-US" dirty="0"/>
              <a:t>“The system shall have a good user interface.”</a:t>
            </a:r>
          </a:p>
          <a:p>
            <a:pPr lvl="1"/>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9</a:t>
            </a:fld>
            <a:endParaRPr lang="en-US"/>
          </a:p>
        </p:txBody>
      </p:sp>
    </p:spTree>
    <p:extLst>
      <p:ext uri="{BB962C8B-B14F-4D97-AF65-F5344CB8AC3E}">
        <p14:creationId xmlns:p14="http://schemas.microsoft.com/office/powerpoint/2010/main" val="2249451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Verifiable Requirements</a:t>
            </a:r>
          </a:p>
        </p:txBody>
      </p:sp>
      <p:sp>
        <p:nvSpPr>
          <p:cNvPr id="3" name="Content Placeholder 2"/>
          <p:cNvSpPr>
            <a:spLocks noGrp="1"/>
          </p:cNvSpPr>
          <p:nvPr>
            <p:ph idx="1"/>
          </p:nvPr>
        </p:nvSpPr>
        <p:spPr/>
        <p:txBody>
          <a:bodyPr/>
          <a:lstStyle/>
          <a:p>
            <a:r>
              <a:rPr lang="en-US" dirty="0"/>
              <a:t>Verifiable?</a:t>
            </a:r>
          </a:p>
          <a:p>
            <a:pPr lvl="1"/>
            <a:r>
              <a:rPr lang="en-US" dirty="0"/>
              <a:t>“The system shall respond to the user in under one second for most tasks.”</a:t>
            </a:r>
          </a:p>
        </p:txBody>
      </p:sp>
      <p:sp>
        <p:nvSpPr>
          <p:cNvPr id="4" name="Slide Number Placeholder 3"/>
          <p:cNvSpPr>
            <a:spLocks noGrp="1"/>
          </p:cNvSpPr>
          <p:nvPr>
            <p:ph type="sldNum" sz="quarter" idx="12"/>
          </p:nvPr>
        </p:nvSpPr>
        <p:spPr/>
        <p:txBody>
          <a:bodyPr/>
          <a:lstStyle/>
          <a:p>
            <a:fld id="{CADD82E7-7C10-744D-AD9E-31500693C936}" type="slidenum">
              <a:rPr lang="en-US" smtClean="0"/>
              <a:pPr/>
              <a:t>10</a:t>
            </a:fld>
            <a:endParaRPr lang="en-US"/>
          </a:p>
        </p:txBody>
      </p:sp>
    </p:spTree>
    <p:extLst>
      <p:ext uri="{BB962C8B-B14F-4D97-AF65-F5344CB8AC3E}">
        <p14:creationId xmlns:p14="http://schemas.microsoft.com/office/powerpoint/2010/main" val="307667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Verifiable Requirements</a:t>
            </a:r>
          </a:p>
        </p:txBody>
      </p:sp>
      <p:sp>
        <p:nvSpPr>
          <p:cNvPr id="3" name="Content Placeholder 2"/>
          <p:cNvSpPr>
            <a:spLocks noGrp="1"/>
          </p:cNvSpPr>
          <p:nvPr>
            <p:ph idx="1"/>
          </p:nvPr>
        </p:nvSpPr>
        <p:spPr/>
        <p:txBody>
          <a:bodyPr/>
          <a:lstStyle/>
          <a:p>
            <a:r>
              <a:rPr lang="en-US" dirty="0"/>
              <a:t>Verifiable?</a:t>
            </a:r>
          </a:p>
          <a:p>
            <a:pPr lvl="1"/>
            <a:r>
              <a:rPr lang="en-US" dirty="0"/>
              <a:t>“When the output state changes, it is logged in the event log.”</a:t>
            </a:r>
          </a:p>
        </p:txBody>
      </p:sp>
      <p:sp>
        <p:nvSpPr>
          <p:cNvPr id="4" name="Slide Number Placeholder 3"/>
          <p:cNvSpPr>
            <a:spLocks noGrp="1"/>
          </p:cNvSpPr>
          <p:nvPr>
            <p:ph type="sldNum" sz="quarter" idx="12"/>
          </p:nvPr>
        </p:nvSpPr>
        <p:spPr/>
        <p:txBody>
          <a:bodyPr/>
          <a:lstStyle/>
          <a:p>
            <a:fld id="{CADD82E7-7C10-744D-AD9E-31500693C936}" type="slidenum">
              <a:rPr lang="en-US" smtClean="0"/>
              <a:pPr/>
              <a:t>11</a:t>
            </a:fld>
            <a:endParaRPr lang="en-US"/>
          </a:p>
        </p:txBody>
      </p:sp>
    </p:spTree>
    <p:extLst>
      <p:ext uri="{BB962C8B-B14F-4D97-AF65-F5344CB8AC3E}">
        <p14:creationId xmlns:p14="http://schemas.microsoft.com/office/powerpoint/2010/main" val="509976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Verifiable Requirements</a:t>
            </a:r>
          </a:p>
        </p:txBody>
      </p:sp>
      <p:sp>
        <p:nvSpPr>
          <p:cNvPr id="3" name="Content Placeholder 2"/>
          <p:cNvSpPr>
            <a:spLocks noGrp="1"/>
          </p:cNvSpPr>
          <p:nvPr>
            <p:ph idx="1"/>
          </p:nvPr>
        </p:nvSpPr>
        <p:spPr/>
        <p:txBody>
          <a:bodyPr/>
          <a:lstStyle/>
          <a:p>
            <a:r>
              <a:rPr lang="en-US" dirty="0"/>
              <a:t>Verifiable?</a:t>
            </a:r>
          </a:p>
          <a:p>
            <a:pPr lvl="1"/>
            <a:r>
              <a:rPr lang="en-US" dirty="0"/>
              <a:t>“The system shall be free of defects.”</a:t>
            </a:r>
          </a:p>
        </p:txBody>
      </p:sp>
      <p:sp>
        <p:nvSpPr>
          <p:cNvPr id="4" name="Slide Number Placeholder 3"/>
          <p:cNvSpPr>
            <a:spLocks noGrp="1"/>
          </p:cNvSpPr>
          <p:nvPr>
            <p:ph type="sldNum" sz="quarter" idx="12"/>
          </p:nvPr>
        </p:nvSpPr>
        <p:spPr/>
        <p:txBody>
          <a:bodyPr/>
          <a:lstStyle/>
          <a:p>
            <a:fld id="{CADD82E7-7C10-744D-AD9E-31500693C936}" type="slidenum">
              <a:rPr lang="en-US" smtClean="0"/>
              <a:pPr/>
              <a:t>12</a:t>
            </a:fld>
            <a:endParaRPr lang="en-US"/>
          </a:p>
        </p:txBody>
      </p:sp>
    </p:spTree>
    <p:extLst>
      <p:ext uri="{BB962C8B-B14F-4D97-AF65-F5344CB8AC3E}">
        <p14:creationId xmlns:p14="http://schemas.microsoft.com/office/powerpoint/2010/main" val="3762506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Activities</a:t>
            </a:r>
          </a:p>
        </p:txBody>
      </p:sp>
      <p:sp>
        <p:nvSpPr>
          <p:cNvPr id="3" name="Content Placeholder 2"/>
          <p:cNvSpPr>
            <a:spLocks noGrp="1"/>
          </p:cNvSpPr>
          <p:nvPr>
            <p:ph idx="1"/>
          </p:nvPr>
        </p:nvSpPr>
        <p:spPr/>
        <p:txBody>
          <a:bodyPr/>
          <a:lstStyle/>
          <a:p>
            <a:r>
              <a:rPr lang="en-US" dirty="0"/>
              <a:t>Done iteratively:</a:t>
            </a:r>
          </a:p>
          <a:p>
            <a:pPr lvl="1"/>
            <a:r>
              <a:rPr lang="en-US" dirty="0"/>
              <a:t>Requirements elicitation</a:t>
            </a:r>
          </a:p>
          <a:p>
            <a:pPr lvl="2"/>
            <a:r>
              <a:rPr lang="en-US" dirty="0"/>
              <a:t>Discover user needs</a:t>
            </a:r>
          </a:p>
          <a:p>
            <a:pPr lvl="1"/>
            <a:r>
              <a:rPr lang="en-US" dirty="0"/>
              <a:t>Requirements analysis</a:t>
            </a:r>
          </a:p>
          <a:p>
            <a:pPr lvl="2"/>
            <a:r>
              <a:rPr lang="en-US" dirty="0"/>
              <a:t>Decide scope and priorities</a:t>
            </a:r>
          </a:p>
          <a:p>
            <a:pPr lvl="2"/>
            <a:r>
              <a:rPr lang="en-US" dirty="0"/>
              <a:t>Study feasibility</a:t>
            </a:r>
          </a:p>
          <a:p>
            <a:pPr lvl="1"/>
            <a:r>
              <a:rPr lang="en-US" dirty="0"/>
              <a:t>Requirements specification</a:t>
            </a:r>
          </a:p>
          <a:p>
            <a:pPr lvl="2"/>
            <a:r>
              <a:rPr lang="en-US" dirty="0"/>
              <a:t>Document requirements in terms the </a:t>
            </a:r>
            <a:r>
              <a:rPr lang="en-US" i="1" dirty="0"/>
              <a:t>users</a:t>
            </a:r>
            <a:r>
              <a:rPr lang="en-US" dirty="0"/>
              <a:t> can </a:t>
            </a:r>
            <a:r>
              <a:rPr lang="en-US" i="1" dirty="0"/>
              <a:t>understand</a:t>
            </a:r>
          </a:p>
          <a:p>
            <a:pPr lvl="1"/>
            <a:r>
              <a:rPr lang="en-US" dirty="0"/>
              <a:t>Requirements validation</a:t>
            </a:r>
          </a:p>
          <a:p>
            <a:pPr lvl="2"/>
            <a:r>
              <a:rPr lang="en-US" dirty="0"/>
              <a:t>Check requirements match user needs</a:t>
            </a: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13</a:t>
            </a:fld>
            <a:endParaRPr lang="en-US"/>
          </a:p>
        </p:txBody>
      </p:sp>
    </p:spTree>
    <p:extLst>
      <p:ext uri="{BB962C8B-B14F-4D97-AF65-F5344CB8AC3E}">
        <p14:creationId xmlns:p14="http://schemas.microsoft.com/office/powerpoint/2010/main" val="3748065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Users</a:t>
            </a:r>
          </a:p>
        </p:txBody>
      </p:sp>
      <p:sp>
        <p:nvSpPr>
          <p:cNvPr id="3" name="Content Placeholder 2"/>
          <p:cNvSpPr>
            <a:spLocks noGrp="1"/>
          </p:cNvSpPr>
          <p:nvPr>
            <p:ph idx="1"/>
          </p:nvPr>
        </p:nvSpPr>
        <p:spPr/>
        <p:txBody>
          <a:bodyPr/>
          <a:lstStyle/>
          <a:p>
            <a:r>
              <a:rPr lang="en-US" dirty="0"/>
              <a:t>Who is the “user”?</a:t>
            </a:r>
          </a:p>
          <a:p>
            <a:pPr lvl="1"/>
            <a:r>
              <a:rPr lang="en-US" dirty="0"/>
              <a:t>Primary</a:t>
            </a:r>
          </a:p>
          <a:p>
            <a:pPr lvl="2"/>
            <a:r>
              <a:rPr lang="en-US" dirty="0"/>
              <a:t>End user</a:t>
            </a:r>
          </a:p>
          <a:p>
            <a:pPr lvl="2"/>
            <a:r>
              <a:rPr lang="en-US" dirty="0"/>
              <a:t>With frequent hands-on use</a:t>
            </a:r>
          </a:p>
          <a:p>
            <a:pPr lvl="1"/>
            <a:r>
              <a:rPr lang="en-US" dirty="0"/>
              <a:t>Secondary</a:t>
            </a:r>
          </a:p>
          <a:p>
            <a:pPr lvl="2"/>
            <a:r>
              <a:rPr lang="en-US" dirty="0"/>
              <a:t>Manager of end users</a:t>
            </a:r>
          </a:p>
          <a:p>
            <a:pPr lvl="2"/>
            <a:r>
              <a:rPr lang="en-US" dirty="0"/>
              <a:t>With occasional use, or via an assistant</a:t>
            </a:r>
          </a:p>
          <a:p>
            <a:pPr lvl="1"/>
            <a:r>
              <a:rPr lang="en-US" dirty="0"/>
              <a:t>Tertiary</a:t>
            </a:r>
          </a:p>
          <a:p>
            <a:pPr lvl="2"/>
            <a:r>
              <a:rPr lang="en-US" dirty="0"/>
              <a:t>Owner of the system</a:t>
            </a:r>
          </a:p>
          <a:p>
            <a:pPr lvl="2"/>
            <a:r>
              <a:rPr lang="en-US" dirty="0"/>
              <a:t>Uses output, influences or makes funding decisions</a:t>
            </a:r>
          </a:p>
          <a:p>
            <a:pPr lvl="2"/>
            <a:endParaRPr lang="en-US" dirty="0"/>
          </a:p>
          <a:p>
            <a:pPr lvl="2"/>
            <a:endParaRPr lang="en-US" dirty="0"/>
          </a:p>
          <a:p>
            <a:pPr lvl="2"/>
            <a:endParaRPr lang="en-US" dirty="0"/>
          </a:p>
          <a:p>
            <a:pPr lvl="1"/>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14</a:t>
            </a:fld>
            <a:endParaRPr lang="en-US"/>
          </a:p>
        </p:txBody>
      </p:sp>
    </p:spTree>
    <p:extLst>
      <p:ext uri="{BB962C8B-B14F-4D97-AF65-F5344CB8AC3E}">
        <p14:creationId xmlns:p14="http://schemas.microsoft.com/office/powerpoint/2010/main" val="1684155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Users</a:t>
            </a:r>
          </a:p>
        </p:txBody>
      </p:sp>
      <p:sp>
        <p:nvSpPr>
          <p:cNvPr id="3" name="Content Placeholder 2"/>
          <p:cNvSpPr>
            <a:spLocks noGrp="1"/>
          </p:cNvSpPr>
          <p:nvPr>
            <p:ph idx="1"/>
          </p:nvPr>
        </p:nvSpPr>
        <p:spPr/>
        <p:txBody>
          <a:bodyPr/>
          <a:lstStyle/>
          <a:p>
            <a:r>
              <a:rPr lang="en-US" dirty="0"/>
              <a:t>Some characteristics to consider:</a:t>
            </a:r>
          </a:p>
          <a:p>
            <a:pPr lvl="1"/>
            <a:r>
              <a:rPr lang="en-US" dirty="0"/>
              <a:t>Background</a:t>
            </a:r>
          </a:p>
          <a:p>
            <a:pPr lvl="2"/>
            <a:r>
              <a:rPr lang="en-US" dirty="0"/>
              <a:t>Literacy and language</a:t>
            </a:r>
          </a:p>
          <a:p>
            <a:pPr lvl="2"/>
            <a:r>
              <a:rPr lang="en-US" dirty="0"/>
              <a:t>Motivation to learn</a:t>
            </a:r>
          </a:p>
          <a:p>
            <a:pPr lvl="2"/>
            <a:r>
              <a:rPr lang="en-US" dirty="0"/>
              <a:t>Domain knowledge</a:t>
            </a:r>
          </a:p>
          <a:p>
            <a:pPr lvl="2"/>
            <a:r>
              <a:rPr lang="en-US" dirty="0"/>
              <a:t>Task familiarity</a:t>
            </a:r>
          </a:p>
          <a:p>
            <a:pPr lvl="2"/>
            <a:r>
              <a:rPr lang="en-US" dirty="0"/>
              <a:t>Computer skills</a:t>
            </a:r>
          </a:p>
          <a:p>
            <a:pPr lvl="2"/>
            <a:r>
              <a:rPr lang="en-US" dirty="0"/>
              <a:t>Attitude towards computers and technology</a:t>
            </a:r>
          </a:p>
          <a:p>
            <a:pPr lvl="2"/>
            <a:endParaRPr lang="en-US" dirty="0"/>
          </a:p>
          <a:p>
            <a:pPr lvl="2"/>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15</a:t>
            </a:fld>
            <a:endParaRPr lang="en-US"/>
          </a:p>
        </p:txBody>
      </p:sp>
    </p:spTree>
    <p:extLst>
      <p:ext uri="{BB962C8B-B14F-4D97-AF65-F5344CB8AC3E}">
        <p14:creationId xmlns:p14="http://schemas.microsoft.com/office/powerpoint/2010/main" val="3668115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ADD82E7-7C10-744D-AD9E-31500693C936}" type="slidenum">
              <a:rPr lang="en-US" smtClean="0"/>
              <a:pPr/>
              <a:t>16</a:t>
            </a:fld>
            <a:endParaRPr lang="en-US"/>
          </a:p>
        </p:txBody>
      </p:sp>
      <p:pic>
        <p:nvPicPr>
          <p:cNvPr id="6" name="Picture 5" descr="How Grandma Sees the Remot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3106" y="260984"/>
            <a:ext cx="4585789" cy="6336032"/>
          </a:xfrm>
          <a:prstGeom prst="rect">
            <a:avLst/>
          </a:prstGeom>
        </p:spPr>
      </p:pic>
      <p:sp>
        <p:nvSpPr>
          <p:cNvPr id="8" name="TextBox 7"/>
          <p:cNvSpPr txBox="1"/>
          <p:nvPr/>
        </p:nvSpPr>
        <p:spPr>
          <a:xfrm>
            <a:off x="5390518" y="6488668"/>
            <a:ext cx="1410964" cy="369332"/>
          </a:xfrm>
          <a:prstGeom prst="rect">
            <a:avLst/>
          </a:prstGeom>
          <a:noFill/>
        </p:spPr>
        <p:txBody>
          <a:bodyPr wrap="none" rtlCol="0">
            <a:spAutoFit/>
          </a:bodyPr>
          <a:lstStyle/>
          <a:p>
            <a:r>
              <a:rPr lang="en-US" dirty="0"/>
              <a:t>© Roz </a:t>
            </a:r>
            <a:r>
              <a:rPr lang="en-US" dirty="0" err="1"/>
              <a:t>Chast</a:t>
            </a:r>
            <a:endParaRPr lang="en-US" dirty="0"/>
          </a:p>
        </p:txBody>
      </p:sp>
    </p:spTree>
    <p:extLst>
      <p:ext uri="{BB962C8B-B14F-4D97-AF65-F5344CB8AC3E}">
        <p14:creationId xmlns:p14="http://schemas.microsoft.com/office/powerpoint/2010/main" val="534186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Users</a:t>
            </a:r>
          </a:p>
        </p:txBody>
      </p:sp>
      <p:sp>
        <p:nvSpPr>
          <p:cNvPr id="3" name="Content Placeholder 2"/>
          <p:cNvSpPr>
            <a:spLocks noGrp="1"/>
          </p:cNvSpPr>
          <p:nvPr>
            <p:ph idx="1"/>
          </p:nvPr>
        </p:nvSpPr>
        <p:spPr>
          <a:xfrm>
            <a:off x="838200" y="1825624"/>
            <a:ext cx="10515600" cy="4530725"/>
          </a:xfrm>
        </p:spPr>
        <p:txBody>
          <a:bodyPr>
            <a:normAutofit fontScale="92500" lnSpcReduction="10000"/>
          </a:bodyPr>
          <a:lstStyle/>
          <a:p>
            <a:r>
              <a:rPr lang="en-US" dirty="0"/>
              <a:t>User characteristics to consider:</a:t>
            </a:r>
          </a:p>
          <a:p>
            <a:pPr lvl="1"/>
            <a:r>
              <a:rPr lang="en-US" dirty="0"/>
              <a:t>Accessibility needs</a:t>
            </a:r>
          </a:p>
          <a:p>
            <a:pPr lvl="2"/>
            <a:r>
              <a:rPr lang="en-US" dirty="0"/>
              <a:t>Seeing and hearing difficulties</a:t>
            </a:r>
          </a:p>
          <a:p>
            <a:pPr lvl="2"/>
            <a:r>
              <a:rPr lang="en-US" dirty="0"/>
              <a:t>Temporary, permanent, or situational limitations</a:t>
            </a:r>
          </a:p>
          <a:p>
            <a:pPr lvl="1"/>
            <a:r>
              <a:rPr lang="en-US" dirty="0"/>
              <a:t>Perceptual and motor abilities</a:t>
            </a:r>
          </a:p>
          <a:p>
            <a:pPr lvl="2"/>
            <a:r>
              <a:rPr lang="en-US" dirty="0"/>
              <a:t>Fine motor skills with input devices</a:t>
            </a:r>
          </a:p>
          <a:p>
            <a:pPr lvl="2"/>
            <a:r>
              <a:rPr lang="en-US" dirty="0"/>
              <a:t>Touch, pointer, keyboard, or voice input needs</a:t>
            </a:r>
          </a:p>
          <a:p>
            <a:pPr lvl="1"/>
            <a:r>
              <a:rPr lang="en-US" dirty="0"/>
              <a:t>Physical</a:t>
            </a:r>
          </a:p>
          <a:p>
            <a:pPr lvl="2"/>
            <a:r>
              <a:rPr lang="en-US" dirty="0"/>
              <a:t>Height and reach (for kiosk design)</a:t>
            </a:r>
          </a:p>
          <a:p>
            <a:pPr lvl="2"/>
            <a:r>
              <a:rPr lang="en-US" dirty="0"/>
              <a:t>Hand, finger size, and strength (for mobile device design)</a:t>
            </a:r>
          </a:p>
          <a:p>
            <a:pPr lvl="2"/>
            <a:r>
              <a:rPr lang="en-US" dirty="0"/>
              <a:t>Health, age, and gender</a:t>
            </a:r>
          </a:p>
          <a:p>
            <a:pPr lvl="1"/>
            <a:r>
              <a:rPr lang="en-US" dirty="0"/>
              <a:t>Social</a:t>
            </a:r>
          </a:p>
          <a:p>
            <a:pPr lvl="2"/>
            <a:r>
              <a:rPr lang="en-US" dirty="0"/>
              <a:t>Relationships with peers</a:t>
            </a:r>
          </a:p>
          <a:p>
            <a:pPr lvl="2"/>
            <a:r>
              <a:rPr lang="en-US" dirty="0"/>
              <a:t>Culture</a:t>
            </a:r>
          </a:p>
          <a:p>
            <a:pPr lvl="2"/>
            <a:endParaRPr lang="en-US" dirty="0"/>
          </a:p>
          <a:p>
            <a:pPr lvl="2"/>
            <a:endParaRPr lang="en-US" dirty="0"/>
          </a:p>
          <a:p>
            <a:pPr lvl="2"/>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17</a:t>
            </a:fld>
            <a:endParaRPr lang="en-US"/>
          </a:p>
        </p:txBody>
      </p:sp>
    </p:spTree>
    <p:extLst>
      <p:ext uri="{BB962C8B-B14F-4D97-AF65-F5344CB8AC3E}">
        <p14:creationId xmlns:p14="http://schemas.microsoft.com/office/powerpoint/2010/main" val="2598383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Users</a:t>
            </a:r>
          </a:p>
        </p:txBody>
      </p:sp>
      <p:sp>
        <p:nvSpPr>
          <p:cNvPr id="3" name="Content Placeholder 2"/>
          <p:cNvSpPr>
            <a:spLocks noGrp="1"/>
          </p:cNvSpPr>
          <p:nvPr>
            <p:ph idx="1"/>
          </p:nvPr>
        </p:nvSpPr>
        <p:spPr/>
        <p:txBody>
          <a:bodyPr/>
          <a:lstStyle/>
          <a:p>
            <a:r>
              <a:rPr lang="en-US" dirty="0"/>
              <a:t>Kinds of use:</a:t>
            </a:r>
          </a:p>
          <a:p>
            <a:pPr lvl="1"/>
            <a:r>
              <a:rPr lang="en-US" dirty="0"/>
              <a:t>Infrequent use/novice user</a:t>
            </a:r>
          </a:p>
          <a:p>
            <a:pPr lvl="2"/>
            <a:r>
              <a:rPr lang="en-US" dirty="0"/>
              <a:t>Need wizards</a:t>
            </a:r>
          </a:p>
          <a:p>
            <a:pPr lvl="2"/>
            <a:r>
              <a:rPr lang="en-US" dirty="0"/>
              <a:t>Need clear prompts, error handling</a:t>
            </a:r>
          </a:p>
          <a:p>
            <a:pPr lvl="1"/>
            <a:r>
              <a:rPr lang="en-US" dirty="0"/>
              <a:t>Frequent use/expert user</a:t>
            </a:r>
          </a:p>
          <a:p>
            <a:pPr lvl="2"/>
            <a:r>
              <a:rPr lang="en-US" dirty="0"/>
              <a:t>Need keyboard shortcuts</a:t>
            </a:r>
          </a:p>
          <a:p>
            <a:pPr lvl="2"/>
            <a:r>
              <a:rPr lang="en-US" dirty="0"/>
              <a:t>Need customization, programmability</a:t>
            </a:r>
          </a:p>
        </p:txBody>
      </p:sp>
      <p:sp>
        <p:nvSpPr>
          <p:cNvPr id="4" name="Slide Number Placeholder 3"/>
          <p:cNvSpPr>
            <a:spLocks noGrp="1"/>
          </p:cNvSpPr>
          <p:nvPr>
            <p:ph type="sldNum" sz="quarter" idx="12"/>
          </p:nvPr>
        </p:nvSpPr>
        <p:spPr/>
        <p:txBody>
          <a:bodyPr/>
          <a:lstStyle/>
          <a:p>
            <a:fld id="{CADD82E7-7C10-744D-AD9E-31500693C936}" type="slidenum">
              <a:rPr lang="en-US" smtClean="0"/>
              <a:pPr/>
              <a:t>18</a:t>
            </a:fld>
            <a:endParaRPr lang="en-US"/>
          </a:p>
        </p:txBody>
      </p:sp>
    </p:spTree>
    <p:extLst>
      <p:ext uri="{BB962C8B-B14F-4D97-AF65-F5344CB8AC3E}">
        <p14:creationId xmlns:p14="http://schemas.microsoft.com/office/powerpoint/2010/main" val="1199409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4" name="Rectangle 2"/>
          <p:cNvSpPr>
            <a:spLocks noGrp="1" noChangeArrowheads="1"/>
          </p:cNvSpPr>
          <p:nvPr>
            <p:ph type="title"/>
          </p:nvPr>
        </p:nvSpPr>
        <p:spPr/>
        <p:txBody>
          <a:bodyPr/>
          <a:lstStyle/>
          <a:p>
            <a:r>
              <a:rPr lang="en-US"/>
              <a:t>Users</a:t>
            </a:r>
          </a:p>
        </p:txBody>
      </p:sp>
      <p:sp>
        <p:nvSpPr>
          <p:cNvPr id="812035" name="Rectangle 3"/>
          <p:cNvSpPr>
            <a:spLocks noGrp="1" noChangeArrowheads="1"/>
          </p:cNvSpPr>
          <p:nvPr>
            <p:ph idx="1"/>
          </p:nvPr>
        </p:nvSpPr>
        <p:spPr/>
        <p:txBody>
          <a:bodyPr/>
          <a:lstStyle/>
          <a:p>
            <a:r>
              <a:rPr lang="en-US" dirty="0"/>
              <a:t>Some issues to consider:</a:t>
            </a:r>
          </a:p>
          <a:p>
            <a:pPr lvl="1"/>
            <a:r>
              <a:rPr lang="en-US" dirty="0"/>
              <a:t>Users cannot always express what they want</a:t>
            </a:r>
          </a:p>
          <a:p>
            <a:pPr lvl="2"/>
            <a:r>
              <a:rPr lang="en-US" dirty="0"/>
              <a:t>But they often know what they do not like</a:t>
            </a:r>
          </a:p>
          <a:p>
            <a:pPr lvl="1"/>
            <a:r>
              <a:rPr lang="en-US" dirty="0"/>
              <a:t>Users may not know what is possible</a:t>
            </a:r>
          </a:p>
          <a:p>
            <a:pPr lvl="2"/>
            <a:r>
              <a:rPr lang="en-US" dirty="0"/>
              <a:t>What is technically and economically feasible?</a:t>
            </a:r>
          </a:p>
          <a:p>
            <a:pPr lvl="1"/>
            <a:r>
              <a:rPr lang="en-US" dirty="0"/>
              <a:t>Users stick to what they know already works, or have always done</a:t>
            </a:r>
          </a:p>
          <a:p>
            <a:pPr lvl="1"/>
            <a:r>
              <a:rPr lang="en-US" dirty="0"/>
              <a:t>Users may fear job losses</a:t>
            </a:r>
          </a:p>
          <a:p>
            <a:pPr lvl="2"/>
            <a:r>
              <a:rPr lang="en-US" dirty="0"/>
              <a:t>Leads to non-constructive participation</a:t>
            </a:r>
          </a:p>
        </p:txBody>
      </p:sp>
      <p:sp>
        <p:nvSpPr>
          <p:cNvPr id="4" name="Slide Number Placeholder 5"/>
          <p:cNvSpPr>
            <a:spLocks noGrp="1"/>
          </p:cNvSpPr>
          <p:nvPr>
            <p:ph type="sldNum" sz="quarter" idx="12"/>
          </p:nvPr>
        </p:nvSpPr>
        <p:spPr/>
        <p:txBody>
          <a:bodyPr/>
          <a:lstStyle/>
          <a:p>
            <a:fld id="{AEDDB63A-AD1B-4F47-96F5-282F8C96C281}"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p:cNvSpPr>
            <a:spLocks noGrp="1" noChangeArrowheads="1"/>
          </p:cNvSpPr>
          <p:nvPr>
            <p:ph type="title"/>
          </p:nvPr>
        </p:nvSpPr>
        <p:spPr/>
        <p:txBody>
          <a:bodyPr/>
          <a:lstStyle/>
          <a:p>
            <a:r>
              <a:rPr lang="en-US"/>
              <a:t>Users</a:t>
            </a:r>
          </a:p>
        </p:txBody>
      </p:sp>
      <p:sp>
        <p:nvSpPr>
          <p:cNvPr id="986115" name="Rectangle 3"/>
          <p:cNvSpPr>
            <a:spLocks noGrp="1" noChangeArrowheads="1"/>
          </p:cNvSpPr>
          <p:nvPr>
            <p:ph idx="1"/>
          </p:nvPr>
        </p:nvSpPr>
        <p:spPr/>
        <p:txBody>
          <a:bodyPr/>
          <a:lstStyle/>
          <a:p>
            <a:r>
              <a:rPr lang="en-US" dirty="0"/>
              <a:t>“Innovator’s dilemma”:</a:t>
            </a:r>
          </a:p>
          <a:p>
            <a:pPr lvl="1"/>
            <a:r>
              <a:rPr lang="en-US" dirty="0"/>
              <a:t>Attributed by Clayton Christensen</a:t>
            </a:r>
          </a:p>
          <a:p>
            <a:pPr lvl="1"/>
            <a:r>
              <a:rPr lang="en-US" dirty="0"/>
              <a:t>As the user base for an application grows, there is a tendency for developers to focus on this increasingly expert (and vocal) group of users</a:t>
            </a:r>
          </a:p>
          <a:p>
            <a:pPr lvl="1"/>
            <a:r>
              <a:rPr lang="en-US" dirty="0"/>
              <a:t>The system becomes more sophisticated</a:t>
            </a:r>
          </a:p>
          <a:p>
            <a:pPr lvl="1"/>
            <a:r>
              <a:rPr lang="en-US" dirty="0"/>
              <a:t>Development becomes “optimized” for them</a:t>
            </a:r>
          </a:p>
          <a:p>
            <a:pPr lvl="1"/>
            <a:endParaRPr lang="en-US" dirty="0"/>
          </a:p>
        </p:txBody>
      </p:sp>
      <p:sp>
        <p:nvSpPr>
          <p:cNvPr id="4" name="Slide Number Placeholder 5"/>
          <p:cNvSpPr>
            <a:spLocks noGrp="1"/>
          </p:cNvSpPr>
          <p:nvPr>
            <p:ph type="sldNum" sz="quarter" idx="12"/>
          </p:nvPr>
        </p:nvSpPr>
        <p:spPr/>
        <p:txBody>
          <a:bodyPr/>
          <a:lstStyle/>
          <a:p>
            <a:fld id="{8B464EED-DBF9-D545-BC8F-43634FBFC3CF}"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p:cNvSpPr>
            <a:spLocks noGrp="1" noChangeArrowheads="1"/>
          </p:cNvSpPr>
          <p:nvPr>
            <p:ph type="title"/>
          </p:nvPr>
        </p:nvSpPr>
        <p:spPr/>
        <p:txBody>
          <a:bodyPr/>
          <a:lstStyle/>
          <a:p>
            <a:r>
              <a:rPr lang="en-US" dirty="0"/>
              <a:t>Users</a:t>
            </a:r>
          </a:p>
        </p:txBody>
      </p:sp>
      <p:sp>
        <p:nvSpPr>
          <p:cNvPr id="4" name="Slide Number Placeholder 5"/>
          <p:cNvSpPr>
            <a:spLocks noGrp="1"/>
          </p:cNvSpPr>
          <p:nvPr>
            <p:ph type="sldNum" sz="quarter" idx="12"/>
          </p:nvPr>
        </p:nvSpPr>
        <p:spPr/>
        <p:txBody>
          <a:bodyPr/>
          <a:lstStyle/>
          <a:p>
            <a:fld id="{8B464EED-DBF9-D545-BC8F-43634FBFC3CF}" type="slidenum">
              <a:rPr lang="en-US"/>
              <a:pPr/>
              <a:t>21</a:t>
            </a:fld>
            <a:endParaRPr lang="en-US"/>
          </a:p>
        </p:txBody>
      </p:sp>
      <p:sp>
        <p:nvSpPr>
          <p:cNvPr id="2" name="Rectangle 3">
            <a:extLst>
              <a:ext uri="{FF2B5EF4-FFF2-40B4-BE49-F238E27FC236}">
                <a16:creationId xmlns:a16="http://schemas.microsoft.com/office/drawing/2014/main" id="{0A9E17D9-E996-0D8E-1B8E-8B3B1358CDA8}"/>
              </a:ext>
            </a:extLst>
          </p:cNvPr>
          <p:cNvSpPr txBox="1">
            <a:spLocks noChangeArrowheads="1"/>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“Innovator’s dilemma”:</a:t>
            </a:r>
          </a:p>
          <a:p>
            <a:pPr lvl="1"/>
            <a:r>
              <a:rPr lang="en-US" dirty="0"/>
              <a:t>Potential new users need “less”</a:t>
            </a:r>
          </a:p>
          <a:p>
            <a:pPr lvl="1"/>
            <a:r>
              <a:rPr lang="en-US" dirty="0"/>
              <a:t>Experts don’t want their app “dumbed down”</a:t>
            </a:r>
          </a:p>
          <a:p>
            <a:pPr lvl="1"/>
            <a:r>
              <a:rPr lang="en-US" dirty="0"/>
              <a:t>Competitor attracts the new users with a simpler “good enough” app</a:t>
            </a:r>
          </a:p>
          <a:p>
            <a:pPr lvl="1"/>
            <a:r>
              <a:rPr lang="en-US" dirty="0"/>
              <a:t>Original app loses market share due to disruption from the low end</a:t>
            </a:r>
          </a:p>
        </p:txBody>
      </p:sp>
    </p:spTree>
    <p:extLst>
      <p:ext uri="{BB962C8B-B14F-4D97-AF65-F5344CB8AC3E}">
        <p14:creationId xmlns:p14="http://schemas.microsoft.com/office/powerpoint/2010/main" val="3107516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“Listening to Users”</a:t>
            </a:r>
          </a:p>
        </p:txBody>
      </p:sp>
      <p:sp>
        <p:nvSpPr>
          <p:cNvPr id="4" name="Slide Number Placeholder 3"/>
          <p:cNvSpPr>
            <a:spLocks noGrp="1"/>
          </p:cNvSpPr>
          <p:nvPr>
            <p:ph type="sldNum" sz="quarter" idx="12"/>
          </p:nvPr>
        </p:nvSpPr>
        <p:spPr/>
        <p:txBody>
          <a:bodyPr/>
          <a:lstStyle/>
          <a:p>
            <a:fld id="{CADD82E7-7C10-744D-AD9E-31500693C936}" type="slidenum">
              <a:rPr lang="en-US" smtClean="0"/>
              <a:pPr/>
              <a:t>22</a:t>
            </a:fld>
            <a:endParaRPr lang="en-US"/>
          </a:p>
        </p:txBody>
      </p:sp>
      <p:pic>
        <p:nvPicPr>
          <p:cNvPr id="5" name="Picture 4" descr="Homer's Car.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9696" y="1916833"/>
            <a:ext cx="6323990" cy="3610051"/>
          </a:xfrm>
          <a:prstGeom prst="rect">
            <a:avLst/>
          </a:prstGeom>
        </p:spPr>
      </p:pic>
      <p:sp>
        <p:nvSpPr>
          <p:cNvPr id="6" name="TextBox 5"/>
          <p:cNvSpPr txBox="1"/>
          <p:nvPr/>
        </p:nvSpPr>
        <p:spPr>
          <a:xfrm>
            <a:off x="5646936" y="6237312"/>
            <a:ext cx="748666" cy="369332"/>
          </a:xfrm>
          <a:prstGeom prst="rect">
            <a:avLst/>
          </a:prstGeom>
          <a:noFill/>
        </p:spPr>
        <p:txBody>
          <a:bodyPr wrap="none" rtlCol="0">
            <a:spAutoFit/>
          </a:bodyPr>
          <a:lstStyle/>
          <a:p>
            <a:r>
              <a:rPr lang="en-US" dirty="0"/>
              <a:t>© Fox</a:t>
            </a:r>
          </a:p>
        </p:txBody>
      </p:sp>
    </p:spTree>
    <p:extLst>
      <p:ext uri="{BB962C8B-B14F-4D97-AF65-F5344CB8AC3E}">
        <p14:creationId xmlns:p14="http://schemas.microsoft.com/office/powerpoint/2010/main" val="4020236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a:t>
            </a:r>
          </a:p>
        </p:txBody>
      </p:sp>
      <p:sp>
        <p:nvSpPr>
          <p:cNvPr id="3" name="Content Placeholder 2"/>
          <p:cNvSpPr>
            <a:spLocks noGrp="1"/>
          </p:cNvSpPr>
          <p:nvPr>
            <p:ph idx="1"/>
          </p:nvPr>
        </p:nvSpPr>
        <p:spPr/>
        <p:txBody>
          <a:bodyPr/>
          <a:lstStyle/>
          <a:p>
            <a:r>
              <a:rPr lang="en-US" dirty="0"/>
              <a:t>Tips:</a:t>
            </a:r>
          </a:p>
          <a:p>
            <a:pPr lvl="1"/>
            <a:r>
              <a:rPr lang="en-US" dirty="0"/>
              <a:t>Manage expectations</a:t>
            </a:r>
          </a:p>
          <a:p>
            <a:pPr lvl="2"/>
            <a:r>
              <a:rPr lang="en-US" dirty="0"/>
              <a:t>Be clear and honest about claims</a:t>
            </a:r>
          </a:p>
          <a:p>
            <a:pPr lvl="2"/>
            <a:r>
              <a:rPr lang="en-US" dirty="0"/>
              <a:t>Avoid surprises, disappointments, hype</a:t>
            </a:r>
          </a:p>
          <a:p>
            <a:pPr lvl="1"/>
            <a:r>
              <a:rPr lang="en-US" dirty="0"/>
              <a:t>Involve the user</a:t>
            </a:r>
          </a:p>
          <a:p>
            <a:pPr lvl="2"/>
            <a:r>
              <a:rPr lang="en-US" dirty="0"/>
              <a:t>Build tangible prototypes to gain feedback</a:t>
            </a:r>
          </a:p>
          <a:p>
            <a:pPr lvl="2"/>
            <a:r>
              <a:rPr lang="en-US" dirty="0"/>
              <a:t>More likely to forgive problems if they are involved</a:t>
            </a:r>
          </a:p>
          <a:p>
            <a:pPr lvl="1"/>
            <a:r>
              <a:rPr lang="en-US" dirty="0"/>
              <a:t>Establish a glossary</a:t>
            </a:r>
          </a:p>
          <a:p>
            <a:pPr lvl="2"/>
            <a:r>
              <a:rPr lang="en-US" dirty="0"/>
              <a:t>Terminology used in the application domain (not programming domain)</a:t>
            </a:r>
          </a:p>
          <a:p>
            <a:pPr lvl="2"/>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23</a:t>
            </a:fld>
            <a:endParaRPr lang="en-US"/>
          </a:p>
        </p:txBody>
      </p:sp>
    </p:spTree>
    <p:extLst>
      <p:ext uri="{BB962C8B-B14F-4D97-AF65-F5344CB8AC3E}">
        <p14:creationId xmlns:p14="http://schemas.microsoft.com/office/powerpoint/2010/main" val="1502802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Stories</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2EE417E5-0010-4646-B9AC-DCAE8E418669}" type="slidenum">
              <a:rPr lang="en-US" smtClean="0"/>
              <a:pPr/>
              <a:t>24</a:t>
            </a:fld>
            <a:endParaRPr lang="en-US"/>
          </a:p>
        </p:txBody>
      </p:sp>
    </p:spTree>
    <p:extLst>
      <p:ext uri="{BB962C8B-B14F-4D97-AF65-F5344CB8AC3E}">
        <p14:creationId xmlns:p14="http://schemas.microsoft.com/office/powerpoint/2010/main" val="2753735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Specifying Needs</a:t>
            </a:r>
          </a:p>
        </p:txBody>
      </p:sp>
      <p:sp>
        <p:nvSpPr>
          <p:cNvPr id="6" name="Content Placeholder 5"/>
          <p:cNvSpPr>
            <a:spLocks noGrp="1"/>
          </p:cNvSpPr>
          <p:nvPr>
            <p:ph idx="1"/>
          </p:nvPr>
        </p:nvSpPr>
        <p:spPr/>
        <p:txBody>
          <a:bodyPr/>
          <a:lstStyle/>
          <a:p>
            <a:r>
              <a:rPr lang="en-US" dirty="0"/>
              <a:t>Old (waterfall) method:</a:t>
            </a:r>
          </a:p>
          <a:p>
            <a:endParaRPr lang="en-US" dirty="0"/>
          </a:p>
          <a:p>
            <a:endParaRPr lang="en-US" dirty="0"/>
          </a:p>
          <a:p>
            <a:endParaRPr lang="en-US" dirty="0"/>
          </a:p>
          <a:p>
            <a:pPr marL="82296" indent="0">
              <a:buNone/>
            </a:pPr>
            <a:endParaRPr lang="en-US" dirty="0"/>
          </a:p>
          <a:p>
            <a:pPr marL="82296" indent="0">
              <a:buNone/>
            </a:pPr>
            <a:endParaRPr lang="en-US" dirty="0"/>
          </a:p>
          <a:p>
            <a:r>
              <a:rPr lang="en-US" dirty="0"/>
              <a:t>Agile method: less writing, more talking</a:t>
            </a:r>
          </a:p>
        </p:txBody>
      </p:sp>
      <p:sp>
        <p:nvSpPr>
          <p:cNvPr id="4" name="Slide Number Placeholder 3"/>
          <p:cNvSpPr>
            <a:spLocks noGrp="1"/>
          </p:cNvSpPr>
          <p:nvPr>
            <p:ph type="sldNum" sz="quarter" idx="12"/>
          </p:nvPr>
        </p:nvSpPr>
        <p:spPr/>
        <p:txBody>
          <a:bodyPr/>
          <a:lstStyle/>
          <a:p>
            <a:fld id="{2EE417E5-0010-4646-B9AC-DCAE8E418669}" type="slidenum">
              <a:rPr lang="en-US" smtClean="0"/>
              <a:pPr/>
              <a:t>25</a:t>
            </a:fld>
            <a:endParaRPr lang="en-US"/>
          </a:p>
        </p:txBody>
      </p:sp>
      <p:grpSp>
        <p:nvGrpSpPr>
          <p:cNvPr id="3" name="Group 2">
            <a:extLst>
              <a:ext uri="{FF2B5EF4-FFF2-40B4-BE49-F238E27FC236}">
                <a16:creationId xmlns:a16="http://schemas.microsoft.com/office/drawing/2014/main" id="{EA3427DC-EA9D-60C9-0F8F-0D14AAFE30F6}"/>
              </a:ext>
            </a:extLst>
          </p:cNvPr>
          <p:cNvGrpSpPr/>
          <p:nvPr/>
        </p:nvGrpSpPr>
        <p:grpSpPr>
          <a:xfrm>
            <a:off x="2783632" y="2708920"/>
            <a:ext cx="6624736" cy="1728192"/>
            <a:chOff x="3287688" y="2636912"/>
            <a:chExt cx="6624736" cy="1728192"/>
          </a:xfrm>
        </p:grpSpPr>
        <p:sp>
          <p:nvSpPr>
            <p:cNvPr id="7" name="Rectangle 6"/>
            <p:cNvSpPr/>
            <p:nvPr/>
          </p:nvSpPr>
          <p:spPr>
            <a:xfrm>
              <a:off x="3287688" y="2636912"/>
              <a:ext cx="2808312" cy="172819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Verdana"/>
                  <a:cs typeface="Verdana"/>
                </a:rPr>
                <a:t>Write down all the requirements</a:t>
              </a:r>
            </a:p>
          </p:txBody>
        </p:sp>
        <p:sp>
          <p:nvSpPr>
            <p:cNvPr id="8" name="Rectangle 7"/>
            <p:cNvSpPr/>
            <p:nvPr/>
          </p:nvSpPr>
          <p:spPr>
            <a:xfrm>
              <a:off x="7104112" y="2636912"/>
              <a:ext cx="2808312" cy="172819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Verdana"/>
                  <a:cs typeface="Verdana"/>
                </a:rPr>
                <a:t>Users get what</a:t>
              </a:r>
              <a:br>
                <a:rPr lang="en-US" b="1" dirty="0">
                  <a:latin typeface="Verdana"/>
                  <a:cs typeface="Verdana"/>
                </a:rPr>
              </a:br>
              <a:r>
                <a:rPr lang="en-US" b="1" dirty="0">
                  <a:latin typeface="Verdana"/>
                  <a:cs typeface="Verdana"/>
                </a:rPr>
                <a:t>they want.</a:t>
              </a:r>
            </a:p>
          </p:txBody>
        </p:sp>
        <p:sp>
          <p:nvSpPr>
            <p:cNvPr id="9" name="Rectangle 8"/>
            <p:cNvSpPr/>
            <p:nvPr/>
          </p:nvSpPr>
          <p:spPr>
            <a:xfrm>
              <a:off x="7104112" y="2636912"/>
              <a:ext cx="2808312" cy="172819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Verdana"/>
                  <a:cs typeface="Verdana"/>
                </a:rPr>
                <a:t>Users only get what</a:t>
              </a:r>
              <a:br>
                <a:rPr lang="en-US" b="1" dirty="0">
                  <a:latin typeface="Verdana"/>
                  <a:cs typeface="Verdana"/>
                </a:rPr>
              </a:br>
              <a:r>
                <a:rPr lang="en-US" b="1" i="1" dirty="0">
                  <a:latin typeface="Verdana"/>
                  <a:cs typeface="Verdana"/>
                </a:rPr>
                <a:t>was written</a:t>
              </a:r>
              <a:endParaRPr lang="en-US" b="1" dirty="0">
                <a:latin typeface="Verdana"/>
                <a:cs typeface="Verdana"/>
              </a:endParaRPr>
            </a:p>
          </p:txBody>
        </p:sp>
        <p:sp>
          <p:nvSpPr>
            <p:cNvPr id="2" name="Right Arrow 1"/>
            <p:cNvSpPr/>
            <p:nvPr/>
          </p:nvSpPr>
          <p:spPr>
            <a:xfrm>
              <a:off x="6384032" y="3429000"/>
              <a:ext cx="436124" cy="21602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82904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Rectangle 2"/>
          <p:cNvSpPr>
            <a:spLocks noGrp="1" noChangeArrowheads="1"/>
          </p:cNvSpPr>
          <p:nvPr>
            <p:ph type="title"/>
          </p:nvPr>
        </p:nvSpPr>
        <p:spPr/>
        <p:txBody>
          <a:bodyPr/>
          <a:lstStyle/>
          <a:p>
            <a:r>
              <a:rPr lang="en-US" dirty="0"/>
              <a:t>Specifying Needs</a:t>
            </a:r>
          </a:p>
        </p:txBody>
      </p:sp>
      <p:sp>
        <p:nvSpPr>
          <p:cNvPr id="883715" name="Rectangle 3"/>
          <p:cNvSpPr>
            <a:spLocks noGrp="1" noChangeArrowheads="1"/>
          </p:cNvSpPr>
          <p:nvPr>
            <p:ph idx="1"/>
          </p:nvPr>
        </p:nvSpPr>
        <p:spPr/>
        <p:txBody>
          <a:bodyPr/>
          <a:lstStyle/>
          <a:p>
            <a:r>
              <a:rPr lang="en-US" dirty="0"/>
              <a:t>User story:</a:t>
            </a:r>
          </a:p>
          <a:p>
            <a:pPr lvl="1"/>
            <a:r>
              <a:rPr lang="en-US" dirty="0"/>
              <a:t>Written description of what a user wants to achieve with the system</a:t>
            </a:r>
          </a:p>
        </p:txBody>
      </p:sp>
      <p:sp>
        <p:nvSpPr>
          <p:cNvPr id="4" name="Slide Number Placeholder 5"/>
          <p:cNvSpPr>
            <a:spLocks noGrp="1"/>
          </p:cNvSpPr>
          <p:nvPr>
            <p:ph type="sldNum" sz="quarter" idx="12"/>
          </p:nvPr>
        </p:nvSpPr>
        <p:spPr/>
        <p:txBody>
          <a:bodyPr/>
          <a:lstStyle/>
          <a:p>
            <a:fld id="{87D47D1F-40D7-9D49-AA74-BC40064BEBA9}" type="slidenum">
              <a:rPr lang="en-US"/>
              <a:pPr/>
              <a:t>26</a:t>
            </a:fld>
            <a:endParaRPr lang="en-US" dirty="0"/>
          </a:p>
        </p:txBody>
      </p:sp>
      <p:grpSp>
        <p:nvGrpSpPr>
          <p:cNvPr id="2" name="Group 1">
            <a:extLst>
              <a:ext uri="{FF2B5EF4-FFF2-40B4-BE49-F238E27FC236}">
                <a16:creationId xmlns:a16="http://schemas.microsoft.com/office/drawing/2014/main" id="{D026F9C5-F2BC-A9A2-4554-55E3DBB08D37}"/>
              </a:ext>
            </a:extLst>
          </p:cNvPr>
          <p:cNvGrpSpPr/>
          <p:nvPr/>
        </p:nvGrpSpPr>
        <p:grpSpPr>
          <a:xfrm>
            <a:off x="3719736" y="2852936"/>
            <a:ext cx="6546279" cy="3744416"/>
            <a:chOff x="3719736" y="3068960"/>
            <a:chExt cx="6546279" cy="3744416"/>
          </a:xfrm>
        </p:grpSpPr>
        <p:sp>
          <p:nvSpPr>
            <p:cNvPr id="3" name="Rectangle 2"/>
            <p:cNvSpPr/>
            <p:nvPr/>
          </p:nvSpPr>
          <p:spPr>
            <a:xfrm>
              <a:off x="3719736" y="3068960"/>
              <a:ext cx="3168352" cy="2160240"/>
            </a:xfrm>
            <a:prstGeom prst="rect">
              <a:avLst/>
            </a:prstGeom>
            <a:solidFill>
              <a:schemeClr val="bg1">
                <a:lumMod val="85000"/>
              </a:schemeClr>
            </a:solidFill>
            <a:effectLst>
              <a:outerShdw blurRad="50800" dist="63500" dir="2700000" algn="tl" rotWithShape="0">
                <a:prstClr val="black">
                  <a:alpha val="45000"/>
                </a:prstClr>
              </a:outerShdw>
            </a:effectLst>
          </p:spPr>
          <p:style>
            <a:lnRef idx="1">
              <a:schemeClr val="dk1"/>
            </a:lnRef>
            <a:fillRef idx="2">
              <a:schemeClr val="dk1"/>
            </a:fillRef>
            <a:effectRef idx="1">
              <a:schemeClr val="dk1"/>
            </a:effectRef>
            <a:fontRef idx="minor">
              <a:schemeClr val="dk1"/>
            </a:fontRef>
          </p:style>
          <p:txBody>
            <a:bodyPr rtlCol="0" anchor="t"/>
            <a:lstStyle/>
            <a:p>
              <a:r>
                <a:rPr lang="en-US" sz="2000" dirty="0">
                  <a:latin typeface="Candara Light" panose="020E0502030303020204" pitchFamily="34" charset="0"/>
                  <a:ea typeface="Tahoma" panose="020B0604030504040204" pitchFamily="34" charset="0"/>
                  <a:cs typeface="Tahoma" panose="020B0604030504040204" pitchFamily="34" charset="0"/>
                </a:rPr>
                <a:t>As a guest, I want to reserve a hotel room. </a:t>
              </a:r>
            </a:p>
          </p:txBody>
        </p:sp>
        <p:sp>
          <p:nvSpPr>
            <p:cNvPr id="6" name="TextBox 5"/>
            <p:cNvSpPr txBox="1"/>
            <p:nvPr/>
          </p:nvSpPr>
          <p:spPr>
            <a:xfrm>
              <a:off x="7752185" y="3563724"/>
              <a:ext cx="2513830" cy="369332"/>
            </a:xfrm>
            <a:prstGeom prst="rect">
              <a:avLst/>
            </a:prstGeom>
            <a:noFill/>
          </p:spPr>
          <p:txBody>
            <a:bodyPr wrap="none" rtlCol="0">
              <a:spAutoFit/>
            </a:bodyPr>
            <a:lstStyle/>
            <a:p>
              <a:r>
                <a:rPr lang="en-US" i="1" dirty="0"/>
                <a:t>Organized on index cards</a:t>
              </a:r>
            </a:p>
          </p:txBody>
        </p:sp>
        <p:sp>
          <p:nvSpPr>
            <p:cNvPr id="9" name="Rectangle 8"/>
            <p:cNvSpPr/>
            <p:nvPr/>
          </p:nvSpPr>
          <p:spPr>
            <a:xfrm rot="21360000">
              <a:off x="4079776" y="3824908"/>
              <a:ext cx="3168352" cy="2160240"/>
            </a:xfrm>
            <a:prstGeom prst="rect">
              <a:avLst/>
            </a:prstGeom>
            <a:solidFill>
              <a:schemeClr val="bg1">
                <a:lumMod val="85000"/>
              </a:schemeClr>
            </a:solidFill>
            <a:effectLst>
              <a:outerShdw blurRad="50800" dist="63500" dir="2700000" algn="tl" rotWithShape="0">
                <a:prstClr val="black">
                  <a:alpha val="45000"/>
                </a:prstClr>
              </a:outerShdw>
            </a:effectLst>
          </p:spPr>
          <p:style>
            <a:lnRef idx="1">
              <a:schemeClr val="dk1"/>
            </a:lnRef>
            <a:fillRef idx="2">
              <a:schemeClr val="dk1"/>
            </a:fillRef>
            <a:effectRef idx="1">
              <a:schemeClr val="dk1"/>
            </a:effectRef>
            <a:fontRef idx="minor">
              <a:schemeClr val="dk1"/>
            </a:fontRef>
          </p:style>
          <p:txBody>
            <a:bodyPr rtlCol="0" anchor="t"/>
            <a:lstStyle/>
            <a:p>
              <a:r>
                <a:rPr lang="en-US" sz="2000" dirty="0">
                  <a:latin typeface="Candara Light" panose="020E0502030303020204" pitchFamily="34" charset="0"/>
                  <a:cs typeface="Comic Sans MS"/>
                </a:rPr>
                <a:t>As a guest, I want to see a list of room amenities.</a:t>
              </a:r>
            </a:p>
          </p:txBody>
        </p:sp>
        <p:sp>
          <p:nvSpPr>
            <p:cNvPr id="10" name="Rectangle 9"/>
            <p:cNvSpPr/>
            <p:nvPr/>
          </p:nvSpPr>
          <p:spPr>
            <a:xfrm>
              <a:off x="3863752" y="4653136"/>
              <a:ext cx="3168352" cy="2160240"/>
            </a:xfrm>
            <a:prstGeom prst="rect">
              <a:avLst/>
            </a:prstGeom>
            <a:solidFill>
              <a:schemeClr val="bg1">
                <a:lumMod val="85000"/>
              </a:schemeClr>
            </a:solidFill>
            <a:effectLst>
              <a:outerShdw blurRad="50800" dist="63500" dir="2700000" algn="tl" rotWithShape="0">
                <a:prstClr val="black">
                  <a:alpha val="45000"/>
                </a:prstClr>
              </a:outerShdw>
            </a:effectLst>
          </p:spPr>
          <p:style>
            <a:lnRef idx="1">
              <a:schemeClr val="dk1"/>
            </a:lnRef>
            <a:fillRef idx="2">
              <a:schemeClr val="dk1"/>
            </a:fillRef>
            <a:effectRef idx="1">
              <a:schemeClr val="dk1"/>
            </a:effectRef>
            <a:fontRef idx="minor">
              <a:schemeClr val="dk1"/>
            </a:fontRef>
          </p:style>
          <p:txBody>
            <a:bodyPr rtlCol="0" anchor="t"/>
            <a:lstStyle/>
            <a:p>
              <a:r>
                <a:rPr lang="en-US" sz="2000" dirty="0">
                  <a:latin typeface="Candara Light" panose="020E0502030303020204" pitchFamily="34" charset="0"/>
                  <a:cs typeface="Comic Sans MS"/>
                </a:rPr>
                <a:t>As a conference planner, I want to see meeting room capacities.</a:t>
              </a:r>
            </a:p>
          </p:txBody>
        </p:sp>
        <p:sp>
          <p:nvSpPr>
            <p:cNvPr id="7" name="TextBox 6"/>
            <p:cNvSpPr txBox="1"/>
            <p:nvPr/>
          </p:nvSpPr>
          <p:spPr>
            <a:xfrm>
              <a:off x="7752185" y="4149080"/>
              <a:ext cx="2069797" cy="1754326"/>
            </a:xfrm>
            <a:prstGeom prst="rect">
              <a:avLst/>
            </a:prstGeom>
            <a:noFill/>
          </p:spPr>
          <p:txBody>
            <a:bodyPr wrap="none" rtlCol="0">
              <a:spAutoFit/>
            </a:bodyPr>
            <a:lstStyle/>
            <a:p>
              <a:r>
                <a:rPr lang="en-US" i="1" dirty="0"/>
                <a:t>Typical forms:</a:t>
              </a:r>
            </a:p>
            <a:p>
              <a:pPr marL="285750" indent="-285750">
                <a:buFont typeface="Arial" panose="020B0604020202020204" pitchFamily="34" charset="0"/>
                <a:buChar char="•"/>
              </a:pPr>
              <a:r>
                <a:rPr lang="en-US" i="1" dirty="0"/>
                <a:t>As a «user role»,</a:t>
              </a:r>
              <a:br>
                <a:rPr lang="en-US" i="1" dirty="0"/>
              </a:br>
              <a:r>
                <a:rPr lang="en-US" i="1" dirty="0"/>
                <a:t>I want «goal».</a:t>
              </a:r>
            </a:p>
            <a:p>
              <a:pPr marL="285750" indent="-285750">
                <a:buFont typeface="Arial" panose="020B0604020202020204" pitchFamily="34" charset="0"/>
                <a:buChar char="•"/>
              </a:pPr>
              <a:r>
                <a:rPr lang="en-US" i="1" dirty="0"/>
                <a:t>As a «user role»,</a:t>
              </a:r>
              <a:br>
                <a:rPr lang="en-US" i="1" dirty="0"/>
              </a:br>
              <a:r>
                <a:rPr lang="en-US" i="1" dirty="0"/>
                <a:t>I want «goal»,</a:t>
              </a:r>
              <a:br>
                <a:rPr lang="en-US" i="1" dirty="0"/>
              </a:br>
              <a:r>
                <a:rPr lang="en-US" i="1" dirty="0"/>
                <a:t>so that «reason».</a:t>
              </a:r>
            </a:p>
          </p:txBody>
        </p:sp>
      </p:grpSp>
    </p:spTree>
    <p:extLst>
      <p:ext uri="{BB962C8B-B14F-4D97-AF65-F5344CB8AC3E}">
        <p14:creationId xmlns:p14="http://schemas.microsoft.com/office/powerpoint/2010/main" val="3348714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Rectangle 2"/>
          <p:cNvSpPr>
            <a:spLocks noGrp="1" noChangeArrowheads="1"/>
          </p:cNvSpPr>
          <p:nvPr>
            <p:ph type="title"/>
          </p:nvPr>
        </p:nvSpPr>
        <p:spPr/>
        <p:txBody>
          <a:bodyPr/>
          <a:lstStyle/>
          <a:p>
            <a:r>
              <a:rPr lang="en-US" dirty="0"/>
              <a:t>Defining User Stories</a:t>
            </a:r>
          </a:p>
        </p:txBody>
      </p:sp>
      <p:sp>
        <p:nvSpPr>
          <p:cNvPr id="988163" name="Rectangle 3"/>
          <p:cNvSpPr>
            <a:spLocks noGrp="1" noChangeArrowheads="1"/>
          </p:cNvSpPr>
          <p:nvPr>
            <p:ph idx="1"/>
          </p:nvPr>
        </p:nvSpPr>
        <p:spPr/>
        <p:txBody>
          <a:bodyPr/>
          <a:lstStyle/>
          <a:p>
            <a:r>
              <a:rPr lang="en-US" dirty="0"/>
              <a:t>Tips:</a:t>
            </a:r>
          </a:p>
          <a:p>
            <a:pPr lvl="1"/>
            <a:r>
              <a:rPr lang="en-US" dirty="0"/>
              <a:t>Describe </a:t>
            </a:r>
            <a:r>
              <a:rPr lang="en-US" i="1" dirty="0"/>
              <a:t>what</a:t>
            </a:r>
            <a:r>
              <a:rPr lang="en-US" dirty="0"/>
              <a:t> not </a:t>
            </a:r>
            <a:r>
              <a:rPr lang="en-US" i="1" dirty="0"/>
              <a:t>how</a:t>
            </a:r>
          </a:p>
          <a:p>
            <a:pPr lvl="2"/>
            <a:r>
              <a:rPr lang="en-US" dirty="0"/>
              <a:t>Avoid technical details or choices of technologies, unless it is a development constraint</a:t>
            </a:r>
          </a:p>
          <a:p>
            <a:pPr lvl="1"/>
            <a:r>
              <a:rPr lang="en-US" dirty="0"/>
              <a:t>Avoid epics for near-term needs</a:t>
            </a:r>
          </a:p>
          <a:p>
            <a:pPr lvl="2"/>
            <a:r>
              <a:rPr lang="en-US" dirty="0"/>
              <a:t>Better to split up huge stories into more, smaller stories (but not too small)</a:t>
            </a:r>
          </a:p>
        </p:txBody>
      </p:sp>
      <p:sp>
        <p:nvSpPr>
          <p:cNvPr id="4" name="Slide Number Placeholder 5"/>
          <p:cNvSpPr>
            <a:spLocks noGrp="1"/>
          </p:cNvSpPr>
          <p:nvPr>
            <p:ph type="sldNum" sz="quarter" idx="12"/>
          </p:nvPr>
        </p:nvSpPr>
        <p:spPr/>
        <p:txBody>
          <a:bodyPr/>
          <a:lstStyle/>
          <a:p>
            <a:fld id="{5B32312E-611B-CE4A-B6A3-7458DD1D05E0}" type="slidenum">
              <a:rPr lang="en-US" smtClean="0"/>
              <a:pPr/>
              <a:t>27</a:t>
            </a:fld>
            <a:endParaRPr lang="en-US"/>
          </a:p>
        </p:txBody>
      </p:sp>
    </p:spTree>
    <p:extLst>
      <p:ext uri="{BB962C8B-B14F-4D97-AF65-F5344CB8AC3E}">
        <p14:creationId xmlns:p14="http://schemas.microsoft.com/office/powerpoint/2010/main" val="2200226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6" name="Rectangle 2"/>
          <p:cNvSpPr>
            <a:spLocks noGrp="1" noChangeArrowheads="1"/>
          </p:cNvSpPr>
          <p:nvPr>
            <p:ph type="title"/>
          </p:nvPr>
        </p:nvSpPr>
        <p:spPr/>
        <p:txBody>
          <a:bodyPr/>
          <a:lstStyle/>
          <a:p>
            <a:r>
              <a:rPr lang="en-US" dirty="0"/>
              <a:t>Defining User Stories</a:t>
            </a:r>
          </a:p>
        </p:txBody>
      </p:sp>
      <p:sp>
        <p:nvSpPr>
          <p:cNvPr id="886787" name="Rectangle 3"/>
          <p:cNvSpPr>
            <a:spLocks noGrp="1" noChangeArrowheads="1"/>
          </p:cNvSpPr>
          <p:nvPr>
            <p:ph idx="1"/>
          </p:nvPr>
        </p:nvSpPr>
        <p:spPr/>
        <p:txBody>
          <a:bodyPr/>
          <a:lstStyle/>
          <a:p>
            <a:r>
              <a:rPr lang="en-US" dirty="0"/>
              <a:t>Tips:</a:t>
            </a:r>
          </a:p>
          <a:p>
            <a:pPr lvl="1"/>
            <a:r>
              <a:rPr lang="en-US" dirty="0"/>
              <a:t>Prioritize user stories</a:t>
            </a:r>
          </a:p>
          <a:p>
            <a:pPr lvl="2"/>
            <a:r>
              <a:rPr lang="en-US" dirty="0"/>
              <a:t>Discuss with the user what they find of most value, and stage development on that first</a:t>
            </a:r>
          </a:p>
          <a:p>
            <a:pPr lvl="1"/>
            <a:r>
              <a:rPr lang="en-US" dirty="0"/>
              <a:t>Can attach an effort estimate to complete</a:t>
            </a:r>
          </a:p>
          <a:p>
            <a:pPr lvl="2"/>
            <a:r>
              <a:rPr lang="en-US" dirty="0"/>
              <a:t>Normally sized to take days, not many weeks</a:t>
            </a:r>
          </a:p>
          <a:p>
            <a:pPr lvl="1"/>
            <a:r>
              <a:rPr lang="en-US" dirty="0"/>
              <a:t>Use stories to plan development tasks</a:t>
            </a:r>
          </a:p>
          <a:p>
            <a:pPr lvl="2"/>
            <a:r>
              <a:rPr lang="en-US" dirty="0"/>
              <a:t>Create work items in the iteration plan</a:t>
            </a:r>
          </a:p>
        </p:txBody>
      </p:sp>
      <p:sp>
        <p:nvSpPr>
          <p:cNvPr id="4" name="Slide Number Placeholder 5"/>
          <p:cNvSpPr>
            <a:spLocks noGrp="1"/>
          </p:cNvSpPr>
          <p:nvPr>
            <p:ph type="sldNum" sz="quarter" idx="12"/>
          </p:nvPr>
        </p:nvSpPr>
        <p:spPr/>
        <p:txBody>
          <a:bodyPr/>
          <a:lstStyle/>
          <a:p>
            <a:fld id="{5F5DAD51-17A8-1044-A417-EBA567D21B1C}" type="slidenum">
              <a:rPr lang="en-US"/>
              <a:pPr/>
              <a:t>28</a:t>
            </a:fld>
            <a:endParaRPr lang="en-US"/>
          </a:p>
        </p:txBody>
      </p:sp>
    </p:spTree>
    <p:extLst>
      <p:ext uri="{BB962C8B-B14F-4D97-AF65-F5344CB8AC3E}">
        <p14:creationId xmlns:p14="http://schemas.microsoft.com/office/powerpoint/2010/main" val="602192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“SMART Work Items”</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pPr marL="82296" indent="0">
              <a:buNone/>
            </a:pPr>
            <a:endParaRPr lang="en-US" dirty="0"/>
          </a:p>
          <a:p>
            <a:r>
              <a:rPr lang="en-US" dirty="0">
                <a:hlinkClick r:id="rId3"/>
              </a:rPr>
              <a:t>https://xp123.com/invest-in-good-stories-and-smart-tasks/</a:t>
            </a:r>
            <a:r>
              <a:rPr lang="en-US" dirty="0"/>
              <a:t> </a:t>
            </a:r>
          </a:p>
        </p:txBody>
      </p:sp>
      <p:sp>
        <p:nvSpPr>
          <p:cNvPr id="4" name="Slide Number Placeholder 3"/>
          <p:cNvSpPr>
            <a:spLocks noGrp="1"/>
          </p:cNvSpPr>
          <p:nvPr>
            <p:ph type="sldNum" sz="quarter" idx="12"/>
          </p:nvPr>
        </p:nvSpPr>
        <p:spPr/>
        <p:txBody>
          <a:bodyPr/>
          <a:lstStyle/>
          <a:p>
            <a:fld id="{CADD82E7-7C10-744D-AD9E-31500693C936}" type="slidenum">
              <a:rPr lang="en-US" smtClean="0"/>
              <a:pPr/>
              <a:t>29</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955808089"/>
              </p:ext>
            </p:extLst>
          </p:nvPr>
        </p:nvGraphicFramePr>
        <p:xfrm>
          <a:off x="4571492" y="1916832"/>
          <a:ext cx="3049016" cy="1981200"/>
        </p:xfrm>
        <a:graphic>
          <a:graphicData uri="http://schemas.openxmlformats.org/drawingml/2006/table">
            <a:tbl>
              <a:tblPr firstRow="1" bandRow="1">
                <a:tableStyleId>{5940675A-B579-460E-94D1-54222C63F5DA}</a:tableStyleId>
              </a:tblPr>
              <a:tblGrid>
                <a:gridCol w="554824">
                  <a:extLst>
                    <a:ext uri="{9D8B030D-6E8A-4147-A177-3AD203B41FA5}">
                      <a16:colId xmlns:a16="http://schemas.microsoft.com/office/drawing/2014/main" val="20000"/>
                    </a:ext>
                  </a:extLst>
                </a:gridCol>
                <a:gridCol w="2494192">
                  <a:extLst>
                    <a:ext uri="{9D8B030D-6E8A-4147-A177-3AD203B41FA5}">
                      <a16:colId xmlns:a16="http://schemas.microsoft.com/office/drawing/2014/main" val="20001"/>
                    </a:ext>
                  </a:extLst>
                </a:gridCol>
              </a:tblGrid>
              <a:tr h="370840">
                <a:tc>
                  <a:txBody>
                    <a:bodyPr/>
                    <a:lstStyle/>
                    <a:p>
                      <a:pPr algn="ctr"/>
                      <a:r>
                        <a:rPr lang="en-US" sz="2000" b="1" dirty="0"/>
                        <a:t>S</a:t>
                      </a:r>
                    </a:p>
                  </a:txBody>
                  <a:tcPr/>
                </a:tc>
                <a:tc>
                  <a:txBody>
                    <a:bodyPr/>
                    <a:lstStyle/>
                    <a:p>
                      <a:r>
                        <a:rPr lang="en-US" sz="2000" dirty="0"/>
                        <a:t>Specific</a:t>
                      </a:r>
                    </a:p>
                  </a:txBody>
                  <a:tcPr/>
                </a:tc>
                <a:extLst>
                  <a:ext uri="{0D108BD9-81ED-4DB2-BD59-A6C34878D82A}">
                    <a16:rowId xmlns:a16="http://schemas.microsoft.com/office/drawing/2014/main" val="10000"/>
                  </a:ext>
                </a:extLst>
              </a:tr>
              <a:tr h="370840">
                <a:tc>
                  <a:txBody>
                    <a:bodyPr/>
                    <a:lstStyle/>
                    <a:p>
                      <a:pPr algn="ctr"/>
                      <a:r>
                        <a:rPr lang="en-US" sz="2000" b="1" dirty="0"/>
                        <a:t>M</a:t>
                      </a:r>
                    </a:p>
                  </a:txBody>
                  <a:tcPr/>
                </a:tc>
                <a:tc>
                  <a:txBody>
                    <a:bodyPr/>
                    <a:lstStyle/>
                    <a:p>
                      <a:r>
                        <a:rPr lang="en-US" sz="2000" dirty="0"/>
                        <a:t>Measurable</a:t>
                      </a:r>
                    </a:p>
                  </a:txBody>
                  <a:tcPr/>
                </a:tc>
                <a:extLst>
                  <a:ext uri="{0D108BD9-81ED-4DB2-BD59-A6C34878D82A}">
                    <a16:rowId xmlns:a16="http://schemas.microsoft.com/office/drawing/2014/main" val="10001"/>
                  </a:ext>
                </a:extLst>
              </a:tr>
              <a:tr h="370840">
                <a:tc>
                  <a:txBody>
                    <a:bodyPr/>
                    <a:lstStyle/>
                    <a:p>
                      <a:pPr algn="ctr"/>
                      <a:r>
                        <a:rPr lang="en-US" sz="2000" b="1" dirty="0"/>
                        <a:t>A</a:t>
                      </a:r>
                    </a:p>
                  </a:txBody>
                  <a:tcPr/>
                </a:tc>
                <a:tc>
                  <a:txBody>
                    <a:bodyPr/>
                    <a:lstStyle/>
                    <a:p>
                      <a:r>
                        <a:rPr lang="en-US" sz="2000" dirty="0"/>
                        <a:t>Achievable</a:t>
                      </a:r>
                    </a:p>
                  </a:txBody>
                  <a:tcPr/>
                </a:tc>
                <a:extLst>
                  <a:ext uri="{0D108BD9-81ED-4DB2-BD59-A6C34878D82A}">
                    <a16:rowId xmlns:a16="http://schemas.microsoft.com/office/drawing/2014/main" val="10002"/>
                  </a:ext>
                </a:extLst>
              </a:tr>
              <a:tr h="370840">
                <a:tc>
                  <a:txBody>
                    <a:bodyPr/>
                    <a:lstStyle/>
                    <a:p>
                      <a:pPr algn="ctr"/>
                      <a:r>
                        <a:rPr lang="en-US" sz="2000" b="1" dirty="0"/>
                        <a:t>R</a:t>
                      </a:r>
                    </a:p>
                  </a:txBody>
                  <a:tcPr/>
                </a:tc>
                <a:tc>
                  <a:txBody>
                    <a:bodyPr/>
                    <a:lstStyle/>
                    <a:p>
                      <a:r>
                        <a:rPr lang="en-US" sz="2000" dirty="0"/>
                        <a:t>Relevant</a:t>
                      </a:r>
                    </a:p>
                  </a:txBody>
                  <a:tcPr/>
                </a:tc>
                <a:extLst>
                  <a:ext uri="{0D108BD9-81ED-4DB2-BD59-A6C34878D82A}">
                    <a16:rowId xmlns:a16="http://schemas.microsoft.com/office/drawing/2014/main" val="10003"/>
                  </a:ext>
                </a:extLst>
              </a:tr>
              <a:tr h="370840">
                <a:tc>
                  <a:txBody>
                    <a:bodyPr/>
                    <a:lstStyle/>
                    <a:p>
                      <a:pPr algn="ctr"/>
                      <a:r>
                        <a:rPr lang="en-US" sz="2000" b="1" dirty="0"/>
                        <a:t>T</a:t>
                      </a:r>
                    </a:p>
                  </a:txBody>
                  <a:tcPr/>
                </a:tc>
                <a:tc>
                  <a:txBody>
                    <a:bodyPr/>
                    <a:lstStyle/>
                    <a:p>
                      <a:r>
                        <a:rPr lang="en-US" sz="2000" dirty="0"/>
                        <a:t>Time Boxed</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05286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“INVEST in Good Stories”</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pPr marL="82296" indent="0">
              <a:buNone/>
            </a:pPr>
            <a:endParaRPr lang="en-US" dirty="0"/>
          </a:p>
          <a:p>
            <a:r>
              <a:rPr lang="en-US" dirty="0">
                <a:hlinkClick r:id="rId3"/>
              </a:rPr>
              <a:t>https://xp123.com/invest-in-good-stories-and-smart-tasks/</a:t>
            </a:r>
            <a:r>
              <a:rPr lang="en-US" dirty="0"/>
              <a:t> </a:t>
            </a:r>
          </a:p>
        </p:txBody>
      </p:sp>
      <p:sp>
        <p:nvSpPr>
          <p:cNvPr id="4" name="Slide Number Placeholder 3"/>
          <p:cNvSpPr>
            <a:spLocks noGrp="1"/>
          </p:cNvSpPr>
          <p:nvPr>
            <p:ph type="sldNum" sz="quarter" idx="12"/>
          </p:nvPr>
        </p:nvSpPr>
        <p:spPr/>
        <p:txBody>
          <a:bodyPr/>
          <a:lstStyle/>
          <a:p>
            <a:fld id="{CADD82E7-7C10-744D-AD9E-31500693C936}" type="slidenum">
              <a:rPr lang="en-US" smtClean="0"/>
              <a:pPr/>
              <a:t>30</a:t>
            </a:fld>
            <a:endParaRPr lang="en-US"/>
          </a:p>
        </p:txBody>
      </p:sp>
      <p:graphicFrame>
        <p:nvGraphicFramePr>
          <p:cNvPr id="5" name="Table 4"/>
          <p:cNvGraphicFramePr>
            <a:graphicFrameLocks noGrp="1"/>
          </p:cNvGraphicFramePr>
          <p:nvPr/>
        </p:nvGraphicFramePr>
        <p:xfrm>
          <a:off x="4571492" y="1916832"/>
          <a:ext cx="3049016" cy="2377440"/>
        </p:xfrm>
        <a:graphic>
          <a:graphicData uri="http://schemas.openxmlformats.org/drawingml/2006/table">
            <a:tbl>
              <a:tblPr firstRow="1" bandRow="1">
                <a:tableStyleId>{5940675A-B579-460E-94D1-54222C63F5DA}</a:tableStyleId>
              </a:tblPr>
              <a:tblGrid>
                <a:gridCol w="554824">
                  <a:extLst>
                    <a:ext uri="{9D8B030D-6E8A-4147-A177-3AD203B41FA5}">
                      <a16:colId xmlns:a16="http://schemas.microsoft.com/office/drawing/2014/main" val="20000"/>
                    </a:ext>
                  </a:extLst>
                </a:gridCol>
                <a:gridCol w="2494192">
                  <a:extLst>
                    <a:ext uri="{9D8B030D-6E8A-4147-A177-3AD203B41FA5}">
                      <a16:colId xmlns:a16="http://schemas.microsoft.com/office/drawing/2014/main" val="20001"/>
                    </a:ext>
                  </a:extLst>
                </a:gridCol>
              </a:tblGrid>
              <a:tr h="370840">
                <a:tc>
                  <a:txBody>
                    <a:bodyPr/>
                    <a:lstStyle/>
                    <a:p>
                      <a:pPr algn="ctr"/>
                      <a:r>
                        <a:rPr lang="en-US" sz="2000" b="1" dirty="0"/>
                        <a:t>I</a:t>
                      </a:r>
                    </a:p>
                  </a:txBody>
                  <a:tcPr/>
                </a:tc>
                <a:tc>
                  <a:txBody>
                    <a:bodyPr/>
                    <a:lstStyle/>
                    <a:p>
                      <a:r>
                        <a:rPr lang="en-US" sz="2000" dirty="0"/>
                        <a:t>Independent</a:t>
                      </a:r>
                    </a:p>
                  </a:txBody>
                  <a:tcPr/>
                </a:tc>
                <a:extLst>
                  <a:ext uri="{0D108BD9-81ED-4DB2-BD59-A6C34878D82A}">
                    <a16:rowId xmlns:a16="http://schemas.microsoft.com/office/drawing/2014/main" val="10000"/>
                  </a:ext>
                </a:extLst>
              </a:tr>
              <a:tr h="370840">
                <a:tc>
                  <a:txBody>
                    <a:bodyPr/>
                    <a:lstStyle/>
                    <a:p>
                      <a:pPr algn="ctr"/>
                      <a:r>
                        <a:rPr lang="en-US" sz="2000" b="1" dirty="0"/>
                        <a:t>N</a:t>
                      </a:r>
                    </a:p>
                  </a:txBody>
                  <a:tcPr/>
                </a:tc>
                <a:tc>
                  <a:txBody>
                    <a:bodyPr/>
                    <a:lstStyle/>
                    <a:p>
                      <a:r>
                        <a:rPr lang="en-US" sz="2000" dirty="0"/>
                        <a:t>Negotiable</a:t>
                      </a:r>
                    </a:p>
                  </a:txBody>
                  <a:tcPr/>
                </a:tc>
                <a:extLst>
                  <a:ext uri="{0D108BD9-81ED-4DB2-BD59-A6C34878D82A}">
                    <a16:rowId xmlns:a16="http://schemas.microsoft.com/office/drawing/2014/main" val="10001"/>
                  </a:ext>
                </a:extLst>
              </a:tr>
              <a:tr h="370840">
                <a:tc>
                  <a:txBody>
                    <a:bodyPr/>
                    <a:lstStyle/>
                    <a:p>
                      <a:pPr algn="ctr"/>
                      <a:r>
                        <a:rPr lang="en-US" sz="2000" b="1" dirty="0"/>
                        <a:t>V</a:t>
                      </a:r>
                    </a:p>
                  </a:txBody>
                  <a:tcPr/>
                </a:tc>
                <a:tc>
                  <a:txBody>
                    <a:bodyPr/>
                    <a:lstStyle/>
                    <a:p>
                      <a:r>
                        <a:rPr lang="en-US" sz="2000" dirty="0"/>
                        <a:t>Valuable</a:t>
                      </a:r>
                    </a:p>
                  </a:txBody>
                  <a:tcPr/>
                </a:tc>
                <a:extLst>
                  <a:ext uri="{0D108BD9-81ED-4DB2-BD59-A6C34878D82A}">
                    <a16:rowId xmlns:a16="http://schemas.microsoft.com/office/drawing/2014/main" val="10002"/>
                  </a:ext>
                </a:extLst>
              </a:tr>
              <a:tr h="370840">
                <a:tc>
                  <a:txBody>
                    <a:bodyPr/>
                    <a:lstStyle/>
                    <a:p>
                      <a:pPr algn="ctr"/>
                      <a:r>
                        <a:rPr lang="en-US" sz="2000" b="1" dirty="0"/>
                        <a:t>E</a:t>
                      </a:r>
                    </a:p>
                  </a:txBody>
                  <a:tcPr/>
                </a:tc>
                <a:tc>
                  <a:txBody>
                    <a:bodyPr/>
                    <a:lstStyle/>
                    <a:p>
                      <a:r>
                        <a:rPr lang="en-US" sz="2000" dirty="0"/>
                        <a:t>Estimable</a:t>
                      </a:r>
                    </a:p>
                  </a:txBody>
                  <a:tcPr/>
                </a:tc>
                <a:extLst>
                  <a:ext uri="{0D108BD9-81ED-4DB2-BD59-A6C34878D82A}">
                    <a16:rowId xmlns:a16="http://schemas.microsoft.com/office/drawing/2014/main" val="10003"/>
                  </a:ext>
                </a:extLst>
              </a:tr>
              <a:tr h="370840">
                <a:tc>
                  <a:txBody>
                    <a:bodyPr/>
                    <a:lstStyle/>
                    <a:p>
                      <a:pPr algn="ctr"/>
                      <a:r>
                        <a:rPr lang="en-US" sz="2000" b="1" dirty="0"/>
                        <a:t>S</a:t>
                      </a:r>
                    </a:p>
                  </a:txBody>
                  <a:tcPr/>
                </a:tc>
                <a:tc>
                  <a:txBody>
                    <a:bodyPr/>
                    <a:lstStyle/>
                    <a:p>
                      <a:r>
                        <a:rPr lang="en-US" sz="2000" dirty="0"/>
                        <a:t>Small</a:t>
                      </a:r>
                    </a:p>
                  </a:txBody>
                  <a:tcPr/>
                </a:tc>
                <a:extLst>
                  <a:ext uri="{0D108BD9-81ED-4DB2-BD59-A6C34878D82A}">
                    <a16:rowId xmlns:a16="http://schemas.microsoft.com/office/drawing/2014/main" val="10004"/>
                  </a:ext>
                </a:extLst>
              </a:tr>
              <a:tr h="370840">
                <a:tc>
                  <a:txBody>
                    <a:bodyPr/>
                    <a:lstStyle/>
                    <a:p>
                      <a:pPr algn="ctr"/>
                      <a:r>
                        <a:rPr lang="en-US" sz="2000" b="1" dirty="0"/>
                        <a:t>T</a:t>
                      </a:r>
                    </a:p>
                  </a:txBody>
                  <a:tcPr/>
                </a:tc>
                <a:tc>
                  <a:txBody>
                    <a:bodyPr/>
                    <a:lstStyle/>
                    <a:p>
                      <a:r>
                        <a:rPr lang="en-US" sz="2000" dirty="0"/>
                        <a:t>Testable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89766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Testable User Stories</a:t>
            </a:r>
          </a:p>
        </p:txBody>
      </p:sp>
      <p:sp>
        <p:nvSpPr>
          <p:cNvPr id="3" name="Content Placeholder 2"/>
          <p:cNvSpPr>
            <a:spLocks noGrp="1"/>
          </p:cNvSpPr>
          <p:nvPr>
            <p:ph idx="1"/>
          </p:nvPr>
        </p:nvSpPr>
        <p:spPr/>
        <p:txBody>
          <a:bodyPr/>
          <a:lstStyle/>
          <a:p>
            <a:r>
              <a:rPr lang="en-US" dirty="0"/>
              <a:t>Front of the card:</a:t>
            </a:r>
          </a:p>
        </p:txBody>
      </p:sp>
      <p:sp>
        <p:nvSpPr>
          <p:cNvPr id="4" name="Slide Number Placeholder 3"/>
          <p:cNvSpPr>
            <a:spLocks noGrp="1"/>
          </p:cNvSpPr>
          <p:nvPr>
            <p:ph type="sldNum" sz="quarter" idx="12"/>
          </p:nvPr>
        </p:nvSpPr>
        <p:spPr/>
        <p:txBody>
          <a:bodyPr/>
          <a:lstStyle/>
          <a:p>
            <a:fld id="{CADD82E7-7C10-744D-AD9E-31500693C936}" type="slidenum">
              <a:rPr lang="en-US" smtClean="0"/>
              <a:pPr/>
              <a:t>31</a:t>
            </a:fld>
            <a:endParaRPr lang="en-US"/>
          </a:p>
        </p:txBody>
      </p:sp>
      <p:sp>
        <p:nvSpPr>
          <p:cNvPr id="5" name="Rectangle 4"/>
          <p:cNvSpPr/>
          <p:nvPr/>
        </p:nvSpPr>
        <p:spPr>
          <a:xfrm>
            <a:off x="4511824" y="2276872"/>
            <a:ext cx="3456384" cy="1152128"/>
          </a:xfrm>
          <a:prstGeom prst="rect">
            <a:avLst/>
          </a:prstGeom>
          <a:solidFill>
            <a:schemeClr val="bg1">
              <a:lumMod val="85000"/>
            </a:schemeClr>
          </a:solidFill>
          <a:effectLst>
            <a:outerShdw blurRad="50800" dist="63500" dir="2700000" algn="tl" rotWithShape="0">
              <a:prstClr val="black">
                <a:alpha val="45000"/>
              </a:prstClr>
            </a:outerShdw>
          </a:effectLst>
        </p:spPr>
        <p:style>
          <a:lnRef idx="1">
            <a:schemeClr val="dk1"/>
          </a:lnRef>
          <a:fillRef idx="2">
            <a:schemeClr val="dk1"/>
          </a:fillRef>
          <a:effectRef idx="1">
            <a:schemeClr val="dk1"/>
          </a:effectRef>
          <a:fontRef idx="minor">
            <a:schemeClr val="dk1"/>
          </a:fontRef>
        </p:style>
        <p:txBody>
          <a:bodyPr rtlCol="0" anchor="t"/>
          <a:lstStyle/>
          <a:p>
            <a:r>
              <a:rPr lang="en-US" sz="2000" dirty="0">
                <a:latin typeface="Candara Light" panose="020E0502030303020204" pitchFamily="34" charset="0"/>
                <a:cs typeface="Comic Sans MS"/>
              </a:rPr>
              <a:t>As a meal planner, I want to see nutrition information for a given amount of a given food.</a:t>
            </a:r>
          </a:p>
        </p:txBody>
      </p:sp>
    </p:spTree>
    <p:extLst>
      <p:ext uri="{BB962C8B-B14F-4D97-AF65-F5344CB8AC3E}">
        <p14:creationId xmlns:p14="http://schemas.microsoft.com/office/powerpoint/2010/main" val="322076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Testable User Stories</a:t>
            </a:r>
          </a:p>
        </p:txBody>
      </p:sp>
      <p:sp>
        <p:nvSpPr>
          <p:cNvPr id="3" name="Content Placeholder 2"/>
          <p:cNvSpPr>
            <a:spLocks noGrp="1"/>
          </p:cNvSpPr>
          <p:nvPr>
            <p:ph idx="1"/>
          </p:nvPr>
        </p:nvSpPr>
        <p:spPr/>
        <p:txBody>
          <a:bodyPr/>
          <a:lstStyle/>
          <a:p>
            <a:r>
              <a:rPr lang="en-US" dirty="0"/>
              <a:t>Back of the card:</a:t>
            </a:r>
          </a:p>
          <a:p>
            <a:endParaRPr lang="en-US" dirty="0"/>
          </a:p>
          <a:p>
            <a:endParaRPr lang="en-US" dirty="0"/>
          </a:p>
          <a:p>
            <a:endParaRPr lang="en-US" dirty="0"/>
          </a:p>
          <a:p>
            <a:endParaRPr lang="en-US" dirty="0"/>
          </a:p>
          <a:p>
            <a:endParaRPr lang="en-US" dirty="0"/>
          </a:p>
          <a:p>
            <a:r>
              <a:rPr lang="en-US" dirty="0"/>
              <a:t>Link:</a:t>
            </a:r>
          </a:p>
          <a:p>
            <a:pPr lvl="1"/>
            <a:r>
              <a:rPr lang="en-US" dirty="0">
                <a:hlinkClick r:id="rId3"/>
              </a:rPr>
              <a:t>https://ronjeffries.com/xprog/articles/expcardconversationconfirmation/</a:t>
            </a:r>
            <a:r>
              <a:rPr lang="en-US" dirty="0"/>
              <a:t> </a:t>
            </a:r>
          </a:p>
        </p:txBody>
      </p:sp>
      <p:sp>
        <p:nvSpPr>
          <p:cNvPr id="4" name="Slide Number Placeholder 3"/>
          <p:cNvSpPr>
            <a:spLocks noGrp="1"/>
          </p:cNvSpPr>
          <p:nvPr>
            <p:ph type="sldNum" sz="quarter" idx="12"/>
          </p:nvPr>
        </p:nvSpPr>
        <p:spPr/>
        <p:txBody>
          <a:bodyPr/>
          <a:lstStyle/>
          <a:p>
            <a:fld id="{CADD82E7-7C10-744D-AD9E-31500693C936}" type="slidenum">
              <a:rPr lang="en-US" smtClean="0"/>
              <a:pPr/>
              <a:t>32</a:t>
            </a:fld>
            <a:endParaRPr lang="en-US"/>
          </a:p>
        </p:txBody>
      </p:sp>
      <p:sp>
        <p:nvSpPr>
          <p:cNvPr id="5" name="Rectangle 4"/>
          <p:cNvSpPr/>
          <p:nvPr/>
        </p:nvSpPr>
        <p:spPr>
          <a:xfrm rot="240000">
            <a:off x="4132357" y="2651465"/>
            <a:ext cx="3933050" cy="1555070"/>
          </a:xfrm>
          <a:prstGeom prst="rect">
            <a:avLst/>
          </a:prstGeom>
          <a:solidFill>
            <a:schemeClr val="bg1">
              <a:lumMod val="85000"/>
            </a:schemeClr>
          </a:solidFill>
          <a:effectLst>
            <a:outerShdw blurRad="50800" dist="63500" dir="2700000" algn="tl" rotWithShape="0">
              <a:prstClr val="black">
                <a:alpha val="45000"/>
              </a:prstClr>
            </a:outerShdw>
          </a:effectLst>
        </p:spPr>
        <p:style>
          <a:lnRef idx="1">
            <a:schemeClr val="dk1"/>
          </a:lnRef>
          <a:fillRef idx="2">
            <a:schemeClr val="dk1"/>
          </a:fillRef>
          <a:effectRef idx="1">
            <a:schemeClr val="dk1"/>
          </a:effectRef>
          <a:fontRef idx="minor">
            <a:schemeClr val="dk1"/>
          </a:fontRef>
        </p:style>
        <p:txBody>
          <a:bodyPr rtlCol="0" anchor="t"/>
          <a:lstStyle/>
          <a:p>
            <a:r>
              <a:rPr lang="en-US" sz="2000" dirty="0">
                <a:latin typeface="Candara Light" panose="020E0502030303020204" pitchFamily="34" charset="0"/>
                <a:cs typeface="Comic Sans MS"/>
              </a:rPr>
              <a:t>Try it for 250 g of baked Pacific salmon.</a:t>
            </a:r>
          </a:p>
          <a:p>
            <a:r>
              <a:rPr lang="en-US" sz="2000" dirty="0">
                <a:latin typeface="Candara Light" panose="020E0502030303020204" pitchFamily="34" charset="0"/>
                <a:cs typeface="Comic Sans MS"/>
              </a:rPr>
              <a:t>Try it with a missing food name.</a:t>
            </a:r>
          </a:p>
          <a:p>
            <a:r>
              <a:rPr lang="en-US" sz="2000" dirty="0">
                <a:latin typeface="Candara Light" panose="020E0502030303020204" pitchFamily="34" charset="0"/>
                <a:cs typeface="Comic Sans MS"/>
              </a:rPr>
              <a:t>Try it with a non-numeric amount.</a:t>
            </a:r>
          </a:p>
        </p:txBody>
      </p:sp>
      <p:sp>
        <p:nvSpPr>
          <p:cNvPr id="6" name="TextBox 5"/>
          <p:cNvSpPr txBox="1"/>
          <p:nvPr/>
        </p:nvSpPr>
        <p:spPr>
          <a:xfrm>
            <a:off x="8112224" y="3244334"/>
            <a:ext cx="1743554" cy="369332"/>
          </a:xfrm>
          <a:prstGeom prst="rect">
            <a:avLst/>
          </a:prstGeom>
          <a:noFill/>
        </p:spPr>
        <p:txBody>
          <a:bodyPr wrap="none" rtlCol="0">
            <a:spAutoFit/>
          </a:bodyPr>
          <a:lstStyle/>
          <a:p>
            <a:r>
              <a:rPr lang="en-US" i="1" dirty="0"/>
              <a:t>Acceptance tests</a:t>
            </a:r>
          </a:p>
        </p:txBody>
      </p:sp>
    </p:spTree>
    <p:extLst>
      <p:ext uri="{BB962C8B-B14F-4D97-AF65-F5344CB8AC3E}">
        <p14:creationId xmlns:p14="http://schemas.microsoft.com/office/powerpoint/2010/main" val="1869556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Story”</a:t>
            </a:r>
          </a:p>
        </p:txBody>
      </p:sp>
      <p:sp>
        <p:nvSpPr>
          <p:cNvPr id="3" name="Content Placeholder 2"/>
          <p:cNvSpPr>
            <a:spLocks noGrp="1"/>
          </p:cNvSpPr>
          <p:nvPr>
            <p:ph idx="1"/>
          </p:nvPr>
        </p:nvSpPr>
        <p:spPr/>
        <p:txBody>
          <a:bodyPr/>
          <a:lstStyle/>
          <a:p>
            <a:endParaRPr lang="en-US" dirty="0">
              <a:sym typeface="Wingdings"/>
            </a:endParaRPr>
          </a:p>
          <a:p>
            <a:pPr lvl="1"/>
            <a:r>
              <a:rPr lang="en-US" dirty="0">
                <a:hlinkClick r:id="rId2"/>
              </a:rPr>
              <a:t>http://</a:t>
            </a:r>
            <a:r>
              <a:rPr lang="en-US" dirty="0" err="1">
                <a:hlinkClick r:id="rId2"/>
              </a:rPr>
              <a:t>www.dilbert.com</a:t>
            </a:r>
            <a:r>
              <a:rPr lang="en-US" dirty="0">
                <a:hlinkClick r:id="rId2"/>
              </a:rPr>
              <a:t>/strips/comic/2003-01-10/</a:t>
            </a:r>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33</a:t>
            </a:fld>
            <a:endParaRPr lang="en-US"/>
          </a:p>
        </p:txBody>
      </p:sp>
    </p:spTree>
    <p:extLst>
      <p:ext uri="{BB962C8B-B14F-4D97-AF65-F5344CB8AC3E}">
        <p14:creationId xmlns:p14="http://schemas.microsoft.com/office/powerpoint/2010/main" val="1376304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2EE417E5-0010-4646-B9AC-DCAE8E418669}" type="slidenum">
              <a:rPr lang="en-US" smtClean="0"/>
              <a:pPr/>
              <a:t>34</a:t>
            </a:fld>
            <a:endParaRPr lang="en-US"/>
          </a:p>
        </p:txBody>
      </p:sp>
    </p:spTree>
    <p:extLst>
      <p:ext uri="{BB962C8B-B14F-4D97-AF65-F5344CB8AC3E}">
        <p14:creationId xmlns:p14="http://schemas.microsoft.com/office/powerpoint/2010/main" val="21110431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p:cNvSpPr>
            <a:spLocks noGrp="1" noChangeArrowheads="1"/>
          </p:cNvSpPr>
          <p:nvPr>
            <p:ph type="title"/>
          </p:nvPr>
        </p:nvSpPr>
        <p:spPr/>
        <p:txBody>
          <a:bodyPr/>
          <a:lstStyle/>
          <a:p>
            <a:r>
              <a:rPr lang="en-US" dirty="0"/>
              <a:t>Identifying Tasks</a:t>
            </a:r>
          </a:p>
        </p:txBody>
      </p:sp>
      <p:sp>
        <p:nvSpPr>
          <p:cNvPr id="778243" name="Rectangle 3"/>
          <p:cNvSpPr>
            <a:spLocks noGrp="1" noChangeArrowheads="1"/>
          </p:cNvSpPr>
          <p:nvPr>
            <p:ph idx="1"/>
          </p:nvPr>
        </p:nvSpPr>
        <p:spPr/>
        <p:txBody>
          <a:bodyPr/>
          <a:lstStyle/>
          <a:p>
            <a:r>
              <a:rPr lang="en-US" dirty="0"/>
              <a:t>Study what tasks users do:</a:t>
            </a:r>
          </a:p>
          <a:p>
            <a:pPr lvl="1"/>
            <a:r>
              <a:rPr lang="en-US" dirty="0"/>
              <a:t>What is the goal and context?</a:t>
            </a:r>
          </a:p>
          <a:p>
            <a:pPr lvl="1"/>
            <a:r>
              <a:rPr lang="en-US" dirty="0"/>
              <a:t>What information is needed?</a:t>
            </a:r>
          </a:p>
          <a:p>
            <a:pPr lvl="1"/>
            <a:r>
              <a:rPr lang="en-US" dirty="0"/>
              <a:t>What are the steps?</a:t>
            </a:r>
          </a:p>
          <a:p>
            <a:pPr lvl="1"/>
            <a:r>
              <a:rPr lang="en-US" dirty="0"/>
              <a:t>Who does the user work with?</a:t>
            </a:r>
          </a:p>
          <a:p>
            <a:pPr lvl="1"/>
            <a:r>
              <a:rPr lang="en-US" dirty="0"/>
              <a:t>Why is it done this way?</a:t>
            </a:r>
          </a:p>
          <a:p>
            <a:pPr lvl="1"/>
            <a:endParaRPr lang="en-US" dirty="0"/>
          </a:p>
        </p:txBody>
      </p:sp>
      <p:sp>
        <p:nvSpPr>
          <p:cNvPr id="5" name="Slide Number Placeholder 5"/>
          <p:cNvSpPr>
            <a:spLocks noGrp="1"/>
          </p:cNvSpPr>
          <p:nvPr>
            <p:ph type="sldNum" sz="quarter" idx="12"/>
          </p:nvPr>
        </p:nvSpPr>
        <p:spPr/>
        <p:txBody>
          <a:bodyPr/>
          <a:lstStyle/>
          <a:p>
            <a:fld id="{5A350636-000F-FF4F-9AA6-94005EED0634}"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Rectangle 2"/>
          <p:cNvSpPr>
            <a:spLocks noGrp="1" noChangeArrowheads="1"/>
          </p:cNvSpPr>
          <p:nvPr>
            <p:ph type="title"/>
          </p:nvPr>
        </p:nvSpPr>
        <p:spPr/>
        <p:txBody>
          <a:bodyPr/>
          <a:lstStyle/>
          <a:p>
            <a:r>
              <a:rPr lang="en-US" dirty="0"/>
              <a:t>Identifying Tasks</a:t>
            </a:r>
          </a:p>
        </p:txBody>
      </p:sp>
      <p:sp>
        <p:nvSpPr>
          <p:cNvPr id="855043" name="Rectangle 3"/>
          <p:cNvSpPr>
            <a:spLocks noGrp="1" noChangeArrowheads="1"/>
          </p:cNvSpPr>
          <p:nvPr>
            <p:ph idx="1"/>
          </p:nvPr>
        </p:nvSpPr>
        <p:spPr/>
        <p:txBody>
          <a:bodyPr/>
          <a:lstStyle/>
          <a:p>
            <a:r>
              <a:rPr lang="en-US" dirty="0"/>
              <a:t>Scenario:</a:t>
            </a:r>
          </a:p>
          <a:p>
            <a:pPr lvl="1"/>
            <a:r>
              <a:rPr lang="en-US" dirty="0"/>
              <a:t>An informal narrative</a:t>
            </a:r>
          </a:p>
          <a:p>
            <a:pPr lvl="1"/>
            <a:r>
              <a:rPr lang="en-US" dirty="0"/>
              <a:t>Personal and concrete, but not particularly general</a:t>
            </a:r>
          </a:p>
          <a:p>
            <a:pPr lvl="1"/>
            <a:r>
              <a:rPr lang="en-US" dirty="0"/>
              <a:t>Use the scenario to understand existing goals, task flow, and possible irritants</a:t>
            </a:r>
          </a:p>
        </p:txBody>
      </p:sp>
      <p:sp>
        <p:nvSpPr>
          <p:cNvPr id="4" name="Slide Number Placeholder 5"/>
          <p:cNvSpPr>
            <a:spLocks noGrp="1"/>
          </p:cNvSpPr>
          <p:nvPr>
            <p:ph type="sldNum" sz="quarter" idx="12"/>
          </p:nvPr>
        </p:nvSpPr>
        <p:spPr/>
        <p:txBody>
          <a:bodyPr/>
          <a:lstStyle/>
          <a:p>
            <a:fld id="{57773894-9EE9-B748-BA34-970635206FE6}" type="slidenum">
              <a:rPr lang="en-US"/>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a:t>
            </a:r>
          </a:p>
        </p:txBody>
      </p:sp>
      <p:sp>
        <p:nvSpPr>
          <p:cNvPr id="3" name="Content Placeholder 2"/>
          <p:cNvSpPr>
            <a:spLocks noGrp="1"/>
          </p:cNvSpPr>
          <p:nvPr>
            <p:ph idx="1"/>
          </p:nvPr>
        </p:nvSpPr>
        <p:spPr/>
        <p:txBody>
          <a:bodyPr/>
          <a:lstStyle/>
          <a:p>
            <a:r>
              <a:rPr lang="en-US" dirty="0"/>
              <a:t>Example:</a:t>
            </a:r>
          </a:p>
          <a:p>
            <a:pPr lvl="1"/>
            <a:r>
              <a:rPr lang="en-US" dirty="0"/>
              <a:t>“I want to track the calories for a meal, so I consult the USDA Nutrient database. I want to look up ‘Pacific salmon’ so I enter that as the keywords. Item not found! So I enter ‘salmon’ and try again. That works, but I get 46 items, including salmonberries and even cloudberries. Why? I choose ‘fish, salmon, sockeye, cooked, dry heat’, then figure 2.5 x 100 g units for my item, and scan the table to see 422 kcal in the energy row.”</a:t>
            </a:r>
          </a:p>
        </p:txBody>
      </p:sp>
      <p:sp>
        <p:nvSpPr>
          <p:cNvPr id="4" name="Slide Number Placeholder 3"/>
          <p:cNvSpPr>
            <a:spLocks noGrp="1"/>
          </p:cNvSpPr>
          <p:nvPr>
            <p:ph type="sldNum" sz="quarter" idx="12"/>
          </p:nvPr>
        </p:nvSpPr>
        <p:spPr/>
        <p:txBody>
          <a:bodyPr/>
          <a:lstStyle/>
          <a:p>
            <a:fld id="{CADD82E7-7C10-744D-AD9E-31500693C936}" type="slidenum">
              <a:rPr lang="en-US" smtClean="0"/>
              <a:pPr/>
              <a:t>37</a:t>
            </a:fld>
            <a:endParaRPr lang="en-US"/>
          </a:p>
        </p:txBody>
      </p:sp>
    </p:spTree>
    <p:extLst>
      <p:ext uri="{BB962C8B-B14F-4D97-AF65-F5344CB8AC3E}">
        <p14:creationId xmlns:p14="http://schemas.microsoft.com/office/powerpoint/2010/main" val="35991071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p:cNvSpPr>
            <a:spLocks noGrp="1" noChangeArrowheads="1"/>
          </p:cNvSpPr>
          <p:nvPr>
            <p:ph type="title"/>
          </p:nvPr>
        </p:nvSpPr>
        <p:spPr/>
        <p:txBody>
          <a:bodyPr/>
          <a:lstStyle/>
          <a:p>
            <a:r>
              <a:rPr lang="en-US" dirty="0"/>
              <a:t>Specifying Tasks</a:t>
            </a:r>
          </a:p>
        </p:txBody>
      </p:sp>
      <p:sp>
        <p:nvSpPr>
          <p:cNvPr id="861187" name="Rectangle 3"/>
          <p:cNvSpPr>
            <a:spLocks noGrp="1" noChangeArrowheads="1"/>
          </p:cNvSpPr>
          <p:nvPr>
            <p:ph idx="1"/>
          </p:nvPr>
        </p:nvSpPr>
        <p:spPr/>
        <p:txBody>
          <a:bodyPr/>
          <a:lstStyle/>
          <a:p>
            <a:r>
              <a:rPr lang="en-US" dirty="0"/>
              <a:t>Use Cases:</a:t>
            </a:r>
          </a:p>
          <a:p>
            <a:pPr lvl="1"/>
            <a:r>
              <a:rPr lang="en-US" dirty="0"/>
              <a:t>Capture the goal, conditions, and steps of a coherent interaction between the actor(s) and the software system</a:t>
            </a:r>
          </a:p>
          <a:p>
            <a:pPr lvl="1"/>
            <a:r>
              <a:rPr lang="en-US" dirty="0"/>
              <a:t>More general than a specific scenario</a:t>
            </a:r>
          </a:p>
          <a:p>
            <a:pPr lvl="1"/>
            <a:r>
              <a:rPr lang="en-US" dirty="0"/>
              <a:t>Written from a “user” point-of-view</a:t>
            </a:r>
          </a:p>
        </p:txBody>
      </p:sp>
      <p:sp>
        <p:nvSpPr>
          <p:cNvPr id="4" name="Slide Number Placeholder 5"/>
          <p:cNvSpPr>
            <a:spLocks noGrp="1"/>
          </p:cNvSpPr>
          <p:nvPr>
            <p:ph type="sldNum" sz="quarter" idx="12"/>
          </p:nvPr>
        </p:nvSpPr>
        <p:spPr/>
        <p:txBody>
          <a:bodyPr/>
          <a:lstStyle/>
          <a:p>
            <a:fld id="{C8F97C5B-6A3C-C04F-B30A-99228FD1443A}" type="slidenum">
              <a:rPr lang="en-US"/>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Use Cases</a:t>
            </a:r>
          </a:p>
        </p:txBody>
      </p:sp>
      <p:sp>
        <p:nvSpPr>
          <p:cNvPr id="3" name="Content Placeholder 2"/>
          <p:cNvSpPr>
            <a:spLocks noGrp="1"/>
          </p:cNvSpPr>
          <p:nvPr>
            <p:ph idx="1"/>
          </p:nvPr>
        </p:nvSpPr>
        <p:spPr/>
        <p:txBody>
          <a:bodyPr/>
          <a:lstStyle/>
          <a:p>
            <a:r>
              <a:rPr lang="en-US" dirty="0"/>
              <a:t>Stages:</a:t>
            </a:r>
          </a:p>
          <a:p>
            <a:pPr lvl="1"/>
            <a:r>
              <a:rPr lang="en-US" dirty="0"/>
              <a:t>Identify the actors</a:t>
            </a:r>
          </a:p>
          <a:p>
            <a:pPr lvl="2"/>
            <a:r>
              <a:rPr lang="en-US" dirty="0"/>
              <a:t>Consider different user roles and external systems</a:t>
            </a:r>
          </a:p>
          <a:p>
            <a:pPr lvl="1"/>
            <a:r>
              <a:rPr lang="en-US" dirty="0"/>
              <a:t>Define use cases</a:t>
            </a:r>
          </a:p>
          <a:p>
            <a:pPr lvl="2"/>
            <a:r>
              <a:rPr lang="en-US" dirty="0"/>
              <a:t>Include all cases of use</a:t>
            </a:r>
          </a:p>
          <a:p>
            <a:pPr lvl="1"/>
            <a:r>
              <a:rPr lang="en-US" dirty="0"/>
              <a:t>Refine use cases</a:t>
            </a:r>
          </a:p>
          <a:p>
            <a:pPr lvl="2"/>
            <a:r>
              <a:rPr lang="en-US" dirty="0"/>
              <a:t>Consider exceptional conditions and qualities</a:t>
            </a:r>
          </a:p>
          <a:p>
            <a:pPr lvl="1"/>
            <a:r>
              <a:rPr lang="en-US" dirty="0"/>
              <a:t>Relate use cases</a:t>
            </a:r>
          </a:p>
          <a:p>
            <a:pPr lvl="2"/>
            <a:r>
              <a:rPr lang="en-US" dirty="0"/>
              <a:t>Consider inclusion and extension dependencies</a:t>
            </a:r>
          </a:p>
          <a:p>
            <a:pPr lvl="2"/>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39</a:t>
            </a:fld>
            <a:endParaRPr lang="en-US"/>
          </a:p>
        </p:txBody>
      </p:sp>
    </p:spTree>
    <p:extLst>
      <p:ext uri="{BB962C8B-B14F-4D97-AF65-F5344CB8AC3E}">
        <p14:creationId xmlns:p14="http://schemas.microsoft.com/office/powerpoint/2010/main" val="28103498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 the Actors</a:t>
            </a:r>
          </a:p>
        </p:txBody>
      </p:sp>
      <p:sp>
        <p:nvSpPr>
          <p:cNvPr id="4" name="Slide Number Placeholder 3"/>
          <p:cNvSpPr>
            <a:spLocks noGrp="1"/>
          </p:cNvSpPr>
          <p:nvPr>
            <p:ph type="sldNum" sz="quarter" idx="12"/>
          </p:nvPr>
        </p:nvSpPr>
        <p:spPr/>
        <p:txBody>
          <a:bodyPr/>
          <a:lstStyle/>
          <a:p>
            <a:fld id="{CADD82E7-7C10-744D-AD9E-31500693C936}" type="slidenum">
              <a:rPr lang="en-US" smtClean="0"/>
              <a:pPr/>
              <a:t>40</a:t>
            </a:fld>
            <a:endParaRPr lang="en-US"/>
          </a:p>
        </p:txBody>
      </p:sp>
      <p:grpSp>
        <p:nvGrpSpPr>
          <p:cNvPr id="3" name="Group 2">
            <a:extLst>
              <a:ext uri="{FF2B5EF4-FFF2-40B4-BE49-F238E27FC236}">
                <a16:creationId xmlns:a16="http://schemas.microsoft.com/office/drawing/2014/main" id="{CB1CD97B-5B65-1844-E1A1-91FDC0B170F9}"/>
              </a:ext>
            </a:extLst>
          </p:cNvPr>
          <p:cNvGrpSpPr/>
          <p:nvPr/>
        </p:nvGrpSpPr>
        <p:grpSpPr>
          <a:xfrm>
            <a:off x="2164510" y="1988840"/>
            <a:ext cx="7918773" cy="4689812"/>
            <a:chOff x="2573976" y="1988840"/>
            <a:chExt cx="7918773" cy="4689812"/>
          </a:xfrm>
        </p:grpSpPr>
        <p:grpSp>
          <p:nvGrpSpPr>
            <p:cNvPr id="22" name="Group 21"/>
            <p:cNvGrpSpPr/>
            <p:nvPr/>
          </p:nvGrpSpPr>
          <p:grpSpPr>
            <a:xfrm>
              <a:off x="3143672" y="2348880"/>
              <a:ext cx="288032" cy="864096"/>
              <a:chOff x="1979712" y="2204864"/>
              <a:chExt cx="288032" cy="864096"/>
            </a:xfrm>
          </p:grpSpPr>
          <p:sp>
            <p:nvSpPr>
              <p:cNvPr id="5" name="Oval 4"/>
              <p:cNvSpPr/>
              <p:nvPr/>
            </p:nvSpPr>
            <p:spPr>
              <a:xfrm>
                <a:off x="1979712" y="2204864"/>
                <a:ext cx="288032" cy="288032"/>
              </a:xfrm>
              <a:prstGeom prst="ellipse">
                <a:avLst/>
              </a:prstGeom>
              <a:ln w="28575" cmpd="sng"/>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 name="Straight Connector 6"/>
              <p:cNvCxnSpPr>
                <a:stCxn id="5" idx="4"/>
              </p:cNvCxnSpPr>
              <p:nvPr/>
            </p:nvCxnSpPr>
            <p:spPr>
              <a:xfrm>
                <a:off x="2123728" y="2492896"/>
                <a:ext cx="0" cy="432048"/>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1979712" y="2636912"/>
                <a:ext cx="288032"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H="1">
                <a:off x="1979712" y="2924944"/>
                <a:ext cx="144016" cy="144016"/>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2123728" y="2924944"/>
                <a:ext cx="144016" cy="144016"/>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23" name="Rectangle 22"/>
            <p:cNvSpPr/>
            <p:nvPr/>
          </p:nvSpPr>
          <p:spPr>
            <a:xfrm>
              <a:off x="4309222" y="1988840"/>
              <a:ext cx="4392488" cy="41764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4" name="Oval 23"/>
            <p:cNvSpPr/>
            <p:nvPr/>
          </p:nvSpPr>
          <p:spPr>
            <a:xfrm>
              <a:off x="4511824" y="2348880"/>
              <a:ext cx="2448272"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Search for</a:t>
              </a:r>
              <a:br>
                <a:rPr lang="en-US" dirty="0">
                  <a:latin typeface="Verdana"/>
                  <a:cs typeface="Verdana"/>
                </a:rPr>
              </a:br>
              <a:r>
                <a:rPr lang="en-US" dirty="0">
                  <a:latin typeface="Verdana"/>
                  <a:cs typeface="Verdana"/>
                </a:rPr>
                <a:t>Nutrition Info</a:t>
              </a:r>
            </a:p>
          </p:txBody>
        </p:sp>
        <p:sp>
          <p:nvSpPr>
            <p:cNvPr id="25" name="Oval 24"/>
            <p:cNvSpPr/>
            <p:nvPr/>
          </p:nvSpPr>
          <p:spPr>
            <a:xfrm>
              <a:off x="5735960" y="4797152"/>
              <a:ext cx="2448272"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Update</a:t>
              </a:r>
              <a:br>
                <a:rPr lang="en-US" dirty="0">
                  <a:latin typeface="Verdana"/>
                  <a:cs typeface="Verdana"/>
                </a:rPr>
              </a:br>
              <a:r>
                <a:rPr lang="en-US" dirty="0">
                  <a:latin typeface="Verdana"/>
                  <a:cs typeface="Verdana"/>
                </a:rPr>
                <a:t>Nutrition Info</a:t>
              </a:r>
            </a:p>
          </p:txBody>
        </p:sp>
        <p:grpSp>
          <p:nvGrpSpPr>
            <p:cNvPr id="26" name="Group 25"/>
            <p:cNvGrpSpPr/>
            <p:nvPr/>
          </p:nvGrpSpPr>
          <p:grpSpPr>
            <a:xfrm>
              <a:off x="9529802" y="4797152"/>
              <a:ext cx="288032" cy="864096"/>
              <a:chOff x="2173154" y="2204864"/>
              <a:chExt cx="288032" cy="864096"/>
            </a:xfrm>
          </p:grpSpPr>
          <p:sp>
            <p:nvSpPr>
              <p:cNvPr id="27" name="Oval 26"/>
              <p:cNvSpPr/>
              <p:nvPr/>
            </p:nvSpPr>
            <p:spPr>
              <a:xfrm>
                <a:off x="2173154" y="2204864"/>
                <a:ext cx="288032" cy="288032"/>
              </a:xfrm>
              <a:prstGeom prst="ellipse">
                <a:avLst/>
              </a:prstGeom>
              <a:ln w="28575" cmpd="sng"/>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8" name="Straight Connector 27"/>
              <p:cNvCxnSpPr>
                <a:stCxn id="27" idx="4"/>
              </p:cNvCxnSpPr>
              <p:nvPr/>
            </p:nvCxnSpPr>
            <p:spPr>
              <a:xfrm>
                <a:off x="2317170" y="2492896"/>
                <a:ext cx="0" cy="432048"/>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29" name="Straight Connector 28"/>
              <p:cNvCxnSpPr/>
              <p:nvPr/>
            </p:nvCxnSpPr>
            <p:spPr>
              <a:xfrm>
                <a:off x="2173154" y="2636912"/>
                <a:ext cx="288032"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30" name="Straight Connector 29"/>
              <p:cNvCxnSpPr/>
              <p:nvPr/>
            </p:nvCxnSpPr>
            <p:spPr>
              <a:xfrm flipH="1">
                <a:off x="2173154" y="2924944"/>
                <a:ext cx="144016" cy="144016"/>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31" name="Straight Connector 30"/>
              <p:cNvCxnSpPr/>
              <p:nvPr/>
            </p:nvCxnSpPr>
            <p:spPr>
              <a:xfrm>
                <a:off x="2317170" y="2924944"/>
                <a:ext cx="144016" cy="144016"/>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32" name="Oval 31"/>
            <p:cNvSpPr/>
            <p:nvPr/>
          </p:nvSpPr>
          <p:spPr>
            <a:xfrm>
              <a:off x="4511824" y="3573016"/>
              <a:ext cx="2448272"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Browse Nutrition Info</a:t>
              </a:r>
            </a:p>
          </p:txBody>
        </p:sp>
        <p:sp>
          <p:nvSpPr>
            <p:cNvPr id="33" name="TextBox 32"/>
            <p:cNvSpPr txBox="1"/>
            <p:nvPr/>
          </p:nvSpPr>
          <p:spPr>
            <a:xfrm>
              <a:off x="2573976" y="3394076"/>
              <a:ext cx="1483218" cy="369324"/>
            </a:xfrm>
            <a:prstGeom prst="rect">
              <a:avLst/>
            </a:prstGeom>
            <a:noFill/>
          </p:spPr>
          <p:txBody>
            <a:bodyPr wrap="square" rtlCol="0">
              <a:spAutoFit/>
            </a:bodyPr>
            <a:lstStyle/>
            <a:p>
              <a:r>
                <a:rPr lang="en-US" dirty="0"/>
                <a:t>Meal Planner</a:t>
              </a:r>
            </a:p>
          </p:txBody>
        </p:sp>
        <p:sp>
          <p:nvSpPr>
            <p:cNvPr id="34" name="TextBox 33"/>
            <p:cNvSpPr txBox="1"/>
            <p:nvPr/>
          </p:nvSpPr>
          <p:spPr>
            <a:xfrm>
              <a:off x="8953738" y="5733256"/>
              <a:ext cx="1539011" cy="369332"/>
            </a:xfrm>
            <a:prstGeom prst="rect">
              <a:avLst/>
            </a:prstGeom>
            <a:noFill/>
          </p:spPr>
          <p:txBody>
            <a:bodyPr wrap="none" rtlCol="0">
              <a:spAutoFit/>
            </a:bodyPr>
            <a:lstStyle/>
            <a:p>
              <a:r>
                <a:rPr lang="en-US" dirty="0"/>
                <a:t>Administrator</a:t>
              </a:r>
            </a:p>
          </p:txBody>
        </p:sp>
        <p:cxnSp>
          <p:nvCxnSpPr>
            <p:cNvPr id="36" name="Straight Connector 35"/>
            <p:cNvCxnSpPr>
              <a:endCxn id="24" idx="2"/>
            </p:cNvCxnSpPr>
            <p:nvPr/>
          </p:nvCxnSpPr>
          <p:spPr>
            <a:xfrm>
              <a:off x="3575720" y="2852936"/>
              <a:ext cx="936104"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38" name="Straight Connector 37"/>
            <p:cNvCxnSpPr>
              <a:endCxn id="32" idx="1"/>
            </p:cNvCxnSpPr>
            <p:nvPr/>
          </p:nvCxnSpPr>
          <p:spPr>
            <a:xfrm>
              <a:off x="3575721" y="3068961"/>
              <a:ext cx="1294645" cy="651691"/>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40" name="Straight Connector 39"/>
            <p:cNvCxnSpPr>
              <a:stCxn id="25" idx="6"/>
            </p:cNvCxnSpPr>
            <p:nvPr/>
          </p:nvCxnSpPr>
          <p:spPr>
            <a:xfrm>
              <a:off x="8184232" y="5301208"/>
              <a:ext cx="1008112" cy="0"/>
            </a:xfrm>
            <a:prstGeom prst="line">
              <a:avLst/>
            </a:prstGeom>
            <a:ln w="28575" cmpd="sng"/>
          </p:spPr>
          <p:style>
            <a:lnRef idx="1">
              <a:schemeClr val="dk1"/>
            </a:lnRef>
            <a:fillRef idx="0">
              <a:schemeClr val="dk1"/>
            </a:fillRef>
            <a:effectRef idx="0">
              <a:schemeClr val="dk1"/>
            </a:effectRef>
            <a:fontRef idx="minor">
              <a:schemeClr val="tx1"/>
            </a:fontRef>
          </p:style>
        </p:cxnSp>
        <p:sp>
          <p:nvSpPr>
            <p:cNvPr id="44" name="TextBox 43"/>
            <p:cNvSpPr txBox="1"/>
            <p:nvPr/>
          </p:nvSpPr>
          <p:spPr>
            <a:xfrm>
              <a:off x="6776469" y="3140969"/>
              <a:ext cx="1680268" cy="646331"/>
            </a:xfrm>
            <a:prstGeom prst="rect">
              <a:avLst/>
            </a:prstGeom>
            <a:noFill/>
          </p:spPr>
          <p:txBody>
            <a:bodyPr wrap="none" rtlCol="0">
              <a:spAutoFit/>
            </a:bodyPr>
            <a:lstStyle/>
            <a:p>
              <a:r>
                <a:rPr lang="en-US" i="1" dirty="0"/>
                <a:t>Use cases,</a:t>
              </a:r>
            </a:p>
            <a:p>
              <a:r>
                <a:rPr lang="en-US" i="1" dirty="0"/>
                <a:t>not components</a:t>
              </a:r>
            </a:p>
          </p:txBody>
        </p:sp>
        <p:sp>
          <p:nvSpPr>
            <p:cNvPr id="45" name="TextBox 44"/>
            <p:cNvSpPr txBox="1"/>
            <p:nvPr/>
          </p:nvSpPr>
          <p:spPr>
            <a:xfrm>
              <a:off x="5305674" y="6309320"/>
              <a:ext cx="2399585" cy="369332"/>
            </a:xfrm>
            <a:prstGeom prst="rect">
              <a:avLst/>
            </a:prstGeom>
            <a:noFill/>
          </p:spPr>
          <p:txBody>
            <a:bodyPr wrap="square" rtlCol="0">
              <a:spAutoFit/>
            </a:bodyPr>
            <a:lstStyle/>
            <a:p>
              <a:r>
                <a:rPr lang="en-US" i="1" dirty="0"/>
                <a:t>Boundary of the system</a:t>
              </a:r>
            </a:p>
          </p:txBody>
        </p:sp>
        <p:sp>
          <p:nvSpPr>
            <p:cNvPr id="46" name="TextBox 45"/>
            <p:cNvSpPr txBox="1"/>
            <p:nvPr/>
          </p:nvSpPr>
          <p:spPr>
            <a:xfrm>
              <a:off x="2855640" y="4221088"/>
              <a:ext cx="684611" cy="369332"/>
            </a:xfrm>
            <a:prstGeom prst="rect">
              <a:avLst/>
            </a:prstGeom>
            <a:noFill/>
          </p:spPr>
          <p:txBody>
            <a:bodyPr wrap="none" rtlCol="0">
              <a:spAutoFit/>
            </a:bodyPr>
            <a:lstStyle/>
            <a:p>
              <a:r>
                <a:rPr lang="en-US" i="1" dirty="0"/>
                <a:t>Actor</a:t>
              </a:r>
            </a:p>
          </p:txBody>
        </p:sp>
      </p:grpSp>
      <p:sp>
        <p:nvSpPr>
          <p:cNvPr id="47" name="TextBox 46"/>
          <p:cNvSpPr txBox="1"/>
          <p:nvPr/>
        </p:nvSpPr>
        <p:spPr>
          <a:xfrm>
            <a:off x="5192548" y="1412776"/>
            <a:ext cx="1806905" cy="369332"/>
          </a:xfrm>
          <a:prstGeom prst="rect">
            <a:avLst/>
          </a:prstGeom>
          <a:noFill/>
        </p:spPr>
        <p:txBody>
          <a:bodyPr wrap="none" rtlCol="0">
            <a:spAutoFit/>
          </a:bodyPr>
          <a:lstStyle/>
          <a:p>
            <a:r>
              <a:rPr lang="en-US" i="1" dirty="0"/>
              <a:t>Use case diagram</a:t>
            </a:r>
          </a:p>
        </p:txBody>
      </p:sp>
    </p:spTree>
    <p:extLst>
      <p:ext uri="{BB962C8B-B14F-4D97-AF65-F5344CB8AC3E}">
        <p14:creationId xmlns:p14="http://schemas.microsoft.com/office/powerpoint/2010/main" val="21768159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 the Actors</a:t>
            </a:r>
          </a:p>
        </p:txBody>
      </p:sp>
      <p:sp>
        <p:nvSpPr>
          <p:cNvPr id="3" name="Content Placeholder 2"/>
          <p:cNvSpPr>
            <a:spLocks noGrp="1"/>
          </p:cNvSpPr>
          <p:nvPr>
            <p:ph idx="1"/>
          </p:nvPr>
        </p:nvSpPr>
        <p:spPr/>
        <p:txBody>
          <a:bodyPr/>
          <a:lstStyle/>
          <a:p>
            <a:r>
              <a:rPr lang="en-US" dirty="0"/>
              <a:t>Actor generalization:</a:t>
            </a:r>
          </a:p>
        </p:txBody>
      </p:sp>
      <p:sp>
        <p:nvSpPr>
          <p:cNvPr id="4" name="Slide Number Placeholder 3"/>
          <p:cNvSpPr>
            <a:spLocks noGrp="1"/>
          </p:cNvSpPr>
          <p:nvPr>
            <p:ph type="sldNum" sz="quarter" idx="12"/>
          </p:nvPr>
        </p:nvSpPr>
        <p:spPr/>
        <p:txBody>
          <a:bodyPr/>
          <a:lstStyle/>
          <a:p>
            <a:fld id="{CADD82E7-7C10-744D-AD9E-31500693C936}" type="slidenum">
              <a:rPr lang="en-US" smtClean="0"/>
              <a:pPr/>
              <a:t>41</a:t>
            </a:fld>
            <a:endParaRPr lang="en-US"/>
          </a:p>
        </p:txBody>
      </p:sp>
      <p:grpSp>
        <p:nvGrpSpPr>
          <p:cNvPr id="24" name="Group 23">
            <a:extLst>
              <a:ext uri="{FF2B5EF4-FFF2-40B4-BE49-F238E27FC236}">
                <a16:creationId xmlns:a16="http://schemas.microsoft.com/office/drawing/2014/main" id="{F3FDFAD9-088E-CF56-6E63-B1BE1B713CA4}"/>
              </a:ext>
            </a:extLst>
          </p:cNvPr>
          <p:cNvGrpSpPr/>
          <p:nvPr/>
        </p:nvGrpSpPr>
        <p:grpSpPr>
          <a:xfrm>
            <a:off x="4151784" y="2492896"/>
            <a:ext cx="3888432" cy="3539426"/>
            <a:chOff x="4611139" y="2492896"/>
            <a:chExt cx="3888432" cy="3539426"/>
          </a:xfrm>
        </p:grpSpPr>
        <p:grpSp>
          <p:nvGrpSpPr>
            <p:cNvPr id="5" name="Group 4"/>
            <p:cNvGrpSpPr/>
            <p:nvPr/>
          </p:nvGrpSpPr>
          <p:grpSpPr>
            <a:xfrm>
              <a:off x="6422211" y="2492896"/>
              <a:ext cx="288032" cy="864096"/>
              <a:chOff x="1979712" y="2204864"/>
              <a:chExt cx="288032" cy="864096"/>
            </a:xfrm>
          </p:grpSpPr>
          <p:sp>
            <p:nvSpPr>
              <p:cNvPr id="6" name="Oval 5"/>
              <p:cNvSpPr/>
              <p:nvPr/>
            </p:nvSpPr>
            <p:spPr>
              <a:xfrm>
                <a:off x="1979712" y="2204864"/>
                <a:ext cx="288032" cy="288032"/>
              </a:xfrm>
              <a:prstGeom prst="ellipse">
                <a:avLst/>
              </a:prstGeom>
              <a:ln w="28575" cmpd="sng"/>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 name="Straight Connector 6"/>
              <p:cNvCxnSpPr>
                <a:stCxn id="6" idx="4"/>
              </p:cNvCxnSpPr>
              <p:nvPr/>
            </p:nvCxnSpPr>
            <p:spPr>
              <a:xfrm>
                <a:off x="2123728" y="2492896"/>
                <a:ext cx="0" cy="432048"/>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1979712" y="2636912"/>
                <a:ext cx="288032"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H="1">
                <a:off x="1979712" y="2924944"/>
                <a:ext cx="144016" cy="144016"/>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123728" y="2924944"/>
                <a:ext cx="144016" cy="144016"/>
              </a:xfrm>
              <a:prstGeom prst="line">
                <a:avLst/>
              </a:prstGeom>
              <a:ln w="28575" cmpd="sng"/>
            </p:spPr>
            <p:style>
              <a:lnRef idx="1">
                <a:schemeClr val="dk1"/>
              </a:lnRef>
              <a:fillRef idx="0">
                <a:schemeClr val="dk1"/>
              </a:fillRef>
              <a:effectRef idx="0">
                <a:schemeClr val="dk1"/>
              </a:effectRef>
              <a:fontRef idx="minor">
                <a:schemeClr val="tx1"/>
              </a:fontRef>
            </p:style>
          </p:cxnSp>
        </p:grpSp>
        <p:grpSp>
          <p:nvGrpSpPr>
            <p:cNvPr id="11" name="Group 10"/>
            <p:cNvGrpSpPr/>
            <p:nvPr/>
          </p:nvGrpSpPr>
          <p:grpSpPr>
            <a:xfrm>
              <a:off x="5198075" y="4797152"/>
              <a:ext cx="288032" cy="864096"/>
              <a:chOff x="1979712" y="2204864"/>
              <a:chExt cx="288032" cy="864096"/>
            </a:xfrm>
          </p:grpSpPr>
          <p:sp>
            <p:nvSpPr>
              <p:cNvPr id="12" name="Oval 11"/>
              <p:cNvSpPr/>
              <p:nvPr/>
            </p:nvSpPr>
            <p:spPr>
              <a:xfrm>
                <a:off x="1979712" y="2204864"/>
                <a:ext cx="288032" cy="288032"/>
              </a:xfrm>
              <a:prstGeom prst="ellipse">
                <a:avLst/>
              </a:prstGeom>
              <a:ln w="28575" cmpd="sng"/>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3" name="Straight Connector 12"/>
              <p:cNvCxnSpPr>
                <a:stCxn id="12" idx="4"/>
              </p:cNvCxnSpPr>
              <p:nvPr/>
            </p:nvCxnSpPr>
            <p:spPr>
              <a:xfrm>
                <a:off x="2123728" y="2492896"/>
                <a:ext cx="0" cy="432048"/>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1979712" y="2636912"/>
                <a:ext cx="288032"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flipH="1">
                <a:off x="1979712" y="2924944"/>
                <a:ext cx="144016" cy="144016"/>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2123728" y="2924944"/>
                <a:ext cx="144016" cy="144016"/>
              </a:xfrm>
              <a:prstGeom prst="line">
                <a:avLst/>
              </a:prstGeom>
              <a:ln w="28575" cmpd="sng"/>
            </p:spPr>
            <p:style>
              <a:lnRef idx="1">
                <a:schemeClr val="dk1"/>
              </a:lnRef>
              <a:fillRef idx="0">
                <a:schemeClr val="dk1"/>
              </a:fillRef>
              <a:effectRef idx="0">
                <a:schemeClr val="dk1"/>
              </a:effectRef>
              <a:fontRef idx="minor">
                <a:schemeClr val="tx1"/>
              </a:fontRef>
            </p:style>
          </p:cxnSp>
        </p:grpSp>
        <p:grpSp>
          <p:nvGrpSpPr>
            <p:cNvPr id="17" name="Group 16"/>
            <p:cNvGrpSpPr/>
            <p:nvPr/>
          </p:nvGrpSpPr>
          <p:grpSpPr>
            <a:xfrm>
              <a:off x="7574339" y="4797152"/>
              <a:ext cx="288032" cy="864096"/>
              <a:chOff x="1979712" y="2204864"/>
              <a:chExt cx="288032" cy="864096"/>
            </a:xfrm>
          </p:grpSpPr>
          <p:sp>
            <p:nvSpPr>
              <p:cNvPr id="18" name="Oval 17"/>
              <p:cNvSpPr/>
              <p:nvPr/>
            </p:nvSpPr>
            <p:spPr>
              <a:xfrm>
                <a:off x="1979712" y="2204864"/>
                <a:ext cx="288032" cy="288032"/>
              </a:xfrm>
              <a:prstGeom prst="ellipse">
                <a:avLst/>
              </a:prstGeom>
              <a:ln w="28575" cmpd="sng"/>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9" name="Straight Connector 18"/>
              <p:cNvCxnSpPr>
                <a:stCxn id="18" idx="4"/>
              </p:cNvCxnSpPr>
              <p:nvPr/>
            </p:nvCxnSpPr>
            <p:spPr>
              <a:xfrm>
                <a:off x="2123728" y="2492896"/>
                <a:ext cx="0" cy="432048"/>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1979712" y="2636912"/>
                <a:ext cx="288032"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flipH="1">
                <a:off x="1979712" y="2924944"/>
                <a:ext cx="144016" cy="144016"/>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a:off x="2123728" y="2924944"/>
                <a:ext cx="144016" cy="144016"/>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23" name="TextBox 22"/>
            <p:cNvSpPr txBox="1"/>
            <p:nvPr/>
          </p:nvSpPr>
          <p:spPr>
            <a:xfrm>
              <a:off x="4611139" y="5662990"/>
              <a:ext cx="1436612" cy="369332"/>
            </a:xfrm>
            <a:prstGeom prst="rect">
              <a:avLst/>
            </a:prstGeom>
            <a:noFill/>
          </p:spPr>
          <p:txBody>
            <a:bodyPr wrap="none" rtlCol="0">
              <a:spAutoFit/>
            </a:bodyPr>
            <a:lstStyle/>
            <a:p>
              <a:r>
                <a:rPr lang="en-US" dirty="0"/>
                <a:t>Meal Planner</a:t>
              </a:r>
            </a:p>
          </p:txBody>
        </p:sp>
        <p:sp>
          <p:nvSpPr>
            <p:cNvPr id="25" name="TextBox 24"/>
            <p:cNvSpPr txBox="1"/>
            <p:nvPr/>
          </p:nvSpPr>
          <p:spPr>
            <a:xfrm>
              <a:off x="6960560" y="5651956"/>
              <a:ext cx="1539011" cy="369332"/>
            </a:xfrm>
            <a:prstGeom prst="rect">
              <a:avLst/>
            </a:prstGeom>
            <a:noFill/>
          </p:spPr>
          <p:txBody>
            <a:bodyPr wrap="none" rtlCol="0">
              <a:spAutoFit/>
            </a:bodyPr>
            <a:lstStyle/>
            <a:p>
              <a:r>
                <a:rPr lang="en-US" dirty="0"/>
                <a:t>Administrator</a:t>
              </a:r>
            </a:p>
          </p:txBody>
        </p:sp>
        <p:sp>
          <p:nvSpPr>
            <p:cNvPr id="26" name="TextBox 25"/>
            <p:cNvSpPr txBox="1"/>
            <p:nvPr/>
          </p:nvSpPr>
          <p:spPr>
            <a:xfrm>
              <a:off x="6262909" y="3356992"/>
              <a:ext cx="652486" cy="369332"/>
            </a:xfrm>
            <a:prstGeom prst="rect">
              <a:avLst/>
            </a:prstGeom>
            <a:noFill/>
          </p:spPr>
          <p:txBody>
            <a:bodyPr wrap="none" rtlCol="0">
              <a:spAutoFit/>
            </a:bodyPr>
            <a:lstStyle/>
            <a:p>
              <a:r>
                <a:rPr lang="en-US" dirty="0"/>
                <a:t>User</a:t>
              </a:r>
            </a:p>
          </p:txBody>
        </p:sp>
        <p:sp>
          <p:nvSpPr>
            <p:cNvPr id="27" name="Isosceles Triangle 26"/>
            <p:cNvSpPr/>
            <p:nvPr/>
          </p:nvSpPr>
          <p:spPr>
            <a:xfrm rot="2160000">
              <a:off x="6046999" y="3721199"/>
              <a:ext cx="360040" cy="310379"/>
            </a:xfrm>
            <a:prstGeom prst="triangl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8" name="Straight Arrow Connector 27"/>
            <p:cNvCxnSpPr>
              <a:stCxn id="27" idx="3"/>
            </p:cNvCxnSpPr>
            <p:nvPr/>
          </p:nvCxnSpPr>
          <p:spPr>
            <a:xfrm flipH="1">
              <a:off x="5414099" y="4001938"/>
              <a:ext cx="721702" cy="651198"/>
            </a:xfrm>
            <a:prstGeom prst="straightConnector1">
              <a:avLst/>
            </a:prstGeom>
            <a:ln w="28575" cmpd="sng">
              <a:headEnd type="none"/>
              <a:tailEnd type="none"/>
            </a:ln>
          </p:spPr>
          <p:style>
            <a:lnRef idx="1">
              <a:schemeClr val="dk1"/>
            </a:lnRef>
            <a:fillRef idx="0">
              <a:schemeClr val="dk1"/>
            </a:fillRef>
            <a:effectRef idx="0">
              <a:schemeClr val="dk1"/>
            </a:effectRef>
            <a:fontRef idx="minor">
              <a:schemeClr val="tx1"/>
            </a:fontRef>
          </p:style>
        </p:cxnSp>
        <p:sp>
          <p:nvSpPr>
            <p:cNvPr id="30" name="Isosceles Triangle 29"/>
            <p:cNvSpPr/>
            <p:nvPr/>
          </p:nvSpPr>
          <p:spPr>
            <a:xfrm rot="19440000" flipH="1">
              <a:off x="6695072" y="3721198"/>
              <a:ext cx="360040" cy="310379"/>
            </a:xfrm>
            <a:prstGeom prst="triangl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1" name="Straight Arrow Connector 30"/>
            <p:cNvCxnSpPr>
              <a:stCxn id="30" idx="3"/>
            </p:cNvCxnSpPr>
            <p:nvPr/>
          </p:nvCxnSpPr>
          <p:spPr>
            <a:xfrm>
              <a:off x="6966311" y="4001938"/>
              <a:ext cx="608029" cy="651199"/>
            </a:xfrm>
            <a:prstGeom prst="straightConnector1">
              <a:avLst/>
            </a:prstGeom>
            <a:ln w="28575" cmpd="sng">
              <a:headEnd type="none"/>
              <a:tailEnd type="non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4287867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Define/Refine Use Cases</a:t>
            </a:r>
          </a:p>
        </p:txBody>
      </p:sp>
      <p:sp>
        <p:nvSpPr>
          <p:cNvPr id="3" name="Content Placeholder 2"/>
          <p:cNvSpPr>
            <a:spLocks noGrp="1"/>
          </p:cNvSpPr>
          <p:nvPr>
            <p:ph idx="1"/>
          </p:nvPr>
        </p:nvSpPr>
        <p:spPr/>
        <p:txBody>
          <a:bodyPr/>
          <a:lstStyle/>
          <a:p>
            <a:r>
              <a:rPr lang="en-US" dirty="0"/>
              <a:t>Example:</a:t>
            </a:r>
          </a:p>
          <a:p>
            <a:pPr lvl="1"/>
            <a:endParaRPr lang="en-US" dirty="0"/>
          </a:p>
          <a:p>
            <a:pPr lvl="2"/>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42</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427511030"/>
              </p:ext>
            </p:extLst>
          </p:nvPr>
        </p:nvGraphicFramePr>
        <p:xfrm>
          <a:off x="4655840" y="2204865"/>
          <a:ext cx="5832648" cy="3456383"/>
        </p:xfrm>
        <a:graphic>
          <a:graphicData uri="http://schemas.openxmlformats.org/drawingml/2006/table">
            <a:tbl>
              <a:tblPr firstRow="1" bandRow="1">
                <a:tableStyleId>{5940675A-B579-460E-94D1-54222C63F5DA}</a:tableStyleId>
              </a:tblPr>
              <a:tblGrid>
                <a:gridCol w="5832648">
                  <a:extLst>
                    <a:ext uri="{9D8B030D-6E8A-4147-A177-3AD203B41FA5}">
                      <a16:colId xmlns:a16="http://schemas.microsoft.com/office/drawing/2014/main" val="20000"/>
                    </a:ext>
                  </a:extLst>
                </a:gridCol>
              </a:tblGrid>
              <a:tr h="493769">
                <a:tc>
                  <a:txBody>
                    <a:bodyPr/>
                    <a:lstStyle/>
                    <a:p>
                      <a:r>
                        <a:rPr lang="en-US" sz="2000" b="1" dirty="0" err="1"/>
                        <a:t>SearchForNutritionInfo</a:t>
                      </a:r>
                      <a:endParaRPr lang="en-US" sz="2000" b="1" dirty="0"/>
                    </a:p>
                  </a:txBody>
                  <a:tcPr/>
                </a:tc>
                <a:extLst>
                  <a:ext uri="{0D108BD9-81ED-4DB2-BD59-A6C34878D82A}">
                    <a16:rowId xmlns:a16="http://schemas.microsoft.com/office/drawing/2014/main" val="10000"/>
                  </a:ext>
                </a:extLst>
              </a:tr>
              <a:tr h="493769">
                <a:tc>
                  <a:txBody>
                    <a:bodyPr/>
                    <a:lstStyle/>
                    <a:p>
                      <a:r>
                        <a:rPr lang="en-US" sz="2000" dirty="0"/>
                        <a:t>Meal Planner (primary)</a:t>
                      </a:r>
                    </a:p>
                  </a:txBody>
                  <a:tcPr/>
                </a:tc>
                <a:extLst>
                  <a:ext uri="{0D108BD9-81ED-4DB2-BD59-A6C34878D82A}">
                    <a16:rowId xmlns:a16="http://schemas.microsoft.com/office/drawing/2014/main" val="10001"/>
                  </a:ext>
                </a:extLst>
              </a:tr>
              <a:tr h="493769">
                <a:tc>
                  <a:txBody>
                    <a:bodyPr/>
                    <a:lstStyle/>
                    <a:p>
                      <a:r>
                        <a:rPr lang="en-US" sz="2000" dirty="0"/>
                        <a:t>Meal Planner</a:t>
                      </a:r>
                      <a:r>
                        <a:rPr lang="en-US" sz="2000" baseline="0" dirty="0"/>
                        <a:t> finds nutrition information</a:t>
                      </a:r>
                      <a:endParaRPr lang="en-US" sz="2000" dirty="0"/>
                    </a:p>
                  </a:txBody>
                  <a:tcPr/>
                </a:tc>
                <a:extLst>
                  <a:ext uri="{0D108BD9-81ED-4DB2-BD59-A6C34878D82A}">
                    <a16:rowId xmlns:a16="http://schemas.microsoft.com/office/drawing/2014/main" val="10002"/>
                  </a:ext>
                </a:extLst>
              </a:tr>
              <a:tr h="493769">
                <a:tc>
                  <a:txBody>
                    <a:bodyPr/>
                    <a:lstStyle/>
                    <a:p>
                      <a:r>
                        <a:rPr lang="en-US" sz="2000" dirty="0"/>
                        <a:t>Meal Planner chooses the Search option</a:t>
                      </a:r>
                    </a:p>
                  </a:txBody>
                  <a:tcPr/>
                </a:tc>
                <a:extLst>
                  <a:ext uri="{0D108BD9-81ED-4DB2-BD59-A6C34878D82A}">
                    <a16:rowId xmlns:a16="http://schemas.microsoft.com/office/drawing/2014/main" val="10003"/>
                  </a:ext>
                </a:extLst>
              </a:tr>
              <a:tr h="493769">
                <a:tc>
                  <a:txBody>
                    <a:bodyPr/>
                    <a:lstStyle/>
                    <a:p>
                      <a:r>
                        <a:rPr lang="en-US" sz="2000" dirty="0"/>
                        <a:t>Meal</a:t>
                      </a:r>
                      <a:r>
                        <a:rPr lang="en-US" sz="2000" baseline="0" dirty="0"/>
                        <a:t> Planner knows f</a:t>
                      </a:r>
                      <a:r>
                        <a:rPr lang="en-US" sz="2000" dirty="0"/>
                        <a:t>ood name and amount.</a:t>
                      </a:r>
                    </a:p>
                  </a:txBody>
                  <a:tcPr/>
                </a:tc>
                <a:extLst>
                  <a:ext uri="{0D108BD9-81ED-4DB2-BD59-A6C34878D82A}">
                    <a16:rowId xmlns:a16="http://schemas.microsoft.com/office/drawing/2014/main" val="10004"/>
                  </a:ext>
                </a:extLst>
              </a:tr>
              <a:tr h="493769">
                <a:tc>
                  <a:txBody>
                    <a:bodyPr/>
                    <a:lstStyle/>
                    <a:p>
                      <a:r>
                        <a:rPr lang="en-US" sz="2000" dirty="0"/>
                        <a:t>On success, nutrition information</a:t>
                      </a:r>
                      <a:r>
                        <a:rPr lang="en-US" sz="2000" baseline="0" dirty="0"/>
                        <a:t> displayed.</a:t>
                      </a:r>
                      <a:endParaRPr lang="en-US" sz="2000" dirty="0"/>
                    </a:p>
                  </a:txBody>
                  <a:tcPr/>
                </a:tc>
                <a:extLst>
                  <a:ext uri="{0D108BD9-81ED-4DB2-BD59-A6C34878D82A}">
                    <a16:rowId xmlns:a16="http://schemas.microsoft.com/office/drawing/2014/main" val="10005"/>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t>
                      </a:r>
                    </a:p>
                  </a:txBody>
                  <a:tcPr/>
                </a:tc>
                <a:extLst>
                  <a:ext uri="{0D108BD9-81ED-4DB2-BD59-A6C34878D82A}">
                    <a16:rowId xmlns:a16="http://schemas.microsoft.com/office/drawing/2014/main" val="1000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284921382"/>
              </p:ext>
            </p:extLst>
          </p:nvPr>
        </p:nvGraphicFramePr>
        <p:xfrm>
          <a:off x="1919536" y="2204865"/>
          <a:ext cx="2664296" cy="2962614"/>
        </p:xfrm>
        <a:graphic>
          <a:graphicData uri="http://schemas.openxmlformats.org/drawingml/2006/table">
            <a:tbl>
              <a:tblPr firstRow="1" bandRow="1">
                <a:tableStyleId>{2D5ABB26-0587-4C30-8999-92F81FD0307C}</a:tableStyleId>
              </a:tblPr>
              <a:tblGrid>
                <a:gridCol w="2664296">
                  <a:extLst>
                    <a:ext uri="{9D8B030D-6E8A-4147-A177-3AD203B41FA5}">
                      <a16:colId xmlns:a16="http://schemas.microsoft.com/office/drawing/2014/main" val="20000"/>
                    </a:ext>
                  </a:extLst>
                </a:gridCol>
              </a:tblGrid>
              <a:tr h="493769">
                <a:tc>
                  <a:txBody>
                    <a:bodyPr/>
                    <a:lstStyle/>
                    <a:p>
                      <a:pPr algn="r"/>
                      <a:r>
                        <a:rPr lang="en-US" sz="2000" dirty="0"/>
                        <a:t>Use Case Name</a:t>
                      </a:r>
                    </a:p>
                  </a:txBody>
                  <a:tcPr/>
                </a:tc>
                <a:extLst>
                  <a:ext uri="{0D108BD9-81ED-4DB2-BD59-A6C34878D82A}">
                    <a16:rowId xmlns:a16="http://schemas.microsoft.com/office/drawing/2014/main" val="10000"/>
                  </a:ext>
                </a:extLst>
              </a:tr>
              <a:tr h="493769">
                <a:tc>
                  <a:txBody>
                    <a:bodyPr/>
                    <a:lstStyle/>
                    <a:p>
                      <a:pPr algn="r"/>
                      <a:r>
                        <a:rPr lang="en-US" sz="2000" dirty="0"/>
                        <a:t>Participating Actors</a:t>
                      </a:r>
                    </a:p>
                  </a:txBody>
                  <a:tcPr/>
                </a:tc>
                <a:extLst>
                  <a:ext uri="{0D108BD9-81ED-4DB2-BD59-A6C34878D82A}">
                    <a16:rowId xmlns:a16="http://schemas.microsoft.com/office/drawing/2014/main" val="10001"/>
                  </a:ext>
                </a:extLst>
              </a:tr>
              <a:tr h="493769">
                <a:tc>
                  <a:txBody>
                    <a:bodyPr/>
                    <a:lstStyle/>
                    <a:p>
                      <a:pPr algn="r"/>
                      <a:r>
                        <a:rPr lang="en-US" sz="2000" dirty="0"/>
                        <a:t>Goal</a:t>
                      </a:r>
                    </a:p>
                  </a:txBody>
                  <a:tcPr/>
                </a:tc>
                <a:extLst>
                  <a:ext uri="{0D108BD9-81ED-4DB2-BD59-A6C34878D82A}">
                    <a16:rowId xmlns:a16="http://schemas.microsoft.com/office/drawing/2014/main" val="10002"/>
                  </a:ext>
                </a:extLst>
              </a:tr>
              <a:tr h="493769">
                <a:tc>
                  <a:txBody>
                    <a:bodyPr/>
                    <a:lstStyle/>
                    <a:p>
                      <a:pPr algn="r"/>
                      <a:r>
                        <a:rPr lang="en-US" sz="2000" dirty="0"/>
                        <a:t>Trigger</a:t>
                      </a:r>
                    </a:p>
                  </a:txBody>
                  <a:tcPr/>
                </a:tc>
                <a:extLst>
                  <a:ext uri="{0D108BD9-81ED-4DB2-BD59-A6C34878D82A}">
                    <a16:rowId xmlns:a16="http://schemas.microsoft.com/office/drawing/2014/main" val="10003"/>
                  </a:ext>
                </a:extLst>
              </a:tr>
              <a:tr h="493769">
                <a:tc>
                  <a:txBody>
                    <a:bodyPr/>
                    <a:lstStyle/>
                    <a:p>
                      <a:pPr algn="r"/>
                      <a:r>
                        <a:rPr lang="en-US" sz="2000" dirty="0"/>
                        <a:t>Precondition</a:t>
                      </a:r>
                    </a:p>
                  </a:txBody>
                  <a:tcPr/>
                </a:tc>
                <a:extLst>
                  <a:ext uri="{0D108BD9-81ED-4DB2-BD59-A6C34878D82A}">
                    <a16:rowId xmlns:a16="http://schemas.microsoft.com/office/drawing/2014/main" val="10004"/>
                  </a:ext>
                </a:extLst>
              </a:tr>
              <a:tr h="493769">
                <a:tc>
                  <a:txBody>
                    <a:bodyPr/>
                    <a:lstStyle/>
                    <a:p>
                      <a:pPr algn="r"/>
                      <a:r>
                        <a:rPr lang="en-US" sz="2000" dirty="0"/>
                        <a:t>Post-condition</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945292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Define/Refine Use Cases</a:t>
            </a:r>
          </a:p>
        </p:txBody>
      </p:sp>
      <p:sp>
        <p:nvSpPr>
          <p:cNvPr id="3" name="Content Placeholder 2"/>
          <p:cNvSpPr>
            <a:spLocks noGrp="1"/>
          </p:cNvSpPr>
          <p:nvPr>
            <p:ph idx="1"/>
          </p:nvPr>
        </p:nvSpPr>
        <p:spPr/>
        <p:txBody>
          <a:bodyPr/>
          <a:lstStyle/>
          <a:p>
            <a:r>
              <a:rPr lang="en-US" dirty="0"/>
              <a:t>Example:</a:t>
            </a:r>
          </a:p>
          <a:p>
            <a:pPr lvl="1"/>
            <a:endParaRPr lang="en-US" dirty="0"/>
          </a:p>
          <a:p>
            <a:pPr lvl="2"/>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43</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722513059"/>
              </p:ext>
            </p:extLst>
          </p:nvPr>
        </p:nvGraphicFramePr>
        <p:xfrm>
          <a:off x="4655840" y="2204864"/>
          <a:ext cx="5832648" cy="4364694"/>
        </p:xfrm>
        <a:graphic>
          <a:graphicData uri="http://schemas.openxmlformats.org/drawingml/2006/table">
            <a:tbl>
              <a:tblPr firstRow="1" bandRow="1">
                <a:tableStyleId>{5940675A-B579-460E-94D1-54222C63F5DA}</a:tableStyleId>
              </a:tblPr>
              <a:tblGrid>
                <a:gridCol w="5832648">
                  <a:extLst>
                    <a:ext uri="{9D8B030D-6E8A-4147-A177-3AD203B41FA5}">
                      <a16:colId xmlns:a16="http://schemas.microsoft.com/office/drawing/2014/main" val="20000"/>
                    </a:ext>
                  </a:extLst>
                </a:gridCol>
              </a:tblGrid>
              <a:tr h="493769">
                <a:tc>
                  <a:txBody>
                    <a:bodyPr/>
                    <a:lstStyle/>
                    <a:p>
                      <a:r>
                        <a:rPr lang="en-US" sz="2000" dirty="0"/>
                        <a:t>System</a:t>
                      </a:r>
                      <a:r>
                        <a:rPr lang="en-US" sz="2000" baseline="0" dirty="0"/>
                        <a:t> prompts Meal Planner to enter keywords</a:t>
                      </a:r>
                      <a:endParaRPr lang="en-US" sz="2000" dirty="0"/>
                    </a:p>
                  </a:txBody>
                  <a:tcPr/>
                </a:tc>
                <a:extLst>
                  <a:ext uri="{0D108BD9-81ED-4DB2-BD59-A6C34878D82A}">
                    <a16:rowId xmlns:a16="http://schemas.microsoft.com/office/drawing/2014/main" val="10000"/>
                  </a:ext>
                </a:extLst>
              </a:tr>
              <a:tr h="493769">
                <a:tc>
                  <a:txBody>
                    <a:bodyPr/>
                    <a:lstStyle/>
                    <a:p>
                      <a:r>
                        <a:rPr lang="en-US" sz="2000" dirty="0"/>
                        <a:t>Meal Planner submits keywords.</a:t>
                      </a:r>
                    </a:p>
                  </a:txBody>
                  <a:tcPr/>
                </a:tc>
                <a:extLst>
                  <a:ext uri="{0D108BD9-81ED-4DB2-BD59-A6C34878D82A}">
                    <a16:rowId xmlns:a16="http://schemas.microsoft.com/office/drawing/2014/main" val="10001"/>
                  </a:ext>
                </a:extLst>
              </a:tr>
              <a:tr h="493769">
                <a:tc>
                  <a:txBody>
                    <a:bodyPr/>
                    <a:lstStyle/>
                    <a:p>
                      <a:r>
                        <a:rPr lang="en-US" sz="2000" dirty="0"/>
                        <a:t>System lists matching foods, prompting for a selection.</a:t>
                      </a:r>
                    </a:p>
                  </a:txBody>
                  <a:tcPr/>
                </a:tc>
                <a:extLst>
                  <a:ext uri="{0D108BD9-81ED-4DB2-BD59-A6C34878D82A}">
                    <a16:rowId xmlns:a16="http://schemas.microsoft.com/office/drawing/2014/main" val="10002"/>
                  </a:ext>
                </a:extLst>
              </a:tr>
              <a:tr h="493769">
                <a:tc>
                  <a:txBody>
                    <a:bodyPr/>
                    <a:lstStyle/>
                    <a:p>
                      <a:r>
                        <a:rPr lang="en-US" sz="2000" dirty="0"/>
                        <a:t>Meal Planner browses</a:t>
                      </a:r>
                      <a:r>
                        <a:rPr lang="en-US" sz="2000" baseline="0" dirty="0"/>
                        <a:t> and </a:t>
                      </a:r>
                      <a:r>
                        <a:rPr lang="en-US" sz="2000" dirty="0"/>
                        <a:t>selects a food.</a:t>
                      </a:r>
                    </a:p>
                  </a:txBody>
                  <a:tcPr/>
                </a:tc>
                <a:extLst>
                  <a:ext uri="{0D108BD9-81ED-4DB2-BD59-A6C34878D82A}">
                    <a16:rowId xmlns:a16="http://schemas.microsoft.com/office/drawing/2014/main" val="10003"/>
                  </a:ext>
                </a:extLst>
              </a:tr>
              <a:tr h="493769">
                <a:tc>
                  <a:txBody>
                    <a:bodyPr/>
                    <a:lstStyle/>
                    <a:p>
                      <a:r>
                        <a:rPr lang="en-US" sz="2000" dirty="0"/>
                        <a:t>System prompts for food weight</a:t>
                      </a:r>
                      <a:r>
                        <a:rPr lang="en-US" sz="2000" baseline="0" dirty="0"/>
                        <a:t> in units of 100 g.</a:t>
                      </a:r>
                      <a:endParaRPr lang="en-US" sz="2000" dirty="0"/>
                    </a:p>
                  </a:txBody>
                  <a:tcPr/>
                </a:tc>
                <a:extLst>
                  <a:ext uri="{0D108BD9-81ED-4DB2-BD59-A6C34878D82A}">
                    <a16:rowId xmlns:a16="http://schemas.microsoft.com/office/drawing/2014/main" val="10004"/>
                  </a:ext>
                </a:extLst>
              </a:tr>
              <a:tr h="493769">
                <a:tc>
                  <a:txBody>
                    <a:bodyPr/>
                    <a:lstStyle/>
                    <a:p>
                      <a:r>
                        <a:rPr lang="en-US" sz="2000" dirty="0"/>
                        <a:t>Meal Planner enters food units</a:t>
                      </a:r>
                      <a:r>
                        <a:rPr lang="en-US" sz="2000" baseline="0" dirty="0"/>
                        <a:t>.</a:t>
                      </a:r>
                      <a:endParaRPr lang="en-US" sz="2000" dirty="0"/>
                    </a:p>
                  </a:txBody>
                  <a:tcPr/>
                </a:tc>
                <a:extLst>
                  <a:ext uri="{0D108BD9-81ED-4DB2-BD59-A6C34878D82A}">
                    <a16:rowId xmlns:a16="http://schemas.microsoft.com/office/drawing/2014/main" val="10005"/>
                  </a:ext>
                </a:extLst>
              </a:tr>
              <a:tr h="493769">
                <a:tc>
                  <a:txBody>
                    <a:bodyPr/>
                    <a:lstStyle/>
                    <a:p>
                      <a:r>
                        <a:rPr lang="en-US" sz="2000" dirty="0"/>
                        <a:t>System presents nutrition data</a:t>
                      </a:r>
                      <a:r>
                        <a:rPr lang="en-US" sz="2000" baseline="0" dirty="0"/>
                        <a:t> for the amount of food.</a:t>
                      </a:r>
                      <a:endParaRPr lang="en-US" sz="2000" dirty="0"/>
                    </a:p>
                  </a:txBody>
                  <a:tcPr/>
                </a:tc>
                <a:extLst>
                  <a:ext uri="{0D108BD9-81ED-4DB2-BD59-A6C34878D82A}">
                    <a16:rowId xmlns:a16="http://schemas.microsoft.com/office/drawing/2014/main" val="10006"/>
                  </a:ext>
                </a:extLst>
              </a:tr>
              <a:tr h="493769">
                <a:tc>
                  <a:txBody>
                    <a:bodyPr/>
                    <a:lstStyle/>
                    <a:p>
                      <a:r>
                        <a:rPr lang="en-US" sz="2000" dirty="0"/>
                        <a:t>…</a:t>
                      </a:r>
                    </a:p>
                  </a:txBody>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726132161"/>
              </p:ext>
            </p:extLst>
          </p:nvPr>
        </p:nvGraphicFramePr>
        <p:xfrm>
          <a:off x="1919536" y="2204865"/>
          <a:ext cx="2664296" cy="3456383"/>
        </p:xfrm>
        <a:graphic>
          <a:graphicData uri="http://schemas.openxmlformats.org/drawingml/2006/table">
            <a:tbl>
              <a:tblPr firstRow="1" bandRow="1">
                <a:tableStyleId>{2D5ABB26-0587-4C30-8999-92F81FD0307C}</a:tableStyleId>
              </a:tblPr>
              <a:tblGrid>
                <a:gridCol w="2664296">
                  <a:extLst>
                    <a:ext uri="{9D8B030D-6E8A-4147-A177-3AD203B41FA5}">
                      <a16:colId xmlns:a16="http://schemas.microsoft.com/office/drawing/2014/main" val="20000"/>
                    </a:ext>
                  </a:extLst>
                </a:gridCol>
              </a:tblGrid>
              <a:tr h="493769">
                <a:tc>
                  <a:txBody>
                    <a:bodyPr/>
                    <a:lstStyle/>
                    <a:p>
                      <a:pPr algn="r"/>
                      <a:r>
                        <a:rPr lang="en-US" sz="2000" dirty="0"/>
                        <a:t>Basic Flow 1</a:t>
                      </a:r>
                    </a:p>
                  </a:txBody>
                  <a:tcPr/>
                </a:tc>
                <a:extLst>
                  <a:ext uri="{0D108BD9-81ED-4DB2-BD59-A6C34878D82A}">
                    <a16:rowId xmlns:a16="http://schemas.microsoft.com/office/drawing/2014/main" val="10000"/>
                  </a:ext>
                </a:extLst>
              </a:tr>
              <a:tr h="493769">
                <a:tc>
                  <a:txBody>
                    <a:bodyPr/>
                    <a:lstStyle/>
                    <a:p>
                      <a:pPr algn="r"/>
                      <a:r>
                        <a:rPr lang="en-US" sz="2000" dirty="0"/>
                        <a:t>2</a:t>
                      </a:r>
                    </a:p>
                  </a:txBody>
                  <a:tcPr/>
                </a:tc>
                <a:extLst>
                  <a:ext uri="{0D108BD9-81ED-4DB2-BD59-A6C34878D82A}">
                    <a16:rowId xmlns:a16="http://schemas.microsoft.com/office/drawing/2014/main" val="10001"/>
                  </a:ext>
                </a:extLst>
              </a:tr>
              <a:tr h="493769">
                <a:tc>
                  <a:txBody>
                    <a:bodyPr/>
                    <a:lstStyle/>
                    <a:p>
                      <a:pPr algn="r"/>
                      <a:r>
                        <a:rPr lang="en-US" sz="2000" dirty="0"/>
                        <a:t>3</a:t>
                      </a:r>
                    </a:p>
                  </a:txBody>
                  <a:tcPr/>
                </a:tc>
                <a:extLst>
                  <a:ext uri="{0D108BD9-81ED-4DB2-BD59-A6C34878D82A}">
                    <a16:rowId xmlns:a16="http://schemas.microsoft.com/office/drawing/2014/main" val="10002"/>
                  </a:ext>
                </a:extLst>
              </a:tr>
              <a:tr h="493769">
                <a:tc>
                  <a:txBody>
                    <a:bodyPr/>
                    <a:lstStyle/>
                    <a:p>
                      <a:pPr algn="r"/>
                      <a:r>
                        <a:rPr lang="en-US" sz="2000" dirty="0"/>
                        <a:t>4</a:t>
                      </a:r>
                    </a:p>
                  </a:txBody>
                  <a:tcPr/>
                </a:tc>
                <a:extLst>
                  <a:ext uri="{0D108BD9-81ED-4DB2-BD59-A6C34878D82A}">
                    <a16:rowId xmlns:a16="http://schemas.microsoft.com/office/drawing/2014/main" val="10003"/>
                  </a:ext>
                </a:extLst>
              </a:tr>
              <a:tr h="493769">
                <a:tc>
                  <a:txBody>
                    <a:bodyPr/>
                    <a:lstStyle/>
                    <a:p>
                      <a:pPr algn="r"/>
                      <a:r>
                        <a:rPr lang="en-US" sz="2000" dirty="0"/>
                        <a:t>5</a:t>
                      </a:r>
                    </a:p>
                  </a:txBody>
                  <a:tcPr/>
                </a:tc>
                <a:extLst>
                  <a:ext uri="{0D108BD9-81ED-4DB2-BD59-A6C34878D82A}">
                    <a16:rowId xmlns:a16="http://schemas.microsoft.com/office/drawing/2014/main" val="10004"/>
                  </a:ext>
                </a:extLst>
              </a:tr>
              <a:tr h="493769">
                <a:tc>
                  <a:txBody>
                    <a:bodyPr/>
                    <a:lstStyle/>
                    <a:p>
                      <a:pPr algn="r"/>
                      <a:r>
                        <a:rPr lang="en-US" sz="2000" dirty="0"/>
                        <a:t>6</a:t>
                      </a:r>
                    </a:p>
                  </a:txBody>
                  <a:tcPr/>
                </a:tc>
                <a:extLst>
                  <a:ext uri="{0D108BD9-81ED-4DB2-BD59-A6C34878D82A}">
                    <a16:rowId xmlns:a16="http://schemas.microsoft.com/office/drawing/2014/main" val="10005"/>
                  </a:ext>
                </a:extLst>
              </a:tr>
              <a:tr h="493769">
                <a:tc>
                  <a:txBody>
                    <a:bodyPr/>
                    <a:lstStyle/>
                    <a:p>
                      <a:pPr algn="r"/>
                      <a:r>
                        <a:rPr lang="en-US" sz="2000" dirty="0"/>
                        <a:t>7</a:t>
                      </a:r>
                    </a:p>
                  </a:txBody>
                  <a:tcPr/>
                </a:tc>
                <a:extLst>
                  <a:ext uri="{0D108BD9-81ED-4DB2-BD59-A6C34878D82A}">
                    <a16:rowId xmlns:a16="http://schemas.microsoft.com/office/drawing/2014/main" val="10006"/>
                  </a:ext>
                </a:extLst>
              </a:tr>
            </a:tbl>
          </a:graphicData>
        </a:graphic>
      </p:graphicFrame>
      <p:sp>
        <p:nvSpPr>
          <p:cNvPr id="7" name="TextBox 6"/>
          <p:cNvSpPr txBox="1"/>
          <p:nvPr/>
        </p:nvSpPr>
        <p:spPr>
          <a:xfrm>
            <a:off x="6240016" y="1556792"/>
            <a:ext cx="1835759" cy="369332"/>
          </a:xfrm>
          <a:prstGeom prst="rect">
            <a:avLst/>
          </a:prstGeom>
          <a:noFill/>
        </p:spPr>
        <p:txBody>
          <a:bodyPr wrap="none" rtlCol="0">
            <a:spAutoFit/>
          </a:bodyPr>
          <a:lstStyle/>
          <a:p>
            <a:r>
              <a:rPr lang="en-US" i="1" dirty="0"/>
              <a:t>User point of view</a:t>
            </a:r>
          </a:p>
        </p:txBody>
      </p:sp>
      <p:sp>
        <p:nvSpPr>
          <p:cNvPr id="8" name="TextBox 7"/>
          <p:cNvSpPr txBox="1"/>
          <p:nvPr/>
        </p:nvSpPr>
        <p:spPr>
          <a:xfrm>
            <a:off x="6240016" y="6516052"/>
            <a:ext cx="3040191" cy="369332"/>
          </a:xfrm>
          <a:prstGeom prst="rect">
            <a:avLst/>
          </a:prstGeom>
          <a:noFill/>
        </p:spPr>
        <p:txBody>
          <a:bodyPr wrap="none" rtlCol="0">
            <a:spAutoFit/>
          </a:bodyPr>
          <a:lstStyle/>
          <a:p>
            <a:r>
              <a:rPr lang="en-US" i="1" dirty="0"/>
              <a:t>Avoid implementation specifics</a:t>
            </a:r>
          </a:p>
        </p:txBody>
      </p:sp>
    </p:spTree>
    <p:extLst>
      <p:ext uri="{BB962C8B-B14F-4D97-AF65-F5344CB8AC3E}">
        <p14:creationId xmlns:p14="http://schemas.microsoft.com/office/powerpoint/2010/main" val="12697857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Define/Refine Use Cases</a:t>
            </a:r>
          </a:p>
        </p:txBody>
      </p:sp>
      <p:sp>
        <p:nvSpPr>
          <p:cNvPr id="3" name="Content Placeholder 2"/>
          <p:cNvSpPr>
            <a:spLocks noGrp="1"/>
          </p:cNvSpPr>
          <p:nvPr>
            <p:ph idx="1"/>
          </p:nvPr>
        </p:nvSpPr>
        <p:spPr/>
        <p:txBody>
          <a:bodyPr/>
          <a:lstStyle/>
          <a:p>
            <a:r>
              <a:rPr lang="en-US" dirty="0"/>
              <a:t>Example:</a:t>
            </a:r>
          </a:p>
          <a:p>
            <a:pPr lvl="1"/>
            <a:endParaRPr lang="en-US" dirty="0"/>
          </a:p>
          <a:p>
            <a:pPr lvl="2"/>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44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850486849"/>
              </p:ext>
            </p:extLst>
          </p:nvPr>
        </p:nvGraphicFramePr>
        <p:xfrm>
          <a:off x="4655840" y="2204865"/>
          <a:ext cx="5832648" cy="2468845"/>
        </p:xfrm>
        <a:graphic>
          <a:graphicData uri="http://schemas.openxmlformats.org/drawingml/2006/table">
            <a:tbl>
              <a:tblPr firstRow="1" bandRow="1">
                <a:tableStyleId>{5940675A-B579-460E-94D1-54222C63F5DA}</a:tableStyleId>
              </a:tblPr>
              <a:tblGrid>
                <a:gridCol w="5832648">
                  <a:extLst>
                    <a:ext uri="{9D8B030D-6E8A-4147-A177-3AD203B41FA5}">
                      <a16:colId xmlns:a16="http://schemas.microsoft.com/office/drawing/2014/main" val="20000"/>
                    </a:ext>
                  </a:extLst>
                </a:gridCol>
              </a:tblGrid>
              <a:tr h="493769">
                <a:tc>
                  <a:txBody>
                    <a:bodyPr/>
                    <a:lstStyle/>
                    <a:p>
                      <a:r>
                        <a:rPr lang="en-US" sz="2000" dirty="0"/>
                        <a:t>If there are no matching</a:t>
                      </a:r>
                      <a:r>
                        <a:rPr lang="en-US" sz="2000" baseline="0" dirty="0"/>
                        <a:t> foods</a:t>
                      </a:r>
                      <a:endParaRPr lang="en-US" sz="2000" dirty="0"/>
                    </a:p>
                  </a:txBody>
                  <a:tcPr/>
                </a:tc>
                <a:extLst>
                  <a:ext uri="{0D108BD9-81ED-4DB2-BD59-A6C34878D82A}">
                    <a16:rowId xmlns:a16="http://schemas.microsoft.com/office/drawing/2014/main" val="10000"/>
                  </a:ext>
                </a:extLst>
              </a:tr>
              <a:tr h="493769">
                <a:tc>
                  <a:txBody>
                    <a:bodyPr/>
                    <a:lstStyle/>
                    <a:p>
                      <a:r>
                        <a:rPr lang="en-US" sz="2000" dirty="0"/>
                        <a:t>System displays</a:t>
                      </a:r>
                      <a:r>
                        <a:rPr lang="en-US" sz="2000" baseline="0" dirty="0"/>
                        <a:t> an error</a:t>
                      </a:r>
                      <a:endParaRPr lang="en-US" sz="2000" dirty="0"/>
                    </a:p>
                  </a:txBody>
                  <a:tcPr/>
                </a:tc>
                <a:extLst>
                  <a:ext uri="{0D108BD9-81ED-4DB2-BD59-A6C34878D82A}">
                    <a16:rowId xmlns:a16="http://schemas.microsoft.com/office/drawing/2014/main" val="10001"/>
                  </a:ext>
                </a:extLst>
              </a:tr>
              <a:tr h="493769">
                <a:tc>
                  <a:txBody>
                    <a:bodyPr/>
                    <a:lstStyle/>
                    <a:p>
                      <a:r>
                        <a:rPr lang="en-US" sz="2000" dirty="0"/>
                        <a:t>System returns to step 1</a:t>
                      </a:r>
                    </a:p>
                  </a:txBody>
                  <a:tcPr/>
                </a:tc>
                <a:extLst>
                  <a:ext uri="{0D108BD9-81ED-4DB2-BD59-A6C34878D82A}">
                    <a16:rowId xmlns:a16="http://schemas.microsoft.com/office/drawing/2014/main" val="10002"/>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If given food</a:t>
                      </a:r>
                      <a:r>
                        <a:rPr lang="en-US" sz="2000" baseline="0" dirty="0"/>
                        <a:t> </a:t>
                      </a:r>
                      <a:r>
                        <a:rPr lang="en-US" sz="2000" dirty="0"/>
                        <a:t>units is non-numeric,</a:t>
                      </a:r>
                      <a:r>
                        <a:rPr lang="en-US" sz="2000" baseline="0" dirty="0"/>
                        <a:t> use 0 and proceed</a:t>
                      </a:r>
                      <a:endParaRPr lang="en-US" sz="2000" dirty="0"/>
                    </a:p>
                  </a:txBody>
                  <a:tcPr/>
                </a:tc>
                <a:extLst>
                  <a:ext uri="{0D108BD9-81ED-4DB2-BD59-A6C34878D82A}">
                    <a16:rowId xmlns:a16="http://schemas.microsoft.com/office/drawing/2014/main" val="10003"/>
                  </a:ext>
                </a:extLst>
              </a:tr>
              <a:tr h="493769">
                <a:tc>
                  <a:txBody>
                    <a:bodyPr/>
                    <a:lstStyle/>
                    <a:p>
                      <a:endParaRPr lang="en-US" sz="2000" dirty="0"/>
                    </a:p>
                  </a:txBody>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188253394"/>
              </p:ext>
            </p:extLst>
          </p:nvPr>
        </p:nvGraphicFramePr>
        <p:xfrm>
          <a:off x="1919536" y="2204865"/>
          <a:ext cx="2664296" cy="1975076"/>
        </p:xfrm>
        <a:graphic>
          <a:graphicData uri="http://schemas.openxmlformats.org/drawingml/2006/table">
            <a:tbl>
              <a:tblPr firstRow="1" bandRow="1">
                <a:tableStyleId>{2D5ABB26-0587-4C30-8999-92F81FD0307C}</a:tableStyleId>
              </a:tblPr>
              <a:tblGrid>
                <a:gridCol w="2664296">
                  <a:extLst>
                    <a:ext uri="{9D8B030D-6E8A-4147-A177-3AD203B41FA5}">
                      <a16:colId xmlns:a16="http://schemas.microsoft.com/office/drawing/2014/main" val="20000"/>
                    </a:ext>
                  </a:extLst>
                </a:gridCol>
              </a:tblGrid>
              <a:tr h="493769">
                <a:tc>
                  <a:txBody>
                    <a:bodyPr/>
                    <a:lstStyle/>
                    <a:p>
                      <a:pPr algn="r"/>
                      <a:r>
                        <a:rPr lang="en-US" sz="2000" dirty="0"/>
                        <a:t>Exceptions 3 </a:t>
                      </a:r>
                    </a:p>
                  </a:txBody>
                  <a:tcPr/>
                </a:tc>
                <a:extLst>
                  <a:ext uri="{0D108BD9-81ED-4DB2-BD59-A6C34878D82A}">
                    <a16:rowId xmlns:a16="http://schemas.microsoft.com/office/drawing/2014/main" val="10000"/>
                  </a:ext>
                </a:extLst>
              </a:tr>
              <a:tr h="493769">
                <a:tc>
                  <a:txBody>
                    <a:bodyPr/>
                    <a:lstStyle/>
                    <a:p>
                      <a:pPr algn="r"/>
                      <a:r>
                        <a:rPr lang="en-US" sz="2000" dirty="0"/>
                        <a:t>3.1</a:t>
                      </a:r>
                    </a:p>
                  </a:txBody>
                  <a:tcPr/>
                </a:tc>
                <a:extLst>
                  <a:ext uri="{0D108BD9-81ED-4DB2-BD59-A6C34878D82A}">
                    <a16:rowId xmlns:a16="http://schemas.microsoft.com/office/drawing/2014/main" val="10001"/>
                  </a:ext>
                </a:extLst>
              </a:tr>
              <a:tr h="493769">
                <a:tc>
                  <a:txBody>
                    <a:bodyPr/>
                    <a:lstStyle/>
                    <a:p>
                      <a:pPr algn="r"/>
                      <a:r>
                        <a:rPr lang="en-US" sz="2000" dirty="0"/>
                        <a:t>3.2</a:t>
                      </a:r>
                    </a:p>
                  </a:txBody>
                  <a:tcPr/>
                </a:tc>
                <a:extLst>
                  <a:ext uri="{0D108BD9-81ED-4DB2-BD59-A6C34878D82A}">
                    <a16:rowId xmlns:a16="http://schemas.microsoft.com/office/drawing/2014/main" val="10002"/>
                  </a:ext>
                </a:extLst>
              </a:tr>
              <a:tr h="493769">
                <a:tc>
                  <a:txBody>
                    <a:bodyPr/>
                    <a:lstStyle/>
                    <a:p>
                      <a:pPr algn="r"/>
                      <a:r>
                        <a:rPr lang="en-US" sz="2000" dirty="0"/>
                        <a:t>7</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58632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Define/Refine Use Cases</a:t>
            </a:r>
          </a:p>
        </p:txBody>
      </p:sp>
      <p:sp>
        <p:nvSpPr>
          <p:cNvPr id="3" name="Content Placeholder 2"/>
          <p:cNvSpPr>
            <a:spLocks noGrp="1"/>
          </p:cNvSpPr>
          <p:nvPr>
            <p:ph idx="1"/>
          </p:nvPr>
        </p:nvSpPr>
        <p:spPr/>
        <p:txBody>
          <a:bodyPr/>
          <a:lstStyle/>
          <a:p>
            <a:r>
              <a:rPr lang="en-US" dirty="0"/>
              <a:t>Example:</a:t>
            </a:r>
          </a:p>
          <a:p>
            <a:pPr lvl="1"/>
            <a:endParaRPr lang="en-US" dirty="0"/>
          </a:p>
          <a:p>
            <a:pPr lvl="2"/>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45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580091773"/>
              </p:ext>
            </p:extLst>
          </p:nvPr>
        </p:nvGraphicFramePr>
        <p:xfrm>
          <a:off x="4655840" y="2204864"/>
          <a:ext cx="5832648" cy="3950152"/>
        </p:xfrm>
        <a:graphic>
          <a:graphicData uri="http://schemas.openxmlformats.org/drawingml/2006/table">
            <a:tbl>
              <a:tblPr firstRow="1" bandRow="1">
                <a:tableStyleId>{5940675A-B579-460E-94D1-54222C63F5DA}</a:tableStyleId>
              </a:tblPr>
              <a:tblGrid>
                <a:gridCol w="5832648">
                  <a:extLst>
                    <a:ext uri="{9D8B030D-6E8A-4147-A177-3AD203B41FA5}">
                      <a16:colId xmlns:a16="http://schemas.microsoft.com/office/drawing/2014/main" val="20000"/>
                    </a:ext>
                  </a:extLst>
                </a:gridCol>
              </a:tblGrid>
              <a:tr h="9875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System responds in under 2</a:t>
                      </a:r>
                      <a:r>
                        <a:rPr lang="en-US" sz="2000" baseline="0" dirty="0"/>
                        <a:t> s for list of matching foods and for nutrition data on a specific food.</a:t>
                      </a:r>
                      <a:endParaRPr lang="en-US" sz="2000" dirty="0"/>
                    </a:p>
                  </a:txBody>
                  <a:tcPr/>
                </a:tc>
                <a:extLst>
                  <a:ext uri="{0D108BD9-81ED-4DB2-BD59-A6C34878D82A}">
                    <a16:rowId xmlns:a16="http://schemas.microsoft.com/office/drawing/2014/main" val="10000"/>
                  </a:ext>
                </a:extLst>
              </a:tr>
              <a:tr h="493769">
                <a:tc>
                  <a:txBody>
                    <a:bodyPr/>
                    <a:lstStyle/>
                    <a:p>
                      <a:r>
                        <a:rPr lang="en-US" sz="2000" dirty="0"/>
                        <a:t>Use USDA nutrition data.</a:t>
                      </a:r>
                    </a:p>
                  </a:txBody>
                  <a:tcPr/>
                </a:tc>
                <a:extLst>
                  <a:ext uri="{0D108BD9-81ED-4DB2-BD59-A6C34878D82A}">
                    <a16:rowId xmlns:a16="http://schemas.microsoft.com/office/drawing/2014/main" val="10001"/>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tc>
                <a:extLst>
                  <a:ext uri="{0D108BD9-81ED-4DB2-BD59-A6C34878D82A}">
                    <a16:rowId xmlns:a16="http://schemas.microsoft.com/office/drawing/2014/main" val="10002"/>
                  </a:ext>
                </a:extLst>
              </a:tr>
              <a:tr h="493769">
                <a:tc>
                  <a:txBody>
                    <a:bodyPr/>
                    <a:lstStyle/>
                    <a:p>
                      <a:endParaRPr lang="en-US" sz="2000" dirty="0"/>
                    </a:p>
                  </a:txBody>
                  <a:tcPr/>
                </a:tc>
                <a:extLst>
                  <a:ext uri="{0D108BD9-81ED-4DB2-BD59-A6C34878D82A}">
                    <a16:rowId xmlns:a16="http://schemas.microsoft.com/office/drawing/2014/main" val="10003"/>
                  </a:ext>
                </a:extLst>
              </a:tr>
              <a:tr h="493769">
                <a:tc>
                  <a:txBody>
                    <a:bodyPr/>
                    <a:lstStyle/>
                    <a:p>
                      <a:endParaRPr lang="en-US" sz="2000" dirty="0"/>
                    </a:p>
                  </a:txBody>
                  <a:tcPr/>
                </a:tc>
                <a:extLst>
                  <a:ext uri="{0D108BD9-81ED-4DB2-BD59-A6C34878D82A}">
                    <a16:rowId xmlns:a16="http://schemas.microsoft.com/office/drawing/2014/main" val="10004"/>
                  </a:ext>
                </a:extLst>
              </a:tr>
              <a:tr h="493769">
                <a:tc>
                  <a:txBody>
                    <a:bodyPr/>
                    <a:lstStyle/>
                    <a:p>
                      <a:endParaRPr lang="en-US" sz="2000" dirty="0"/>
                    </a:p>
                  </a:txBody>
                  <a:tcPr/>
                </a:tc>
                <a:extLst>
                  <a:ext uri="{0D108BD9-81ED-4DB2-BD59-A6C34878D82A}">
                    <a16:rowId xmlns:a16="http://schemas.microsoft.com/office/drawing/2014/main" val="10005"/>
                  </a:ext>
                </a:extLst>
              </a:tr>
              <a:tr h="493769">
                <a:tc>
                  <a:txBody>
                    <a:bodyPr/>
                    <a:lstStyle/>
                    <a:p>
                      <a:endParaRPr lang="en-US" sz="2000" dirty="0"/>
                    </a:p>
                  </a:txBody>
                  <a:tcPr/>
                </a:tc>
                <a:extLst>
                  <a:ext uri="{0D108BD9-81ED-4DB2-BD59-A6C34878D82A}">
                    <a16:rowId xmlns:a16="http://schemas.microsoft.com/office/drawing/2014/main" val="1000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507211514"/>
              </p:ext>
            </p:extLst>
          </p:nvPr>
        </p:nvGraphicFramePr>
        <p:xfrm>
          <a:off x="1919536" y="2204865"/>
          <a:ext cx="2664296" cy="4443921"/>
        </p:xfrm>
        <a:graphic>
          <a:graphicData uri="http://schemas.openxmlformats.org/drawingml/2006/table">
            <a:tbl>
              <a:tblPr firstRow="1" bandRow="1">
                <a:tableStyleId>{2D5ABB26-0587-4C30-8999-92F81FD0307C}</a:tableStyleId>
              </a:tblPr>
              <a:tblGrid>
                <a:gridCol w="2664296">
                  <a:extLst>
                    <a:ext uri="{9D8B030D-6E8A-4147-A177-3AD203B41FA5}">
                      <a16:colId xmlns:a16="http://schemas.microsoft.com/office/drawing/2014/main" val="20000"/>
                    </a:ext>
                  </a:extLst>
                </a:gridCol>
              </a:tblGrid>
              <a:tr h="493769">
                <a:tc>
                  <a:txBody>
                    <a:bodyPr/>
                    <a:lstStyle/>
                    <a:p>
                      <a:pPr algn="r"/>
                      <a:r>
                        <a:rPr lang="en-US" sz="2000" dirty="0"/>
                        <a:t>Qualities</a:t>
                      </a:r>
                    </a:p>
                  </a:txBody>
                  <a:tcPr/>
                </a:tc>
                <a:extLst>
                  <a:ext uri="{0D108BD9-81ED-4DB2-BD59-A6C34878D82A}">
                    <a16:rowId xmlns:a16="http://schemas.microsoft.com/office/drawing/2014/main" val="10000"/>
                  </a:ext>
                </a:extLst>
              </a:tr>
              <a:tr h="493769">
                <a:tc>
                  <a:txBody>
                    <a:bodyPr/>
                    <a:lstStyle/>
                    <a:p>
                      <a:pPr algn="r"/>
                      <a:endParaRPr lang="en-US" sz="2000" dirty="0"/>
                    </a:p>
                  </a:txBody>
                  <a:tcPr/>
                </a:tc>
                <a:extLst>
                  <a:ext uri="{0D108BD9-81ED-4DB2-BD59-A6C34878D82A}">
                    <a16:rowId xmlns:a16="http://schemas.microsoft.com/office/drawing/2014/main" val="10001"/>
                  </a:ext>
                </a:extLst>
              </a:tr>
              <a:tr h="493769">
                <a:tc>
                  <a:txBody>
                    <a:bodyPr/>
                    <a:lstStyle/>
                    <a:p>
                      <a:pPr algn="r"/>
                      <a:r>
                        <a:rPr lang="en-US" sz="2000" dirty="0"/>
                        <a:t>Constraints</a:t>
                      </a:r>
                    </a:p>
                  </a:txBody>
                  <a:tcPr/>
                </a:tc>
                <a:extLst>
                  <a:ext uri="{0D108BD9-81ED-4DB2-BD59-A6C34878D82A}">
                    <a16:rowId xmlns:a16="http://schemas.microsoft.com/office/drawing/2014/main" val="10002"/>
                  </a:ext>
                </a:extLst>
              </a:tr>
              <a:tr h="493769">
                <a:tc>
                  <a:txBody>
                    <a:bodyPr/>
                    <a:lstStyle/>
                    <a:p>
                      <a:pPr algn="r"/>
                      <a:r>
                        <a:rPr lang="en-US" sz="2000" dirty="0"/>
                        <a:t>Includes</a:t>
                      </a:r>
                    </a:p>
                  </a:txBody>
                  <a:tcPr/>
                </a:tc>
                <a:extLst>
                  <a:ext uri="{0D108BD9-81ED-4DB2-BD59-A6C34878D82A}">
                    <a16:rowId xmlns:a16="http://schemas.microsoft.com/office/drawing/2014/main" val="10003"/>
                  </a:ext>
                </a:extLst>
              </a:tr>
              <a:tr h="493769">
                <a:tc>
                  <a:txBody>
                    <a:bodyPr/>
                    <a:lstStyle/>
                    <a:p>
                      <a:pPr algn="r"/>
                      <a:r>
                        <a:rPr lang="en-US" sz="2000" dirty="0"/>
                        <a:t>Extends</a:t>
                      </a:r>
                    </a:p>
                  </a:txBody>
                  <a:tcPr/>
                </a:tc>
                <a:extLst>
                  <a:ext uri="{0D108BD9-81ED-4DB2-BD59-A6C34878D82A}">
                    <a16:rowId xmlns:a16="http://schemas.microsoft.com/office/drawing/2014/main" val="10004"/>
                  </a:ext>
                </a:extLst>
              </a:tr>
              <a:tr h="493769">
                <a:tc>
                  <a:txBody>
                    <a:bodyPr/>
                    <a:lstStyle/>
                    <a:p>
                      <a:pPr algn="r"/>
                      <a:r>
                        <a:rPr lang="en-US" sz="2000" dirty="0"/>
                        <a:t>Related Artifacts</a:t>
                      </a:r>
                    </a:p>
                  </a:txBody>
                  <a:tcPr/>
                </a:tc>
                <a:extLst>
                  <a:ext uri="{0D108BD9-81ED-4DB2-BD59-A6C34878D82A}">
                    <a16:rowId xmlns:a16="http://schemas.microsoft.com/office/drawing/2014/main" val="10005"/>
                  </a:ext>
                </a:extLst>
              </a:tr>
              <a:tr h="493769">
                <a:tc>
                  <a:txBody>
                    <a:bodyPr/>
                    <a:lstStyle/>
                    <a:p>
                      <a:pPr algn="r"/>
                      <a:r>
                        <a:rPr lang="en-US" sz="2000" dirty="0"/>
                        <a:t>Notes</a:t>
                      </a:r>
                    </a:p>
                  </a:txBody>
                  <a:tcPr/>
                </a:tc>
                <a:extLst>
                  <a:ext uri="{0D108BD9-81ED-4DB2-BD59-A6C34878D82A}">
                    <a16:rowId xmlns:a16="http://schemas.microsoft.com/office/drawing/2014/main" val="10006"/>
                  </a:ext>
                </a:extLst>
              </a:tr>
              <a:tr h="493769">
                <a:tc>
                  <a:txBody>
                    <a:bodyPr/>
                    <a:lstStyle/>
                    <a:p>
                      <a:pPr algn="r"/>
                      <a:r>
                        <a:rPr lang="en-US" sz="2000" dirty="0"/>
                        <a:t>Open Issues</a:t>
                      </a:r>
                    </a:p>
                  </a:txBody>
                  <a:tcPr/>
                </a:tc>
                <a:extLst>
                  <a:ext uri="{0D108BD9-81ED-4DB2-BD59-A6C34878D82A}">
                    <a16:rowId xmlns:a16="http://schemas.microsoft.com/office/drawing/2014/main" val="10007"/>
                  </a:ext>
                </a:extLst>
              </a:tr>
              <a:tr h="493769">
                <a:tc>
                  <a:txBody>
                    <a:bodyPr/>
                    <a:lstStyle/>
                    <a:p>
                      <a:pPr algn="r"/>
                      <a:endParaRPr lang="en-US" sz="20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328318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 Use Case</a:t>
            </a:r>
          </a:p>
        </p:txBody>
      </p:sp>
      <p:sp>
        <p:nvSpPr>
          <p:cNvPr id="4" name="Slide Number Placeholder 3"/>
          <p:cNvSpPr>
            <a:spLocks noGrp="1"/>
          </p:cNvSpPr>
          <p:nvPr>
            <p:ph type="sldNum" sz="quarter" idx="12"/>
          </p:nvPr>
        </p:nvSpPr>
        <p:spPr/>
        <p:txBody>
          <a:bodyPr/>
          <a:lstStyle/>
          <a:p>
            <a:fld id="{CADD82E7-7C10-744D-AD9E-31500693C936}" type="slidenum">
              <a:rPr lang="en-US" smtClean="0"/>
              <a:pPr/>
              <a:t>46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195063641"/>
              </p:ext>
            </p:extLst>
          </p:nvPr>
        </p:nvGraphicFramePr>
        <p:xfrm>
          <a:off x="2639616" y="1412776"/>
          <a:ext cx="7848872" cy="4937690"/>
        </p:xfrm>
        <a:graphic>
          <a:graphicData uri="http://schemas.openxmlformats.org/drawingml/2006/table">
            <a:tbl>
              <a:tblPr firstRow="1" bandRow="1">
                <a:tableStyleId>{5940675A-B579-460E-94D1-54222C63F5DA}</a:tableStyleId>
              </a:tblPr>
              <a:tblGrid>
                <a:gridCol w="3924436">
                  <a:extLst>
                    <a:ext uri="{9D8B030D-6E8A-4147-A177-3AD203B41FA5}">
                      <a16:colId xmlns:a16="http://schemas.microsoft.com/office/drawing/2014/main" val="20000"/>
                    </a:ext>
                  </a:extLst>
                </a:gridCol>
                <a:gridCol w="3924436">
                  <a:extLst>
                    <a:ext uri="{9D8B030D-6E8A-4147-A177-3AD203B41FA5}">
                      <a16:colId xmlns:a16="http://schemas.microsoft.com/office/drawing/2014/main" val="20001"/>
                    </a:ext>
                  </a:extLst>
                </a:gridCol>
              </a:tblGrid>
              <a:tr h="493769">
                <a:tc>
                  <a:txBody>
                    <a:bodyPr/>
                    <a:lstStyle/>
                    <a:p>
                      <a:r>
                        <a:rPr lang="en-US" sz="2000" b="1" dirty="0" err="1"/>
                        <a:t>SearchForNutritionInfo</a:t>
                      </a:r>
                      <a:endParaRPr lang="en-US" sz="2000" b="1" dirty="0"/>
                    </a:p>
                  </a:txBody>
                  <a:tcPr/>
                </a:tc>
                <a:tc>
                  <a:txBody>
                    <a:bodyPr/>
                    <a:lstStyle/>
                    <a:p>
                      <a:endParaRPr lang="en-US" sz="2000" dirty="0"/>
                    </a:p>
                  </a:txBody>
                  <a:tcPr/>
                </a:tc>
                <a:extLst>
                  <a:ext uri="{0D108BD9-81ED-4DB2-BD59-A6C34878D82A}">
                    <a16:rowId xmlns:a16="http://schemas.microsoft.com/office/drawing/2014/main" val="10000"/>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i="1" dirty="0"/>
                        <a:t>User Intention (Meal Planner)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i="1" dirty="0"/>
                        <a:t>System Responsibility</a:t>
                      </a:r>
                    </a:p>
                  </a:txBody>
                  <a:tcPr/>
                </a:tc>
                <a:extLst>
                  <a:ext uri="{0D108BD9-81ED-4DB2-BD59-A6C34878D82A}">
                    <a16:rowId xmlns:a16="http://schemas.microsoft.com/office/drawing/2014/main" val="10001"/>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i="0" dirty="0"/>
                        <a:t>Initiate</a:t>
                      </a:r>
                      <a:r>
                        <a:rPr lang="en-US" sz="2000" i="0" baseline="0" dirty="0"/>
                        <a:t> s</a:t>
                      </a:r>
                      <a:r>
                        <a:rPr lang="en-US" sz="2000" i="0" dirty="0"/>
                        <a:t>earch.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tc>
                <a:extLst>
                  <a:ext uri="{0D108BD9-81ED-4DB2-BD59-A6C34878D82A}">
                    <a16:rowId xmlns:a16="http://schemas.microsoft.com/office/drawing/2014/main" val="10002"/>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Request keywords.</a:t>
                      </a:r>
                    </a:p>
                  </a:txBody>
                  <a:tcPr/>
                </a:tc>
                <a:extLst>
                  <a:ext uri="{0D108BD9-81ED-4DB2-BD59-A6C34878D82A}">
                    <a16:rowId xmlns:a16="http://schemas.microsoft.com/office/drawing/2014/main" val="10003"/>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Submit keywords.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tc>
                <a:extLst>
                  <a:ext uri="{0D108BD9-81ED-4DB2-BD59-A6C34878D82A}">
                    <a16:rowId xmlns:a16="http://schemas.microsoft.com/office/drawing/2014/main" val="10004"/>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List matching foods to select.</a:t>
                      </a:r>
                    </a:p>
                  </a:txBody>
                  <a:tcPr/>
                </a:tc>
                <a:extLst>
                  <a:ext uri="{0D108BD9-81ED-4DB2-BD59-A6C34878D82A}">
                    <a16:rowId xmlns:a16="http://schemas.microsoft.com/office/drawing/2014/main" val="10005"/>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Select a food.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tc>
                <a:extLst>
                  <a:ext uri="{0D108BD9-81ED-4DB2-BD59-A6C34878D82A}">
                    <a16:rowId xmlns:a16="http://schemas.microsoft.com/office/drawing/2014/main" val="10006"/>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Request food units.</a:t>
                      </a:r>
                    </a:p>
                  </a:txBody>
                  <a:tcPr/>
                </a:tc>
                <a:extLst>
                  <a:ext uri="{0D108BD9-81ED-4DB2-BD59-A6C34878D82A}">
                    <a16:rowId xmlns:a16="http://schemas.microsoft.com/office/drawing/2014/main" val="10007"/>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Enter food units</a:t>
                      </a:r>
                      <a:r>
                        <a:rPr lang="en-US" sz="2000" baseline="0" dirty="0"/>
                        <a:t>.</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tc>
                <a:extLst>
                  <a:ext uri="{0D108BD9-81ED-4DB2-BD59-A6C34878D82A}">
                    <a16:rowId xmlns:a16="http://schemas.microsoft.com/office/drawing/2014/main" val="10008"/>
                  </a:ext>
                </a:extLst>
              </a:tr>
              <a:tr h="493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Present nutrition data.</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5385945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Content Placeholder 2"/>
          <p:cNvSpPr>
            <a:spLocks noGrp="1"/>
          </p:cNvSpPr>
          <p:nvPr>
            <p:ph idx="1"/>
          </p:nvPr>
        </p:nvSpPr>
        <p:spPr/>
        <p:txBody>
          <a:bodyPr/>
          <a:lstStyle/>
          <a:p>
            <a:r>
              <a:rPr lang="en-US" dirty="0"/>
              <a:t>Question:</a:t>
            </a:r>
          </a:p>
          <a:p>
            <a:pPr lvl="1"/>
            <a:r>
              <a:rPr lang="en-US" dirty="0"/>
              <a:t>What is a basic flow for the task of withdrawing cash from a bank machine?</a:t>
            </a:r>
          </a:p>
        </p:txBody>
      </p:sp>
      <p:sp>
        <p:nvSpPr>
          <p:cNvPr id="4" name="Slide Number Placeholder 3"/>
          <p:cNvSpPr>
            <a:spLocks noGrp="1"/>
          </p:cNvSpPr>
          <p:nvPr>
            <p:ph type="sldNum" sz="quarter" idx="12"/>
          </p:nvPr>
        </p:nvSpPr>
        <p:spPr/>
        <p:txBody>
          <a:bodyPr/>
          <a:lstStyle/>
          <a:p>
            <a:fld id="{CADD82E7-7C10-744D-AD9E-31500693C936}" type="slidenum">
              <a:rPr lang="en-US" smtClean="0"/>
              <a:pPr/>
              <a:t>47</a:t>
            </a:fld>
            <a:endParaRPr lang="en-US"/>
          </a:p>
        </p:txBody>
      </p:sp>
    </p:spTree>
    <p:extLst>
      <p:ext uri="{BB962C8B-B14F-4D97-AF65-F5344CB8AC3E}">
        <p14:creationId xmlns:p14="http://schemas.microsoft.com/office/powerpoint/2010/main" val="33070068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Relate Use Cases</a:t>
            </a:r>
          </a:p>
        </p:txBody>
      </p:sp>
      <p:sp>
        <p:nvSpPr>
          <p:cNvPr id="3" name="Content Placeholder 2"/>
          <p:cNvSpPr>
            <a:spLocks noGrp="1"/>
          </p:cNvSpPr>
          <p:nvPr>
            <p:ph idx="1"/>
          </p:nvPr>
        </p:nvSpPr>
        <p:spPr/>
        <p:txBody>
          <a:bodyPr/>
          <a:lstStyle/>
          <a:p>
            <a:r>
              <a:rPr lang="en-US" dirty="0"/>
              <a:t>Inclusion:</a:t>
            </a:r>
          </a:p>
          <a:p>
            <a:pPr lvl="1"/>
            <a:r>
              <a:rPr lang="en-US" dirty="0"/>
              <a:t>A use case may include another use case (for necessary, shared behavior)</a:t>
            </a:r>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48</a:t>
            </a:fld>
            <a:endParaRPr lang="en-US"/>
          </a:p>
        </p:txBody>
      </p:sp>
      <p:grpSp>
        <p:nvGrpSpPr>
          <p:cNvPr id="10" name="Group 9">
            <a:extLst>
              <a:ext uri="{FF2B5EF4-FFF2-40B4-BE49-F238E27FC236}">
                <a16:creationId xmlns:a16="http://schemas.microsoft.com/office/drawing/2014/main" id="{D720CA56-C131-C4BB-B63D-B492D5F26F47}"/>
              </a:ext>
            </a:extLst>
          </p:cNvPr>
          <p:cNvGrpSpPr/>
          <p:nvPr/>
        </p:nvGrpSpPr>
        <p:grpSpPr>
          <a:xfrm>
            <a:off x="2747628" y="3212976"/>
            <a:ext cx="6696744" cy="3024336"/>
            <a:chOff x="3215680" y="3356992"/>
            <a:chExt cx="6696744" cy="3024336"/>
          </a:xfrm>
        </p:grpSpPr>
        <p:sp>
          <p:nvSpPr>
            <p:cNvPr id="5" name="Oval 4"/>
            <p:cNvSpPr/>
            <p:nvPr/>
          </p:nvSpPr>
          <p:spPr>
            <a:xfrm>
              <a:off x="3215680" y="3356992"/>
              <a:ext cx="2520280"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latin typeface="Verdana"/>
                  <a:cs typeface="Verdana"/>
                </a:rPr>
                <a:t>Pay Bill Online</a:t>
              </a:r>
            </a:p>
          </p:txBody>
        </p:sp>
        <p:sp>
          <p:nvSpPr>
            <p:cNvPr id="6" name="Oval 5"/>
            <p:cNvSpPr/>
            <p:nvPr/>
          </p:nvSpPr>
          <p:spPr>
            <a:xfrm>
              <a:off x="3215680" y="5373216"/>
              <a:ext cx="2520280"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000000"/>
                  </a:solidFill>
                  <a:latin typeface="Verdana"/>
                  <a:cs typeface="Verdana"/>
                </a:rPr>
                <a:t>Get Balance</a:t>
              </a:r>
              <a:br>
                <a:rPr lang="en-US" dirty="0">
                  <a:solidFill>
                    <a:srgbClr val="000000"/>
                  </a:solidFill>
                  <a:latin typeface="Verdana"/>
                  <a:cs typeface="Verdana"/>
                </a:rPr>
              </a:br>
              <a:r>
                <a:rPr lang="en-US" dirty="0">
                  <a:solidFill>
                    <a:srgbClr val="000000"/>
                  </a:solidFill>
                  <a:latin typeface="Verdana"/>
                  <a:cs typeface="Verdana"/>
                </a:rPr>
                <a:t>Online</a:t>
              </a:r>
            </a:p>
          </p:txBody>
        </p:sp>
        <p:grpSp>
          <p:nvGrpSpPr>
            <p:cNvPr id="8" name="Group 7"/>
            <p:cNvGrpSpPr/>
            <p:nvPr/>
          </p:nvGrpSpPr>
          <p:grpSpPr>
            <a:xfrm>
              <a:off x="5735960" y="3645024"/>
              <a:ext cx="4176464" cy="2232248"/>
              <a:chOff x="4211960" y="3645024"/>
              <a:chExt cx="4176464" cy="2232248"/>
            </a:xfrm>
          </p:grpSpPr>
          <p:sp>
            <p:nvSpPr>
              <p:cNvPr id="7" name="Oval 6"/>
              <p:cNvSpPr/>
              <p:nvPr/>
            </p:nvSpPr>
            <p:spPr>
              <a:xfrm>
                <a:off x="5868144" y="4365104"/>
                <a:ext cx="2520280"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Login</a:t>
                </a:r>
              </a:p>
            </p:txBody>
          </p:sp>
          <p:cxnSp>
            <p:nvCxnSpPr>
              <p:cNvPr id="9" name="Straight Arrow Connector 8"/>
              <p:cNvCxnSpPr>
                <a:stCxn id="5" idx="6"/>
                <a:endCxn id="7" idx="1"/>
              </p:cNvCxnSpPr>
              <p:nvPr/>
            </p:nvCxnSpPr>
            <p:spPr>
              <a:xfrm>
                <a:off x="4211960" y="3861048"/>
                <a:ext cx="2025270" cy="651691"/>
              </a:xfrm>
              <a:prstGeom prst="straightConnector1">
                <a:avLst/>
              </a:prstGeom>
              <a:ln w="28575" cmpd="sng">
                <a:prstDash val="dash"/>
                <a:tailEnd type="arrow"/>
              </a:ln>
            </p:spPr>
            <p:style>
              <a:lnRef idx="1">
                <a:schemeClr val="dk1"/>
              </a:lnRef>
              <a:fillRef idx="0">
                <a:schemeClr val="dk1"/>
              </a:fillRef>
              <a:effectRef idx="0">
                <a:schemeClr val="dk1"/>
              </a:effectRef>
              <a:fontRef idx="minor">
                <a:schemeClr val="tx1"/>
              </a:fontRef>
            </p:style>
          </p:cxnSp>
          <p:cxnSp>
            <p:nvCxnSpPr>
              <p:cNvPr id="11" name="Straight Arrow Connector 10"/>
              <p:cNvCxnSpPr>
                <a:stCxn id="6" idx="6"/>
                <a:endCxn id="7" idx="3"/>
              </p:cNvCxnSpPr>
              <p:nvPr/>
            </p:nvCxnSpPr>
            <p:spPr>
              <a:xfrm flipV="1">
                <a:off x="4211960" y="5225581"/>
                <a:ext cx="2025270" cy="651691"/>
              </a:xfrm>
              <a:prstGeom prst="straightConnector1">
                <a:avLst/>
              </a:prstGeom>
              <a:ln w="28575" cmpd="sng">
                <a:prstDash val="dash"/>
                <a:tailEnd type="arrow"/>
              </a:ln>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4572000" y="3645024"/>
                <a:ext cx="1119217" cy="369332"/>
              </a:xfrm>
              <a:prstGeom prst="rect">
                <a:avLst/>
              </a:prstGeom>
              <a:noFill/>
            </p:spPr>
            <p:txBody>
              <a:bodyPr wrap="none" rtlCol="0">
                <a:spAutoFit/>
              </a:bodyPr>
              <a:lstStyle/>
              <a:p>
                <a:r>
                  <a:rPr lang="en-US" dirty="0"/>
                  <a:t>«include»</a:t>
                </a:r>
              </a:p>
            </p:txBody>
          </p:sp>
          <p:sp>
            <p:nvSpPr>
              <p:cNvPr id="14" name="TextBox 13"/>
              <p:cNvSpPr txBox="1"/>
              <p:nvPr/>
            </p:nvSpPr>
            <p:spPr>
              <a:xfrm>
                <a:off x="4572000" y="5003884"/>
                <a:ext cx="1119217" cy="369332"/>
              </a:xfrm>
              <a:prstGeom prst="rect">
                <a:avLst/>
              </a:prstGeom>
              <a:noFill/>
            </p:spPr>
            <p:txBody>
              <a:bodyPr wrap="none" rtlCol="0">
                <a:spAutoFit/>
              </a:bodyPr>
              <a:lstStyle/>
              <a:p>
                <a:r>
                  <a:rPr lang="en-US" dirty="0"/>
                  <a:t>«include»</a:t>
                </a:r>
              </a:p>
            </p:txBody>
          </p:sp>
        </p:grpSp>
      </p:grpSp>
    </p:spTree>
    <p:extLst>
      <p:ext uri="{BB962C8B-B14F-4D97-AF65-F5344CB8AC3E}">
        <p14:creationId xmlns:p14="http://schemas.microsoft.com/office/powerpoint/2010/main" val="988504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Relate Use Cases</a:t>
            </a:r>
          </a:p>
        </p:txBody>
      </p:sp>
      <p:sp>
        <p:nvSpPr>
          <p:cNvPr id="3" name="Content Placeholder 2"/>
          <p:cNvSpPr>
            <a:spLocks noGrp="1"/>
          </p:cNvSpPr>
          <p:nvPr>
            <p:ph idx="1"/>
          </p:nvPr>
        </p:nvSpPr>
        <p:spPr/>
        <p:txBody>
          <a:bodyPr/>
          <a:lstStyle/>
          <a:p>
            <a:r>
              <a:rPr lang="en-US" dirty="0"/>
              <a:t>Extension:</a:t>
            </a:r>
          </a:p>
          <a:p>
            <a:pPr lvl="1"/>
            <a:r>
              <a:rPr lang="en-US" dirty="0"/>
              <a:t>A use case may be extended by another use case (for optional or exceptional behavior)</a:t>
            </a:r>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49</a:t>
            </a:fld>
            <a:endParaRPr lang="en-US"/>
          </a:p>
        </p:txBody>
      </p:sp>
      <p:grpSp>
        <p:nvGrpSpPr>
          <p:cNvPr id="8" name="Group 7">
            <a:extLst>
              <a:ext uri="{FF2B5EF4-FFF2-40B4-BE49-F238E27FC236}">
                <a16:creationId xmlns:a16="http://schemas.microsoft.com/office/drawing/2014/main" id="{9DCBAE30-ADF9-20DD-27FB-5D2B8B5C9F5F}"/>
              </a:ext>
            </a:extLst>
          </p:cNvPr>
          <p:cNvGrpSpPr/>
          <p:nvPr/>
        </p:nvGrpSpPr>
        <p:grpSpPr>
          <a:xfrm>
            <a:off x="2747628" y="3861048"/>
            <a:ext cx="6696744" cy="2016224"/>
            <a:chOff x="3215680" y="3284984"/>
            <a:chExt cx="6696744" cy="2016224"/>
          </a:xfrm>
        </p:grpSpPr>
        <p:sp>
          <p:nvSpPr>
            <p:cNvPr id="6" name="Oval 5"/>
            <p:cNvSpPr/>
            <p:nvPr/>
          </p:nvSpPr>
          <p:spPr>
            <a:xfrm>
              <a:off x="3215680" y="4293096"/>
              <a:ext cx="2520280"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latin typeface="Verdana"/>
                  <a:cs typeface="Verdana"/>
                </a:rPr>
                <a:t>Login</a:t>
              </a:r>
            </a:p>
          </p:txBody>
        </p:sp>
        <p:grpSp>
          <p:nvGrpSpPr>
            <p:cNvPr id="5" name="Group 4"/>
            <p:cNvGrpSpPr/>
            <p:nvPr/>
          </p:nvGrpSpPr>
          <p:grpSpPr>
            <a:xfrm>
              <a:off x="5366874" y="3284984"/>
              <a:ext cx="4545550" cy="1233428"/>
              <a:chOff x="3842874" y="3284984"/>
              <a:chExt cx="4545550" cy="1233428"/>
            </a:xfrm>
          </p:grpSpPr>
          <p:sp>
            <p:nvSpPr>
              <p:cNvPr id="7" name="Oval 6"/>
              <p:cNvSpPr/>
              <p:nvPr/>
            </p:nvSpPr>
            <p:spPr>
              <a:xfrm>
                <a:off x="5868144" y="3284984"/>
                <a:ext cx="2520280"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Reset Password</a:t>
                </a:r>
              </a:p>
            </p:txBody>
          </p:sp>
          <p:cxnSp>
            <p:nvCxnSpPr>
              <p:cNvPr id="11" name="Straight Arrow Connector 10"/>
              <p:cNvCxnSpPr>
                <a:stCxn id="6" idx="7"/>
                <a:endCxn id="7" idx="2"/>
              </p:cNvCxnSpPr>
              <p:nvPr/>
            </p:nvCxnSpPr>
            <p:spPr>
              <a:xfrm flipV="1">
                <a:off x="3842874" y="3789040"/>
                <a:ext cx="2025270" cy="651691"/>
              </a:xfrm>
              <a:prstGeom prst="straightConnector1">
                <a:avLst/>
              </a:prstGeom>
              <a:ln w="28575" cmpd="sng">
                <a:prstDash val="dash"/>
                <a:headEnd type="arrow"/>
                <a:tailEnd type="none"/>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4355976" y="4149080"/>
                <a:ext cx="1050480" cy="369332"/>
              </a:xfrm>
              <a:prstGeom prst="rect">
                <a:avLst/>
              </a:prstGeom>
              <a:noFill/>
            </p:spPr>
            <p:txBody>
              <a:bodyPr wrap="none" rtlCol="0">
                <a:spAutoFit/>
              </a:bodyPr>
              <a:lstStyle/>
              <a:p>
                <a:r>
                  <a:rPr lang="en-US" dirty="0"/>
                  <a:t>«extend»</a:t>
                </a:r>
              </a:p>
            </p:txBody>
          </p:sp>
        </p:grpSp>
      </p:grpSp>
    </p:spTree>
    <p:extLst>
      <p:ext uri="{BB962C8B-B14F-4D97-AF65-F5344CB8AC3E}">
        <p14:creationId xmlns:p14="http://schemas.microsoft.com/office/powerpoint/2010/main" val="30149654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Relate Use Cases</a:t>
            </a:r>
          </a:p>
        </p:txBody>
      </p:sp>
      <p:sp>
        <p:nvSpPr>
          <p:cNvPr id="3" name="Content Placeholder 2"/>
          <p:cNvSpPr>
            <a:spLocks noGrp="1"/>
          </p:cNvSpPr>
          <p:nvPr>
            <p:ph idx="1"/>
          </p:nvPr>
        </p:nvSpPr>
        <p:spPr/>
        <p:txBody>
          <a:bodyPr/>
          <a:lstStyle/>
          <a:p>
            <a:r>
              <a:rPr lang="en-US" dirty="0"/>
              <a:t>Use case generalization:</a:t>
            </a:r>
          </a:p>
          <a:p>
            <a:pPr lvl="1"/>
            <a:r>
              <a:rPr lang="en-US" dirty="0"/>
              <a:t>A use case may be a specialization of a more general use case</a:t>
            </a:r>
          </a:p>
          <a:p>
            <a:pPr lvl="1"/>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50</a:t>
            </a:fld>
            <a:endParaRPr lang="en-US"/>
          </a:p>
        </p:txBody>
      </p:sp>
      <p:grpSp>
        <p:nvGrpSpPr>
          <p:cNvPr id="8" name="Group 7">
            <a:extLst>
              <a:ext uri="{FF2B5EF4-FFF2-40B4-BE49-F238E27FC236}">
                <a16:creationId xmlns:a16="http://schemas.microsoft.com/office/drawing/2014/main" id="{D8226DF6-C5EE-54B4-5869-37E44C18D44A}"/>
              </a:ext>
            </a:extLst>
          </p:cNvPr>
          <p:cNvGrpSpPr/>
          <p:nvPr/>
        </p:nvGrpSpPr>
        <p:grpSpPr>
          <a:xfrm>
            <a:off x="2999656" y="3140968"/>
            <a:ext cx="6192688" cy="3168352"/>
            <a:chOff x="3503712" y="3356992"/>
            <a:chExt cx="6192688" cy="3168352"/>
          </a:xfrm>
        </p:grpSpPr>
        <p:sp>
          <p:nvSpPr>
            <p:cNvPr id="7" name="Oval 6"/>
            <p:cNvSpPr/>
            <p:nvPr/>
          </p:nvSpPr>
          <p:spPr>
            <a:xfrm>
              <a:off x="3503712" y="5517232"/>
              <a:ext cx="2520280"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Make Deposit</a:t>
              </a:r>
            </a:p>
          </p:txBody>
        </p:sp>
        <p:sp>
          <p:nvSpPr>
            <p:cNvPr id="15" name="Oval 14"/>
            <p:cNvSpPr/>
            <p:nvPr/>
          </p:nvSpPr>
          <p:spPr>
            <a:xfrm>
              <a:off x="7176120" y="5517232"/>
              <a:ext cx="2520280"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Make Withdrawal</a:t>
              </a:r>
            </a:p>
          </p:txBody>
        </p:sp>
        <p:grpSp>
          <p:nvGrpSpPr>
            <p:cNvPr id="5" name="Group 4"/>
            <p:cNvGrpSpPr/>
            <p:nvPr/>
          </p:nvGrpSpPr>
          <p:grpSpPr>
            <a:xfrm>
              <a:off x="4763852" y="3356992"/>
              <a:ext cx="3672408" cy="2160240"/>
              <a:chOff x="3239852" y="3356992"/>
              <a:chExt cx="3672408" cy="2160240"/>
            </a:xfrm>
          </p:grpSpPr>
          <p:sp>
            <p:nvSpPr>
              <p:cNvPr id="6" name="Oval 5"/>
              <p:cNvSpPr/>
              <p:nvPr/>
            </p:nvSpPr>
            <p:spPr>
              <a:xfrm>
                <a:off x="3779912" y="3356992"/>
                <a:ext cx="2592288"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latin typeface="Verdana"/>
                    <a:cs typeface="Verdana"/>
                  </a:rPr>
                  <a:t>Do ATM</a:t>
                </a:r>
                <a:br>
                  <a:rPr lang="en-US" dirty="0">
                    <a:solidFill>
                      <a:schemeClr val="tx1"/>
                    </a:solidFill>
                    <a:latin typeface="Verdana"/>
                    <a:cs typeface="Verdana"/>
                  </a:rPr>
                </a:br>
                <a:r>
                  <a:rPr lang="en-US" dirty="0">
                    <a:solidFill>
                      <a:schemeClr val="tx1"/>
                    </a:solidFill>
                    <a:latin typeface="Verdana"/>
                    <a:cs typeface="Verdana"/>
                  </a:rPr>
                  <a:t>Transaction</a:t>
                </a:r>
              </a:p>
            </p:txBody>
          </p:sp>
          <p:cxnSp>
            <p:nvCxnSpPr>
              <p:cNvPr id="11" name="Straight Arrow Connector 10"/>
              <p:cNvCxnSpPr>
                <a:stCxn id="17" idx="3"/>
                <a:endCxn id="15" idx="0"/>
              </p:cNvCxnSpPr>
              <p:nvPr/>
            </p:nvCxnSpPr>
            <p:spPr>
              <a:xfrm>
                <a:off x="5923358" y="4501828"/>
                <a:ext cx="988902" cy="1015404"/>
              </a:xfrm>
              <a:prstGeom prst="straightConnector1">
                <a:avLst/>
              </a:prstGeom>
              <a:ln w="28575" cmpd="sng">
                <a:headEnd type="none"/>
                <a:tailEnd type="none"/>
              </a:ln>
            </p:spPr>
            <p:style>
              <a:lnRef idx="1">
                <a:schemeClr val="dk1"/>
              </a:lnRef>
              <a:fillRef idx="0">
                <a:schemeClr val="dk1"/>
              </a:fillRef>
              <a:effectRef idx="0">
                <a:schemeClr val="dk1"/>
              </a:effectRef>
              <a:fontRef idx="minor">
                <a:schemeClr val="tx1"/>
              </a:fontRef>
            </p:style>
          </p:cxnSp>
          <p:sp>
            <p:nvSpPr>
              <p:cNvPr id="16" name="Isosceles Triangle 15"/>
              <p:cNvSpPr/>
              <p:nvPr/>
            </p:nvSpPr>
            <p:spPr>
              <a:xfrm rot="2160000">
                <a:off x="4139952" y="4221088"/>
                <a:ext cx="360040" cy="310379"/>
              </a:xfrm>
              <a:prstGeom prst="triangl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Isosceles Triangle 16"/>
              <p:cNvSpPr/>
              <p:nvPr/>
            </p:nvSpPr>
            <p:spPr>
              <a:xfrm rot="19440000">
                <a:off x="5652120" y="4221088"/>
                <a:ext cx="360040" cy="310379"/>
              </a:xfrm>
              <a:prstGeom prst="triangl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2" name="Straight Arrow Connector 21"/>
              <p:cNvCxnSpPr>
                <a:stCxn id="16" idx="3"/>
                <a:endCxn id="7" idx="0"/>
              </p:cNvCxnSpPr>
              <p:nvPr/>
            </p:nvCxnSpPr>
            <p:spPr>
              <a:xfrm flipH="1">
                <a:off x="3239852" y="4501828"/>
                <a:ext cx="988902" cy="1015404"/>
              </a:xfrm>
              <a:prstGeom prst="straightConnector1">
                <a:avLst/>
              </a:prstGeom>
              <a:ln w="28575" cmpd="sng">
                <a:headEnd type="none"/>
                <a:tailEnd type="none"/>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35123926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Augmenting Requirements</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2EE417E5-0010-4646-B9AC-DCAE8E418669}" type="slidenum">
              <a:rPr lang="en-US" smtClean="0"/>
              <a:pPr/>
              <a:t>51</a:t>
            </a:fld>
            <a:endParaRPr lang="en-US"/>
          </a:p>
        </p:txBody>
      </p:sp>
    </p:spTree>
    <p:extLst>
      <p:ext uri="{BB962C8B-B14F-4D97-AF65-F5344CB8AC3E}">
        <p14:creationId xmlns:p14="http://schemas.microsoft.com/office/powerpoint/2010/main" val="13683558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Augmenting Requirements</a:t>
            </a:r>
          </a:p>
        </p:txBody>
      </p:sp>
      <p:sp>
        <p:nvSpPr>
          <p:cNvPr id="4" name="Slide Number Placeholder 3"/>
          <p:cNvSpPr>
            <a:spLocks noGrp="1"/>
          </p:cNvSpPr>
          <p:nvPr>
            <p:ph type="sldNum" sz="quarter" idx="12"/>
          </p:nvPr>
        </p:nvSpPr>
        <p:spPr/>
        <p:txBody>
          <a:bodyPr/>
          <a:lstStyle/>
          <a:p>
            <a:fld id="{CADD82E7-7C10-744D-AD9E-31500693C936}" type="slidenum">
              <a:rPr lang="en-US" smtClean="0"/>
              <a:pPr/>
              <a:t>52</a:t>
            </a:fld>
            <a:endParaRPr lang="en-US"/>
          </a:p>
        </p:txBody>
      </p:sp>
      <p:grpSp>
        <p:nvGrpSpPr>
          <p:cNvPr id="6" name="Group 5">
            <a:extLst>
              <a:ext uri="{FF2B5EF4-FFF2-40B4-BE49-F238E27FC236}">
                <a16:creationId xmlns:a16="http://schemas.microsoft.com/office/drawing/2014/main" id="{33102B1B-ED9D-07E9-0949-A3C4121C0AF2}"/>
              </a:ext>
            </a:extLst>
          </p:cNvPr>
          <p:cNvGrpSpPr/>
          <p:nvPr/>
        </p:nvGrpSpPr>
        <p:grpSpPr>
          <a:xfrm>
            <a:off x="2117094" y="4653136"/>
            <a:ext cx="7957812" cy="1800200"/>
            <a:chOff x="1703512" y="4653136"/>
            <a:chExt cx="7957812" cy="1800200"/>
          </a:xfrm>
        </p:grpSpPr>
        <p:grpSp>
          <p:nvGrpSpPr>
            <p:cNvPr id="27" name="Group 26"/>
            <p:cNvGrpSpPr/>
            <p:nvPr/>
          </p:nvGrpSpPr>
          <p:grpSpPr>
            <a:xfrm>
              <a:off x="1703512" y="4653136"/>
              <a:ext cx="4680520" cy="1800200"/>
              <a:chOff x="179512" y="4653136"/>
              <a:chExt cx="4680520" cy="1800200"/>
            </a:xfrm>
          </p:grpSpPr>
          <p:sp>
            <p:nvSpPr>
              <p:cNvPr id="7" name="Rounded Rectangle 6"/>
              <p:cNvSpPr/>
              <p:nvPr/>
            </p:nvSpPr>
            <p:spPr>
              <a:xfrm>
                <a:off x="827584" y="5301208"/>
                <a:ext cx="1152128" cy="504056"/>
              </a:xfrm>
              <a:prstGeom prst="roundRect">
                <a:avLst>
                  <a:gd name="adj" fmla="val 50000"/>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Verdana"/>
                    <a:cs typeface="Verdana"/>
                  </a:rPr>
                  <a:t>letter</a:t>
                </a:r>
              </a:p>
            </p:txBody>
          </p:sp>
          <p:sp>
            <p:nvSpPr>
              <p:cNvPr id="8" name="Rounded Rectangle 7"/>
              <p:cNvSpPr/>
              <p:nvPr/>
            </p:nvSpPr>
            <p:spPr>
              <a:xfrm>
                <a:off x="2699792" y="4725144"/>
                <a:ext cx="1152128" cy="504056"/>
              </a:xfrm>
              <a:prstGeom prst="roundRect">
                <a:avLst>
                  <a:gd name="adj" fmla="val 50000"/>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Verdana"/>
                    <a:cs typeface="Verdana"/>
                  </a:rPr>
                  <a:t>letter</a:t>
                </a:r>
              </a:p>
            </p:txBody>
          </p:sp>
          <p:sp>
            <p:nvSpPr>
              <p:cNvPr id="9" name="Rounded Rectangle 8"/>
              <p:cNvSpPr/>
              <p:nvPr/>
            </p:nvSpPr>
            <p:spPr>
              <a:xfrm>
                <a:off x="2699792" y="5949280"/>
                <a:ext cx="1152128" cy="504056"/>
              </a:xfrm>
              <a:prstGeom prst="roundRect">
                <a:avLst>
                  <a:gd name="adj" fmla="val 50000"/>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latin typeface="Verdana"/>
                    <a:cs typeface="Verdana"/>
                  </a:rPr>
                  <a:t>digit</a:t>
                </a:r>
              </a:p>
            </p:txBody>
          </p:sp>
          <p:sp>
            <p:nvSpPr>
              <p:cNvPr id="10" name="TextBox 9"/>
              <p:cNvSpPr txBox="1"/>
              <p:nvPr/>
            </p:nvSpPr>
            <p:spPr>
              <a:xfrm>
                <a:off x="755576" y="4653136"/>
                <a:ext cx="1069524" cy="369332"/>
              </a:xfrm>
              <a:prstGeom prst="rect">
                <a:avLst/>
              </a:prstGeom>
              <a:noFill/>
            </p:spPr>
            <p:txBody>
              <a:bodyPr wrap="none" rtlCol="0">
                <a:spAutoFit/>
              </a:bodyPr>
              <a:lstStyle/>
              <a:p>
                <a:r>
                  <a:rPr lang="en-US" dirty="0"/>
                  <a:t>identifier</a:t>
                </a:r>
              </a:p>
            </p:txBody>
          </p:sp>
          <p:cxnSp>
            <p:nvCxnSpPr>
              <p:cNvPr id="17" name="Straight Arrow Connector 16"/>
              <p:cNvCxnSpPr/>
              <p:nvPr/>
            </p:nvCxnSpPr>
            <p:spPr>
              <a:xfrm>
                <a:off x="179512" y="5589240"/>
                <a:ext cx="648072" cy="0"/>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1979712" y="5589240"/>
                <a:ext cx="2880320" cy="0"/>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cxnSp>
            <p:nvCxnSpPr>
              <p:cNvPr id="22" name="Curved Connector 21"/>
              <p:cNvCxnSpPr>
                <a:stCxn id="8" idx="1"/>
              </p:cNvCxnSpPr>
              <p:nvPr/>
            </p:nvCxnSpPr>
            <p:spPr>
              <a:xfrm rot="10800000" flipV="1">
                <a:off x="2195736" y="4977172"/>
                <a:ext cx="504056" cy="612068"/>
              </a:xfrm>
              <a:prstGeom prst="curvedConnector2">
                <a:avLst/>
              </a:prstGeom>
              <a:ln w="28575" cmpd="sng">
                <a:headEnd type="none"/>
                <a:tailEnd type="arrow"/>
              </a:ln>
            </p:spPr>
            <p:style>
              <a:lnRef idx="1">
                <a:schemeClr val="dk1"/>
              </a:lnRef>
              <a:fillRef idx="0">
                <a:schemeClr val="dk1"/>
              </a:fillRef>
              <a:effectRef idx="0">
                <a:schemeClr val="dk1"/>
              </a:effectRef>
              <a:fontRef idx="minor">
                <a:schemeClr val="tx1"/>
              </a:fontRef>
            </p:style>
          </p:cxnSp>
          <p:cxnSp>
            <p:nvCxnSpPr>
              <p:cNvPr id="23" name="Curved Connector 22"/>
              <p:cNvCxnSpPr/>
              <p:nvPr/>
            </p:nvCxnSpPr>
            <p:spPr>
              <a:xfrm rot="10800000">
                <a:off x="2195736" y="5589240"/>
                <a:ext cx="504056" cy="612068"/>
              </a:xfrm>
              <a:prstGeom prst="curvedConnector2">
                <a:avLst/>
              </a:prstGeom>
              <a:ln w="28575" cmpd="sng">
                <a:headEnd type="none"/>
                <a:tailEnd type="arrow"/>
              </a:ln>
            </p:spPr>
            <p:style>
              <a:lnRef idx="1">
                <a:schemeClr val="dk1"/>
              </a:lnRef>
              <a:fillRef idx="0">
                <a:schemeClr val="dk1"/>
              </a:fillRef>
              <a:effectRef idx="0">
                <a:schemeClr val="dk1"/>
              </a:effectRef>
              <a:fontRef idx="minor">
                <a:schemeClr val="tx1"/>
              </a:fontRef>
            </p:style>
          </p:cxnSp>
          <p:cxnSp>
            <p:nvCxnSpPr>
              <p:cNvPr id="24" name="Curved Connector 23"/>
              <p:cNvCxnSpPr/>
              <p:nvPr/>
            </p:nvCxnSpPr>
            <p:spPr>
              <a:xfrm rot="10800000" flipH="1" flipV="1">
                <a:off x="3851920" y="5013176"/>
                <a:ext cx="504056" cy="612068"/>
              </a:xfrm>
              <a:prstGeom prst="curvedConnector2">
                <a:avLst/>
              </a:prstGeom>
              <a:ln w="28575" cmpd="sng">
                <a:headEnd type="arrow"/>
                <a:tailEnd type="none"/>
              </a:ln>
            </p:spPr>
            <p:style>
              <a:lnRef idx="1">
                <a:schemeClr val="dk1"/>
              </a:lnRef>
              <a:fillRef idx="0">
                <a:schemeClr val="dk1"/>
              </a:fillRef>
              <a:effectRef idx="0">
                <a:schemeClr val="dk1"/>
              </a:effectRef>
              <a:fontRef idx="minor">
                <a:schemeClr val="tx1"/>
              </a:fontRef>
            </p:style>
          </p:cxnSp>
          <p:cxnSp>
            <p:nvCxnSpPr>
              <p:cNvPr id="25" name="Curved Connector 24"/>
              <p:cNvCxnSpPr/>
              <p:nvPr/>
            </p:nvCxnSpPr>
            <p:spPr>
              <a:xfrm rot="10800000" flipH="1">
                <a:off x="3851920" y="5589240"/>
                <a:ext cx="504056" cy="612068"/>
              </a:xfrm>
              <a:prstGeom prst="curvedConnector2">
                <a:avLst/>
              </a:prstGeom>
              <a:ln w="28575" cmpd="sng">
                <a:headEnd type="arrow"/>
                <a:tailEnd type="none"/>
              </a:ln>
            </p:spPr>
            <p:style>
              <a:lnRef idx="1">
                <a:schemeClr val="dk1"/>
              </a:lnRef>
              <a:fillRef idx="0">
                <a:schemeClr val="dk1"/>
              </a:fillRef>
              <a:effectRef idx="0">
                <a:schemeClr val="dk1"/>
              </a:effectRef>
              <a:fontRef idx="minor">
                <a:schemeClr val="tx1"/>
              </a:fontRef>
            </p:style>
          </p:cxnSp>
        </p:grpSp>
        <p:sp>
          <p:nvSpPr>
            <p:cNvPr id="26" name="TextBox 25"/>
            <p:cNvSpPr txBox="1"/>
            <p:nvPr/>
          </p:nvSpPr>
          <p:spPr>
            <a:xfrm>
              <a:off x="5897858" y="4725145"/>
              <a:ext cx="3763466" cy="646331"/>
            </a:xfrm>
            <a:prstGeom prst="rect">
              <a:avLst/>
            </a:prstGeom>
            <a:noFill/>
          </p:spPr>
          <p:txBody>
            <a:bodyPr wrap="none" rtlCol="0">
              <a:spAutoFit/>
            </a:bodyPr>
            <a:lstStyle/>
            <a:p>
              <a:r>
                <a:rPr lang="en-US" dirty="0"/>
                <a:t>&lt;identifier&gt; ::=</a:t>
              </a:r>
              <a:br>
                <a:rPr lang="en-US" dirty="0"/>
              </a:br>
              <a:r>
                <a:rPr lang="en-US" dirty="0"/>
                <a:t>	&lt;letter&gt; { &lt;letter&gt; | &lt;digit&gt; }</a:t>
              </a:r>
            </a:p>
          </p:txBody>
        </p:sp>
      </p:grpSp>
      <p:sp>
        <p:nvSpPr>
          <p:cNvPr id="5" name="Content Placeholder 2">
            <a:extLst>
              <a:ext uri="{FF2B5EF4-FFF2-40B4-BE49-F238E27FC236}">
                <a16:creationId xmlns:a16="http://schemas.microsoft.com/office/drawing/2014/main" id="{1680E312-74DB-C7E7-D782-AEA401C7E4E8}"/>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Can add other descriptions, for example:</a:t>
            </a:r>
          </a:p>
          <a:p>
            <a:pPr lvl="1"/>
            <a:r>
              <a:rPr lang="en-US" dirty="0"/>
              <a:t>Use cases to user stories</a:t>
            </a:r>
          </a:p>
          <a:p>
            <a:pPr lvl="1"/>
            <a:r>
              <a:rPr lang="en-US" dirty="0"/>
              <a:t>Data schemas</a:t>
            </a:r>
          </a:p>
          <a:p>
            <a:pPr lvl="1"/>
            <a:r>
              <a:rPr lang="en-US" dirty="0"/>
              <a:t>Sample input and output</a:t>
            </a:r>
          </a:p>
          <a:p>
            <a:pPr lvl="1"/>
            <a:r>
              <a:rPr lang="en-US" dirty="0"/>
              <a:t>User interface mockups and storyboards</a:t>
            </a:r>
          </a:p>
          <a:p>
            <a:pPr lvl="1"/>
            <a:r>
              <a:rPr lang="en-US" dirty="0"/>
              <a:t>Grammars (language syntactic/lexical structure)</a:t>
            </a:r>
          </a:p>
        </p:txBody>
      </p:sp>
    </p:spTree>
    <p:extLst>
      <p:ext uri="{BB962C8B-B14F-4D97-AF65-F5344CB8AC3E}">
        <p14:creationId xmlns:p14="http://schemas.microsoft.com/office/powerpoint/2010/main" val="37144037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Models</a:t>
            </a:r>
          </a:p>
        </p:txBody>
      </p:sp>
      <p:sp>
        <p:nvSpPr>
          <p:cNvPr id="3" name="Content Placeholder 2"/>
          <p:cNvSpPr>
            <a:spLocks noGrp="1"/>
          </p:cNvSpPr>
          <p:nvPr>
            <p:ph idx="1"/>
          </p:nvPr>
        </p:nvSpPr>
        <p:spPr/>
        <p:txBody>
          <a:bodyPr/>
          <a:lstStyle/>
          <a:p>
            <a:r>
              <a:rPr lang="en-US" dirty="0"/>
              <a:t>Modeling behavior:</a:t>
            </a:r>
          </a:p>
          <a:p>
            <a:pPr lvl="1"/>
            <a:r>
              <a:rPr lang="en-US" dirty="0"/>
              <a:t>Used in formally modeling the behavior of a specific object in response to external events</a:t>
            </a:r>
          </a:p>
        </p:txBody>
      </p:sp>
      <p:sp>
        <p:nvSpPr>
          <p:cNvPr id="4" name="Slide Number Placeholder 3"/>
          <p:cNvSpPr>
            <a:spLocks noGrp="1"/>
          </p:cNvSpPr>
          <p:nvPr>
            <p:ph type="sldNum" sz="quarter" idx="12"/>
          </p:nvPr>
        </p:nvSpPr>
        <p:spPr/>
        <p:txBody>
          <a:bodyPr/>
          <a:lstStyle/>
          <a:p>
            <a:fld id="{CADD82E7-7C10-744D-AD9E-31500693C936}" type="slidenum">
              <a:rPr lang="en-US" smtClean="0"/>
              <a:pPr/>
              <a:t>53</a:t>
            </a:fld>
            <a:endParaRPr lang="en-US"/>
          </a:p>
        </p:txBody>
      </p:sp>
    </p:spTree>
    <p:extLst>
      <p:ext uri="{BB962C8B-B14F-4D97-AF65-F5344CB8AC3E}">
        <p14:creationId xmlns:p14="http://schemas.microsoft.com/office/powerpoint/2010/main" val="951987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State Diagram</a:t>
            </a:r>
          </a:p>
        </p:txBody>
      </p:sp>
      <p:sp>
        <p:nvSpPr>
          <p:cNvPr id="3" name="Content Placeholder 2"/>
          <p:cNvSpPr>
            <a:spLocks noGrp="1"/>
          </p:cNvSpPr>
          <p:nvPr>
            <p:ph idx="1"/>
          </p:nvPr>
        </p:nvSpPr>
        <p:spPr/>
        <p:txBody>
          <a:bodyPr/>
          <a:lstStyle/>
          <a:p>
            <a:r>
              <a:rPr lang="en-US" dirty="0"/>
              <a:t>Modeling behavior:</a:t>
            </a:r>
          </a:p>
          <a:p>
            <a:pPr lvl="1"/>
            <a:r>
              <a:rPr lang="en-US" i="1" dirty="0"/>
              <a:t>States</a:t>
            </a:r>
            <a:r>
              <a:rPr lang="en-US" dirty="0"/>
              <a:t> in which something can be in</a:t>
            </a:r>
          </a:p>
          <a:p>
            <a:pPr lvl="2"/>
            <a:r>
              <a:rPr lang="en-US" dirty="0"/>
              <a:t>A situation represented by attribute values</a:t>
            </a:r>
          </a:p>
          <a:p>
            <a:pPr lvl="1"/>
            <a:r>
              <a:rPr lang="en-US" dirty="0"/>
              <a:t>Directed </a:t>
            </a:r>
            <a:r>
              <a:rPr lang="en-US" i="1" dirty="0"/>
              <a:t>transitions</a:t>
            </a:r>
            <a:r>
              <a:rPr lang="en-US" dirty="0"/>
              <a:t> between states</a:t>
            </a:r>
          </a:p>
          <a:p>
            <a:pPr lvl="2"/>
            <a:r>
              <a:rPr lang="en-US" dirty="0"/>
              <a:t>Triggered by events, input, time, messages, etc.</a:t>
            </a:r>
          </a:p>
        </p:txBody>
      </p:sp>
      <p:sp>
        <p:nvSpPr>
          <p:cNvPr id="4" name="Slide Number Placeholder 3"/>
          <p:cNvSpPr>
            <a:spLocks noGrp="1"/>
          </p:cNvSpPr>
          <p:nvPr>
            <p:ph type="sldNum" sz="quarter" idx="12"/>
          </p:nvPr>
        </p:nvSpPr>
        <p:spPr/>
        <p:txBody>
          <a:bodyPr/>
          <a:lstStyle/>
          <a:p>
            <a:fld id="{CADD82E7-7C10-744D-AD9E-31500693C936}" type="slidenum">
              <a:rPr lang="en-US" smtClean="0"/>
              <a:pPr/>
              <a:t>54</a:t>
            </a:fld>
            <a:endParaRPr lang="en-US"/>
          </a:p>
        </p:txBody>
      </p:sp>
      <p:grpSp>
        <p:nvGrpSpPr>
          <p:cNvPr id="10" name="Group 9">
            <a:extLst>
              <a:ext uri="{FF2B5EF4-FFF2-40B4-BE49-F238E27FC236}">
                <a16:creationId xmlns:a16="http://schemas.microsoft.com/office/drawing/2014/main" id="{6B336620-99C6-D65C-FBB3-4FE9AEA47572}"/>
              </a:ext>
            </a:extLst>
          </p:cNvPr>
          <p:cNvGrpSpPr/>
          <p:nvPr/>
        </p:nvGrpSpPr>
        <p:grpSpPr>
          <a:xfrm>
            <a:off x="2639617" y="4077072"/>
            <a:ext cx="7024521" cy="2748508"/>
            <a:chOff x="2639617" y="4077072"/>
            <a:chExt cx="7024521" cy="2748508"/>
          </a:xfrm>
        </p:grpSpPr>
        <p:grpSp>
          <p:nvGrpSpPr>
            <p:cNvPr id="26" name="Group 25"/>
            <p:cNvGrpSpPr/>
            <p:nvPr/>
          </p:nvGrpSpPr>
          <p:grpSpPr>
            <a:xfrm>
              <a:off x="2639617" y="4077072"/>
              <a:ext cx="7024521" cy="2748508"/>
              <a:chOff x="1115616" y="4077072"/>
              <a:chExt cx="7024521" cy="2748508"/>
            </a:xfrm>
          </p:grpSpPr>
          <p:sp>
            <p:nvSpPr>
              <p:cNvPr id="5" name="Rounded Rectangle 4"/>
              <p:cNvSpPr/>
              <p:nvPr/>
            </p:nvSpPr>
            <p:spPr>
              <a:xfrm>
                <a:off x="2123727" y="5157192"/>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Off</a:t>
                </a:r>
              </a:p>
            </p:txBody>
          </p:sp>
          <p:sp>
            <p:nvSpPr>
              <p:cNvPr id="6" name="Rounded Rectangle 5"/>
              <p:cNvSpPr/>
              <p:nvPr/>
            </p:nvSpPr>
            <p:spPr>
              <a:xfrm>
                <a:off x="5508103" y="5157192"/>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On</a:t>
                </a:r>
              </a:p>
            </p:txBody>
          </p:sp>
          <p:cxnSp>
            <p:nvCxnSpPr>
              <p:cNvPr id="7" name="Straight Arrow Connector 6"/>
              <p:cNvCxnSpPr/>
              <p:nvPr/>
            </p:nvCxnSpPr>
            <p:spPr>
              <a:xfrm rot="16200000" flipH="1">
                <a:off x="1937727" y="5271184"/>
                <a:ext cx="11960" cy="360040"/>
              </a:xfrm>
              <a:prstGeom prst="straightConnector1">
                <a:avLst/>
              </a:prstGeom>
              <a:ln w="28575" cmpd="sng">
                <a:headEnd type="oval" w="lg" len="lg"/>
                <a:tailEnd type="arrow"/>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1115616" y="5877272"/>
                <a:ext cx="1231427" cy="369332"/>
              </a:xfrm>
              <a:prstGeom prst="rect">
                <a:avLst/>
              </a:prstGeom>
              <a:noFill/>
            </p:spPr>
            <p:txBody>
              <a:bodyPr wrap="none" rtlCol="0">
                <a:spAutoFit/>
              </a:bodyPr>
              <a:lstStyle/>
              <a:p>
                <a:r>
                  <a:rPr lang="en-US" i="1" dirty="0"/>
                  <a:t>Initial state</a:t>
                </a:r>
              </a:p>
            </p:txBody>
          </p:sp>
          <p:sp>
            <p:nvSpPr>
              <p:cNvPr id="9" name="TextBox 8"/>
              <p:cNvSpPr txBox="1"/>
              <p:nvPr/>
            </p:nvSpPr>
            <p:spPr>
              <a:xfrm>
                <a:off x="7452320" y="5877272"/>
                <a:ext cx="687817" cy="369332"/>
              </a:xfrm>
              <a:prstGeom prst="rect">
                <a:avLst/>
              </a:prstGeom>
              <a:noFill/>
            </p:spPr>
            <p:txBody>
              <a:bodyPr wrap="none" rtlCol="0">
                <a:spAutoFit/>
              </a:bodyPr>
              <a:lstStyle/>
              <a:p>
                <a:r>
                  <a:rPr lang="en-US" i="1" dirty="0"/>
                  <a:t>State</a:t>
                </a:r>
              </a:p>
            </p:txBody>
          </p:sp>
          <p:sp>
            <p:nvSpPr>
              <p:cNvPr id="19" name="Freeform 18"/>
              <p:cNvSpPr/>
              <p:nvPr/>
            </p:nvSpPr>
            <p:spPr>
              <a:xfrm flipH="1">
                <a:off x="3308349" y="4491354"/>
                <a:ext cx="2527300" cy="660406"/>
              </a:xfrm>
              <a:custGeom>
                <a:avLst/>
                <a:gdLst>
                  <a:gd name="connsiteX0" fmla="*/ 0 w 2527300"/>
                  <a:gd name="connsiteY0" fmla="*/ 660406 h 660406"/>
                  <a:gd name="connsiteX1" fmla="*/ 1219200 w 2527300"/>
                  <a:gd name="connsiteY1" fmla="*/ 6 h 660406"/>
                  <a:gd name="connsiteX2" fmla="*/ 2527300 w 2527300"/>
                  <a:gd name="connsiteY2" fmla="*/ 647706 h 660406"/>
                </a:gdLst>
                <a:ahLst/>
                <a:cxnLst>
                  <a:cxn ang="0">
                    <a:pos x="connsiteX0" y="connsiteY0"/>
                  </a:cxn>
                  <a:cxn ang="0">
                    <a:pos x="connsiteX1" y="connsiteY1"/>
                  </a:cxn>
                  <a:cxn ang="0">
                    <a:pos x="connsiteX2" y="connsiteY2"/>
                  </a:cxn>
                </a:cxnLst>
                <a:rect l="l" t="t" r="r" b="b"/>
                <a:pathLst>
                  <a:path w="2527300" h="660406">
                    <a:moveTo>
                      <a:pt x="0" y="660406"/>
                    </a:moveTo>
                    <a:cubicBezTo>
                      <a:pt x="398991" y="331264"/>
                      <a:pt x="797983" y="2123"/>
                      <a:pt x="1219200" y="6"/>
                    </a:cubicBezTo>
                    <a:cubicBezTo>
                      <a:pt x="1640417" y="-2111"/>
                      <a:pt x="2273300" y="550339"/>
                      <a:pt x="2527300" y="647706"/>
                    </a:cubicBezTo>
                  </a:path>
                </a:pathLst>
              </a:custGeom>
              <a:ln w="28575" cmpd="sng">
                <a:headEnd type="arrow"/>
                <a:tailEnd type="non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0" name="Freeform 19"/>
              <p:cNvSpPr/>
              <p:nvPr/>
            </p:nvSpPr>
            <p:spPr>
              <a:xfrm flipV="1">
                <a:off x="3308349" y="5733256"/>
                <a:ext cx="2527300" cy="660406"/>
              </a:xfrm>
              <a:custGeom>
                <a:avLst/>
                <a:gdLst>
                  <a:gd name="connsiteX0" fmla="*/ 0 w 2527300"/>
                  <a:gd name="connsiteY0" fmla="*/ 660406 h 660406"/>
                  <a:gd name="connsiteX1" fmla="*/ 1219200 w 2527300"/>
                  <a:gd name="connsiteY1" fmla="*/ 6 h 660406"/>
                  <a:gd name="connsiteX2" fmla="*/ 2527300 w 2527300"/>
                  <a:gd name="connsiteY2" fmla="*/ 647706 h 660406"/>
                </a:gdLst>
                <a:ahLst/>
                <a:cxnLst>
                  <a:cxn ang="0">
                    <a:pos x="connsiteX0" y="connsiteY0"/>
                  </a:cxn>
                  <a:cxn ang="0">
                    <a:pos x="connsiteX1" y="connsiteY1"/>
                  </a:cxn>
                  <a:cxn ang="0">
                    <a:pos x="connsiteX2" y="connsiteY2"/>
                  </a:cxn>
                </a:cxnLst>
                <a:rect l="l" t="t" r="r" b="b"/>
                <a:pathLst>
                  <a:path w="2527300" h="660406">
                    <a:moveTo>
                      <a:pt x="0" y="660406"/>
                    </a:moveTo>
                    <a:cubicBezTo>
                      <a:pt x="398991" y="331264"/>
                      <a:pt x="797983" y="2123"/>
                      <a:pt x="1219200" y="6"/>
                    </a:cubicBezTo>
                    <a:cubicBezTo>
                      <a:pt x="1640417" y="-2111"/>
                      <a:pt x="2273300" y="550339"/>
                      <a:pt x="2527300" y="647706"/>
                    </a:cubicBezTo>
                  </a:path>
                </a:pathLst>
              </a:custGeom>
              <a:ln w="28575" cmpd="sng">
                <a:headEnd type="arrow"/>
                <a:tailEnd type="non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 name="TextBox 20"/>
              <p:cNvSpPr txBox="1"/>
              <p:nvPr/>
            </p:nvSpPr>
            <p:spPr>
              <a:xfrm>
                <a:off x="4011141" y="4797152"/>
                <a:ext cx="1109727" cy="369332"/>
              </a:xfrm>
              <a:prstGeom prst="rect">
                <a:avLst/>
              </a:prstGeom>
              <a:noFill/>
            </p:spPr>
            <p:txBody>
              <a:bodyPr wrap="none" rtlCol="0">
                <a:spAutoFit/>
              </a:bodyPr>
              <a:lstStyle/>
              <a:p>
                <a:r>
                  <a:rPr lang="en-US" i="1" dirty="0"/>
                  <a:t>Transition</a:t>
                </a:r>
              </a:p>
            </p:txBody>
          </p:sp>
          <p:sp>
            <p:nvSpPr>
              <p:cNvPr id="22" name="TextBox 21"/>
              <p:cNvSpPr txBox="1"/>
              <p:nvPr/>
            </p:nvSpPr>
            <p:spPr>
              <a:xfrm>
                <a:off x="4572000" y="4077072"/>
                <a:ext cx="645690" cy="369332"/>
              </a:xfrm>
              <a:prstGeom prst="rect">
                <a:avLst/>
              </a:prstGeom>
              <a:noFill/>
            </p:spPr>
            <p:txBody>
              <a:bodyPr wrap="none" rtlCol="0">
                <a:spAutoFit/>
              </a:bodyPr>
              <a:lstStyle/>
              <a:p>
                <a:r>
                  <a:rPr lang="en-US" dirty="0"/>
                  <a:t>start</a:t>
                </a:r>
              </a:p>
            </p:txBody>
          </p:sp>
          <p:sp>
            <p:nvSpPr>
              <p:cNvPr id="23" name="TextBox 22"/>
              <p:cNvSpPr txBox="1"/>
              <p:nvPr/>
            </p:nvSpPr>
            <p:spPr>
              <a:xfrm>
                <a:off x="4572000" y="6456248"/>
                <a:ext cx="626197" cy="369332"/>
              </a:xfrm>
              <a:prstGeom prst="rect">
                <a:avLst/>
              </a:prstGeom>
              <a:noFill/>
            </p:spPr>
            <p:txBody>
              <a:bodyPr wrap="none" rtlCol="0">
                <a:spAutoFit/>
              </a:bodyPr>
              <a:lstStyle/>
              <a:p>
                <a:r>
                  <a:rPr lang="en-US" dirty="0"/>
                  <a:t>stop</a:t>
                </a:r>
              </a:p>
            </p:txBody>
          </p:sp>
        </p:grpSp>
        <p:sp>
          <p:nvSpPr>
            <p:cNvPr id="24" name="TextBox 23"/>
            <p:cNvSpPr txBox="1"/>
            <p:nvPr/>
          </p:nvSpPr>
          <p:spPr>
            <a:xfrm>
              <a:off x="5018718" y="4077072"/>
              <a:ext cx="2146742" cy="369332"/>
            </a:xfrm>
            <a:prstGeom prst="rect">
              <a:avLst/>
            </a:prstGeom>
            <a:solidFill>
              <a:schemeClr val="bg1"/>
            </a:solidFill>
          </p:spPr>
          <p:txBody>
            <a:bodyPr wrap="none" rtlCol="0">
              <a:spAutoFit/>
            </a:bodyPr>
            <a:lstStyle/>
            <a:p>
              <a:r>
                <a:rPr lang="en-US" dirty="0"/>
                <a:t>Start / toggle := true </a:t>
              </a:r>
            </a:p>
          </p:txBody>
        </p:sp>
        <p:sp>
          <p:nvSpPr>
            <p:cNvPr id="25" name="TextBox 24"/>
            <p:cNvSpPr txBox="1"/>
            <p:nvPr/>
          </p:nvSpPr>
          <p:spPr>
            <a:xfrm>
              <a:off x="5012242" y="6453336"/>
              <a:ext cx="2130711" cy="369332"/>
            </a:xfrm>
            <a:prstGeom prst="rect">
              <a:avLst/>
            </a:prstGeom>
            <a:solidFill>
              <a:schemeClr val="bg1"/>
            </a:solidFill>
          </p:spPr>
          <p:txBody>
            <a:bodyPr wrap="none" rtlCol="0">
              <a:spAutoFit/>
            </a:bodyPr>
            <a:lstStyle/>
            <a:p>
              <a:r>
                <a:rPr lang="en-US" dirty="0"/>
                <a:t>Stop / toggle := false</a:t>
              </a:r>
            </a:p>
          </p:txBody>
        </p:sp>
      </p:grpSp>
    </p:spTree>
    <p:extLst>
      <p:ext uri="{BB962C8B-B14F-4D97-AF65-F5344CB8AC3E}">
        <p14:creationId xmlns:p14="http://schemas.microsoft.com/office/powerpoint/2010/main" val="41918488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dirty="0"/>
              <a:t>UML State Diagram</a:t>
            </a:r>
          </a:p>
        </p:txBody>
      </p:sp>
      <p:sp>
        <p:nvSpPr>
          <p:cNvPr id="4" name="Slide Number Placeholder 3"/>
          <p:cNvSpPr>
            <a:spLocks noGrp="1"/>
          </p:cNvSpPr>
          <p:nvPr>
            <p:ph type="sldNum" sz="quarter" idx="12"/>
          </p:nvPr>
        </p:nvSpPr>
        <p:spPr/>
        <p:txBody>
          <a:bodyPr/>
          <a:lstStyle/>
          <a:p>
            <a:fld id="{CADD82E7-7C10-744D-AD9E-31500693C936}" type="slidenum">
              <a:rPr lang="en-US" smtClean="0"/>
              <a:pPr/>
              <a:t>55</a:t>
            </a:fld>
            <a:endParaRPr lang="en-US"/>
          </a:p>
        </p:txBody>
      </p:sp>
      <p:grpSp>
        <p:nvGrpSpPr>
          <p:cNvPr id="3" name="Group 2">
            <a:extLst>
              <a:ext uri="{FF2B5EF4-FFF2-40B4-BE49-F238E27FC236}">
                <a16:creationId xmlns:a16="http://schemas.microsoft.com/office/drawing/2014/main" id="{6697B82C-40D0-47AD-177D-E85ED100C5E1}"/>
              </a:ext>
            </a:extLst>
          </p:cNvPr>
          <p:cNvGrpSpPr/>
          <p:nvPr/>
        </p:nvGrpSpPr>
        <p:grpSpPr>
          <a:xfrm>
            <a:off x="2143075" y="1124745"/>
            <a:ext cx="7905850" cy="5616623"/>
            <a:chOff x="2495600" y="1124745"/>
            <a:chExt cx="7905850" cy="5616623"/>
          </a:xfrm>
        </p:grpSpPr>
        <p:sp>
          <p:nvSpPr>
            <p:cNvPr id="5" name="Rounded Rectangle 4"/>
            <p:cNvSpPr/>
            <p:nvPr/>
          </p:nvSpPr>
          <p:spPr>
            <a:xfrm>
              <a:off x="5435968" y="1556792"/>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Requested</a:t>
              </a:r>
            </a:p>
          </p:txBody>
        </p:sp>
        <p:sp>
          <p:nvSpPr>
            <p:cNvPr id="7" name="Rounded Rectangle 6"/>
            <p:cNvSpPr/>
            <p:nvPr/>
          </p:nvSpPr>
          <p:spPr>
            <a:xfrm>
              <a:off x="3131712" y="3140968"/>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Reserved</a:t>
              </a:r>
            </a:p>
          </p:txBody>
        </p:sp>
        <p:sp>
          <p:nvSpPr>
            <p:cNvPr id="8" name="Rounded Rectangle 7"/>
            <p:cNvSpPr/>
            <p:nvPr/>
          </p:nvSpPr>
          <p:spPr>
            <a:xfrm>
              <a:off x="3131712" y="4581128"/>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Checked In</a:t>
              </a:r>
            </a:p>
          </p:txBody>
        </p:sp>
        <p:sp>
          <p:nvSpPr>
            <p:cNvPr id="10" name="Rounded Rectangle 9"/>
            <p:cNvSpPr/>
            <p:nvPr/>
          </p:nvSpPr>
          <p:spPr>
            <a:xfrm>
              <a:off x="7740224" y="3140968"/>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Waiting</a:t>
              </a:r>
            </a:p>
          </p:txBody>
        </p:sp>
        <p:sp>
          <p:nvSpPr>
            <p:cNvPr id="11" name="Rounded Rectangle 10"/>
            <p:cNvSpPr/>
            <p:nvPr/>
          </p:nvSpPr>
          <p:spPr>
            <a:xfrm>
              <a:off x="7740224" y="4581128"/>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Canceled</a:t>
              </a:r>
            </a:p>
          </p:txBody>
        </p:sp>
        <p:cxnSp>
          <p:nvCxnSpPr>
            <p:cNvPr id="18" name="Straight Arrow Connector 17"/>
            <p:cNvCxnSpPr>
              <a:endCxn id="5" idx="0"/>
            </p:cNvCxnSpPr>
            <p:nvPr/>
          </p:nvCxnSpPr>
          <p:spPr>
            <a:xfrm flipH="1">
              <a:off x="6300064" y="1196752"/>
              <a:ext cx="11960" cy="360040"/>
            </a:xfrm>
            <a:prstGeom prst="straightConnector1">
              <a:avLst/>
            </a:prstGeom>
            <a:ln w="28575" cmpd="sng">
              <a:headEnd type="oval" w="lg" len="lg"/>
              <a:tailEnd type="arrow"/>
            </a:ln>
          </p:spPr>
          <p:style>
            <a:lnRef idx="1">
              <a:schemeClr val="dk1"/>
            </a:lnRef>
            <a:fillRef idx="0">
              <a:schemeClr val="dk1"/>
            </a:fillRef>
            <a:effectRef idx="0">
              <a:schemeClr val="dk1"/>
            </a:effectRef>
            <a:fontRef idx="minor">
              <a:schemeClr val="tx1"/>
            </a:fontRef>
          </p:style>
        </p:cxnSp>
        <p:cxnSp>
          <p:nvCxnSpPr>
            <p:cNvPr id="22" name="Elbow Connector 21"/>
            <p:cNvCxnSpPr>
              <a:stCxn id="5" idx="1"/>
              <a:endCxn id="7" idx="0"/>
            </p:cNvCxnSpPr>
            <p:nvPr/>
          </p:nvCxnSpPr>
          <p:spPr>
            <a:xfrm rot="10800000" flipV="1">
              <a:off x="3995808" y="1844824"/>
              <a:ext cx="1440160" cy="1296144"/>
            </a:xfrm>
            <a:prstGeom prst="bentConnector2">
              <a:avLst/>
            </a:prstGeom>
            <a:ln w="28575" cmpd="sng">
              <a:tailEnd type="arrow"/>
            </a:ln>
          </p:spPr>
          <p:style>
            <a:lnRef idx="1">
              <a:schemeClr val="dk1"/>
            </a:lnRef>
            <a:fillRef idx="0">
              <a:schemeClr val="dk1"/>
            </a:fillRef>
            <a:effectRef idx="0">
              <a:schemeClr val="dk1"/>
            </a:effectRef>
            <a:fontRef idx="minor">
              <a:schemeClr val="tx1"/>
            </a:fontRef>
          </p:style>
        </p:cxnSp>
        <p:cxnSp>
          <p:nvCxnSpPr>
            <p:cNvPr id="27" name="Elbow Connector 26"/>
            <p:cNvCxnSpPr>
              <a:stCxn id="8" idx="2"/>
              <a:endCxn id="77" idx="1"/>
            </p:cNvCxnSpPr>
            <p:nvPr/>
          </p:nvCxnSpPr>
          <p:spPr>
            <a:xfrm rot="16200000" flipH="1">
              <a:off x="4073796" y="5079204"/>
              <a:ext cx="1296144" cy="1452120"/>
            </a:xfrm>
            <a:prstGeom prst="bentConnector2">
              <a:avLst/>
            </a:prstGeom>
            <a:ln w="28575" cmpd="sng">
              <a:tailEnd type="arrow"/>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7" idx="2"/>
              <a:endCxn id="8" idx="0"/>
            </p:cNvCxnSpPr>
            <p:nvPr/>
          </p:nvCxnSpPr>
          <p:spPr>
            <a:xfrm>
              <a:off x="3995808" y="3717032"/>
              <a:ext cx="0" cy="864096"/>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cxnSp>
          <p:nvCxnSpPr>
            <p:cNvPr id="40" name="Elbow Connector 39"/>
            <p:cNvCxnSpPr>
              <a:stCxn id="5" idx="3"/>
              <a:endCxn id="10" idx="0"/>
            </p:cNvCxnSpPr>
            <p:nvPr/>
          </p:nvCxnSpPr>
          <p:spPr>
            <a:xfrm>
              <a:off x="7164160" y="1844824"/>
              <a:ext cx="1440160" cy="1296144"/>
            </a:xfrm>
            <a:prstGeom prst="bentConnector2">
              <a:avLst/>
            </a:prstGeom>
            <a:ln w="28575" cmpd="sng">
              <a:tailEnd type="arrow"/>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10" idx="2"/>
              <a:endCxn id="11" idx="0"/>
            </p:cNvCxnSpPr>
            <p:nvPr/>
          </p:nvCxnSpPr>
          <p:spPr>
            <a:xfrm>
              <a:off x="8604320" y="3717032"/>
              <a:ext cx="0" cy="864096"/>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cxnSp>
          <p:nvCxnSpPr>
            <p:cNvPr id="44" name="Straight Arrow Connector 43"/>
            <p:cNvCxnSpPr>
              <a:stCxn id="10" idx="1"/>
              <a:endCxn id="7" idx="3"/>
            </p:cNvCxnSpPr>
            <p:nvPr/>
          </p:nvCxnSpPr>
          <p:spPr>
            <a:xfrm flipH="1">
              <a:off x="4859904" y="3429000"/>
              <a:ext cx="2880320" cy="0"/>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4499864" y="3717032"/>
              <a:ext cx="0" cy="432048"/>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9" name="Straight Connector 58"/>
            <p:cNvCxnSpPr/>
            <p:nvPr/>
          </p:nvCxnSpPr>
          <p:spPr>
            <a:xfrm>
              <a:off x="4499864" y="4149080"/>
              <a:ext cx="36004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1" name="Straight Arrow Connector 60"/>
            <p:cNvCxnSpPr/>
            <p:nvPr/>
          </p:nvCxnSpPr>
          <p:spPr>
            <a:xfrm>
              <a:off x="8100264" y="4149080"/>
              <a:ext cx="0" cy="432048"/>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sp>
          <p:nvSpPr>
            <p:cNvPr id="62" name="TextBox 61"/>
            <p:cNvSpPr txBox="1"/>
            <p:nvPr/>
          </p:nvSpPr>
          <p:spPr>
            <a:xfrm>
              <a:off x="7536160" y="1124745"/>
              <a:ext cx="1999586" cy="646331"/>
            </a:xfrm>
            <a:prstGeom prst="rect">
              <a:avLst/>
            </a:prstGeom>
            <a:noFill/>
          </p:spPr>
          <p:txBody>
            <a:bodyPr wrap="square" rtlCol="0">
              <a:spAutoFit/>
            </a:bodyPr>
            <a:lstStyle/>
            <a:p>
              <a:r>
                <a:rPr lang="en-US" dirty="0"/>
                <a:t>Room unavailable /</a:t>
              </a:r>
              <a:br>
                <a:rPr lang="en-US" dirty="0"/>
              </a:br>
              <a:r>
                <a:rPr lang="en-US" dirty="0"/>
                <a:t>put on waiting list</a:t>
              </a:r>
            </a:p>
          </p:txBody>
        </p:sp>
        <p:sp>
          <p:nvSpPr>
            <p:cNvPr id="63" name="TextBox 62"/>
            <p:cNvSpPr txBox="1"/>
            <p:nvPr/>
          </p:nvSpPr>
          <p:spPr>
            <a:xfrm>
              <a:off x="2495600" y="1412776"/>
              <a:ext cx="1757532" cy="923330"/>
            </a:xfrm>
            <a:prstGeom prst="rect">
              <a:avLst/>
            </a:prstGeom>
            <a:noFill/>
          </p:spPr>
          <p:txBody>
            <a:bodyPr wrap="none" rtlCol="0">
              <a:spAutoFit/>
            </a:bodyPr>
            <a:lstStyle/>
            <a:p>
              <a:r>
                <a:rPr lang="en-US" dirty="0"/>
                <a:t>Room available /</a:t>
              </a:r>
              <a:br>
                <a:rPr lang="en-US" dirty="0"/>
              </a:br>
              <a:r>
                <a:rPr lang="en-US" dirty="0"/>
                <a:t>decrement</a:t>
              </a:r>
              <a:br>
                <a:rPr lang="en-US" dirty="0"/>
              </a:br>
              <a:r>
                <a:rPr lang="en-US" dirty="0"/>
                <a:t>room count</a:t>
              </a:r>
            </a:p>
          </p:txBody>
        </p:sp>
        <p:sp>
          <p:nvSpPr>
            <p:cNvPr id="64" name="TextBox 63"/>
            <p:cNvSpPr txBox="1"/>
            <p:nvPr/>
          </p:nvSpPr>
          <p:spPr>
            <a:xfrm>
              <a:off x="4909889" y="2710662"/>
              <a:ext cx="2470676" cy="646331"/>
            </a:xfrm>
            <a:prstGeom prst="rect">
              <a:avLst/>
            </a:prstGeom>
            <a:noFill/>
          </p:spPr>
          <p:txBody>
            <a:bodyPr wrap="none" rtlCol="0">
              <a:spAutoFit/>
            </a:bodyPr>
            <a:lstStyle/>
            <a:p>
              <a:r>
                <a:rPr lang="en-US" dirty="0"/>
                <a:t>Room available /</a:t>
              </a:r>
              <a:br>
                <a:rPr lang="en-US" dirty="0"/>
              </a:br>
              <a:r>
                <a:rPr lang="en-US" dirty="0"/>
                <a:t>decrement room count</a:t>
              </a:r>
            </a:p>
          </p:txBody>
        </p:sp>
        <p:sp>
          <p:nvSpPr>
            <p:cNvPr id="65" name="TextBox 64"/>
            <p:cNvSpPr txBox="1"/>
            <p:nvPr/>
          </p:nvSpPr>
          <p:spPr>
            <a:xfrm>
              <a:off x="8616281" y="3790782"/>
              <a:ext cx="1785169" cy="646331"/>
            </a:xfrm>
            <a:prstGeom prst="rect">
              <a:avLst/>
            </a:prstGeom>
            <a:noFill/>
          </p:spPr>
          <p:txBody>
            <a:bodyPr wrap="none" rtlCol="0">
              <a:spAutoFit/>
            </a:bodyPr>
            <a:lstStyle/>
            <a:p>
              <a:r>
                <a:rPr lang="en-US" dirty="0"/>
                <a:t>Client gives up /</a:t>
              </a:r>
              <a:br>
                <a:rPr lang="en-US" dirty="0"/>
              </a:br>
              <a:r>
                <a:rPr lang="en-US" dirty="0"/>
                <a:t>remove from list</a:t>
              </a:r>
            </a:p>
          </p:txBody>
        </p:sp>
        <p:sp>
          <p:nvSpPr>
            <p:cNvPr id="66" name="TextBox 65"/>
            <p:cNvSpPr txBox="1"/>
            <p:nvPr/>
          </p:nvSpPr>
          <p:spPr>
            <a:xfrm>
              <a:off x="4977929" y="4221089"/>
              <a:ext cx="2400144" cy="646331"/>
            </a:xfrm>
            <a:prstGeom prst="rect">
              <a:avLst/>
            </a:prstGeom>
            <a:noFill/>
          </p:spPr>
          <p:txBody>
            <a:bodyPr wrap="none" rtlCol="0">
              <a:spAutoFit/>
            </a:bodyPr>
            <a:lstStyle/>
            <a:p>
              <a:r>
                <a:rPr lang="en-US" dirty="0"/>
                <a:t>Client cancels /</a:t>
              </a:r>
              <a:br>
                <a:rPr lang="en-US" dirty="0"/>
              </a:br>
              <a:r>
                <a:rPr lang="en-US" dirty="0"/>
                <a:t>increment room count</a:t>
              </a:r>
            </a:p>
          </p:txBody>
        </p:sp>
        <p:sp>
          <p:nvSpPr>
            <p:cNvPr id="67" name="TextBox 66"/>
            <p:cNvSpPr txBox="1"/>
            <p:nvPr/>
          </p:nvSpPr>
          <p:spPr>
            <a:xfrm>
              <a:off x="2567609" y="3789041"/>
              <a:ext cx="1162498" cy="646331"/>
            </a:xfrm>
            <a:prstGeom prst="rect">
              <a:avLst/>
            </a:prstGeom>
            <a:noFill/>
          </p:spPr>
          <p:txBody>
            <a:bodyPr wrap="none" rtlCol="0">
              <a:spAutoFit/>
            </a:bodyPr>
            <a:lstStyle/>
            <a:p>
              <a:r>
                <a:rPr lang="en-US" dirty="0"/>
                <a:t>Client</a:t>
              </a:r>
              <a:br>
                <a:rPr lang="en-US" dirty="0"/>
              </a:br>
              <a:r>
                <a:rPr lang="en-US" dirty="0"/>
                <a:t>checks in /</a:t>
              </a:r>
            </a:p>
          </p:txBody>
        </p:sp>
        <p:sp>
          <p:nvSpPr>
            <p:cNvPr id="68" name="TextBox 67"/>
            <p:cNvSpPr txBox="1"/>
            <p:nvPr/>
          </p:nvSpPr>
          <p:spPr>
            <a:xfrm>
              <a:off x="4079776" y="5373217"/>
              <a:ext cx="2400144" cy="646331"/>
            </a:xfrm>
            <a:prstGeom prst="rect">
              <a:avLst/>
            </a:prstGeom>
            <a:noFill/>
          </p:spPr>
          <p:txBody>
            <a:bodyPr wrap="none" rtlCol="0">
              <a:spAutoFit/>
            </a:bodyPr>
            <a:lstStyle/>
            <a:p>
              <a:r>
                <a:rPr lang="en-US" dirty="0"/>
                <a:t>Client checks out /</a:t>
              </a:r>
              <a:br>
                <a:rPr lang="en-US" dirty="0"/>
              </a:br>
              <a:r>
                <a:rPr lang="en-US" dirty="0"/>
                <a:t>increment room count</a:t>
              </a:r>
            </a:p>
          </p:txBody>
        </p:sp>
        <p:sp>
          <p:nvSpPr>
            <p:cNvPr id="71" name="TextBox 70"/>
            <p:cNvSpPr txBox="1"/>
            <p:nvPr/>
          </p:nvSpPr>
          <p:spPr>
            <a:xfrm>
              <a:off x="2580208" y="5517233"/>
              <a:ext cx="939809" cy="646331"/>
            </a:xfrm>
            <a:prstGeom prst="rect">
              <a:avLst/>
            </a:prstGeom>
            <a:noFill/>
          </p:spPr>
          <p:txBody>
            <a:bodyPr wrap="none" rtlCol="0">
              <a:spAutoFit/>
            </a:bodyPr>
            <a:lstStyle/>
            <a:p>
              <a:r>
                <a:rPr lang="en-US" i="1" dirty="0"/>
                <a:t>Trigger </a:t>
              </a:r>
              <a:r>
                <a:rPr lang="en-US" dirty="0"/>
                <a:t>/</a:t>
              </a:r>
              <a:br>
                <a:rPr lang="en-US" i="1" dirty="0"/>
              </a:br>
              <a:r>
                <a:rPr lang="en-US" i="1" dirty="0"/>
                <a:t>effect</a:t>
              </a:r>
            </a:p>
          </p:txBody>
        </p:sp>
        <p:sp>
          <p:nvSpPr>
            <p:cNvPr id="73" name="Oval 72"/>
            <p:cNvSpPr/>
            <p:nvPr/>
          </p:nvSpPr>
          <p:spPr>
            <a:xfrm>
              <a:off x="8544272" y="6381328"/>
              <a:ext cx="144016" cy="14401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4" name="Oval 73"/>
            <p:cNvSpPr/>
            <p:nvPr/>
          </p:nvSpPr>
          <p:spPr>
            <a:xfrm>
              <a:off x="8472264" y="6309320"/>
              <a:ext cx="288032" cy="28803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 name="Rounded Rectangle 76"/>
            <p:cNvSpPr/>
            <p:nvPr/>
          </p:nvSpPr>
          <p:spPr>
            <a:xfrm>
              <a:off x="5447928" y="6165304"/>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Archived</a:t>
              </a:r>
            </a:p>
          </p:txBody>
        </p:sp>
        <p:cxnSp>
          <p:nvCxnSpPr>
            <p:cNvPr id="80" name="Straight Arrow Connector 79"/>
            <p:cNvCxnSpPr>
              <a:stCxn id="77" idx="3"/>
              <a:endCxn id="74" idx="2"/>
            </p:cNvCxnSpPr>
            <p:nvPr/>
          </p:nvCxnSpPr>
          <p:spPr>
            <a:xfrm>
              <a:off x="7176120" y="6453336"/>
              <a:ext cx="1296144" cy="0"/>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cxnSp>
          <p:nvCxnSpPr>
            <p:cNvPr id="82" name="Straight Arrow Connector 81"/>
            <p:cNvCxnSpPr>
              <a:stCxn id="11" idx="2"/>
              <a:endCxn id="74" idx="0"/>
            </p:cNvCxnSpPr>
            <p:nvPr/>
          </p:nvCxnSpPr>
          <p:spPr>
            <a:xfrm>
              <a:off x="8604320" y="5157192"/>
              <a:ext cx="11960" cy="1152128"/>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sp>
          <p:nvSpPr>
            <p:cNvPr id="83" name="TextBox 82"/>
            <p:cNvSpPr txBox="1"/>
            <p:nvPr/>
          </p:nvSpPr>
          <p:spPr>
            <a:xfrm>
              <a:off x="8741198" y="5229200"/>
              <a:ext cx="1305165" cy="369332"/>
            </a:xfrm>
            <a:prstGeom prst="rect">
              <a:avLst/>
            </a:prstGeom>
            <a:noFill/>
          </p:spPr>
          <p:txBody>
            <a:bodyPr wrap="none" rtlCol="0">
              <a:spAutoFit/>
            </a:bodyPr>
            <a:lstStyle/>
            <a:p>
              <a:r>
                <a:rPr lang="en-US" i="1" dirty="0"/>
                <a:t>A final state</a:t>
              </a:r>
            </a:p>
          </p:txBody>
        </p:sp>
      </p:grpSp>
    </p:spTree>
    <p:extLst>
      <p:ext uri="{BB962C8B-B14F-4D97-AF65-F5344CB8AC3E}">
        <p14:creationId xmlns:p14="http://schemas.microsoft.com/office/powerpoint/2010/main" val="13166208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State Diagram</a:t>
            </a:r>
          </a:p>
        </p:txBody>
      </p:sp>
      <p:sp>
        <p:nvSpPr>
          <p:cNvPr id="3" name="Content Placeholder 2"/>
          <p:cNvSpPr>
            <a:spLocks noGrp="1"/>
          </p:cNvSpPr>
          <p:nvPr>
            <p:ph idx="1"/>
          </p:nvPr>
        </p:nvSpPr>
        <p:spPr/>
        <p:txBody>
          <a:bodyPr/>
          <a:lstStyle/>
          <a:p>
            <a:r>
              <a:rPr lang="en-US" dirty="0"/>
              <a:t>States:</a:t>
            </a:r>
          </a:p>
          <a:p>
            <a:endParaRPr lang="en-US" dirty="0"/>
          </a:p>
          <a:p>
            <a:endParaRPr lang="en-US" dirty="0"/>
          </a:p>
          <a:p>
            <a:pPr marL="82296" indent="0">
              <a:buNone/>
            </a:pPr>
            <a:endParaRPr lang="en-US" dirty="0"/>
          </a:p>
          <a:p>
            <a:pPr marL="82296" indent="0">
              <a:buNone/>
            </a:pPr>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56</a:t>
            </a:fld>
            <a:endParaRPr lang="en-US"/>
          </a:p>
        </p:txBody>
      </p:sp>
      <p:grpSp>
        <p:nvGrpSpPr>
          <p:cNvPr id="6" name="Group 5">
            <a:extLst>
              <a:ext uri="{FF2B5EF4-FFF2-40B4-BE49-F238E27FC236}">
                <a16:creationId xmlns:a16="http://schemas.microsoft.com/office/drawing/2014/main" id="{F691EF2B-3B46-C6AE-8F5F-0D4E866838FB}"/>
              </a:ext>
            </a:extLst>
          </p:cNvPr>
          <p:cNvGrpSpPr/>
          <p:nvPr/>
        </p:nvGrpSpPr>
        <p:grpSpPr>
          <a:xfrm>
            <a:off x="2963652" y="2894856"/>
            <a:ext cx="6264696" cy="2334344"/>
            <a:chOff x="3647728" y="2204864"/>
            <a:chExt cx="6264696" cy="2334344"/>
          </a:xfrm>
        </p:grpSpPr>
        <p:sp>
          <p:nvSpPr>
            <p:cNvPr id="5" name="Rounded Rectangle 4"/>
            <p:cNvSpPr/>
            <p:nvPr/>
          </p:nvSpPr>
          <p:spPr>
            <a:xfrm>
              <a:off x="3647728" y="2204864"/>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i="1" dirty="0">
                  <a:latin typeface="+mj-lt"/>
                  <a:cs typeface="Verdana"/>
                </a:rPr>
                <a:t>State name</a:t>
              </a:r>
            </a:p>
          </p:txBody>
        </p:sp>
        <p:grpSp>
          <p:nvGrpSpPr>
            <p:cNvPr id="38" name="Group 37"/>
            <p:cNvGrpSpPr/>
            <p:nvPr/>
          </p:nvGrpSpPr>
          <p:grpSpPr>
            <a:xfrm>
              <a:off x="5879976" y="2204864"/>
              <a:ext cx="1728192" cy="1542256"/>
              <a:chOff x="4355976" y="2204864"/>
              <a:chExt cx="1728192" cy="1542256"/>
            </a:xfrm>
          </p:grpSpPr>
          <p:sp>
            <p:nvSpPr>
              <p:cNvPr id="23" name="Rounded Rectangle 22"/>
              <p:cNvSpPr/>
              <p:nvPr/>
            </p:nvSpPr>
            <p:spPr>
              <a:xfrm>
                <a:off x="4355976" y="2204864"/>
                <a:ext cx="1728192" cy="15422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Verdana"/>
                  <a:cs typeface="Verdana"/>
                </a:endParaRPr>
              </a:p>
            </p:txBody>
          </p:sp>
          <p:sp>
            <p:nvSpPr>
              <p:cNvPr id="24" name="TextBox 23"/>
              <p:cNvSpPr txBox="1"/>
              <p:nvPr/>
            </p:nvSpPr>
            <p:spPr>
              <a:xfrm>
                <a:off x="4572000" y="2420888"/>
                <a:ext cx="1258486" cy="369332"/>
              </a:xfrm>
              <a:prstGeom prst="rect">
                <a:avLst/>
              </a:prstGeom>
              <a:noFill/>
            </p:spPr>
            <p:txBody>
              <a:bodyPr wrap="none" rtlCol="0">
                <a:spAutoFit/>
              </a:bodyPr>
              <a:lstStyle/>
              <a:p>
                <a:r>
                  <a:rPr lang="en-US" i="1" dirty="0"/>
                  <a:t>State name</a:t>
                </a:r>
              </a:p>
            </p:txBody>
          </p:sp>
          <p:sp>
            <p:nvSpPr>
              <p:cNvPr id="25" name="TextBox 24"/>
              <p:cNvSpPr txBox="1"/>
              <p:nvPr/>
            </p:nvSpPr>
            <p:spPr>
              <a:xfrm>
                <a:off x="4686615" y="3171056"/>
                <a:ext cx="1029256" cy="369332"/>
              </a:xfrm>
              <a:prstGeom prst="rect">
                <a:avLst/>
              </a:prstGeom>
              <a:noFill/>
            </p:spPr>
            <p:txBody>
              <a:bodyPr wrap="none" rtlCol="0">
                <a:spAutoFit/>
              </a:bodyPr>
              <a:lstStyle/>
              <a:p>
                <a:r>
                  <a:rPr lang="en-US" i="1" dirty="0"/>
                  <a:t>Activities</a:t>
                </a:r>
              </a:p>
            </p:txBody>
          </p:sp>
          <p:cxnSp>
            <p:nvCxnSpPr>
              <p:cNvPr id="28" name="Straight Connector 27"/>
              <p:cNvCxnSpPr/>
              <p:nvPr/>
            </p:nvCxnSpPr>
            <p:spPr>
              <a:xfrm>
                <a:off x="4355976" y="2996952"/>
                <a:ext cx="1728192" cy="0"/>
              </a:xfrm>
              <a:prstGeom prst="line">
                <a:avLst/>
              </a:prstGeom>
              <a:ln w="19050" cmpd="sng"/>
            </p:spPr>
            <p:style>
              <a:lnRef idx="1">
                <a:schemeClr val="dk1"/>
              </a:lnRef>
              <a:fillRef idx="0">
                <a:schemeClr val="dk1"/>
              </a:fillRef>
              <a:effectRef idx="0">
                <a:schemeClr val="dk1"/>
              </a:effectRef>
              <a:fontRef idx="minor">
                <a:schemeClr val="tx1"/>
              </a:fontRef>
            </p:style>
          </p:cxnSp>
        </p:grpSp>
        <p:grpSp>
          <p:nvGrpSpPr>
            <p:cNvPr id="37" name="Group 36"/>
            <p:cNvGrpSpPr/>
            <p:nvPr/>
          </p:nvGrpSpPr>
          <p:grpSpPr>
            <a:xfrm>
              <a:off x="8184232" y="2204864"/>
              <a:ext cx="1728192" cy="2334344"/>
              <a:chOff x="6660232" y="2204864"/>
              <a:chExt cx="1728192" cy="2334344"/>
            </a:xfrm>
          </p:grpSpPr>
          <p:sp>
            <p:nvSpPr>
              <p:cNvPr id="30" name="Rounded Rectangle 29"/>
              <p:cNvSpPr/>
              <p:nvPr/>
            </p:nvSpPr>
            <p:spPr>
              <a:xfrm>
                <a:off x="6660232" y="2204864"/>
                <a:ext cx="1728192" cy="23343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Verdana"/>
                  <a:cs typeface="Verdana"/>
                </a:endParaRPr>
              </a:p>
            </p:txBody>
          </p:sp>
          <p:sp>
            <p:nvSpPr>
              <p:cNvPr id="31" name="TextBox 30"/>
              <p:cNvSpPr txBox="1"/>
              <p:nvPr/>
            </p:nvSpPr>
            <p:spPr>
              <a:xfrm>
                <a:off x="6876256" y="2420888"/>
                <a:ext cx="1258486" cy="369332"/>
              </a:xfrm>
              <a:prstGeom prst="rect">
                <a:avLst/>
              </a:prstGeom>
              <a:noFill/>
            </p:spPr>
            <p:txBody>
              <a:bodyPr wrap="none" rtlCol="0">
                <a:spAutoFit/>
              </a:bodyPr>
              <a:lstStyle/>
              <a:p>
                <a:r>
                  <a:rPr lang="en-US" i="1" dirty="0"/>
                  <a:t>State name</a:t>
                </a:r>
              </a:p>
            </p:txBody>
          </p:sp>
          <p:sp>
            <p:nvSpPr>
              <p:cNvPr id="32" name="TextBox 31"/>
              <p:cNvSpPr txBox="1"/>
              <p:nvPr/>
            </p:nvSpPr>
            <p:spPr>
              <a:xfrm>
                <a:off x="6988787" y="3171056"/>
                <a:ext cx="1033424" cy="369332"/>
              </a:xfrm>
              <a:prstGeom prst="rect">
                <a:avLst/>
              </a:prstGeom>
              <a:noFill/>
            </p:spPr>
            <p:txBody>
              <a:bodyPr wrap="none" rtlCol="0">
                <a:spAutoFit/>
              </a:bodyPr>
              <a:lstStyle/>
              <a:p>
                <a:r>
                  <a:rPr lang="en-US" i="1" dirty="0"/>
                  <a:t>Variables</a:t>
                </a:r>
              </a:p>
            </p:txBody>
          </p:sp>
          <p:sp>
            <p:nvSpPr>
              <p:cNvPr id="33" name="TextBox 32"/>
              <p:cNvSpPr txBox="1"/>
              <p:nvPr/>
            </p:nvSpPr>
            <p:spPr>
              <a:xfrm>
                <a:off x="6990871" y="3933056"/>
                <a:ext cx="1029256" cy="369332"/>
              </a:xfrm>
              <a:prstGeom prst="rect">
                <a:avLst/>
              </a:prstGeom>
              <a:noFill/>
            </p:spPr>
            <p:txBody>
              <a:bodyPr wrap="none" rtlCol="0">
                <a:spAutoFit/>
              </a:bodyPr>
              <a:lstStyle/>
              <a:p>
                <a:r>
                  <a:rPr lang="en-US" i="1" dirty="0"/>
                  <a:t>Activities</a:t>
                </a:r>
              </a:p>
            </p:txBody>
          </p:sp>
          <p:cxnSp>
            <p:nvCxnSpPr>
              <p:cNvPr id="34" name="Straight Connector 33"/>
              <p:cNvCxnSpPr/>
              <p:nvPr/>
            </p:nvCxnSpPr>
            <p:spPr>
              <a:xfrm>
                <a:off x="6660232" y="2996952"/>
                <a:ext cx="1728192" cy="0"/>
              </a:xfrm>
              <a:prstGeom prst="line">
                <a:avLst/>
              </a:prstGeom>
              <a:ln w="19050" cmpd="sng"/>
            </p:spPr>
            <p:style>
              <a:lnRef idx="1">
                <a:schemeClr val="dk1"/>
              </a:lnRef>
              <a:fillRef idx="0">
                <a:schemeClr val="dk1"/>
              </a:fillRef>
              <a:effectRef idx="0">
                <a:schemeClr val="dk1"/>
              </a:effectRef>
              <a:fontRef idx="minor">
                <a:schemeClr val="tx1"/>
              </a:fontRef>
            </p:style>
          </p:cxnSp>
          <p:cxnSp>
            <p:nvCxnSpPr>
              <p:cNvPr id="35" name="Straight Connector 34"/>
              <p:cNvCxnSpPr/>
              <p:nvPr/>
            </p:nvCxnSpPr>
            <p:spPr>
              <a:xfrm>
                <a:off x="6660232" y="3717032"/>
                <a:ext cx="1728192" cy="0"/>
              </a:xfrm>
              <a:prstGeom prst="line">
                <a:avLst/>
              </a:prstGeom>
              <a:ln w="19050" cmpd="sng"/>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2991014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2">
            <a:extLst>
              <a:ext uri="{FF2B5EF4-FFF2-40B4-BE49-F238E27FC236}">
                <a16:creationId xmlns:a16="http://schemas.microsoft.com/office/drawing/2014/main" id="{2650C606-3E31-557C-784B-C959FE3F3539}"/>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Transitions:</a:t>
            </a:r>
          </a:p>
          <a:p>
            <a:endParaRPr lang="en-US" dirty="0"/>
          </a:p>
          <a:p>
            <a:pPr lvl="1"/>
            <a:r>
              <a:rPr lang="en-US" dirty="0"/>
              <a:t>If in a current state,</a:t>
            </a:r>
            <a:br>
              <a:rPr lang="en-US" dirty="0"/>
            </a:br>
            <a:r>
              <a:rPr lang="en-US" dirty="0"/>
              <a:t>and </a:t>
            </a:r>
            <a:r>
              <a:rPr lang="en-US" i="1" dirty="0"/>
              <a:t>trigger</a:t>
            </a:r>
            <a:r>
              <a:rPr lang="en-US" dirty="0"/>
              <a:t> occurs,</a:t>
            </a:r>
            <a:br>
              <a:rPr lang="en-US" dirty="0"/>
            </a:br>
            <a:r>
              <a:rPr lang="en-US" dirty="0"/>
              <a:t>and </a:t>
            </a:r>
            <a:r>
              <a:rPr lang="en-US" i="1" dirty="0"/>
              <a:t>guard</a:t>
            </a:r>
            <a:r>
              <a:rPr lang="en-US" dirty="0"/>
              <a:t> constraint (if any) is true …</a:t>
            </a:r>
          </a:p>
          <a:p>
            <a:pPr lvl="1"/>
            <a:r>
              <a:rPr lang="en-US" dirty="0"/>
              <a:t>Then perform state exit actions (if any),</a:t>
            </a:r>
            <a:br>
              <a:rPr lang="en-US" dirty="0"/>
            </a:br>
            <a:r>
              <a:rPr lang="en-US" dirty="0"/>
              <a:t>perform corresponding transition </a:t>
            </a:r>
            <a:r>
              <a:rPr lang="en-US" i="1" dirty="0"/>
              <a:t>effect</a:t>
            </a:r>
            <a:r>
              <a:rPr lang="en-US" dirty="0"/>
              <a:t> (if any),</a:t>
            </a:r>
            <a:br>
              <a:rPr lang="en-US" dirty="0"/>
            </a:br>
            <a:r>
              <a:rPr lang="en-US" dirty="0"/>
              <a:t>perform new state entry actions (if any);</a:t>
            </a:r>
          </a:p>
          <a:p>
            <a:pPr lvl="1"/>
            <a:r>
              <a:rPr lang="en-US" dirty="0"/>
              <a:t>Otherwise, stay at current state.</a:t>
            </a:r>
          </a:p>
        </p:txBody>
      </p:sp>
      <p:sp>
        <p:nvSpPr>
          <p:cNvPr id="2" name="Title 1"/>
          <p:cNvSpPr>
            <a:spLocks noGrp="1"/>
          </p:cNvSpPr>
          <p:nvPr>
            <p:ph type="title"/>
          </p:nvPr>
        </p:nvSpPr>
        <p:spPr/>
        <p:txBody>
          <a:bodyPr/>
          <a:lstStyle/>
          <a:p>
            <a:r>
              <a:rPr lang="en-US" dirty="0"/>
              <a:t>UML State Diagram</a:t>
            </a:r>
          </a:p>
        </p:txBody>
      </p:sp>
      <p:sp>
        <p:nvSpPr>
          <p:cNvPr id="4" name="Slide Number Placeholder 3"/>
          <p:cNvSpPr>
            <a:spLocks noGrp="1"/>
          </p:cNvSpPr>
          <p:nvPr>
            <p:ph type="sldNum" sz="quarter" idx="12"/>
          </p:nvPr>
        </p:nvSpPr>
        <p:spPr/>
        <p:txBody>
          <a:bodyPr/>
          <a:lstStyle/>
          <a:p>
            <a:fld id="{CADD82E7-7C10-744D-AD9E-31500693C936}" type="slidenum">
              <a:rPr lang="en-US" smtClean="0"/>
              <a:pPr/>
              <a:t>57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402963875"/>
              </p:ext>
            </p:extLst>
          </p:nvPr>
        </p:nvGraphicFramePr>
        <p:xfrm>
          <a:off x="1199456" y="2312680"/>
          <a:ext cx="2664296" cy="396240"/>
        </p:xfrm>
        <a:graphic>
          <a:graphicData uri="http://schemas.openxmlformats.org/drawingml/2006/table">
            <a:tbl>
              <a:tblPr firstRow="1" bandRow="1">
                <a:tableStyleId>{5940675A-B579-460E-94D1-54222C63F5DA}</a:tableStyleId>
              </a:tblPr>
              <a:tblGrid>
                <a:gridCol w="2664296">
                  <a:extLst>
                    <a:ext uri="{9D8B030D-6E8A-4147-A177-3AD203B41FA5}">
                      <a16:colId xmlns:a16="http://schemas.microsoft.com/office/drawing/2014/main" val="20000"/>
                    </a:ext>
                  </a:extLst>
                </a:gridCol>
              </a:tblGrid>
              <a:tr h="370840">
                <a:tc>
                  <a:txBody>
                    <a:bodyPr/>
                    <a:lstStyle/>
                    <a:p>
                      <a:r>
                        <a:rPr lang="en-US" sz="2000" i="1" dirty="0"/>
                        <a:t>trigger</a:t>
                      </a:r>
                      <a:r>
                        <a:rPr lang="en-US" sz="2000" dirty="0"/>
                        <a:t> [ </a:t>
                      </a:r>
                      <a:r>
                        <a:rPr lang="en-US" sz="2000" i="1" dirty="0"/>
                        <a:t>guard</a:t>
                      </a:r>
                      <a:r>
                        <a:rPr lang="en-US" sz="2000" dirty="0"/>
                        <a:t> ] </a:t>
                      </a:r>
                      <a:r>
                        <a:rPr lang="en-US" sz="2000" baseline="0" dirty="0"/>
                        <a:t>/ </a:t>
                      </a:r>
                      <a:r>
                        <a:rPr lang="en-US" sz="2000" i="1" baseline="0" dirty="0"/>
                        <a:t>effect</a:t>
                      </a:r>
                      <a:endParaRPr lang="en-US" sz="2000" i="1" dirty="0"/>
                    </a:p>
                  </a:txBody>
                  <a:tcPr/>
                </a:tc>
                <a:extLst>
                  <a:ext uri="{0D108BD9-81ED-4DB2-BD59-A6C34878D82A}">
                    <a16:rowId xmlns:a16="http://schemas.microsoft.com/office/drawing/2014/main" val="10000"/>
                  </a:ext>
                </a:extLst>
              </a:tr>
            </a:tbl>
          </a:graphicData>
        </a:graphic>
      </p:graphicFrame>
      <p:sp>
        <p:nvSpPr>
          <p:cNvPr id="6" name="TextBox 5"/>
          <p:cNvSpPr txBox="1"/>
          <p:nvPr/>
        </p:nvSpPr>
        <p:spPr>
          <a:xfrm>
            <a:off x="4211418" y="2326134"/>
            <a:ext cx="3158237" cy="369332"/>
          </a:xfrm>
          <a:prstGeom prst="rect">
            <a:avLst/>
          </a:prstGeom>
          <a:noFill/>
        </p:spPr>
        <p:txBody>
          <a:bodyPr wrap="none" rtlCol="0">
            <a:spAutoFit/>
          </a:bodyPr>
          <a:lstStyle/>
          <a:p>
            <a:r>
              <a:rPr lang="en-US" dirty="0"/>
              <a:t>General form of transition label</a:t>
            </a:r>
          </a:p>
        </p:txBody>
      </p:sp>
    </p:spTree>
    <p:extLst>
      <p:ext uri="{BB962C8B-B14F-4D97-AF65-F5344CB8AC3E}">
        <p14:creationId xmlns:p14="http://schemas.microsoft.com/office/powerpoint/2010/main" val="9183862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State Diagram</a:t>
            </a:r>
          </a:p>
        </p:txBody>
      </p:sp>
      <p:sp>
        <p:nvSpPr>
          <p:cNvPr id="23" name="Content Placeholder 22"/>
          <p:cNvSpPr>
            <a:spLocks noGrp="1"/>
          </p:cNvSpPr>
          <p:nvPr>
            <p:ph idx="1"/>
          </p:nvPr>
        </p:nvSpPr>
        <p:spPr/>
        <p:txBody>
          <a:bodyPr/>
          <a:lstStyle/>
          <a:p>
            <a:r>
              <a:rPr lang="en-US" dirty="0"/>
              <a:t>Activities in states:</a:t>
            </a:r>
          </a:p>
          <a:p>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58</a:t>
            </a:fld>
            <a:endParaRPr lang="en-US"/>
          </a:p>
        </p:txBody>
      </p:sp>
      <p:grpSp>
        <p:nvGrpSpPr>
          <p:cNvPr id="41" name="Group 40"/>
          <p:cNvGrpSpPr/>
          <p:nvPr/>
        </p:nvGrpSpPr>
        <p:grpSpPr>
          <a:xfrm>
            <a:off x="2999656" y="4293096"/>
            <a:ext cx="6408712" cy="1542256"/>
            <a:chOff x="1475656" y="4293096"/>
            <a:chExt cx="6408712" cy="1542256"/>
          </a:xfrm>
        </p:grpSpPr>
        <p:sp>
          <p:nvSpPr>
            <p:cNvPr id="5" name="Rounded Rectangle 4"/>
            <p:cNvSpPr/>
            <p:nvPr/>
          </p:nvSpPr>
          <p:spPr>
            <a:xfrm>
              <a:off x="1835696" y="4293096"/>
              <a:ext cx="2304256" cy="15422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Verdana"/>
                <a:cs typeface="Verdana"/>
              </a:endParaRPr>
            </a:p>
          </p:txBody>
        </p:sp>
        <p:sp>
          <p:nvSpPr>
            <p:cNvPr id="6" name="TextBox 5"/>
            <p:cNvSpPr txBox="1"/>
            <p:nvPr/>
          </p:nvSpPr>
          <p:spPr>
            <a:xfrm>
              <a:off x="2572472" y="4509120"/>
              <a:ext cx="840295" cy="369332"/>
            </a:xfrm>
            <a:prstGeom prst="rect">
              <a:avLst/>
            </a:prstGeom>
            <a:noFill/>
          </p:spPr>
          <p:txBody>
            <a:bodyPr wrap="none" rtlCol="0">
              <a:spAutoFit/>
            </a:bodyPr>
            <a:lstStyle/>
            <a:p>
              <a:r>
                <a:rPr lang="en-US" dirty="0"/>
                <a:t>Timing</a:t>
              </a:r>
            </a:p>
          </p:txBody>
        </p:sp>
        <p:sp>
          <p:nvSpPr>
            <p:cNvPr id="7" name="TextBox 6"/>
            <p:cNvSpPr txBox="1"/>
            <p:nvPr/>
          </p:nvSpPr>
          <p:spPr>
            <a:xfrm>
              <a:off x="2123728" y="5259288"/>
              <a:ext cx="1669047" cy="369332"/>
            </a:xfrm>
            <a:prstGeom prst="rect">
              <a:avLst/>
            </a:prstGeom>
            <a:noFill/>
          </p:spPr>
          <p:txBody>
            <a:bodyPr wrap="none" rtlCol="0">
              <a:spAutoFit/>
            </a:bodyPr>
            <a:lstStyle/>
            <a:p>
              <a:r>
                <a:rPr lang="en-US" dirty="0"/>
                <a:t>do / countdown</a:t>
              </a:r>
            </a:p>
          </p:txBody>
        </p:sp>
        <p:cxnSp>
          <p:nvCxnSpPr>
            <p:cNvPr id="8" name="Straight Connector 7"/>
            <p:cNvCxnSpPr>
              <a:stCxn id="5" idx="1"/>
              <a:endCxn id="5" idx="3"/>
            </p:cNvCxnSpPr>
            <p:nvPr/>
          </p:nvCxnSpPr>
          <p:spPr>
            <a:xfrm>
              <a:off x="1835696" y="5064224"/>
              <a:ext cx="2304256" cy="0"/>
            </a:xfrm>
            <a:prstGeom prst="line">
              <a:avLst/>
            </a:prstGeom>
            <a:ln w="19050" cmpd="sng"/>
          </p:spPr>
          <p:style>
            <a:lnRef idx="1">
              <a:schemeClr val="dk1"/>
            </a:lnRef>
            <a:fillRef idx="0">
              <a:schemeClr val="dk1"/>
            </a:fillRef>
            <a:effectRef idx="0">
              <a:schemeClr val="dk1"/>
            </a:effectRef>
            <a:fontRef idx="minor">
              <a:schemeClr val="tx1"/>
            </a:fontRef>
          </p:style>
        </p:cxnSp>
        <p:sp>
          <p:nvSpPr>
            <p:cNvPr id="11" name="Rounded Rectangle 10"/>
            <p:cNvSpPr/>
            <p:nvPr/>
          </p:nvSpPr>
          <p:spPr>
            <a:xfrm>
              <a:off x="5580112" y="4293096"/>
              <a:ext cx="2304256" cy="15422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Verdana"/>
                <a:cs typeface="Verdana"/>
              </a:endParaRPr>
            </a:p>
          </p:txBody>
        </p:sp>
        <p:sp>
          <p:nvSpPr>
            <p:cNvPr id="12" name="TextBox 11"/>
            <p:cNvSpPr txBox="1"/>
            <p:nvPr/>
          </p:nvSpPr>
          <p:spPr>
            <a:xfrm>
              <a:off x="6366638" y="4509120"/>
              <a:ext cx="803425" cy="369332"/>
            </a:xfrm>
            <a:prstGeom prst="rect">
              <a:avLst/>
            </a:prstGeom>
            <a:noFill/>
          </p:spPr>
          <p:txBody>
            <a:bodyPr wrap="none" rtlCol="0">
              <a:spAutoFit/>
            </a:bodyPr>
            <a:lstStyle/>
            <a:p>
              <a:r>
                <a:rPr lang="en-US" dirty="0"/>
                <a:t>Ready</a:t>
              </a:r>
            </a:p>
          </p:txBody>
        </p:sp>
        <p:sp>
          <p:nvSpPr>
            <p:cNvPr id="13" name="TextBox 12"/>
            <p:cNvSpPr txBox="1"/>
            <p:nvPr/>
          </p:nvSpPr>
          <p:spPr>
            <a:xfrm>
              <a:off x="6084381" y="5259288"/>
              <a:ext cx="1322798" cy="369332"/>
            </a:xfrm>
            <a:prstGeom prst="rect">
              <a:avLst/>
            </a:prstGeom>
            <a:noFill/>
          </p:spPr>
          <p:txBody>
            <a:bodyPr wrap="none" rtlCol="0">
              <a:spAutoFit/>
            </a:bodyPr>
            <a:lstStyle/>
            <a:p>
              <a:r>
                <a:rPr lang="en-US" dirty="0"/>
                <a:t>entry / beep</a:t>
              </a:r>
            </a:p>
          </p:txBody>
        </p:sp>
        <p:cxnSp>
          <p:nvCxnSpPr>
            <p:cNvPr id="14" name="Straight Connector 13"/>
            <p:cNvCxnSpPr>
              <a:stCxn id="11" idx="1"/>
              <a:endCxn id="11" idx="3"/>
            </p:cNvCxnSpPr>
            <p:nvPr/>
          </p:nvCxnSpPr>
          <p:spPr>
            <a:xfrm>
              <a:off x="5580112" y="5064224"/>
              <a:ext cx="2304256" cy="0"/>
            </a:xfrm>
            <a:prstGeom prst="line">
              <a:avLst/>
            </a:prstGeom>
            <a:ln w="19050" cmpd="sng"/>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rot="16200000" flipH="1">
              <a:off x="1649696" y="4911144"/>
              <a:ext cx="11960" cy="360040"/>
            </a:xfrm>
            <a:prstGeom prst="straightConnector1">
              <a:avLst/>
            </a:prstGeom>
            <a:ln w="28575" cmpd="sng">
              <a:headEnd type="oval" w="lg" len="lg"/>
              <a:tailEnd type="arrow"/>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5" idx="3"/>
              <a:endCxn id="11" idx="1"/>
            </p:cNvCxnSpPr>
            <p:nvPr/>
          </p:nvCxnSpPr>
          <p:spPr>
            <a:xfrm>
              <a:off x="4139952" y="5064224"/>
              <a:ext cx="1440160" cy="0"/>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4283968" y="4581128"/>
              <a:ext cx="995785" cy="369332"/>
            </a:xfrm>
            <a:prstGeom prst="rect">
              <a:avLst/>
            </a:prstGeom>
            <a:noFill/>
          </p:spPr>
          <p:txBody>
            <a:bodyPr wrap="none" rtlCol="0">
              <a:spAutoFit/>
            </a:bodyPr>
            <a:lstStyle/>
            <a:p>
              <a:r>
                <a:rPr lang="en-US" dirty="0"/>
                <a:t>Timeout</a:t>
              </a:r>
            </a:p>
          </p:txBody>
        </p:sp>
      </p:grpSp>
      <p:graphicFrame>
        <p:nvGraphicFramePr>
          <p:cNvPr id="24" name="Table 23"/>
          <p:cNvGraphicFramePr>
            <a:graphicFrameLocks noGrp="1"/>
          </p:cNvGraphicFramePr>
          <p:nvPr>
            <p:extLst>
              <p:ext uri="{D42A27DB-BD31-4B8C-83A1-F6EECF244321}">
                <p14:modId xmlns:p14="http://schemas.microsoft.com/office/powerpoint/2010/main" val="1716848072"/>
              </p:ext>
            </p:extLst>
          </p:nvPr>
        </p:nvGraphicFramePr>
        <p:xfrm>
          <a:off x="3384376" y="2600320"/>
          <a:ext cx="6023992" cy="1188720"/>
        </p:xfrm>
        <a:graphic>
          <a:graphicData uri="http://schemas.openxmlformats.org/drawingml/2006/table">
            <a:tbl>
              <a:tblPr firstRow="1" bandRow="1">
                <a:tableStyleId>{5940675A-B579-460E-94D1-54222C63F5DA}</a:tableStyleId>
              </a:tblPr>
              <a:tblGrid>
                <a:gridCol w="1778936">
                  <a:extLst>
                    <a:ext uri="{9D8B030D-6E8A-4147-A177-3AD203B41FA5}">
                      <a16:colId xmlns:a16="http://schemas.microsoft.com/office/drawing/2014/main" val="20000"/>
                    </a:ext>
                  </a:extLst>
                </a:gridCol>
                <a:gridCol w="4245056">
                  <a:extLst>
                    <a:ext uri="{9D8B030D-6E8A-4147-A177-3AD203B41FA5}">
                      <a16:colId xmlns:a16="http://schemas.microsoft.com/office/drawing/2014/main" val="20001"/>
                    </a:ext>
                  </a:extLst>
                </a:gridCol>
              </a:tblGrid>
              <a:tr h="370840">
                <a:tc>
                  <a:txBody>
                    <a:bodyPr/>
                    <a:lstStyle/>
                    <a:p>
                      <a:r>
                        <a:rPr lang="en-US" sz="2000" dirty="0"/>
                        <a:t>entry</a:t>
                      </a:r>
                      <a:r>
                        <a:rPr lang="en-US" sz="2000" baseline="0" dirty="0"/>
                        <a:t> / </a:t>
                      </a:r>
                      <a:r>
                        <a:rPr lang="en-US" sz="2000" i="1" baseline="0" dirty="0"/>
                        <a:t>action</a:t>
                      </a:r>
                      <a:endParaRPr lang="en-US" sz="2000" i="1" dirty="0"/>
                    </a:p>
                  </a:txBody>
                  <a:tcPr/>
                </a:tc>
                <a:tc>
                  <a:txBody>
                    <a:bodyPr/>
                    <a:lstStyle/>
                    <a:p>
                      <a:r>
                        <a:rPr lang="en-US" sz="2000" dirty="0"/>
                        <a:t>perform </a:t>
                      </a:r>
                      <a:r>
                        <a:rPr lang="en-US" sz="2000" i="1" dirty="0"/>
                        <a:t>action</a:t>
                      </a:r>
                      <a:r>
                        <a:rPr lang="en-US" sz="2000" dirty="0"/>
                        <a:t> when entering state</a:t>
                      </a:r>
                    </a:p>
                  </a:txBody>
                  <a:tcPr/>
                </a:tc>
                <a:extLst>
                  <a:ext uri="{0D108BD9-81ED-4DB2-BD59-A6C34878D82A}">
                    <a16:rowId xmlns:a16="http://schemas.microsoft.com/office/drawing/2014/main" val="10000"/>
                  </a:ext>
                </a:extLst>
              </a:tr>
              <a:tr h="370840">
                <a:tc>
                  <a:txBody>
                    <a:bodyPr/>
                    <a:lstStyle/>
                    <a:p>
                      <a:r>
                        <a:rPr lang="en-US" sz="2000" dirty="0"/>
                        <a:t>do / </a:t>
                      </a:r>
                      <a:r>
                        <a:rPr lang="en-US" sz="2000" i="1" dirty="0"/>
                        <a:t>action</a:t>
                      </a:r>
                    </a:p>
                  </a:txBody>
                  <a:tcPr/>
                </a:tc>
                <a:tc>
                  <a:txBody>
                    <a:bodyPr/>
                    <a:lstStyle/>
                    <a:p>
                      <a:r>
                        <a:rPr lang="en-US" sz="2000" dirty="0"/>
                        <a:t>perform </a:t>
                      </a:r>
                      <a:r>
                        <a:rPr lang="en-US" sz="2000" i="1" dirty="0"/>
                        <a:t>action</a:t>
                      </a:r>
                      <a:r>
                        <a:rPr lang="en-US" sz="2000" dirty="0"/>
                        <a:t> while in state</a:t>
                      </a:r>
                    </a:p>
                  </a:txBody>
                  <a:tcPr/>
                </a:tc>
                <a:extLst>
                  <a:ext uri="{0D108BD9-81ED-4DB2-BD59-A6C34878D82A}">
                    <a16:rowId xmlns:a16="http://schemas.microsoft.com/office/drawing/2014/main" val="10001"/>
                  </a:ext>
                </a:extLst>
              </a:tr>
              <a:tr h="370840">
                <a:tc>
                  <a:txBody>
                    <a:bodyPr/>
                    <a:lstStyle/>
                    <a:p>
                      <a:r>
                        <a:rPr lang="en-US" sz="2000" dirty="0"/>
                        <a:t>exit / </a:t>
                      </a:r>
                      <a:r>
                        <a:rPr lang="en-US" sz="2000" i="1" dirty="0"/>
                        <a:t>action</a:t>
                      </a:r>
                    </a:p>
                  </a:txBody>
                  <a:tcPr/>
                </a:tc>
                <a:tc>
                  <a:txBody>
                    <a:bodyPr/>
                    <a:lstStyle/>
                    <a:p>
                      <a:r>
                        <a:rPr lang="en-US" sz="2000" dirty="0"/>
                        <a:t>perform </a:t>
                      </a:r>
                      <a:r>
                        <a:rPr lang="en-US" sz="2000" i="1" dirty="0"/>
                        <a:t>action</a:t>
                      </a:r>
                      <a:r>
                        <a:rPr lang="en-US" sz="2000" dirty="0"/>
                        <a:t> when exiting state</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402223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State Diagram</a:t>
            </a:r>
          </a:p>
        </p:txBody>
      </p:sp>
      <p:sp>
        <p:nvSpPr>
          <p:cNvPr id="23" name="Content Placeholder 22"/>
          <p:cNvSpPr>
            <a:spLocks noGrp="1"/>
          </p:cNvSpPr>
          <p:nvPr>
            <p:ph idx="1"/>
          </p:nvPr>
        </p:nvSpPr>
        <p:spPr/>
        <p:txBody>
          <a:bodyPr/>
          <a:lstStyle/>
          <a:p>
            <a:r>
              <a:rPr lang="en-US" dirty="0"/>
              <a:t>Activities in states:</a:t>
            </a:r>
          </a:p>
          <a:p>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59</a:t>
            </a:fld>
            <a:endParaRPr lang="en-US"/>
          </a:p>
        </p:txBody>
      </p:sp>
      <p:sp>
        <p:nvSpPr>
          <p:cNvPr id="5" name="Rounded Rectangle 4"/>
          <p:cNvSpPr/>
          <p:nvPr/>
        </p:nvSpPr>
        <p:spPr>
          <a:xfrm>
            <a:off x="3359696" y="3068960"/>
            <a:ext cx="2304256" cy="273630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Verdana"/>
              <a:cs typeface="Verdana"/>
            </a:endParaRPr>
          </a:p>
        </p:txBody>
      </p:sp>
      <p:sp>
        <p:nvSpPr>
          <p:cNvPr id="6" name="TextBox 5"/>
          <p:cNvSpPr txBox="1"/>
          <p:nvPr/>
        </p:nvSpPr>
        <p:spPr>
          <a:xfrm>
            <a:off x="3909335" y="3241832"/>
            <a:ext cx="1266180" cy="369332"/>
          </a:xfrm>
          <a:prstGeom prst="rect">
            <a:avLst/>
          </a:prstGeom>
          <a:noFill/>
        </p:spPr>
        <p:txBody>
          <a:bodyPr wrap="none" rtlCol="0">
            <a:spAutoFit/>
          </a:bodyPr>
          <a:lstStyle/>
          <a:p>
            <a:r>
              <a:rPr lang="en-US" dirty="0" err="1"/>
              <a:t>SettingDay</a:t>
            </a:r>
            <a:endParaRPr lang="en-US" dirty="0"/>
          </a:p>
        </p:txBody>
      </p:sp>
      <p:sp>
        <p:nvSpPr>
          <p:cNvPr id="7" name="TextBox 6"/>
          <p:cNvSpPr txBox="1"/>
          <p:nvPr/>
        </p:nvSpPr>
        <p:spPr>
          <a:xfrm>
            <a:off x="3587909" y="3861048"/>
            <a:ext cx="1654427" cy="1754326"/>
          </a:xfrm>
          <a:prstGeom prst="rect">
            <a:avLst/>
          </a:prstGeom>
          <a:noFill/>
        </p:spPr>
        <p:txBody>
          <a:bodyPr wrap="none" rtlCol="0">
            <a:spAutoFit/>
          </a:bodyPr>
          <a:lstStyle/>
          <a:p>
            <a:r>
              <a:rPr lang="en-US" dirty="0"/>
              <a:t>entry /</a:t>
            </a:r>
            <a:br>
              <a:rPr lang="en-US" dirty="0"/>
            </a:br>
            <a:r>
              <a:rPr lang="en-US" dirty="0"/>
              <a:t> start day blink</a:t>
            </a:r>
          </a:p>
          <a:p>
            <a:r>
              <a:rPr lang="en-US" dirty="0"/>
              <a:t>button1 /</a:t>
            </a:r>
            <a:br>
              <a:rPr lang="en-US" dirty="0"/>
            </a:br>
            <a:r>
              <a:rPr lang="en-US" dirty="0"/>
              <a:t> increment day</a:t>
            </a:r>
            <a:br>
              <a:rPr lang="en-US" dirty="0"/>
            </a:br>
            <a:r>
              <a:rPr lang="en-US" dirty="0"/>
              <a:t>exit /</a:t>
            </a:r>
            <a:br>
              <a:rPr lang="en-US" dirty="0"/>
            </a:br>
            <a:r>
              <a:rPr lang="en-US" dirty="0"/>
              <a:t> stop day blink</a:t>
            </a:r>
          </a:p>
        </p:txBody>
      </p:sp>
      <p:cxnSp>
        <p:nvCxnSpPr>
          <p:cNvPr id="8" name="Straight Connector 7"/>
          <p:cNvCxnSpPr/>
          <p:nvPr/>
        </p:nvCxnSpPr>
        <p:spPr>
          <a:xfrm>
            <a:off x="3359696" y="3789040"/>
            <a:ext cx="2304256" cy="0"/>
          </a:xfrm>
          <a:prstGeom prst="line">
            <a:avLst/>
          </a:prstGeom>
          <a:ln w="19050" cmpd="sng"/>
        </p:spPr>
        <p:style>
          <a:lnRef idx="1">
            <a:schemeClr val="dk1"/>
          </a:lnRef>
          <a:fillRef idx="0">
            <a:schemeClr val="dk1"/>
          </a:fillRef>
          <a:effectRef idx="0">
            <a:schemeClr val="dk1"/>
          </a:effectRef>
          <a:fontRef idx="minor">
            <a:schemeClr val="tx1"/>
          </a:fontRef>
        </p:style>
      </p:cxnSp>
      <p:sp>
        <p:nvSpPr>
          <p:cNvPr id="11" name="Rounded Rectangle 10"/>
          <p:cNvSpPr/>
          <p:nvPr/>
        </p:nvSpPr>
        <p:spPr>
          <a:xfrm>
            <a:off x="7104112" y="3068960"/>
            <a:ext cx="2304256" cy="273630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Verdana"/>
              <a:cs typeface="Verdana"/>
            </a:endParaRPr>
          </a:p>
        </p:txBody>
      </p:sp>
      <p:sp>
        <p:nvSpPr>
          <p:cNvPr id="12" name="TextBox 11"/>
          <p:cNvSpPr txBox="1"/>
          <p:nvPr/>
        </p:nvSpPr>
        <p:spPr>
          <a:xfrm>
            <a:off x="7497058" y="3241832"/>
            <a:ext cx="1518364" cy="369332"/>
          </a:xfrm>
          <a:prstGeom prst="rect">
            <a:avLst/>
          </a:prstGeom>
          <a:noFill/>
        </p:spPr>
        <p:txBody>
          <a:bodyPr wrap="none" rtlCol="0">
            <a:spAutoFit/>
          </a:bodyPr>
          <a:lstStyle/>
          <a:p>
            <a:r>
              <a:rPr lang="en-US" dirty="0" err="1"/>
              <a:t>SettingMonth</a:t>
            </a:r>
            <a:endParaRPr lang="en-US" dirty="0"/>
          </a:p>
        </p:txBody>
      </p:sp>
      <p:sp>
        <p:nvSpPr>
          <p:cNvPr id="13" name="TextBox 12"/>
          <p:cNvSpPr txBox="1"/>
          <p:nvPr/>
        </p:nvSpPr>
        <p:spPr>
          <a:xfrm>
            <a:off x="7167090" y="3861048"/>
            <a:ext cx="1949636" cy="1754326"/>
          </a:xfrm>
          <a:prstGeom prst="rect">
            <a:avLst/>
          </a:prstGeom>
          <a:noFill/>
        </p:spPr>
        <p:txBody>
          <a:bodyPr wrap="none" rtlCol="0">
            <a:spAutoFit/>
          </a:bodyPr>
          <a:lstStyle/>
          <a:p>
            <a:r>
              <a:rPr lang="en-US" dirty="0"/>
              <a:t>entry /</a:t>
            </a:r>
            <a:br>
              <a:rPr lang="en-US" dirty="0"/>
            </a:br>
            <a:r>
              <a:rPr lang="en-US" dirty="0"/>
              <a:t> start month blink</a:t>
            </a:r>
          </a:p>
          <a:p>
            <a:r>
              <a:rPr lang="en-US" dirty="0"/>
              <a:t>button1 /</a:t>
            </a:r>
            <a:br>
              <a:rPr lang="en-US" dirty="0"/>
            </a:br>
            <a:r>
              <a:rPr lang="en-US" dirty="0"/>
              <a:t> increment month</a:t>
            </a:r>
          </a:p>
          <a:p>
            <a:r>
              <a:rPr lang="en-US" dirty="0"/>
              <a:t>exit /</a:t>
            </a:r>
          </a:p>
          <a:p>
            <a:r>
              <a:rPr lang="en-US" dirty="0"/>
              <a:t> stop month blink</a:t>
            </a:r>
          </a:p>
        </p:txBody>
      </p:sp>
      <p:cxnSp>
        <p:nvCxnSpPr>
          <p:cNvPr id="14" name="Straight Connector 13"/>
          <p:cNvCxnSpPr/>
          <p:nvPr/>
        </p:nvCxnSpPr>
        <p:spPr>
          <a:xfrm>
            <a:off x="7104112" y="3789040"/>
            <a:ext cx="2304256" cy="0"/>
          </a:xfrm>
          <a:prstGeom prst="line">
            <a:avLst/>
          </a:prstGeom>
          <a:ln w="19050" cmpd="sng"/>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rot="16200000" flipH="1">
            <a:off x="3173696" y="3687008"/>
            <a:ext cx="11960" cy="360040"/>
          </a:xfrm>
          <a:prstGeom prst="straightConnector1">
            <a:avLst/>
          </a:prstGeom>
          <a:ln w="28575" cmpd="sng">
            <a:headEnd type="oval" w="lg" len="lg"/>
            <a:tailEnd type="arrow"/>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5" idx="3"/>
            <a:endCxn id="11" idx="1"/>
          </p:cNvCxnSpPr>
          <p:nvPr/>
        </p:nvCxnSpPr>
        <p:spPr>
          <a:xfrm>
            <a:off x="5663952" y="4437112"/>
            <a:ext cx="1440160" cy="0"/>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5807969" y="3995772"/>
            <a:ext cx="968983" cy="369332"/>
          </a:xfrm>
          <a:prstGeom prst="rect">
            <a:avLst/>
          </a:prstGeom>
          <a:noFill/>
        </p:spPr>
        <p:txBody>
          <a:bodyPr wrap="none" rtlCol="0">
            <a:spAutoFit/>
          </a:bodyPr>
          <a:lstStyle/>
          <a:p>
            <a:r>
              <a:rPr lang="en-US" dirty="0"/>
              <a:t>button2</a:t>
            </a:r>
          </a:p>
        </p:txBody>
      </p:sp>
      <p:graphicFrame>
        <p:nvGraphicFramePr>
          <p:cNvPr id="24" name="Table 23"/>
          <p:cNvGraphicFramePr>
            <a:graphicFrameLocks noGrp="1"/>
          </p:cNvGraphicFramePr>
          <p:nvPr>
            <p:extLst>
              <p:ext uri="{D42A27DB-BD31-4B8C-83A1-F6EECF244321}">
                <p14:modId xmlns:p14="http://schemas.microsoft.com/office/powerpoint/2010/main" val="272406002"/>
              </p:ext>
            </p:extLst>
          </p:nvPr>
        </p:nvGraphicFramePr>
        <p:xfrm>
          <a:off x="3384376" y="2420888"/>
          <a:ext cx="6023992" cy="396240"/>
        </p:xfrm>
        <a:graphic>
          <a:graphicData uri="http://schemas.openxmlformats.org/drawingml/2006/table">
            <a:tbl>
              <a:tblPr firstRow="1" bandRow="1">
                <a:tableStyleId>{5940675A-B579-460E-94D1-54222C63F5DA}</a:tableStyleId>
              </a:tblPr>
              <a:tblGrid>
                <a:gridCol w="1778936">
                  <a:extLst>
                    <a:ext uri="{9D8B030D-6E8A-4147-A177-3AD203B41FA5}">
                      <a16:colId xmlns:a16="http://schemas.microsoft.com/office/drawing/2014/main" val="20000"/>
                    </a:ext>
                  </a:extLst>
                </a:gridCol>
                <a:gridCol w="4245056">
                  <a:extLst>
                    <a:ext uri="{9D8B030D-6E8A-4147-A177-3AD203B41FA5}">
                      <a16:colId xmlns:a16="http://schemas.microsoft.com/office/drawing/2014/main" val="20001"/>
                    </a:ext>
                  </a:extLst>
                </a:gridCol>
              </a:tblGrid>
              <a:tr h="370840">
                <a:tc>
                  <a:txBody>
                    <a:bodyPr/>
                    <a:lstStyle/>
                    <a:p>
                      <a:r>
                        <a:rPr lang="en-US" sz="2000" i="1" dirty="0"/>
                        <a:t>trigger </a:t>
                      </a:r>
                      <a:r>
                        <a:rPr lang="en-US" sz="2000" i="0" dirty="0"/>
                        <a:t>/</a:t>
                      </a:r>
                      <a:r>
                        <a:rPr lang="en-US" sz="2000" i="1" dirty="0"/>
                        <a:t> action</a:t>
                      </a:r>
                    </a:p>
                  </a:txBody>
                  <a:tcPr/>
                </a:tc>
                <a:tc>
                  <a:txBody>
                    <a:bodyPr/>
                    <a:lstStyle/>
                    <a:p>
                      <a:r>
                        <a:rPr lang="en-US" sz="2000" dirty="0"/>
                        <a:t>when </a:t>
                      </a:r>
                      <a:r>
                        <a:rPr lang="en-US" sz="2000" i="1" dirty="0"/>
                        <a:t>trigger</a:t>
                      </a:r>
                      <a:r>
                        <a:rPr lang="en-US" sz="2000" dirty="0"/>
                        <a:t> occurs, perform </a:t>
                      </a:r>
                      <a:r>
                        <a:rPr lang="en-US" sz="2000" i="1" dirty="0"/>
                        <a:t>action</a:t>
                      </a:r>
                    </a:p>
                  </a:txBody>
                  <a:tcPr/>
                </a:tc>
                <a:extLst>
                  <a:ext uri="{0D108BD9-81ED-4DB2-BD59-A6C34878D82A}">
                    <a16:rowId xmlns:a16="http://schemas.microsoft.com/office/drawing/2014/main" val="10000"/>
                  </a:ext>
                </a:extLst>
              </a:tr>
            </a:tbl>
          </a:graphicData>
        </a:graphic>
      </p:graphicFrame>
      <p:sp>
        <p:nvSpPr>
          <p:cNvPr id="17" name="Oval 16"/>
          <p:cNvSpPr/>
          <p:nvPr/>
        </p:nvSpPr>
        <p:spPr>
          <a:xfrm>
            <a:off x="8256240" y="6525344"/>
            <a:ext cx="144016" cy="14401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p:cNvSpPr/>
          <p:nvPr/>
        </p:nvSpPr>
        <p:spPr>
          <a:xfrm>
            <a:off x="8184232" y="6453336"/>
            <a:ext cx="288032" cy="28803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0" name="Straight Arrow Connector 19"/>
          <p:cNvCxnSpPr>
            <a:endCxn id="18" idx="0"/>
          </p:cNvCxnSpPr>
          <p:nvPr/>
        </p:nvCxnSpPr>
        <p:spPr>
          <a:xfrm>
            <a:off x="8328248" y="5805264"/>
            <a:ext cx="0" cy="648072"/>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8462591" y="5949280"/>
            <a:ext cx="968983" cy="369332"/>
          </a:xfrm>
          <a:prstGeom prst="rect">
            <a:avLst/>
          </a:prstGeom>
          <a:noFill/>
        </p:spPr>
        <p:txBody>
          <a:bodyPr wrap="none" rtlCol="0">
            <a:spAutoFit/>
          </a:bodyPr>
          <a:lstStyle/>
          <a:p>
            <a:r>
              <a:rPr lang="en-US" dirty="0"/>
              <a:t>button3</a:t>
            </a:r>
          </a:p>
        </p:txBody>
      </p:sp>
      <p:sp>
        <p:nvSpPr>
          <p:cNvPr id="9" name="TextBox 8"/>
          <p:cNvSpPr txBox="1"/>
          <p:nvPr/>
        </p:nvSpPr>
        <p:spPr>
          <a:xfrm>
            <a:off x="8112224" y="1412776"/>
            <a:ext cx="1944216" cy="646331"/>
          </a:xfrm>
          <a:prstGeom prst="rect">
            <a:avLst/>
          </a:prstGeom>
          <a:noFill/>
        </p:spPr>
        <p:txBody>
          <a:bodyPr wrap="square" rtlCol="0">
            <a:spAutoFit/>
          </a:bodyPr>
          <a:lstStyle/>
          <a:p>
            <a:r>
              <a:rPr lang="en-US" i="1" dirty="0"/>
              <a:t>Also called an internal transition</a:t>
            </a:r>
          </a:p>
        </p:txBody>
      </p:sp>
    </p:spTree>
    <p:extLst>
      <p:ext uri="{BB962C8B-B14F-4D97-AF65-F5344CB8AC3E}">
        <p14:creationId xmlns:p14="http://schemas.microsoft.com/office/powerpoint/2010/main" val="28248594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Room Planner</a:t>
            </a:r>
          </a:p>
        </p:txBody>
      </p:sp>
      <p:sp>
        <p:nvSpPr>
          <p:cNvPr id="3" name="Content Placeholder 2"/>
          <p:cNvSpPr>
            <a:spLocks noGrp="1"/>
          </p:cNvSpPr>
          <p:nvPr>
            <p:ph idx="1"/>
          </p:nvPr>
        </p:nvSpPr>
        <p:spPr/>
        <p:txBody>
          <a:bodyPr/>
          <a:lstStyle/>
          <a:p>
            <a:r>
              <a:rPr lang="en-US" dirty="0"/>
              <a:t>Canvas:</a:t>
            </a:r>
          </a:p>
          <a:p>
            <a:pPr lvl="1"/>
            <a:r>
              <a:rPr lang="en-US" dirty="0"/>
              <a:t>To place and move items</a:t>
            </a:r>
          </a:p>
          <a:p>
            <a:r>
              <a:rPr lang="en-US" dirty="0"/>
              <a:t>Mouse events:</a:t>
            </a:r>
          </a:p>
          <a:p>
            <a:pPr lvl="1"/>
            <a:r>
              <a:rPr lang="en-US" dirty="0"/>
              <a:t>Click</a:t>
            </a:r>
          </a:p>
          <a:p>
            <a:pPr lvl="1"/>
            <a:r>
              <a:rPr lang="en-US" dirty="0"/>
              <a:t>Press/drag/release</a:t>
            </a:r>
          </a:p>
          <a:p>
            <a:r>
              <a:rPr lang="en-US" dirty="0"/>
              <a:t>Item type menu:</a:t>
            </a:r>
          </a:p>
          <a:p>
            <a:pPr lvl="1"/>
            <a:r>
              <a:rPr lang="en-US" dirty="0"/>
              <a:t>Choices of fixtures and furniture</a:t>
            </a:r>
          </a:p>
        </p:txBody>
      </p:sp>
      <p:sp>
        <p:nvSpPr>
          <p:cNvPr id="4" name="Slide Number Placeholder 3"/>
          <p:cNvSpPr>
            <a:spLocks noGrp="1"/>
          </p:cNvSpPr>
          <p:nvPr>
            <p:ph type="sldNum" sz="quarter" idx="12"/>
          </p:nvPr>
        </p:nvSpPr>
        <p:spPr/>
        <p:txBody>
          <a:bodyPr/>
          <a:lstStyle/>
          <a:p>
            <a:fld id="{CADD82E7-7C10-744D-AD9E-31500693C936}" type="slidenum">
              <a:rPr lang="en-US" smtClean="0"/>
              <a:pPr/>
              <a:t>60</a:t>
            </a:fld>
            <a:endParaRPr lang="en-US"/>
          </a:p>
        </p:txBody>
      </p:sp>
      <p:grpSp>
        <p:nvGrpSpPr>
          <p:cNvPr id="5" name="Group 4">
            <a:extLst>
              <a:ext uri="{FF2B5EF4-FFF2-40B4-BE49-F238E27FC236}">
                <a16:creationId xmlns:a16="http://schemas.microsoft.com/office/drawing/2014/main" id="{67AEE5AF-C10F-2BFB-2275-DBCD474001C1}"/>
              </a:ext>
            </a:extLst>
          </p:cNvPr>
          <p:cNvGrpSpPr/>
          <p:nvPr/>
        </p:nvGrpSpPr>
        <p:grpSpPr>
          <a:xfrm>
            <a:off x="7248128" y="2204864"/>
            <a:ext cx="3240360" cy="2448272"/>
            <a:chOff x="6672064" y="3140968"/>
            <a:chExt cx="3240360" cy="2448272"/>
          </a:xfrm>
        </p:grpSpPr>
        <p:sp>
          <p:nvSpPr>
            <p:cNvPr id="6" name="Rectangle 5"/>
            <p:cNvSpPr/>
            <p:nvPr/>
          </p:nvSpPr>
          <p:spPr>
            <a:xfrm>
              <a:off x="6672064" y="3140968"/>
              <a:ext cx="3240360" cy="24482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Rectangle 30"/>
            <p:cNvSpPr/>
            <p:nvPr/>
          </p:nvSpPr>
          <p:spPr>
            <a:xfrm>
              <a:off x="6960096" y="3573016"/>
              <a:ext cx="2664296" cy="1800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p:cNvSpPr/>
            <p:nvPr/>
          </p:nvSpPr>
          <p:spPr>
            <a:xfrm>
              <a:off x="6672064" y="3140968"/>
              <a:ext cx="3240360" cy="216024"/>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sp>
          <p:nvSpPr>
            <p:cNvPr id="17" name="Rectangle 16"/>
            <p:cNvSpPr/>
            <p:nvPr/>
          </p:nvSpPr>
          <p:spPr>
            <a:xfrm>
              <a:off x="8616280" y="4437112"/>
              <a:ext cx="432048" cy="7200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9" name="Straight Connector 18"/>
            <p:cNvCxnSpPr/>
            <p:nvPr/>
          </p:nvCxnSpPr>
          <p:spPr>
            <a:xfrm>
              <a:off x="8616280" y="4581128"/>
              <a:ext cx="432048"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8616280" y="4725144"/>
              <a:ext cx="432048" cy="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a:off x="8616280" y="4869160"/>
              <a:ext cx="432048"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a:off x="8616280" y="5013176"/>
              <a:ext cx="432048" cy="0"/>
            </a:xfrm>
            <a:prstGeom prst="line">
              <a:avLst/>
            </a:prstGeom>
          </p:spPr>
          <p:style>
            <a:lnRef idx="1">
              <a:schemeClr val="dk1"/>
            </a:lnRef>
            <a:fillRef idx="0">
              <a:schemeClr val="dk1"/>
            </a:fillRef>
            <a:effectRef idx="0">
              <a:schemeClr val="dk1"/>
            </a:effectRef>
            <a:fontRef idx="minor">
              <a:schemeClr val="tx1"/>
            </a:fontRef>
          </p:style>
        </p:cxnSp>
        <p:grpSp>
          <p:nvGrpSpPr>
            <p:cNvPr id="30" name="Group 29"/>
            <p:cNvGrpSpPr/>
            <p:nvPr/>
          </p:nvGrpSpPr>
          <p:grpSpPr>
            <a:xfrm>
              <a:off x="7824192" y="3573016"/>
              <a:ext cx="648072" cy="504056"/>
              <a:chOff x="5796136" y="3573016"/>
              <a:chExt cx="648072" cy="504056"/>
            </a:xfrm>
          </p:grpSpPr>
          <p:sp>
            <p:nvSpPr>
              <p:cNvPr id="23" name="Rectangle 22"/>
              <p:cNvSpPr/>
              <p:nvPr/>
            </p:nvSpPr>
            <p:spPr>
              <a:xfrm>
                <a:off x="5796136" y="3573016"/>
                <a:ext cx="648072" cy="5040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Oval 23"/>
              <p:cNvSpPr/>
              <p:nvPr/>
            </p:nvSpPr>
            <p:spPr>
              <a:xfrm>
                <a:off x="5868144" y="3645024"/>
                <a:ext cx="504056" cy="36004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5" name="Rectangle 24"/>
            <p:cNvSpPr/>
            <p:nvPr/>
          </p:nvSpPr>
          <p:spPr>
            <a:xfrm>
              <a:off x="6960096" y="3573016"/>
              <a:ext cx="648072" cy="6480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7" name="Straight Connector 26"/>
            <p:cNvCxnSpPr/>
            <p:nvPr/>
          </p:nvCxnSpPr>
          <p:spPr>
            <a:xfrm>
              <a:off x="6960096" y="3573016"/>
              <a:ext cx="648072" cy="648072"/>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p:cNvCxnSpPr/>
            <p:nvPr/>
          </p:nvCxnSpPr>
          <p:spPr>
            <a:xfrm flipH="1">
              <a:off x="6960096" y="3573016"/>
              <a:ext cx="648072" cy="648072"/>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7586479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Room Planner</a:t>
            </a:r>
          </a:p>
        </p:txBody>
      </p:sp>
      <p:sp>
        <p:nvSpPr>
          <p:cNvPr id="3" name="Content Placeholder 2"/>
          <p:cNvSpPr>
            <a:spLocks noGrp="1"/>
          </p:cNvSpPr>
          <p:nvPr>
            <p:ph idx="1"/>
          </p:nvPr>
        </p:nvSpPr>
        <p:spPr/>
        <p:txBody>
          <a:bodyPr/>
          <a:lstStyle/>
          <a:p>
            <a:r>
              <a:rPr lang="en-US" dirty="0"/>
              <a:t>Placing an item:</a:t>
            </a:r>
          </a:p>
          <a:p>
            <a:pPr lvl="1"/>
            <a:r>
              <a:rPr lang="en-US" dirty="0"/>
              <a:t>User clicks on canvas outside any item</a:t>
            </a:r>
          </a:p>
          <a:p>
            <a:pPr lvl="2"/>
            <a:r>
              <a:rPr lang="en-US" dirty="0"/>
              <a:t>System shows the item type menu</a:t>
            </a:r>
          </a:p>
          <a:p>
            <a:pPr lvl="1"/>
            <a:r>
              <a:rPr lang="en-US" dirty="0"/>
              <a:t>User chooses an item type from the menu</a:t>
            </a:r>
          </a:p>
          <a:p>
            <a:pPr lvl="2"/>
            <a:r>
              <a:rPr lang="en-US" dirty="0"/>
              <a:t>System hides the item type menu</a:t>
            </a:r>
          </a:p>
          <a:p>
            <a:pPr lvl="1"/>
            <a:r>
              <a:rPr lang="en-US" dirty="0"/>
              <a:t>User clicks on the canvas</a:t>
            </a:r>
          </a:p>
          <a:p>
            <a:pPr lvl="2"/>
            <a:r>
              <a:rPr lang="en-US" dirty="0"/>
              <a:t>System draws item of the chosen type at the mouse location</a:t>
            </a:r>
          </a:p>
        </p:txBody>
      </p:sp>
      <p:sp>
        <p:nvSpPr>
          <p:cNvPr id="4" name="Slide Number Placeholder 3"/>
          <p:cNvSpPr>
            <a:spLocks noGrp="1"/>
          </p:cNvSpPr>
          <p:nvPr>
            <p:ph type="sldNum" sz="quarter" idx="12"/>
          </p:nvPr>
        </p:nvSpPr>
        <p:spPr/>
        <p:txBody>
          <a:bodyPr/>
          <a:lstStyle/>
          <a:p>
            <a:fld id="{CADD82E7-7C10-744D-AD9E-31500693C936}" type="slidenum">
              <a:rPr lang="en-US" smtClean="0"/>
              <a:pPr/>
              <a:t>61</a:t>
            </a:fld>
            <a:endParaRPr lang="en-US"/>
          </a:p>
        </p:txBody>
      </p:sp>
    </p:spTree>
    <p:extLst>
      <p:ext uri="{BB962C8B-B14F-4D97-AF65-F5344CB8AC3E}">
        <p14:creationId xmlns:p14="http://schemas.microsoft.com/office/powerpoint/2010/main" val="34400674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Room Planner</a:t>
            </a:r>
          </a:p>
        </p:txBody>
      </p:sp>
      <p:sp>
        <p:nvSpPr>
          <p:cNvPr id="3" name="Content Placeholder 2"/>
          <p:cNvSpPr>
            <a:spLocks noGrp="1"/>
          </p:cNvSpPr>
          <p:nvPr>
            <p:ph idx="1"/>
          </p:nvPr>
        </p:nvSpPr>
        <p:spPr/>
        <p:txBody>
          <a:bodyPr/>
          <a:lstStyle/>
          <a:p>
            <a:r>
              <a:rPr lang="en-US" dirty="0"/>
              <a:t>Moving an item:</a:t>
            </a:r>
          </a:p>
          <a:p>
            <a:pPr lvl="1"/>
            <a:r>
              <a:rPr lang="en-US" dirty="0"/>
              <a:t>User presses inside an item</a:t>
            </a:r>
          </a:p>
          <a:p>
            <a:pPr lvl="2"/>
            <a:r>
              <a:rPr lang="en-US" dirty="0"/>
              <a:t>System highlights item</a:t>
            </a:r>
          </a:p>
          <a:p>
            <a:pPr lvl="1"/>
            <a:r>
              <a:rPr lang="en-US" dirty="0"/>
              <a:t>User drags item</a:t>
            </a:r>
          </a:p>
          <a:p>
            <a:pPr lvl="2"/>
            <a:r>
              <a:rPr lang="en-US" dirty="0"/>
              <a:t>System shows moving item</a:t>
            </a:r>
          </a:p>
          <a:p>
            <a:pPr lvl="1"/>
            <a:r>
              <a:rPr lang="en-US" dirty="0"/>
              <a:t>User releases mouse</a:t>
            </a:r>
          </a:p>
          <a:p>
            <a:pPr lvl="2"/>
            <a:r>
              <a:rPr lang="en-US" dirty="0"/>
              <a:t>System puts item at new location</a:t>
            </a:r>
          </a:p>
          <a:p>
            <a:pPr lvl="2"/>
            <a:r>
              <a:rPr lang="en-US" dirty="0"/>
              <a:t>System removes item highlighting</a:t>
            </a:r>
          </a:p>
        </p:txBody>
      </p:sp>
      <p:sp>
        <p:nvSpPr>
          <p:cNvPr id="4" name="Slide Number Placeholder 3"/>
          <p:cNvSpPr>
            <a:spLocks noGrp="1"/>
          </p:cNvSpPr>
          <p:nvPr>
            <p:ph type="sldNum" sz="quarter" idx="12"/>
          </p:nvPr>
        </p:nvSpPr>
        <p:spPr/>
        <p:txBody>
          <a:bodyPr/>
          <a:lstStyle/>
          <a:p>
            <a:fld id="{CADD82E7-7C10-744D-AD9E-31500693C936}" type="slidenum">
              <a:rPr lang="en-US" smtClean="0"/>
              <a:pPr/>
              <a:t>62</a:t>
            </a:fld>
            <a:endParaRPr lang="en-US"/>
          </a:p>
        </p:txBody>
      </p:sp>
    </p:spTree>
    <p:extLst>
      <p:ext uri="{BB962C8B-B14F-4D97-AF65-F5344CB8AC3E}">
        <p14:creationId xmlns:p14="http://schemas.microsoft.com/office/powerpoint/2010/main" val="40555723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Room Planner</a:t>
            </a:r>
          </a:p>
        </p:txBody>
      </p:sp>
      <p:sp>
        <p:nvSpPr>
          <p:cNvPr id="3" name="Content Placeholder 2"/>
          <p:cNvSpPr>
            <a:spLocks noGrp="1"/>
          </p:cNvSpPr>
          <p:nvPr>
            <p:ph idx="1"/>
          </p:nvPr>
        </p:nvSpPr>
        <p:spPr/>
        <p:txBody>
          <a:bodyPr/>
          <a:lstStyle/>
          <a:p>
            <a:r>
              <a:rPr lang="en-US" dirty="0"/>
              <a:t>States:</a:t>
            </a:r>
          </a:p>
          <a:p>
            <a:pPr lvl="1"/>
            <a:r>
              <a:rPr lang="en-US" dirty="0"/>
              <a:t>Waiting</a:t>
            </a:r>
          </a:p>
          <a:p>
            <a:pPr lvl="2"/>
            <a:r>
              <a:rPr lang="en-US" dirty="0"/>
              <a:t>Nothing happening</a:t>
            </a:r>
          </a:p>
          <a:p>
            <a:pPr lvl="1"/>
            <a:r>
              <a:rPr lang="en-US" dirty="0"/>
              <a:t>Choosing</a:t>
            </a:r>
          </a:p>
          <a:p>
            <a:pPr lvl="2"/>
            <a:r>
              <a:rPr lang="en-US" dirty="0"/>
              <a:t>Choosing item type from menu</a:t>
            </a:r>
          </a:p>
          <a:p>
            <a:pPr lvl="1"/>
            <a:r>
              <a:rPr lang="en-US" dirty="0"/>
              <a:t>Placing</a:t>
            </a:r>
          </a:p>
          <a:p>
            <a:pPr lvl="2"/>
            <a:r>
              <a:rPr lang="en-US" dirty="0"/>
              <a:t>Placing chosen shape</a:t>
            </a:r>
          </a:p>
          <a:p>
            <a:pPr lvl="1"/>
            <a:r>
              <a:rPr lang="en-US" dirty="0"/>
              <a:t>Moving</a:t>
            </a:r>
          </a:p>
          <a:p>
            <a:pPr lvl="2"/>
            <a:r>
              <a:rPr lang="en-US" dirty="0"/>
              <a:t>Moving item to new position</a:t>
            </a: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63</a:t>
            </a:fld>
            <a:endParaRPr lang="en-US"/>
          </a:p>
        </p:txBody>
      </p:sp>
    </p:spTree>
    <p:extLst>
      <p:ext uri="{BB962C8B-B14F-4D97-AF65-F5344CB8AC3E}">
        <p14:creationId xmlns:p14="http://schemas.microsoft.com/office/powerpoint/2010/main" val="9305124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Group 62"/>
          <p:cNvGrpSpPr/>
          <p:nvPr/>
        </p:nvGrpSpPr>
        <p:grpSpPr>
          <a:xfrm>
            <a:off x="8400256" y="1052736"/>
            <a:ext cx="2160240" cy="4464496"/>
            <a:chOff x="6876256" y="1052736"/>
            <a:chExt cx="2160240" cy="4464496"/>
          </a:xfrm>
        </p:grpSpPr>
        <p:sp>
          <p:nvSpPr>
            <p:cNvPr id="7" name="Rounded Rectangle 6"/>
            <p:cNvSpPr/>
            <p:nvPr/>
          </p:nvSpPr>
          <p:spPr>
            <a:xfrm>
              <a:off x="6876256" y="1052736"/>
              <a:ext cx="2160240" cy="446449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Verdana"/>
                <a:cs typeface="Verdana"/>
              </a:endParaRPr>
            </a:p>
          </p:txBody>
        </p:sp>
        <p:sp>
          <p:nvSpPr>
            <p:cNvPr id="8" name="TextBox 7"/>
            <p:cNvSpPr txBox="1"/>
            <p:nvPr/>
          </p:nvSpPr>
          <p:spPr>
            <a:xfrm>
              <a:off x="7452320" y="1196752"/>
              <a:ext cx="889346" cy="369332"/>
            </a:xfrm>
            <a:prstGeom prst="rect">
              <a:avLst/>
            </a:prstGeom>
            <a:noFill/>
          </p:spPr>
          <p:txBody>
            <a:bodyPr wrap="none" rtlCol="0">
              <a:spAutoFit/>
            </a:bodyPr>
            <a:lstStyle/>
            <a:p>
              <a:r>
                <a:rPr lang="en-US" dirty="0"/>
                <a:t>Moving</a:t>
              </a:r>
            </a:p>
          </p:txBody>
        </p:sp>
        <p:cxnSp>
          <p:nvCxnSpPr>
            <p:cNvPr id="11" name="Straight Connector 10"/>
            <p:cNvCxnSpPr/>
            <p:nvPr/>
          </p:nvCxnSpPr>
          <p:spPr>
            <a:xfrm>
              <a:off x="6876256" y="1700808"/>
              <a:ext cx="2160240" cy="0"/>
            </a:xfrm>
            <a:prstGeom prst="line">
              <a:avLst/>
            </a:prstGeom>
            <a:ln w="19050"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6876256" y="2852936"/>
              <a:ext cx="2160240" cy="0"/>
            </a:xfrm>
            <a:prstGeom prst="line">
              <a:avLst/>
            </a:prstGeom>
            <a:ln w="19050" cmpd="sng"/>
          </p:spPr>
          <p:style>
            <a:lnRef idx="1">
              <a:schemeClr val="dk1"/>
            </a:lnRef>
            <a:fillRef idx="0">
              <a:schemeClr val="dk1"/>
            </a:fillRef>
            <a:effectRef idx="0">
              <a:schemeClr val="dk1"/>
            </a:effectRef>
            <a:fontRef idx="minor">
              <a:schemeClr val="tx1"/>
            </a:fontRef>
          </p:style>
        </p:cxnSp>
      </p:grpSp>
      <p:sp>
        <p:nvSpPr>
          <p:cNvPr id="4" name="Slide Number Placeholder 3"/>
          <p:cNvSpPr>
            <a:spLocks noGrp="1"/>
          </p:cNvSpPr>
          <p:nvPr>
            <p:ph type="sldNum" sz="quarter" idx="12"/>
          </p:nvPr>
        </p:nvSpPr>
        <p:spPr/>
        <p:txBody>
          <a:bodyPr/>
          <a:lstStyle/>
          <a:p>
            <a:fld id="{CADD82E7-7C10-744D-AD9E-31500693C936}" type="slidenum">
              <a:rPr lang="en-US" smtClean="0"/>
              <a:pPr/>
              <a:t>64</a:t>
            </a:fld>
            <a:endParaRPr lang="en-US"/>
          </a:p>
        </p:txBody>
      </p:sp>
      <p:sp>
        <p:nvSpPr>
          <p:cNvPr id="9" name="TextBox 8"/>
          <p:cNvSpPr txBox="1"/>
          <p:nvPr/>
        </p:nvSpPr>
        <p:spPr>
          <a:xfrm>
            <a:off x="8400256" y="1785591"/>
            <a:ext cx="909288" cy="646331"/>
          </a:xfrm>
          <a:prstGeom prst="rect">
            <a:avLst/>
          </a:prstGeom>
          <a:noFill/>
        </p:spPr>
        <p:txBody>
          <a:bodyPr wrap="none" rtlCol="0">
            <a:spAutoFit/>
          </a:bodyPr>
          <a:lstStyle/>
          <a:p>
            <a:r>
              <a:rPr lang="en-US" dirty="0"/>
              <a:t>current</a:t>
            </a:r>
            <a:br>
              <a:rPr lang="en-US" dirty="0"/>
            </a:br>
            <a:r>
              <a:rPr lang="en-US" dirty="0"/>
              <a:t>(x, y)</a:t>
            </a:r>
          </a:p>
        </p:txBody>
      </p:sp>
      <p:sp>
        <p:nvSpPr>
          <p:cNvPr id="10" name="TextBox 9"/>
          <p:cNvSpPr txBox="1"/>
          <p:nvPr/>
        </p:nvSpPr>
        <p:spPr>
          <a:xfrm>
            <a:off x="8418841" y="2981852"/>
            <a:ext cx="1895134" cy="1200329"/>
          </a:xfrm>
          <a:prstGeom prst="rect">
            <a:avLst/>
          </a:prstGeom>
          <a:noFill/>
        </p:spPr>
        <p:txBody>
          <a:bodyPr wrap="none" rtlCol="0">
            <a:spAutoFit/>
          </a:bodyPr>
          <a:lstStyle/>
          <a:p>
            <a:r>
              <a:rPr lang="en-US" dirty="0"/>
              <a:t>erase current;</a:t>
            </a:r>
            <a:br>
              <a:rPr lang="en-US" dirty="0"/>
            </a:br>
            <a:r>
              <a:rPr lang="en-US" dirty="0"/>
              <a:t>update </a:t>
            </a:r>
            <a:r>
              <a:rPr lang="en-US" dirty="0" err="1"/>
              <a:t>current.x</a:t>
            </a:r>
            <a:r>
              <a:rPr lang="en-US" dirty="0"/>
              <a:t>;</a:t>
            </a:r>
            <a:br>
              <a:rPr lang="en-US" dirty="0"/>
            </a:br>
            <a:r>
              <a:rPr lang="en-US" dirty="0"/>
              <a:t>update </a:t>
            </a:r>
            <a:r>
              <a:rPr lang="en-US" dirty="0" err="1"/>
              <a:t>current.y</a:t>
            </a:r>
            <a:r>
              <a:rPr lang="en-US" dirty="0"/>
              <a:t>;</a:t>
            </a:r>
            <a:br>
              <a:rPr lang="en-US" dirty="0"/>
            </a:br>
            <a:r>
              <a:rPr lang="en-US" dirty="0"/>
              <a:t>draw current</a:t>
            </a:r>
          </a:p>
        </p:txBody>
      </p:sp>
      <p:sp>
        <p:nvSpPr>
          <p:cNvPr id="13" name="Rounded Rectangle 12"/>
          <p:cNvSpPr/>
          <p:nvPr/>
        </p:nvSpPr>
        <p:spPr>
          <a:xfrm>
            <a:off x="5231904" y="2996952"/>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Waiting</a:t>
            </a:r>
          </a:p>
        </p:txBody>
      </p:sp>
      <p:sp>
        <p:nvSpPr>
          <p:cNvPr id="15" name="Rounded Rectangle 14"/>
          <p:cNvSpPr/>
          <p:nvPr/>
        </p:nvSpPr>
        <p:spPr>
          <a:xfrm>
            <a:off x="3071664" y="1052736"/>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Choosing</a:t>
            </a:r>
          </a:p>
        </p:txBody>
      </p:sp>
      <p:sp>
        <p:nvSpPr>
          <p:cNvPr id="16" name="Rounded Rectangle 15"/>
          <p:cNvSpPr/>
          <p:nvPr/>
        </p:nvSpPr>
        <p:spPr>
          <a:xfrm>
            <a:off x="3071664" y="4941168"/>
            <a:ext cx="1728192" cy="57606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Verdana"/>
                <a:cs typeface="Verdana"/>
              </a:rPr>
              <a:t>Placing</a:t>
            </a:r>
          </a:p>
        </p:txBody>
      </p:sp>
      <p:cxnSp>
        <p:nvCxnSpPr>
          <p:cNvPr id="19" name="Elbow Connector 18"/>
          <p:cNvCxnSpPr>
            <a:stCxn id="13" idx="0"/>
            <a:endCxn id="15" idx="3"/>
          </p:cNvCxnSpPr>
          <p:nvPr/>
        </p:nvCxnSpPr>
        <p:spPr>
          <a:xfrm rot="16200000" flipV="1">
            <a:off x="4619836" y="1520788"/>
            <a:ext cx="1656184" cy="1296144"/>
          </a:xfrm>
          <a:prstGeom prst="bentConnector2">
            <a:avLst/>
          </a:prstGeom>
          <a:ln w="28575" cmpd="sng">
            <a:tailEnd type="arrow"/>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4859666" y="188640"/>
            <a:ext cx="2085827" cy="923330"/>
          </a:xfrm>
          <a:prstGeom prst="rect">
            <a:avLst/>
          </a:prstGeom>
          <a:noFill/>
        </p:spPr>
        <p:txBody>
          <a:bodyPr wrap="none" rtlCol="0">
            <a:spAutoFit/>
          </a:bodyPr>
          <a:lstStyle/>
          <a:p>
            <a:r>
              <a:rPr lang="en-US" dirty="0"/>
              <a:t>click</a:t>
            </a:r>
            <a:br>
              <a:rPr lang="en-US" dirty="0"/>
            </a:br>
            <a:r>
              <a:rPr lang="en-US" dirty="0"/>
              <a:t>[outside any item] /</a:t>
            </a:r>
          </a:p>
          <a:p>
            <a:r>
              <a:rPr lang="en-US" dirty="0"/>
              <a:t>show menu </a:t>
            </a:r>
          </a:p>
        </p:txBody>
      </p:sp>
      <p:sp>
        <p:nvSpPr>
          <p:cNvPr id="21" name="TextBox 20"/>
          <p:cNvSpPr txBox="1"/>
          <p:nvPr/>
        </p:nvSpPr>
        <p:spPr>
          <a:xfrm>
            <a:off x="2495601" y="2649686"/>
            <a:ext cx="1237839" cy="923330"/>
          </a:xfrm>
          <a:prstGeom prst="rect">
            <a:avLst/>
          </a:prstGeom>
          <a:noFill/>
        </p:spPr>
        <p:txBody>
          <a:bodyPr wrap="none" rtlCol="0">
            <a:spAutoFit/>
          </a:bodyPr>
          <a:lstStyle/>
          <a:p>
            <a:r>
              <a:rPr lang="en-US" dirty="0"/>
              <a:t>choose</a:t>
            </a:r>
            <a:br>
              <a:rPr lang="en-US" dirty="0"/>
            </a:br>
            <a:r>
              <a:rPr lang="en-US" dirty="0"/>
              <a:t>item type /</a:t>
            </a:r>
          </a:p>
          <a:p>
            <a:r>
              <a:rPr lang="en-US" dirty="0"/>
              <a:t>hide menu</a:t>
            </a:r>
          </a:p>
        </p:txBody>
      </p:sp>
      <p:cxnSp>
        <p:nvCxnSpPr>
          <p:cNvPr id="24" name="Straight Arrow Connector 23"/>
          <p:cNvCxnSpPr>
            <a:stCxn id="15" idx="2"/>
            <a:endCxn id="16" idx="0"/>
          </p:cNvCxnSpPr>
          <p:nvPr/>
        </p:nvCxnSpPr>
        <p:spPr>
          <a:xfrm>
            <a:off x="3935760" y="1628800"/>
            <a:ext cx="0" cy="3312368"/>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4943873" y="5301208"/>
            <a:ext cx="1728165" cy="923330"/>
          </a:xfrm>
          <a:prstGeom prst="rect">
            <a:avLst/>
          </a:prstGeom>
          <a:noFill/>
        </p:spPr>
        <p:txBody>
          <a:bodyPr wrap="none" rtlCol="0">
            <a:spAutoFit/>
          </a:bodyPr>
          <a:lstStyle/>
          <a:p>
            <a:r>
              <a:rPr lang="en-US" dirty="0"/>
              <a:t>click /</a:t>
            </a:r>
          </a:p>
          <a:p>
            <a:r>
              <a:rPr lang="en-US" dirty="0"/>
              <a:t>draw item at</a:t>
            </a:r>
            <a:br>
              <a:rPr lang="en-US" dirty="0"/>
            </a:br>
            <a:r>
              <a:rPr lang="en-US" dirty="0"/>
              <a:t>mouse location</a:t>
            </a:r>
          </a:p>
        </p:txBody>
      </p:sp>
      <p:cxnSp>
        <p:nvCxnSpPr>
          <p:cNvPr id="26" name="Elbow Connector 25"/>
          <p:cNvCxnSpPr>
            <a:stCxn id="16" idx="3"/>
            <a:endCxn id="13" idx="2"/>
          </p:cNvCxnSpPr>
          <p:nvPr/>
        </p:nvCxnSpPr>
        <p:spPr>
          <a:xfrm flipV="1">
            <a:off x="4799856" y="3573016"/>
            <a:ext cx="1296144" cy="1656184"/>
          </a:xfrm>
          <a:prstGeom prst="bentConnector2">
            <a:avLst/>
          </a:prstGeom>
          <a:ln w="28575" cmpd="sng">
            <a:tailEnd type="arrow"/>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rot="16200000" flipH="1">
            <a:off x="5045904" y="3110944"/>
            <a:ext cx="11960" cy="360040"/>
          </a:xfrm>
          <a:prstGeom prst="straightConnector1">
            <a:avLst/>
          </a:prstGeom>
          <a:ln w="28575" cmpd="sng">
            <a:headEnd type="oval" w="lg" len="lg"/>
            <a:tailEnd type="arrow"/>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6240016" y="1190447"/>
            <a:ext cx="1803764" cy="1200329"/>
          </a:xfrm>
          <a:prstGeom prst="rect">
            <a:avLst/>
          </a:prstGeom>
          <a:noFill/>
        </p:spPr>
        <p:txBody>
          <a:bodyPr wrap="none" rtlCol="0">
            <a:spAutoFit/>
          </a:bodyPr>
          <a:lstStyle/>
          <a:p>
            <a:r>
              <a:rPr lang="en-US" dirty="0"/>
              <a:t>press</a:t>
            </a:r>
            <a:br>
              <a:rPr lang="en-US" dirty="0"/>
            </a:br>
            <a:r>
              <a:rPr lang="en-US" dirty="0"/>
              <a:t>[inside item F] /</a:t>
            </a:r>
            <a:br>
              <a:rPr lang="en-US" dirty="0"/>
            </a:br>
            <a:r>
              <a:rPr lang="en-US" dirty="0"/>
              <a:t>current := F;</a:t>
            </a:r>
            <a:br>
              <a:rPr lang="en-US" dirty="0"/>
            </a:br>
            <a:r>
              <a:rPr lang="en-US" dirty="0"/>
              <a:t>highlight current</a:t>
            </a:r>
          </a:p>
        </p:txBody>
      </p:sp>
      <p:cxnSp>
        <p:nvCxnSpPr>
          <p:cNvPr id="32" name="Elbow Connector 31"/>
          <p:cNvCxnSpPr/>
          <p:nvPr/>
        </p:nvCxnSpPr>
        <p:spPr>
          <a:xfrm flipV="1">
            <a:off x="6600056" y="2492896"/>
            <a:ext cx="1800200" cy="504056"/>
          </a:xfrm>
          <a:prstGeom prst="bentConnector3">
            <a:avLst>
              <a:gd name="adj1" fmla="val -89"/>
            </a:avLst>
          </a:prstGeom>
          <a:ln w="28575" cmpd="sng">
            <a:tailEnd type="arrow"/>
          </a:ln>
        </p:spPr>
        <p:style>
          <a:lnRef idx="1">
            <a:schemeClr val="dk1"/>
          </a:lnRef>
          <a:fillRef idx="0">
            <a:schemeClr val="dk1"/>
          </a:fillRef>
          <a:effectRef idx="0">
            <a:schemeClr val="dk1"/>
          </a:effectRef>
          <a:fontRef idx="minor">
            <a:schemeClr val="tx1"/>
          </a:fontRef>
        </p:style>
      </p:cxnSp>
      <p:sp>
        <p:nvSpPr>
          <p:cNvPr id="30" name="TextBox 29"/>
          <p:cNvSpPr txBox="1"/>
          <p:nvPr/>
        </p:nvSpPr>
        <p:spPr>
          <a:xfrm>
            <a:off x="6312024" y="4077072"/>
            <a:ext cx="1287532" cy="923330"/>
          </a:xfrm>
          <a:prstGeom prst="rect">
            <a:avLst/>
          </a:prstGeom>
          <a:noFill/>
        </p:spPr>
        <p:txBody>
          <a:bodyPr wrap="none" rtlCol="0">
            <a:spAutoFit/>
          </a:bodyPr>
          <a:lstStyle/>
          <a:p>
            <a:r>
              <a:rPr lang="en-US" dirty="0"/>
              <a:t>release /</a:t>
            </a:r>
            <a:br>
              <a:rPr lang="en-US" dirty="0"/>
            </a:br>
            <a:r>
              <a:rPr lang="en-US" dirty="0" err="1"/>
              <a:t>unhighlight</a:t>
            </a:r>
            <a:br>
              <a:rPr lang="en-US" dirty="0"/>
            </a:br>
            <a:r>
              <a:rPr lang="en-US" dirty="0"/>
              <a:t>current</a:t>
            </a:r>
          </a:p>
        </p:txBody>
      </p:sp>
      <p:cxnSp>
        <p:nvCxnSpPr>
          <p:cNvPr id="46" name="Elbow Connector 45"/>
          <p:cNvCxnSpPr/>
          <p:nvPr/>
        </p:nvCxnSpPr>
        <p:spPr>
          <a:xfrm>
            <a:off x="6600056" y="3573016"/>
            <a:ext cx="1800200" cy="504056"/>
          </a:xfrm>
          <a:prstGeom prst="bentConnector3">
            <a:avLst>
              <a:gd name="adj1" fmla="val -89"/>
            </a:avLst>
          </a:prstGeom>
          <a:ln w="28575" cmpd="sng">
            <a:headEnd type="arrow"/>
            <a:tailEnd type="none"/>
          </a:ln>
        </p:spPr>
        <p:style>
          <a:lnRef idx="1">
            <a:schemeClr val="dk1"/>
          </a:lnRef>
          <a:fillRef idx="0">
            <a:schemeClr val="dk1"/>
          </a:fillRef>
          <a:effectRef idx="0">
            <a:schemeClr val="dk1"/>
          </a:effectRef>
          <a:fontRef idx="minor">
            <a:schemeClr val="tx1"/>
          </a:fontRef>
        </p:style>
      </p:cxnSp>
      <p:grpSp>
        <p:nvGrpSpPr>
          <p:cNvPr id="57" name="Group 56"/>
          <p:cNvGrpSpPr/>
          <p:nvPr/>
        </p:nvGrpSpPr>
        <p:grpSpPr>
          <a:xfrm>
            <a:off x="8760296" y="5507940"/>
            <a:ext cx="1152128" cy="1233428"/>
            <a:chOff x="7236296" y="5507940"/>
            <a:chExt cx="1152128" cy="1233428"/>
          </a:xfrm>
        </p:grpSpPr>
        <p:sp>
          <p:nvSpPr>
            <p:cNvPr id="29" name="TextBox 28"/>
            <p:cNvSpPr txBox="1"/>
            <p:nvPr/>
          </p:nvSpPr>
          <p:spPr>
            <a:xfrm>
              <a:off x="7236296" y="6372036"/>
              <a:ext cx="1120371" cy="369332"/>
            </a:xfrm>
            <a:prstGeom prst="rect">
              <a:avLst/>
            </a:prstGeom>
            <a:noFill/>
          </p:spPr>
          <p:txBody>
            <a:bodyPr wrap="none" rtlCol="0">
              <a:spAutoFit/>
            </a:bodyPr>
            <a:lstStyle/>
            <a:p>
              <a:r>
                <a:rPr lang="en-US" dirty="0"/>
                <a:t>drag (x, y)</a:t>
              </a:r>
            </a:p>
          </p:txBody>
        </p:sp>
        <p:cxnSp>
          <p:nvCxnSpPr>
            <p:cNvPr id="48" name="Straight Connector 47"/>
            <p:cNvCxnSpPr/>
            <p:nvPr/>
          </p:nvCxnSpPr>
          <p:spPr>
            <a:xfrm>
              <a:off x="8388424" y="5507940"/>
              <a:ext cx="0" cy="864096"/>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0" name="Elbow Connector 49"/>
            <p:cNvCxnSpPr/>
            <p:nvPr/>
          </p:nvCxnSpPr>
          <p:spPr>
            <a:xfrm rot="16200000" flipV="1">
              <a:off x="7524328" y="5507940"/>
              <a:ext cx="864096" cy="864096"/>
            </a:xfrm>
            <a:prstGeom prst="bentConnector3">
              <a:avLst>
                <a:gd name="adj1" fmla="val 29"/>
              </a:avLst>
            </a:prstGeom>
            <a:ln w="28575" cmpd="sng">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55131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animBg="1"/>
      <p:bldP spid="15" grpId="0" animBg="1"/>
      <p:bldP spid="16" grpId="0" animBg="1"/>
      <p:bldP spid="20" grpId="0"/>
      <p:bldP spid="21" grpId="0"/>
      <p:bldP spid="22" grpId="0"/>
      <p:bldP spid="28" grpId="0"/>
      <p:bldP spid="3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State Diagram</a:t>
            </a:r>
          </a:p>
        </p:txBody>
      </p:sp>
      <p:sp>
        <p:nvSpPr>
          <p:cNvPr id="3" name="Content Placeholder 2"/>
          <p:cNvSpPr>
            <a:spLocks noGrp="1"/>
          </p:cNvSpPr>
          <p:nvPr>
            <p:ph idx="1"/>
          </p:nvPr>
        </p:nvSpPr>
        <p:spPr/>
        <p:txBody>
          <a:bodyPr/>
          <a:lstStyle/>
          <a:p>
            <a:r>
              <a:rPr lang="en-US" dirty="0"/>
              <a:t>Tips:</a:t>
            </a:r>
          </a:p>
          <a:p>
            <a:pPr lvl="1"/>
            <a:r>
              <a:rPr lang="en-US" dirty="0"/>
              <a:t>Check for completeness</a:t>
            </a:r>
          </a:p>
          <a:p>
            <a:pPr lvl="2"/>
            <a:r>
              <a:rPr lang="en-US" dirty="0"/>
              <a:t>States reachable?</a:t>
            </a:r>
          </a:p>
          <a:p>
            <a:pPr lvl="2"/>
            <a:r>
              <a:rPr lang="en-US" dirty="0"/>
              <a:t>Missing transitions?</a:t>
            </a:r>
          </a:p>
          <a:p>
            <a:pPr lvl="2"/>
            <a:r>
              <a:rPr lang="en-US" dirty="0"/>
              <a:t>Events not considered?</a:t>
            </a:r>
          </a:p>
          <a:p>
            <a:pPr lvl="2"/>
            <a:r>
              <a:rPr lang="en-US" dirty="0"/>
              <a:t>Unforeseen situations?</a:t>
            </a:r>
          </a:p>
          <a:p>
            <a:pPr lvl="1"/>
            <a:r>
              <a:rPr lang="en-US" dirty="0"/>
              <a:t>Check for dangerous situations</a:t>
            </a:r>
          </a:p>
          <a:p>
            <a:pPr lvl="2"/>
            <a:r>
              <a:rPr lang="en-US" dirty="0"/>
              <a:t>E.g., exiting without having saved edits</a:t>
            </a:r>
          </a:p>
          <a:p>
            <a:pPr lvl="1"/>
            <a:endParaRPr lang="en-US" dirty="0"/>
          </a:p>
        </p:txBody>
      </p:sp>
      <p:sp>
        <p:nvSpPr>
          <p:cNvPr id="4" name="Slide Number Placeholder 3"/>
          <p:cNvSpPr>
            <a:spLocks noGrp="1"/>
          </p:cNvSpPr>
          <p:nvPr>
            <p:ph type="sldNum" sz="quarter" idx="12"/>
          </p:nvPr>
        </p:nvSpPr>
        <p:spPr/>
        <p:txBody>
          <a:bodyPr/>
          <a:lstStyle/>
          <a:p>
            <a:fld id="{CADD82E7-7C10-744D-AD9E-31500693C936}" type="slidenum">
              <a:rPr lang="en-US" smtClean="0"/>
              <a:pPr/>
              <a:t>65</a:t>
            </a:fld>
            <a:endParaRPr lang="en-US"/>
          </a:p>
        </p:txBody>
      </p:sp>
    </p:spTree>
    <p:extLst>
      <p:ext uri="{BB962C8B-B14F-4D97-AF65-F5344CB8AC3E}">
        <p14:creationId xmlns:p14="http://schemas.microsoft.com/office/powerpoint/2010/main" val="42347035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State Diagram</a:t>
            </a:r>
          </a:p>
        </p:txBody>
      </p:sp>
      <p:sp>
        <p:nvSpPr>
          <p:cNvPr id="3" name="Content Placeholder 2"/>
          <p:cNvSpPr>
            <a:spLocks noGrp="1"/>
          </p:cNvSpPr>
          <p:nvPr>
            <p:ph idx="1"/>
          </p:nvPr>
        </p:nvSpPr>
        <p:spPr/>
        <p:txBody>
          <a:bodyPr/>
          <a:lstStyle/>
          <a:p>
            <a:r>
              <a:rPr lang="en-US" dirty="0"/>
              <a:t>Tips:</a:t>
            </a:r>
          </a:p>
          <a:p>
            <a:pPr lvl="1"/>
            <a:r>
              <a:rPr lang="en-US" dirty="0"/>
              <a:t>Check for consistency</a:t>
            </a:r>
          </a:p>
          <a:p>
            <a:pPr lvl="2"/>
            <a:r>
              <a:rPr lang="en-US" dirty="0"/>
              <a:t>Similar interactions have similar effects?</a:t>
            </a:r>
          </a:p>
          <a:p>
            <a:pPr lvl="2"/>
            <a:r>
              <a:rPr lang="en-US" dirty="0"/>
              <a:t>Effects are visible and give good feedback?</a:t>
            </a:r>
          </a:p>
          <a:p>
            <a:pPr lvl="1"/>
            <a:r>
              <a:rPr lang="en-US" dirty="0"/>
              <a:t>Aid the user</a:t>
            </a:r>
          </a:p>
          <a:p>
            <a:pPr lvl="2"/>
            <a:r>
              <a:rPr lang="en-US" dirty="0"/>
              <a:t>Is undo appropriate, in each state?</a:t>
            </a:r>
          </a:p>
          <a:p>
            <a:pPr lvl="2"/>
            <a:r>
              <a:rPr lang="en-US" dirty="0"/>
              <a:t>Is cancel or escape appropriate?</a:t>
            </a:r>
          </a:p>
          <a:p>
            <a:pPr lvl="2"/>
            <a:r>
              <a:rPr lang="en-US" dirty="0"/>
              <a:t>Is invoking help appropriate?</a:t>
            </a:r>
          </a:p>
        </p:txBody>
      </p:sp>
      <p:sp>
        <p:nvSpPr>
          <p:cNvPr id="4" name="Slide Number Placeholder 3"/>
          <p:cNvSpPr>
            <a:spLocks noGrp="1"/>
          </p:cNvSpPr>
          <p:nvPr>
            <p:ph type="sldNum" sz="quarter" idx="12"/>
          </p:nvPr>
        </p:nvSpPr>
        <p:spPr/>
        <p:txBody>
          <a:bodyPr/>
          <a:lstStyle/>
          <a:p>
            <a:fld id="{CADD82E7-7C10-744D-AD9E-31500693C936}" type="slidenum">
              <a:rPr lang="en-US" smtClean="0"/>
              <a:pPr/>
              <a:t>66</a:t>
            </a:fld>
            <a:endParaRPr lang="en-US"/>
          </a:p>
        </p:txBody>
      </p:sp>
    </p:spTree>
    <p:extLst>
      <p:ext uri="{BB962C8B-B14F-4D97-AF65-F5344CB8AC3E}">
        <p14:creationId xmlns:p14="http://schemas.microsoft.com/office/powerpoint/2010/main" val="26854222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Information</a:t>
            </a:r>
          </a:p>
        </p:txBody>
      </p:sp>
      <p:sp>
        <p:nvSpPr>
          <p:cNvPr id="3" name="Content Placeholder 2"/>
          <p:cNvSpPr>
            <a:spLocks noGrp="1"/>
          </p:cNvSpPr>
          <p:nvPr>
            <p:ph idx="1"/>
          </p:nvPr>
        </p:nvSpPr>
        <p:spPr/>
        <p:txBody>
          <a:bodyPr>
            <a:normAutofit/>
          </a:bodyPr>
          <a:lstStyle/>
          <a:p>
            <a:r>
              <a:rPr lang="en-US" dirty="0"/>
              <a:t>Books:</a:t>
            </a:r>
          </a:p>
          <a:p>
            <a:pPr lvl="1"/>
            <a:r>
              <a:rPr lang="en-US" dirty="0"/>
              <a:t>The Essence of Object-Oriented Programming with Java and UML</a:t>
            </a:r>
          </a:p>
          <a:p>
            <a:pPr lvl="2"/>
            <a:r>
              <a:rPr lang="en-US" dirty="0"/>
              <a:t>B. </a:t>
            </a:r>
            <a:r>
              <a:rPr lang="en-US" dirty="0" err="1"/>
              <a:t>Wampler</a:t>
            </a:r>
            <a:endParaRPr lang="en-US" dirty="0"/>
          </a:p>
          <a:p>
            <a:pPr lvl="2"/>
            <a:r>
              <a:rPr lang="en-US" dirty="0"/>
              <a:t>Addison-Wesley, 2002</a:t>
            </a:r>
          </a:p>
          <a:p>
            <a:pPr lvl="1"/>
            <a:r>
              <a:rPr lang="en-US" dirty="0"/>
              <a:t>UML Distilled</a:t>
            </a:r>
          </a:p>
          <a:p>
            <a:pPr lvl="2"/>
            <a:r>
              <a:rPr lang="en-US" dirty="0"/>
              <a:t>M. Fowler</a:t>
            </a:r>
          </a:p>
          <a:p>
            <a:pPr lvl="2"/>
            <a:r>
              <a:rPr lang="en-US" dirty="0"/>
              <a:t>Addison-Wesley, 2003</a:t>
            </a:r>
          </a:p>
          <a:p>
            <a:pPr lvl="1"/>
            <a:r>
              <a:rPr lang="en-US" dirty="0"/>
              <a:t>User Stories Applied</a:t>
            </a:r>
          </a:p>
          <a:p>
            <a:pPr lvl="2"/>
            <a:r>
              <a:rPr lang="en-US" dirty="0"/>
              <a:t>M. Cohn</a:t>
            </a:r>
          </a:p>
          <a:p>
            <a:pPr lvl="2"/>
            <a:r>
              <a:rPr lang="en-US" dirty="0"/>
              <a:t>Addison-Wesley, 2004</a:t>
            </a:r>
          </a:p>
        </p:txBody>
      </p:sp>
      <p:sp>
        <p:nvSpPr>
          <p:cNvPr id="4" name="Slide Number Placeholder 3"/>
          <p:cNvSpPr>
            <a:spLocks noGrp="1"/>
          </p:cNvSpPr>
          <p:nvPr>
            <p:ph type="sldNum" sz="quarter" idx="12"/>
          </p:nvPr>
        </p:nvSpPr>
        <p:spPr/>
        <p:txBody>
          <a:bodyPr/>
          <a:lstStyle/>
          <a:p>
            <a:fld id="{D3F25697-57D3-0D49-8FC5-4BE2D6D757CB}" type="slidenum">
              <a:rPr lang="en-US" smtClean="0"/>
              <a:pPr/>
              <a:t>67</a:t>
            </a:fld>
            <a:endParaRPr lang="en-US"/>
          </a:p>
        </p:txBody>
      </p:sp>
    </p:spTree>
    <p:extLst>
      <p:ext uri="{BB962C8B-B14F-4D97-AF65-F5344CB8AC3E}">
        <p14:creationId xmlns:p14="http://schemas.microsoft.com/office/powerpoint/2010/main" val="25923149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r>
              <a:rPr lang="en-US" dirty="0"/>
              <a:t>More Information</a:t>
            </a:r>
          </a:p>
        </p:txBody>
      </p:sp>
      <p:sp>
        <p:nvSpPr>
          <p:cNvPr id="2" name="Content Placeholder 1"/>
          <p:cNvSpPr>
            <a:spLocks noGrp="1"/>
          </p:cNvSpPr>
          <p:nvPr>
            <p:ph idx="1"/>
          </p:nvPr>
        </p:nvSpPr>
        <p:spPr/>
        <p:txBody>
          <a:bodyPr/>
          <a:lstStyle/>
          <a:p>
            <a:r>
              <a:rPr lang="en-US" dirty="0"/>
              <a:t>Books:</a:t>
            </a:r>
          </a:p>
          <a:p>
            <a:pPr lvl="1"/>
            <a:r>
              <a:rPr lang="en-US" dirty="0"/>
              <a:t>More About Software Requirements</a:t>
            </a:r>
          </a:p>
          <a:p>
            <a:pPr lvl="2"/>
            <a:r>
              <a:rPr lang="en-US" dirty="0"/>
              <a:t>K. </a:t>
            </a:r>
            <a:r>
              <a:rPr lang="en-US" dirty="0" err="1"/>
              <a:t>Wiegers</a:t>
            </a:r>
            <a:endParaRPr lang="en-US" dirty="0"/>
          </a:p>
          <a:p>
            <a:pPr lvl="2"/>
            <a:r>
              <a:rPr lang="en-US" dirty="0"/>
              <a:t>Microsoft, 2006</a:t>
            </a:r>
          </a:p>
          <a:p>
            <a:pPr lvl="1"/>
            <a:r>
              <a:rPr lang="en-US" dirty="0"/>
              <a:t>Software Engineering: Theory and Practice</a:t>
            </a:r>
          </a:p>
          <a:p>
            <a:pPr lvl="2"/>
            <a:r>
              <a:rPr lang="en-US" dirty="0"/>
              <a:t>S.L. </a:t>
            </a:r>
            <a:r>
              <a:rPr lang="en-US" dirty="0" err="1"/>
              <a:t>Pfleeger</a:t>
            </a:r>
            <a:endParaRPr lang="en-US" dirty="0"/>
          </a:p>
          <a:p>
            <a:pPr lvl="2"/>
            <a:r>
              <a:rPr lang="en-US" dirty="0"/>
              <a:t>Prentice-Hall, 2009</a:t>
            </a:r>
          </a:p>
          <a:p>
            <a:pPr lvl="2"/>
            <a:endParaRPr lang="en-US" dirty="0"/>
          </a:p>
        </p:txBody>
      </p:sp>
      <p:sp>
        <p:nvSpPr>
          <p:cNvPr id="6" name="Slide Number Placeholder 6"/>
          <p:cNvSpPr>
            <a:spLocks noGrp="1"/>
          </p:cNvSpPr>
          <p:nvPr>
            <p:ph type="sldNum" sz="quarter" idx="12"/>
          </p:nvPr>
        </p:nvSpPr>
        <p:spPr/>
        <p:txBody>
          <a:bodyPr/>
          <a:lstStyle/>
          <a:p>
            <a:fld id="{614F90F8-B6C2-8C41-90BF-141DEDBC0DBC}" type="slidenum">
              <a:rPr lang="en-US"/>
              <a:pPr/>
              <a:t>68</a:t>
            </a:fld>
            <a:endParaRPr lang="en-US"/>
          </a:p>
        </p:txBody>
      </p:sp>
    </p:spTree>
    <p:extLst>
      <p:ext uri="{BB962C8B-B14F-4D97-AF65-F5344CB8AC3E}">
        <p14:creationId xmlns:p14="http://schemas.microsoft.com/office/powerpoint/2010/main" val="2661117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Information</a:t>
            </a:r>
          </a:p>
        </p:txBody>
      </p:sp>
      <p:sp>
        <p:nvSpPr>
          <p:cNvPr id="3" name="Content Placeholder 2"/>
          <p:cNvSpPr>
            <a:spLocks noGrp="1"/>
          </p:cNvSpPr>
          <p:nvPr>
            <p:ph idx="1"/>
          </p:nvPr>
        </p:nvSpPr>
        <p:spPr/>
        <p:txBody>
          <a:bodyPr/>
          <a:lstStyle/>
          <a:p>
            <a:r>
              <a:rPr lang="en-US" dirty="0"/>
              <a:t>Links:</a:t>
            </a:r>
          </a:p>
          <a:p>
            <a:pPr lvl="1"/>
            <a:r>
              <a:rPr lang="en-US" dirty="0"/>
              <a:t>Effective User Stories for Agile Requirements</a:t>
            </a:r>
          </a:p>
          <a:p>
            <a:pPr lvl="2"/>
            <a:r>
              <a:rPr lang="en-US" dirty="0">
                <a:hlinkClick r:id="rId2"/>
              </a:rPr>
              <a:t>https://www.mountaingoatsoftware.com/presentations/introduction-to-user-stories</a:t>
            </a:r>
            <a:r>
              <a:rPr lang="en-US" dirty="0"/>
              <a:t> </a:t>
            </a:r>
          </a:p>
        </p:txBody>
      </p:sp>
      <p:sp>
        <p:nvSpPr>
          <p:cNvPr id="4" name="Slide Number Placeholder 3"/>
          <p:cNvSpPr>
            <a:spLocks noGrp="1"/>
          </p:cNvSpPr>
          <p:nvPr>
            <p:ph type="sldNum" sz="quarter" idx="12"/>
          </p:nvPr>
        </p:nvSpPr>
        <p:spPr/>
        <p:txBody>
          <a:bodyPr/>
          <a:lstStyle/>
          <a:p>
            <a:fld id="{CADD82E7-7C10-744D-AD9E-31500693C936}" type="slidenum">
              <a:rPr lang="en-US" smtClean="0"/>
              <a:pPr/>
              <a:t>69</a:t>
            </a:fld>
            <a:endParaRPr lang="en-US"/>
          </a:p>
        </p:txBody>
      </p:sp>
    </p:spTree>
    <p:extLst>
      <p:ext uri="{BB962C8B-B14F-4D97-AF65-F5344CB8AC3E}">
        <p14:creationId xmlns:p14="http://schemas.microsoft.com/office/powerpoint/2010/main" val="473745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18880</TotalTime>
  <Words>4740</Words>
  <Application>Microsoft Macintosh PowerPoint</Application>
  <PresentationFormat>Widescreen</PresentationFormat>
  <Paragraphs>1066</Paragraphs>
  <Slides>69</Slides>
  <Notes>55</Notes>
  <HiddenSlides>7</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Candara Light</vt:lpstr>
      <vt:lpstr>Times</vt:lpstr>
      <vt:lpstr>Arial</vt:lpstr>
      <vt:lpstr>Corbel</vt:lpstr>
      <vt:lpstr>Gill Sans MT</vt:lpstr>
      <vt:lpstr>Verdana</vt:lpstr>
      <vt:lpstr>Wingdings</vt:lpstr>
      <vt:lpstr>Office Theme</vt:lpstr>
      <vt:lpstr>Requirements</vt:lpstr>
      <vt:lpstr>“Requirements”</vt:lpstr>
      <vt:lpstr>Importance of Requirements</vt:lpstr>
      <vt:lpstr>Requirements</vt:lpstr>
      <vt:lpstr>Requirements</vt:lpstr>
      <vt:lpstr>Requirements</vt:lpstr>
      <vt:lpstr>Requirements</vt:lpstr>
      <vt:lpstr>Requirements</vt:lpstr>
      <vt:lpstr>Verifiable Requirements</vt:lpstr>
      <vt:lpstr>Verifiable Requirements</vt:lpstr>
      <vt:lpstr>Verifiable Requirements</vt:lpstr>
      <vt:lpstr>Verifiable Requirements</vt:lpstr>
      <vt:lpstr>Requirements Activities</vt:lpstr>
      <vt:lpstr>Users</vt:lpstr>
      <vt:lpstr>Users</vt:lpstr>
      <vt:lpstr>PowerPoint Presentation</vt:lpstr>
      <vt:lpstr>Users</vt:lpstr>
      <vt:lpstr>Users</vt:lpstr>
      <vt:lpstr>Users</vt:lpstr>
      <vt:lpstr>Users</vt:lpstr>
      <vt:lpstr>Users</vt:lpstr>
      <vt:lpstr>“Listening to Users”</vt:lpstr>
      <vt:lpstr>Understanding</vt:lpstr>
      <vt:lpstr>User Stories</vt:lpstr>
      <vt:lpstr>Specifying Needs</vt:lpstr>
      <vt:lpstr>Specifying Needs</vt:lpstr>
      <vt:lpstr>Defining User Stories</vt:lpstr>
      <vt:lpstr>Defining User Stories</vt:lpstr>
      <vt:lpstr>“SMART Work Items”</vt:lpstr>
      <vt:lpstr>“INVEST in Good Stories”</vt:lpstr>
      <vt:lpstr>Testable User Stories</vt:lpstr>
      <vt:lpstr>Testable User Stories</vt:lpstr>
      <vt:lpstr>“User Story”</vt:lpstr>
      <vt:lpstr>Use Cases</vt:lpstr>
      <vt:lpstr>Identifying Tasks</vt:lpstr>
      <vt:lpstr>Identifying Tasks</vt:lpstr>
      <vt:lpstr>Scenario</vt:lpstr>
      <vt:lpstr>Specifying Tasks</vt:lpstr>
      <vt:lpstr>Defining Use Cases</vt:lpstr>
      <vt:lpstr>Identify the Actors</vt:lpstr>
      <vt:lpstr>Identify the Actors</vt:lpstr>
      <vt:lpstr>Define/Refine Use Cases</vt:lpstr>
      <vt:lpstr>Define/Refine Use Cases</vt:lpstr>
      <vt:lpstr>Define/Refine Use Cases</vt:lpstr>
      <vt:lpstr>Define/Refine Use Cases</vt:lpstr>
      <vt:lpstr>Essential Use Case</vt:lpstr>
      <vt:lpstr>Exercise</vt:lpstr>
      <vt:lpstr>Relate Use Cases</vt:lpstr>
      <vt:lpstr>Relate Use Cases</vt:lpstr>
      <vt:lpstr>Relate Use Cases</vt:lpstr>
      <vt:lpstr>Augmenting Requirements</vt:lpstr>
      <vt:lpstr>Augmenting Requirements</vt:lpstr>
      <vt:lpstr>State Models</vt:lpstr>
      <vt:lpstr>UML State Diagram</vt:lpstr>
      <vt:lpstr>UML State Diagram</vt:lpstr>
      <vt:lpstr>UML State Diagram</vt:lpstr>
      <vt:lpstr>UML State Diagram</vt:lpstr>
      <vt:lpstr>UML State Diagram</vt:lpstr>
      <vt:lpstr>UML State Diagram</vt:lpstr>
      <vt:lpstr>Room Planner</vt:lpstr>
      <vt:lpstr>Room Planner</vt:lpstr>
      <vt:lpstr>Room Planner</vt:lpstr>
      <vt:lpstr>Room Planner</vt:lpstr>
      <vt:lpstr>PowerPoint Presentation</vt:lpstr>
      <vt:lpstr>UML State Diagram</vt:lpstr>
      <vt:lpstr>UML State Diagram</vt:lpstr>
      <vt:lpstr>More Information</vt:lpstr>
      <vt:lpstr>More Information</vt:lpstr>
      <vt:lpstr>More Information</vt:lpstr>
    </vt:vector>
  </TitlesOfParts>
  <Manager/>
  <Company>University of Alberta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dc:title>
  <dc:subject/>
  <dc:creator>Kenny Wong</dc:creator>
  <cp:keywords/>
  <dc:description/>
  <cp:lastModifiedBy>Raj Prasad</cp:lastModifiedBy>
  <cp:revision>502</cp:revision>
  <dcterms:modified xsi:type="dcterms:W3CDTF">2026-05-12T18:20:28Z</dcterms:modified>
  <cp:category/>
</cp:coreProperties>
</file>