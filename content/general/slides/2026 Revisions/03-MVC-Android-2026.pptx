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3FA_AED7290E.xml" ContentType="application/vnd.ms-powerpoint.comments+xml"/>
  <Override PartName="/ppt/comments/modernComment_10C_0.xml" ContentType="application/vnd.ms-powerpoint.comments+xml"/>
  <Override PartName="/ppt/notesSlides/notesSlide3.xml" ContentType="application/vnd.openxmlformats-officedocument.presentationml.notesSlide+xml"/>
  <Override PartName="/ppt/comments/modernComment_402_398D081F.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Lst>
  <p:notesMasterIdLst>
    <p:notesMasterId r:id="rId73"/>
  </p:notesMasterIdLst>
  <p:handoutMasterIdLst>
    <p:handoutMasterId r:id="rId74"/>
  </p:handoutMasterIdLst>
  <p:sldIdLst>
    <p:sldId id="968" r:id="rId2"/>
    <p:sldId id="262" r:id="rId3"/>
    <p:sldId id="263" r:id="rId4"/>
    <p:sldId id="264" r:id="rId5"/>
    <p:sldId id="258" r:id="rId6"/>
    <p:sldId id="259" r:id="rId7"/>
    <p:sldId id="260" r:id="rId8"/>
    <p:sldId id="261" r:id="rId9"/>
    <p:sldId id="265" r:id="rId10"/>
    <p:sldId id="1018" r:id="rId11"/>
    <p:sldId id="266" r:id="rId12"/>
    <p:sldId id="267" r:id="rId13"/>
    <p:sldId id="1019" r:id="rId14"/>
    <p:sldId id="268" r:id="rId15"/>
    <p:sldId id="1012" r:id="rId16"/>
    <p:sldId id="1020" r:id="rId17"/>
    <p:sldId id="1013" r:id="rId18"/>
    <p:sldId id="971" r:id="rId19"/>
    <p:sldId id="279" r:id="rId20"/>
    <p:sldId id="280" r:id="rId21"/>
    <p:sldId id="281" r:id="rId22"/>
    <p:sldId id="282" r:id="rId23"/>
    <p:sldId id="283" r:id="rId24"/>
    <p:sldId id="982" r:id="rId25"/>
    <p:sldId id="1026" r:id="rId26"/>
    <p:sldId id="984" r:id="rId27"/>
    <p:sldId id="980" r:id="rId28"/>
    <p:sldId id="981" r:id="rId29"/>
    <p:sldId id="1028" r:id="rId30"/>
    <p:sldId id="1029" r:id="rId31"/>
    <p:sldId id="1030" r:id="rId32"/>
    <p:sldId id="1031" r:id="rId33"/>
    <p:sldId id="288" r:id="rId34"/>
    <p:sldId id="1032" r:id="rId35"/>
    <p:sldId id="1033" r:id="rId36"/>
    <p:sldId id="1040" r:id="rId37"/>
    <p:sldId id="1014" r:id="rId38"/>
    <p:sldId id="973" r:id="rId39"/>
    <p:sldId id="1015" r:id="rId40"/>
    <p:sldId id="298" r:id="rId41"/>
    <p:sldId id="1035" r:id="rId42"/>
    <p:sldId id="1036" r:id="rId43"/>
    <p:sldId id="994" r:id="rId44"/>
    <p:sldId id="995" r:id="rId45"/>
    <p:sldId id="996" r:id="rId46"/>
    <p:sldId id="997" r:id="rId47"/>
    <p:sldId id="998" r:id="rId48"/>
    <p:sldId id="999" r:id="rId49"/>
    <p:sldId id="1000" r:id="rId50"/>
    <p:sldId id="1001" r:id="rId51"/>
    <p:sldId id="329" r:id="rId52"/>
    <p:sldId id="1002" r:id="rId53"/>
    <p:sldId id="311" r:id="rId54"/>
    <p:sldId id="313" r:id="rId55"/>
    <p:sldId id="314" r:id="rId56"/>
    <p:sldId id="315" r:id="rId57"/>
    <p:sldId id="316" r:id="rId58"/>
    <p:sldId id="317" r:id="rId59"/>
    <p:sldId id="318" r:id="rId60"/>
    <p:sldId id="1003" r:id="rId61"/>
    <p:sldId id="320" r:id="rId62"/>
    <p:sldId id="321" r:id="rId63"/>
    <p:sldId id="1038" r:id="rId64"/>
    <p:sldId id="1004" r:id="rId65"/>
    <p:sldId id="1005" r:id="rId66"/>
    <p:sldId id="1006" r:id="rId67"/>
    <p:sldId id="1007" r:id="rId68"/>
    <p:sldId id="1008" r:id="rId69"/>
    <p:sldId id="1009" r:id="rId70"/>
    <p:sldId id="1010" r:id="rId71"/>
    <p:sldId id="1011" r:id="rId72"/>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338B3A-F700-9AA2-FFC6-00E52EB65A1C}" name="Raj Prasad" initials="RP" userId="S::rajneel1@ualberta.ca::2ffb932f-d3ed-435d-a89b-875a0c49874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65"/>
    <p:restoredTop sz="86667" autoAdjust="0"/>
  </p:normalViewPr>
  <p:slideViewPr>
    <p:cSldViewPr>
      <p:cViewPr varScale="1">
        <p:scale>
          <a:sx n="110" d="100"/>
          <a:sy n="110" d="100"/>
        </p:scale>
        <p:origin x="640" y="176"/>
      </p:cViewPr>
      <p:guideLst>
        <p:guide orient="horz" pos="2880"/>
        <p:guide pos="2880"/>
      </p:guideLst>
    </p:cSldViewPr>
  </p:slideViewPr>
  <p:notesTextViewPr>
    <p:cViewPr>
      <p:scale>
        <a:sx n="100" d="100"/>
        <a:sy n="100" d="100"/>
      </p:scale>
      <p:origin x="0" y="0"/>
    </p:cViewPr>
  </p:notesTextViewPr>
  <p:notesViewPr>
    <p:cSldViewPr>
      <p:cViewPr varScale="1">
        <p:scale>
          <a:sx n="108" d="100"/>
          <a:sy n="108" d="100"/>
        </p:scale>
        <p:origin x="2538"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79" Type="http://schemas.microsoft.com/office/2018/10/relationships/authors" Targe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omments/modernComment_3FA_AED7290E.xml><?xml version="1.0" encoding="utf-8"?>
<p188:cmLst xmlns:a="http://schemas.openxmlformats.org/drawingml/2006/main" xmlns:r="http://schemas.openxmlformats.org/officeDocument/2006/relationships" xmlns:p188="http://schemas.microsoft.com/office/powerpoint/2018/8/main">
  <p188:cm id="{38CD34C2-078C-624D-8F1E-89F54D26BC4D}" authorId="{1E338B3A-F700-9AA2-FFC6-00E52EB65A1C}" created="2026-05-07T16:58:31.006">
    <pc:sldMkLst xmlns:pc="http://schemas.microsoft.com/office/powerpoint/2013/main/command">
      <pc:docMk/>
      <pc:sldMk cId="2933336334" sldId="1018"/>
    </pc:sldMkLst>
    <p188:txBody>
      <a:bodyPr/>
      <a:lstStyle/>
      <a:p>
        <a:r>
          <a:rPr lang="en-US"/>
          <a:t>additional slide for some background to the previous slide
</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FCE0CC50-EC7A-3E49-A1E5-78A23F9ABA72}" authorId="{1E338B3A-F700-9AA2-FFC6-00E52EB65A1C}" created="2026-05-07T17:23:22.189">
    <pc:sldMkLst xmlns:pc="http://schemas.microsoft.com/office/powerpoint/2013/main/command">
      <pc:docMk/>
      <pc:sldMk cId="0" sldId="268"/>
    </pc:sldMkLst>
    <p188:txBody>
      <a:bodyPr/>
      <a:lstStyle/>
      <a:p>
        <a:r>
          <a:rPr lang="en-US"/>
          <a:t>Removed/Hidden:
1) java.util.Obserable is from Java 9 (legacy)
2) Slide 13 has a Kotlin equivalent example</a:t>
        </a:r>
      </a:p>
    </p188:txBody>
  </p188:cm>
</p188:cmLst>
</file>

<file path=ppt/comments/modernComment_402_398D081F.xml><?xml version="1.0" encoding="utf-8"?>
<p188:cmLst xmlns:a="http://schemas.openxmlformats.org/drawingml/2006/main" xmlns:r="http://schemas.openxmlformats.org/officeDocument/2006/relationships" xmlns:p188="http://schemas.microsoft.com/office/powerpoint/2018/8/main">
  <p188:cm id="{00FD1589-229D-9E4F-BCEE-B6954F0A8EF4}" authorId="{1E338B3A-F700-9AA2-FFC6-00E52EB65A1C}" created="2026-05-07T18:42:39.844">
    <pc:sldMkLst xmlns:pc="http://schemas.microsoft.com/office/powerpoint/2013/main/command">
      <pc:docMk/>
      <pc:sldMk cId="965543967" sldId="1026"/>
    </pc:sldMkLst>
    <p188:txBody>
      <a:bodyPr/>
      <a:lstStyle/>
      <a:p>
        <a:r>
          <a:rPr lang="en-US"/>
          <a:t>Added slide explaining generic model rules as a break from staring at pure code during lecture for students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FF405C-6ACC-1D48-08F9-E46D5CAD9DFF}"/>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2369FFA9-EE08-9D39-ECE2-6EE31E66A33A}"/>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46BBE7F-740F-4B77-8BA3-F03DACBDB0CB}" type="datetimeFigureOut">
              <a:rPr lang="en-CA" smtClean="0"/>
              <a:t>2026-05-11</a:t>
            </a:fld>
            <a:endParaRPr lang="en-CA"/>
          </a:p>
        </p:txBody>
      </p:sp>
      <p:sp>
        <p:nvSpPr>
          <p:cNvPr id="4" name="Footer Placeholder 3">
            <a:extLst>
              <a:ext uri="{FF2B5EF4-FFF2-40B4-BE49-F238E27FC236}">
                <a16:creationId xmlns:a16="http://schemas.microsoft.com/office/drawing/2014/main" id="{A3B2C67B-881A-E112-DAB9-8A506244FA3F}"/>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8F7A983C-8F76-A013-975E-54FA01C4AE1C}"/>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C53F2E7B-9A65-4F4B-ADBB-BF89EF946E4C}" type="slidenum">
              <a:rPr lang="en-CA" smtClean="0"/>
              <a:t>‹#›</a:t>
            </a:fld>
            <a:endParaRPr lang="en-CA"/>
          </a:p>
        </p:txBody>
      </p:sp>
    </p:spTree>
    <p:extLst>
      <p:ext uri="{BB962C8B-B14F-4D97-AF65-F5344CB8AC3E}">
        <p14:creationId xmlns:p14="http://schemas.microsoft.com/office/powerpoint/2010/main" val="20006168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F1043ADC-5FF1-0A45-95AD-2CAD292368F1}" type="datetimeFigureOut">
              <a:rPr lang="en-US" smtClean="0"/>
              <a:t>5/11/26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D08043F-33B7-F94E-BC8A-217643ACBD7C}" type="slidenum">
              <a:rPr lang="en-US" smtClean="0"/>
              <a:t>‹#›</a:t>
            </a:fld>
            <a:endParaRPr lang="en-US"/>
          </a:p>
        </p:txBody>
      </p:sp>
    </p:spTree>
    <p:extLst>
      <p:ext uri="{BB962C8B-B14F-4D97-AF65-F5344CB8AC3E}">
        <p14:creationId xmlns:p14="http://schemas.microsoft.com/office/powerpoint/2010/main" val="783725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does not own the data. It receives an action, like “jump button,” then asks the Model to change.</a:t>
            </a:r>
            <a:br>
              <a:rPr lang="en-US" dirty="0"/>
            </a:br>
            <a:br>
              <a:rPr lang="en-US" dirty="0"/>
            </a:br>
            <a:r>
              <a:rPr lang="en-US" dirty="0"/>
              <a:t>The View does not own the data either. It displays whatever the Model currently says. </a:t>
            </a:r>
          </a:p>
          <a:p>
            <a:endParaRPr lang="en-US" dirty="0"/>
          </a:p>
          <a:p>
            <a:r>
              <a:rPr lang="en-US" dirty="0"/>
              <a:t>This separation lets us change the UI without rewriting the app’s core data logic. </a:t>
            </a:r>
          </a:p>
        </p:txBody>
      </p:sp>
      <p:sp>
        <p:nvSpPr>
          <p:cNvPr id="4" name="Slide Number Placeholder 3"/>
          <p:cNvSpPr>
            <a:spLocks noGrp="1"/>
          </p:cNvSpPr>
          <p:nvPr>
            <p:ph type="sldNum" sz="quarter" idx="5"/>
          </p:nvPr>
        </p:nvSpPr>
        <p:spPr/>
        <p:txBody>
          <a:bodyPr/>
          <a:lstStyle/>
          <a:p>
            <a:fld id="{8D08043F-33B7-F94E-BC8A-217643ACBD7C}" type="slidenum">
              <a:rPr lang="en-US" smtClean="0"/>
              <a:t>9</a:t>
            </a:fld>
            <a:endParaRPr lang="en-US"/>
          </a:p>
        </p:txBody>
      </p:sp>
    </p:spTree>
    <p:extLst>
      <p:ext uri="{BB962C8B-B14F-4D97-AF65-F5344CB8AC3E}">
        <p14:creationId xmlns:p14="http://schemas.microsoft.com/office/powerpoint/2010/main" val="3077423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08043F-33B7-F94E-BC8A-217643ACBD7C}" type="slidenum">
              <a:rPr lang="en-US" smtClean="0"/>
              <a:t>10</a:t>
            </a:fld>
            <a:endParaRPr lang="en-US"/>
          </a:p>
        </p:txBody>
      </p:sp>
    </p:spTree>
    <p:extLst>
      <p:ext uri="{BB962C8B-B14F-4D97-AF65-F5344CB8AC3E}">
        <p14:creationId xmlns:p14="http://schemas.microsoft.com/office/powerpoint/2010/main" val="3142360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08043F-33B7-F94E-BC8A-217643ACBD7C}" type="slidenum">
              <a:rPr lang="en-US" smtClean="0"/>
              <a:t>17</a:t>
            </a:fld>
            <a:endParaRPr lang="en-US"/>
          </a:p>
        </p:txBody>
      </p:sp>
    </p:spTree>
    <p:extLst>
      <p:ext uri="{BB962C8B-B14F-4D97-AF65-F5344CB8AC3E}">
        <p14:creationId xmlns:p14="http://schemas.microsoft.com/office/powerpoint/2010/main" val="4153337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08043F-33B7-F94E-BC8A-217643ACBD7C}" type="slidenum">
              <a:rPr lang="en-US" smtClean="0"/>
              <a:t>30</a:t>
            </a:fld>
            <a:endParaRPr lang="en-US"/>
          </a:p>
        </p:txBody>
      </p:sp>
    </p:spTree>
    <p:extLst>
      <p:ext uri="{BB962C8B-B14F-4D97-AF65-F5344CB8AC3E}">
        <p14:creationId xmlns:p14="http://schemas.microsoft.com/office/powerpoint/2010/main" val="2039590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9785C-DE4C-0363-BF38-7D6B6E765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F06EF-7082-EE60-960E-48460E0FA0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F7F73-7B60-270A-9D61-572F1C20A6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BB5415-8800-8BE7-F420-70E839F16A9A}"/>
              </a:ext>
            </a:extLst>
          </p:cNvPr>
          <p:cNvSpPr>
            <a:spLocks noGrp="1"/>
          </p:cNvSpPr>
          <p:nvPr>
            <p:ph type="sldNum" sz="quarter" idx="5"/>
          </p:nvPr>
        </p:nvSpPr>
        <p:spPr/>
        <p:txBody>
          <a:bodyPr/>
          <a:lstStyle/>
          <a:p>
            <a:fld id="{8D08043F-33B7-F94E-BC8A-217643ACBD7C}" type="slidenum">
              <a:rPr lang="en-US" smtClean="0"/>
              <a:t>31</a:t>
            </a:fld>
            <a:endParaRPr lang="en-US"/>
          </a:p>
        </p:txBody>
      </p:sp>
    </p:spTree>
    <p:extLst>
      <p:ext uri="{BB962C8B-B14F-4D97-AF65-F5344CB8AC3E}">
        <p14:creationId xmlns:p14="http://schemas.microsoft.com/office/powerpoint/2010/main" val="4165588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A90F6-93C6-D566-153D-CD75D2BD4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6D000-1985-937D-89F9-0EDBE4A26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1955B-551D-0C51-D709-0C2D3B9DAD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5E5EF4-722C-9AC7-5F38-C71DC3E44C80}"/>
              </a:ext>
            </a:extLst>
          </p:cNvPr>
          <p:cNvSpPr>
            <a:spLocks noGrp="1"/>
          </p:cNvSpPr>
          <p:nvPr>
            <p:ph type="sldNum" sz="quarter" idx="5"/>
          </p:nvPr>
        </p:nvSpPr>
        <p:spPr/>
        <p:txBody>
          <a:bodyPr/>
          <a:lstStyle/>
          <a:p>
            <a:fld id="{8D08043F-33B7-F94E-BC8A-217643ACBD7C}" type="slidenum">
              <a:rPr lang="en-US" smtClean="0"/>
              <a:t>34</a:t>
            </a:fld>
            <a:endParaRPr lang="en-US"/>
          </a:p>
        </p:txBody>
      </p:sp>
    </p:spTree>
    <p:extLst>
      <p:ext uri="{BB962C8B-B14F-4D97-AF65-F5344CB8AC3E}">
        <p14:creationId xmlns:p14="http://schemas.microsoft.com/office/powerpoint/2010/main" val="1844480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F2D25-5B05-4309-6812-F9745C5D06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90171-FF81-D674-DB22-379896D29D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8D96A-7CC7-72A5-9465-1D2DF22A6C11}"/>
              </a:ext>
            </a:extLst>
          </p:cNvPr>
          <p:cNvSpPr>
            <a:spLocks noGrp="1"/>
          </p:cNvSpPr>
          <p:nvPr>
            <p:ph type="body" idx="1"/>
          </p:nvPr>
        </p:nvSpPr>
        <p:spPr/>
        <p:txBody>
          <a:bodyPr/>
          <a:lstStyle/>
          <a:p>
            <a:r>
              <a:rPr lang="en-US" dirty="0"/>
              <a:t>Swing style slides in Kotlin</a:t>
            </a:r>
          </a:p>
        </p:txBody>
      </p:sp>
      <p:sp>
        <p:nvSpPr>
          <p:cNvPr id="4" name="Slide Number Placeholder 3">
            <a:extLst>
              <a:ext uri="{FF2B5EF4-FFF2-40B4-BE49-F238E27FC236}">
                <a16:creationId xmlns:a16="http://schemas.microsoft.com/office/drawing/2014/main" id="{070445E5-FA9C-9423-5014-C88BEC29EF0F}"/>
              </a:ext>
            </a:extLst>
          </p:cNvPr>
          <p:cNvSpPr>
            <a:spLocks noGrp="1"/>
          </p:cNvSpPr>
          <p:nvPr>
            <p:ph type="sldNum" sz="quarter" idx="5"/>
          </p:nvPr>
        </p:nvSpPr>
        <p:spPr/>
        <p:txBody>
          <a:bodyPr/>
          <a:lstStyle/>
          <a:p>
            <a:fld id="{8D08043F-33B7-F94E-BC8A-217643ACBD7C}" type="slidenum">
              <a:rPr lang="en-US" smtClean="0"/>
              <a:t>41</a:t>
            </a:fld>
            <a:endParaRPr lang="en-US"/>
          </a:p>
        </p:txBody>
      </p:sp>
    </p:spTree>
    <p:extLst>
      <p:ext uri="{BB962C8B-B14F-4D97-AF65-F5344CB8AC3E}">
        <p14:creationId xmlns:p14="http://schemas.microsoft.com/office/powerpoint/2010/main" val="4079010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A84CC-D932-5693-7B8B-E2F1549158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7249340-5D87-8185-DBD0-40BAA9CF47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C5C495E-936F-361A-FBF9-D870D526E3A5}"/>
              </a:ext>
            </a:extLst>
          </p:cNvPr>
          <p:cNvSpPr>
            <a:spLocks noGrp="1"/>
          </p:cNvSpPr>
          <p:nvPr>
            <p:ph type="dt" sz="half" idx="10"/>
          </p:nvPr>
        </p:nvSpPr>
        <p:spPr/>
        <p:txBody>
          <a:bodyPr/>
          <a:lstStyle/>
          <a:p>
            <a:fld id="{3D013767-D1C5-ED44-86C1-25AF585F16D6}" type="datetime1">
              <a:rPr lang="en-CA" smtClean="0"/>
              <a:t>2026-05-11</a:t>
            </a:fld>
            <a:endParaRPr lang="en-US"/>
          </a:p>
        </p:txBody>
      </p:sp>
      <p:sp>
        <p:nvSpPr>
          <p:cNvPr id="5" name="Footer Placeholder 4">
            <a:extLst>
              <a:ext uri="{FF2B5EF4-FFF2-40B4-BE49-F238E27FC236}">
                <a16:creationId xmlns:a16="http://schemas.microsoft.com/office/drawing/2014/main" id="{FE2015C1-ACEE-3CC7-F195-C0C3E1BC04A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2A43674-9B99-47B8-79FE-85D10A609234}"/>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61784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6D752-5E7C-B6F1-4BF3-1A871369FB3C}"/>
              </a:ext>
            </a:extLst>
          </p:cNvPr>
          <p:cNvSpPr>
            <a:spLocks noGrp="1"/>
          </p:cNvSpPr>
          <p:nvPr>
            <p:ph type="title"/>
          </p:nvPr>
        </p:nvSpPr>
        <p:spPr/>
        <p:txBody>
          <a:bodyPr/>
          <a:lstStyle/>
          <a:p>
            <a:r>
              <a:rPr lang="en-US" dirty="0"/>
              <a:t>Click to edit Master title style</a:t>
            </a:r>
            <a:endParaRPr lang="en-CA" dirty="0"/>
          </a:p>
        </p:txBody>
      </p:sp>
      <p:sp>
        <p:nvSpPr>
          <p:cNvPr id="3" name="Content Placeholder 2">
            <a:extLst>
              <a:ext uri="{FF2B5EF4-FFF2-40B4-BE49-F238E27FC236}">
                <a16:creationId xmlns:a16="http://schemas.microsoft.com/office/drawing/2014/main" id="{AF173BBD-9555-1EF4-1596-5BC2E890A3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99F8CD4-882F-2ECA-5745-7B3C6AD2E0F3}"/>
              </a:ext>
            </a:extLst>
          </p:cNvPr>
          <p:cNvSpPr>
            <a:spLocks noGrp="1"/>
          </p:cNvSpPr>
          <p:nvPr>
            <p:ph type="dt" sz="half" idx="10"/>
          </p:nvPr>
        </p:nvSpPr>
        <p:spPr/>
        <p:txBody>
          <a:bodyPr/>
          <a:lstStyle/>
          <a:p>
            <a:fld id="{7A9E01E8-A5BE-B849-88D9-B04182270DB6}" type="datetime1">
              <a:rPr lang="en-CA" smtClean="0"/>
              <a:t>2026-05-11</a:t>
            </a:fld>
            <a:endParaRPr lang="en-US"/>
          </a:p>
        </p:txBody>
      </p:sp>
      <p:sp>
        <p:nvSpPr>
          <p:cNvPr id="5" name="Footer Placeholder 4">
            <a:extLst>
              <a:ext uri="{FF2B5EF4-FFF2-40B4-BE49-F238E27FC236}">
                <a16:creationId xmlns:a16="http://schemas.microsoft.com/office/drawing/2014/main" id="{27546A88-117A-7DC3-05FF-295D2610C50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4137D5A-3CD0-948D-1C2C-8A43EF00E477}"/>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141389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BA41-C92E-74CF-332E-FEE673F540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199A875-EF19-71E3-8AD8-D5C676E22E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5E82B2-0014-5077-38DC-E9B2C23C6F47}"/>
              </a:ext>
            </a:extLst>
          </p:cNvPr>
          <p:cNvSpPr>
            <a:spLocks noGrp="1"/>
          </p:cNvSpPr>
          <p:nvPr>
            <p:ph type="dt" sz="half" idx="10"/>
          </p:nvPr>
        </p:nvSpPr>
        <p:spPr/>
        <p:txBody>
          <a:bodyPr/>
          <a:lstStyle/>
          <a:p>
            <a:fld id="{E86683AE-387E-484C-8DD7-4BFD62AD832C}" type="datetime1">
              <a:rPr lang="en-CA" smtClean="0"/>
              <a:t>2026-05-11</a:t>
            </a:fld>
            <a:endParaRPr lang="en-US"/>
          </a:p>
        </p:txBody>
      </p:sp>
      <p:sp>
        <p:nvSpPr>
          <p:cNvPr id="5" name="Footer Placeholder 4">
            <a:extLst>
              <a:ext uri="{FF2B5EF4-FFF2-40B4-BE49-F238E27FC236}">
                <a16:creationId xmlns:a16="http://schemas.microsoft.com/office/drawing/2014/main" id="{C1C2D838-0A5B-49AD-8676-34107767072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EA7A0C2-3A27-92C6-0DBE-E6546DA04402}"/>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228508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122C2-EB85-5B47-9486-146CC78BBA5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4339B6E-9871-3DBD-CE70-5B3267556D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6D417674-8F5C-6712-7638-46ED01EB9F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96C70F1-2D0D-81D3-D27F-10AAAF8C3CF2}"/>
              </a:ext>
            </a:extLst>
          </p:cNvPr>
          <p:cNvSpPr>
            <a:spLocks noGrp="1"/>
          </p:cNvSpPr>
          <p:nvPr>
            <p:ph type="dt" sz="half" idx="10"/>
          </p:nvPr>
        </p:nvSpPr>
        <p:spPr/>
        <p:txBody>
          <a:bodyPr/>
          <a:lstStyle/>
          <a:p>
            <a:fld id="{7A9C0216-2693-3D46-BFDB-4F54C072FE49}" type="datetime1">
              <a:rPr lang="en-CA" smtClean="0"/>
              <a:t>2026-05-11</a:t>
            </a:fld>
            <a:endParaRPr lang="en-US"/>
          </a:p>
        </p:txBody>
      </p:sp>
      <p:sp>
        <p:nvSpPr>
          <p:cNvPr id="6" name="Footer Placeholder 5">
            <a:extLst>
              <a:ext uri="{FF2B5EF4-FFF2-40B4-BE49-F238E27FC236}">
                <a16:creationId xmlns:a16="http://schemas.microsoft.com/office/drawing/2014/main" id="{C8AC000D-58B3-400D-4E09-77E6AB25AE4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C8EF29C-9305-EF39-3D13-8A1CA05B52A2}"/>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3725493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CD660-EEC5-4409-AC21-37E1099EFD0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7F5D18BA-AD14-044C-3967-D5EDC6B8C9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FD6AF8-7670-F683-3038-145608E3B9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A846FC4-311D-47EF-C619-DF0E948318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0059D8-F684-F131-A40D-7DA08D21E6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50128AA-FFC5-DD61-A8E5-6A6D20B38196}"/>
              </a:ext>
            </a:extLst>
          </p:cNvPr>
          <p:cNvSpPr>
            <a:spLocks noGrp="1"/>
          </p:cNvSpPr>
          <p:nvPr>
            <p:ph type="dt" sz="half" idx="10"/>
          </p:nvPr>
        </p:nvSpPr>
        <p:spPr/>
        <p:txBody>
          <a:bodyPr/>
          <a:lstStyle/>
          <a:p>
            <a:fld id="{C604F6B6-4467-E84D-9ADF-61AD92CE5168}" type="datetime1">
              <a:rPr lang="en-CA" smtClean="0"/>
              <a:t>2026-05-11</a:t>
            </a:fld>
            <a:endParaRPr lang="en-US"/>
          </a:p>
        </p:txBody>
      </p:sp>
      <p:sp>
        <p:nvSpPr>
          <p:cNvPr id="8" name="Footer Placeholder 7">
            <a:extLst>
              <a:ext uri="{FF2B5EF4-FFF2-40B4-BE49-F238E27FC236}">
                <a16:creationId xmlns:a16="http://schemas.microsoft.com/office/drawing/2014/main" id="{E33D0857-DB44-567B-23A7-A7BC15CCE336}"/>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91E0EF4-D24C-7E38-A06C-0609189DD1BA}"/>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950092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C315A-A7AA-7372-86B9-8FB57FC0D68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F0876FC-6767-F429-5996-3B7304466B52}"/>
              </a:ext>
            </a:extLst>
          </p:cNvPr>
          <p:cNvSpPr>
            <a:spLocks noGrp="1"/>
          </p:cNvSpPr>
          <p:nvPr>
            <p:ph type="dt" sz="half" idx="10"/>
          </p:nvPr>
        </p:nvSpPr>
        <p:spPr/>
        <p:txBody>
          <a:bodyPr/>
          <a:lstStyle/>
          <a:p>
            <a:fld id="{DD49296E-B8C8-A14B-ABDB-DE383ABC13A3}" type="datetime1">
              <a:rPr lang="en-CA" smtClean="0"/>
              <a:t>2026-05-11</a:t>
            </a:fld>
            <a:endParaRPr lang="en-US"/>
          </a:p>
        </p:txBody>
      </p:sp>
      <p:sp>
        <p:nvSpPr>
          <p:cNvPr id="4" name="Footer Placeholder 3">
            <a:extLst>
              <a:ext uri="{FF2B5EF4-FFF2-40B4-BE49-F238E27FC236}">
                <a16:creationId xmlns:a16="http://schemas.microsoft.com/office/drawing/2014/main" id="{19695B8F-C977-A64F-1120-702380694DBB}"/>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9BC2CC2-A8A3-64D9-D573-CBF9164A66F4}"/>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2808830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01B624-91C7-4973-781A-79989E26CFC9}"/>
              </a:ext>
            </a:extLst>
          </p:cNvPr>
          <p:cNvSpPr>
            <a:spLocks noGrp="1"/>
          </p:cNvSpPr>
          <p:nvPr>
            <p:ph type="dt" sz="half" idx="10"/>
          </p:nvPr>
        </p:nvSpPr>
        <p:spPr/>
        <p:txBody>
          <a:bodyPr/>
          <a:lstStyle/>
          <a:p>
            <a:fld id="{6584B712-292A-024C-B545-4DFB9742F957}" type="datetime1">
              <a:rPr lang="en-CA" smtClean="0"/>
              <a:t>2026-05-11</a:t>
            </a:fld>
            <a:endParaRPr lang="en-US"/>
          </a:p>
        </p:txBody>
      </p:sp>
      <p:sp>
        <p:nvSpPr>
          <p:cNvPr id="3" name="Footer Placeholder 2">
            <a:extLst>
              <a:ext uri="{FF2B5EF4-FFF2-40B4-BE49-F238E27FC236}">
                <a16:creationId xmlns:a16="http://schemas.microsoft.com/office/drawing/2014/main" id="{A3ED205E-91DC-6B6D-19FC-3CDD6C900675}"/>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6D5A587-D1AE-B625-A5B1-BEA81A65E0A6}"/>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3127304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A143-EFCB-9ABB-9A78-F569895506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A8DF93C-DF32-86C8-85D3-24B9EAF39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8719775-0DAB-DA39-D142-D9A6CF5F37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BDD9C2-518E-BD20-2651-1D3F240E8953}"/>
              </a:ext>
            </a:extLst>
          </p:cNvPr>
          <p:cNvSpPr>
            <a:spLocks noGrp="1"/>
          </p:cNvSpPr>
          <p:nvPr>
            <p:ph type="dt" sz="half" idx="10"/>
          </p:nvPr>
        </p:nvSpPr>
        <p:spPr/>
        <p:txBody>
          <a:bodyPr/>
          <a:lstStyle/>
          <a:p>
            <a:fld id="{250EA742-D1DA-3E49-B42C-F22668509099}" type="datetime1">
              <a:rPr lang="en-CA" smtClean="0"/>
              <a:t>2026-05-11</a:t>
            </a:fld>
            <a:endParaRPr lang="en-US"/>
          </a:p>
        </p:txBody>
      </p:sp>
      <p:sp>
        <p:nvSpPr>
          <p:cNvPr id="6" name="Footer Placeholder 5">
            <a:extLst>
              <a:ext uri="{FF2B5EF4-FFF2-40B4-BE49-F238E27FC236}">
                <a16:creationId xmlns:a16="http://schemas.microsoft.com/office/drawing/2014/main" id="{BC470CA1-7F5B-AF21-D8CA-1860B1778A2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139D57E-1983-1E12-5CDA-AF9CA76412E2}"/>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3886548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3A6F8-1009-2BB3-539A-3E06364291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3C515D4-267A-56B7-7E7F-DC9A634D2D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8FCDFB8-2411-B8B3-6C7D-820F3FEA2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930979-B4BD-0EA7-264F-86E34E45F9E8}"/>
              </a:ext>
            </a:extLst>
          </p:cNvPr>
          <p:cNvSpPr>
            <a:spLocks noGrp="1"/>
          </p:cNvSpPr>
          <p:nvPr>
            <p:ph type="dt" sz="half" idx="10"/>
          </p:nvPr>
        </p:nvSpPr>
        <p:spPr/>
        <p:txBody>
          <a:bodyPr/>
          <a:lstStyle/>
          <a:p>
            <a:fld id="{510E7EFB-5324-0B44-BBE4-E439FD1BDAC1}" type="datetime1">
              <a:rPr lang="en-CA" smtClean="0"/>
              <a:t>2026-05-11</a:t>
            </a:fld>
            <a:endParaRPr lang="en-US"/>
          </a:p>
        </p:txBody>
      </p:sp>
      <p:sp>
        <p:nvSpPr>
          <p:cNvPr id="6" name="Footer Placeholder 5">
            <a:extLst>
              <a:ext uri="{FF2B5EF4-FFF2-40B4-BE49-F238E27FC236}">
                <a16:creationId xmlns:a16="http://schemas.microsoft.com/office/drawing/2014/main" id="{EB3F5B5A-93FA-C06E-C03D-8D980FA298B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F63B8BF-BF3E-EDD1-6752-3396FD8C38F7}"/>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321474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5AD68-E7D5-496E-FCF5-A3C6FD5D74CE}"/>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2EB48DA-E7EC-5EA2-E9EF-78E99F7D0A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D01F736-B778-6BD2-8B02-B8776346B6A5}"/>
              </a:ext>
            </a:extLst>
          </p:cNvPr>
          <p:cNvSpPr>
            <a:spLocks noGrp="1"/>
          </p:cNvSpPr>
          <p:nvPr>
            <p:ph type="dt" sz="half" idx="10"/>
          </p:nvPr>
        </p:nvSpPr>
        <p:spPr/>
        <p:txBody>
          <a:bodyPr/>
          <a:lstStyle/>
          <a:p>
            <a:fld id="{208E730E-D931-C74B-B705-B34DABD027C7}" type="datetime1">
              <a:rPr lang="en-CA" smtClean="0"/>
              <a:t>2026-05-11</a:t>
            </a:fld>
            <a:endParaRPr lang="en-US"/>
          </a:p>
        </p:txBody>
      </p:sp>
      <p:sp>
        <p:nvSpPr>
          <p:cNvPr id="5" name="Footer Placeholder 4">
            <a:extLst>
              <a:ext uri="{FF2B5EF4-FFF2-40B4-BE49-F238E27FC236}">
                <a16:creationId xmlns:a16="http://schemas.microsoft.com/office/drawing/2014/main" id="{28CE56AE-F2A2-E586-E591-87E038AF974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E1D2913-39E0-F49F-BBCE-A1D9BA39E667}"/>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3427215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1FB1D4-08E9-A01E-235C-6A4DC9C67E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D9AAF4A-BA86-BBD0-41A3-25E71D9AB9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379D313-FCE2-96F9-A207-B146A1E4113F}"/>
              </a:ext>
            </a:extLst>
          </p:cNvPr>
          <p:cNvSpPr>
            <a:spLocks noGrp="1"/>
          </p:cNvSpPr>
          <p:nvPr>
            <p:ph type="dt" sz="half" idx="10"/>
          </p:nvPr>
        </p:nvSpPr>
        <p:spPr/>
        <p:txBody>
          <a:bodyPr/>
          <a:lstStyle/>
          <a:p>
            <a:fld id="{30404059-12CD-D947-A259-FDFCB9CD7BAB}" type="datetime1">
              <a:rPr lang="en-CA" smtClean="0"/>
              <a:t>2026-05-11</a:t>
            </a:fld>
            <a:endParaRPr lang="en-US"/>
          </a:p>
        </p:txBody>
      </p:sp>
      <p:sp>
        <p:nvSpPr>
          <p:cNvPr id="5" name="Footer Placeholder 4">
            <a:extLst>
              <a:ext uri="{FF2B5EF4-FFF2-40B4-BE49-F238E27FC236}">
                <a16:creationId xmlns:a16="http://schemas.microsoft.com/office/drawing/2014/main" id="{A6CD6AE1-6572-DD79-D7E2-D2592D72DAA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8AE2819-E334-616D-356B-AA50343F8F69}"/>
              </a:ext>
            </a:extLst>
          </p:cNvPr>
          <p:cNvSpPr>
            <a:spLocks noGrp="1"/>
          </p:cNvSpPr>
          <p:nvPr>
            <p:ph type="sldNum" sz="quarter" idx="12"/>
          </p:nvPr>
        </p:nvSpPr>
        <p:spPr/>
        <p:txBody>
          <a:bodyPr/>
          <a:lstStyle/>
          <a:p>
            <a:fld id="{B6F15528-21DE-4FAA-801E-634DDDAF4B2B}" type="slidenum">
              <a:rPr lang="en-CA" smtClean="0"/>
              <a:t>‹#›</a:t>
            </a:fld>
            <a:endParaRPr lang="en-CA"/>
          </a:p>
        </p:txBody>
      </p:sp>
    </p:spTree>
    <p:extLst>
      <p:ext uri="{BB962C8B-B14F-4D97-AF65-F5344CB8AC3E}">
        <p14:creationId xmlns:p14="http://schemas.microsoft.com/office/powerpoint/2010/main" val="2679381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696709-6D22-65DD-070D-486470D4F3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F9D9158-31E0-D851-22F8-F233EE9EC2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426DD36-224B-EAE0-7DC3-3EEF00C7A4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09D8E4-AFC9-0C43-92C4-D351C4E86507}" type="datetime1">
              <a:rPr lang="en-CA" smtClean="0"/>
              <a:t>2026-05-11</a:t>
            </a:fld>
            <a:endParaRPr lang="en-US"/>
          </a:p>
        </p:txBody>
      </p:sp>
      <p:sp>
        <p:nvSpPr>
          <p:cNvPr id="5" name="Footer Placeholder 4">
            <a:extLst>
              <a:ext uri="{FF2B5EF4-FFF2-40B4-BE49-F238E27FC236}">
                <a16:creationId xmlns:a16="http://schemas.microsoft.com/office/drawing/2014/main" id="{FD7451FF-B4DB-A366-37A6-3234385099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A805A90-6D57-6D9E-2CC2-D7B617ECFB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F15528-21DE-4FAA-801E-634DDDAF4B2B}" type="slidenum">
              <a:rPr lang="en-CA" smtClean="0"/>
              <a:t>‹#›</a:t>
            </a:fld>
            <a:endParaRPr lang="en-CA"/>
          </a:p>
        </p:txBody>
      </p:sp>
    </p:spTree>
    <p:extLst>
      <p:ext uri="{BB962C8B-B14F-4D97-AF65-F5344CB8AC3E}">
        <p14:creationId xmlns:p14="http://schemas.microsoft.com/office/powerpoint/2010/main" val="190217872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hktang@ualberta.ca"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3FA_AED7290E.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microsoft.com/office/2018/10/relationships/comments" Target="../comments/modernComment_10C_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402_398D081F.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www.dilbert.co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docs.oracle.com/javase/6/docs/api/" TargetMode="External"/><Relationship Id="rId2" Type="http://schemas.openxmlformats.org/officeDocument/2006/relationships/hyperlink" Target="https://docs.oracle.com/javase/tutorial/uiswing/" TargetMode="External"/><Relationship Id="rId1" Type="http://schemas.openxmlformats.org/officeDocument/2006/relationships/slideLayout" Target="../slideLayouts/slideLayout2.xml"/><Relationship Id="rId4" Type="http://schemas.openxmlformats.org/officeDocument/2006/relationships/hyperlink" Target="https://www.oracle.com/technical-resources/articles/javase/application-design-with-mvc.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E5A1-D681-F83A-1E09-3A34736D0D92}"/>
              </a:ext>
            </a:extLst>
          </p:cNvPr>
          <p:cNvSpPr>
            <a:spLocks noGrp="1"/>
          </p:cNvSpPr>
          <p:nvPr>
            <p:ph type="ctrTitle"/>
          </p:nvPr>
        </p:nvSpPr>
        <p:spPr>
          <a:xfrm>
            <a:off x="-1" y="939892"/>
            <a:ext cx="12192000" cy="2387600"/>
          </a:xfrm>
        </p:spPr>
        <p:txBody>
          <a:bodyPr>
            <a:normAutofit/>
          </a:bodyPr>
          <a:lstStyle/>
          <a:p>
            <a:r>
              <a:rPr lang="en-US" sz="6000" dirty="0"/>
              <a:t>MVC and Android</a:t>
            </a:r>
            <a:endParaRPr lang="en-CA" dirty="0"/>
          </a:p>
        </p:txBody>
      </p:sp>
      <p:sp>
        <p:nvSpPr>
          <p:cNvPr id="3" name="Subtitle 2">
            <a:extLst>
              <a:ext uri="{FF2B5EF4-FFF2-40B4-BE49-F238E27FC236}">
                <a16:creationId xmlns:a16="http://schemas.microsoft.com/office/drawing/2014/main" id="{E36CDD20-8240-91D2-CA62-7FAF83ECCDCA}"/>
              </a:ext>
            </a:extLst>
          </p:cNvPr>
          <p:cNvSpPr>
            <a:spLocks noGrp="1"/>
          </p:cNvSpPr>
          <p:nvPr>
            <p:ph type="subTitle" idx="1"/>
          </p:nvPr>
        </p:nvSpPr>
        <p:spPr>
          <a:xfrm>
            <a:off x="1524000" y="3602038"/>
            <a:ext cx="9144000" cy="1866074"/>
          </a:xfrm>
        </p:spPr>
        <p:txBody>
          <a:bodyPr>
            <a:noAutofit/>
          </a:bodyPr>
          <a:lstStyle/>
          <a:p>
            <a:pPr>
              <a:lnSpc>
                <a:spcPct val="50000"/>
              </a:lnSpc>
            </a:pPr>
            <a:r>
              <a:rPr lang="en-US" sz="1800" dirty="0"/>
              <a:t>Henry Tang</a:t>
            </a:r>
          </a:p>
          <a:p>
            <a:pPr>
              <a:lnSpc>
                <a:spcPct val="50000"/>
              </a:lnSpc>
            </a:pPr>
            <a:r>
              <a:rPr lang="en-US" sz="1800" dirty="0">
                <a:solidFill>
                  <a:srgbClr val="0070C0"/>
                </a:solidFill>
                <a:hlinkClick r:id="rId2">
                  <a:extLst>
                    <a:ext uri="{A12FA001-AC4F-418D-AE19-62706E023703}">
                      <ahyp:hlinkClr xmlns:ahyp="http://schemas.microsoft.com/office/drawing/2018/hyperlinkcolor" val="tx"/>
                    </a:ext>
                  </a:extLst>
                </a:hlinkClick>
              </a:rPr>
              <a:t>hktang@ualberta.ca</a:t>
            </a:r>
            <a:endParaRPr lang="en-US" sz="1800" dirty="0">
              <a:solidFill>
                <a:srgbClr val="0070C0"/>
              </a:solidFill>
            </a:endParaRPr>
          </a:p>
          <a:p>
            <a:pPr>
              <a:lnSpc>
                <a:spcPct val="50000"/>
              </a:lnSpc>
            </a:pPr>
            <a:r>
              <a:rPr lang="en-US" sz="1800" dirty="0"/>
              <a:t>Department of Computing Science</a:t>
            </a:r>
          </a:p>
          <a:p>
            <a:pPr>
              <a:lnSpc>
                <a:spcPct val="50000"/>
              </a:lnSpc>
            </a:pPr>
            <a:r>
              <a:rPr lang="en-US" sz="1800" dirty="0"/>
              <a:t>University of Alberta</a:t>
            </a:r>
          </a:p>
          <a:p>
            <a:pPr>
              <a:lnSpc>
                <a:spcPct val="50000"/>
              </a:lnSpc>
            </a:pPr>
            <a:endParaRPr lang="en-US" sz="1800" dirty="0"/>
          </a:p>
          <a:p>
            <a:pPr>
              <a:lnSpc>
                <a:spcPct val="50000"/>
              </a:lnSpc>
            </a:pPr>
            <a:r>
              <a:rPr lang="en-US" sz="1800" dirty="0"/>
              <a:t>CMPUT  301 – Introduction to Software Engineering</a:t>
            </a:r>
          </a:p>
          <a:p>
            <a:pPr>
              <a:lnSpc>
                <a:spcPct val="50000"/>
              </a:lnSpc>
            </a:pPr>
            <a:r>
              <a:rPr lang="en-CA" sz="1800" dirty="0"/>
              <a:t>Slides adapted from Dr. Hazel Campbell, Dr. Ken Wong, and Dr. Abram Hindle</a:t>
            </a:r>
            <a:endParaRPr lang="en-US" sz="1800" dirty="0"/>
          </a:p>
        </p:txBody>
      </p:sp>
      <p:pic>
        <p:nvPicPr>
          <p:cNvPr id="6" name="UA-COLOUR.png" descr="UA-COLOUR.png">
            <a:extLst>
              <a:ext uri="{FF2B5EF4-FFF2-40B4-BE49-F238E27FC236}">
                <a16:creationId xmlns:a16="http://schemas.microsoft.com/office/drawing/2014/main" id="{685CE709-56F6-C1CA-7176-E9AE3428D1CA}"/>
              </a:ext>
            </a:extLst>
          </p:cNvPr>
          <p:cNvPicPr>
            <a:picLocks noChangeAspect="1"/>
          </p:cNvPicPr>
          <p:nvPr/>
        </p:nvPicPr>
        <p:blipFill>
          <a:blip r:embed="rId3"/>
          <a:stretch>
            <a:fillRect/>
          </a:stretch>
        </p:blipFill>
        <p:spPr>
          <a:xfrm>
            <a:off x="4175831" y="5532346"/>
            <a:ext cx="3840339" cy="900357"/>
          </a:xfrm>
          <a:prstGeom prst="rect">
            <a:avLst/>
          </a:prstGeom>
          <a:ln w="12700">
            <a:miter lim="400000"/>
          </a:ln>
        </p:spPr>
      </p:pic>
      <p:sp>
        <p:nvSpPr>
          <p:cNvPr id="5" name="TextBox 4">
            <a:extLst>
              <a:ext uri="{FF2B5EF4-FFF2-40B4-BE49-F238E27FC236}">
                <a16:creationId xmlns:a16="http://schemas.microsoft.com/office/drawing/2014/main" id="{90A96C20-FFFD-6997-461D-735F88863728}"/>
              </a:ext>
            </a:extLst>
          </p:cNvPr>
          <p:cNvSpPr txBox="1"/>
          <p:nvPr/>
        </p:nvSpPr>
        <p:spPr>
          <a:xfrm>
            <a:off x="-777" y="6596390"/>
            <a:ext cx="12190477" cy="261610"/>
          </a:xfrm>
          <a:prstGeom prst="rect">
            <a:avLst/>
          </a:prstGeom>
          <a:noFill/>
        </p:spPr>
        <p:txBody>
          <a:bodyPr wrap="square">
            <a:spAutoFit/>
          </a:bodyPr>
          <a:lstStyle/>
          <a:p>
            <a:r>
              <a:rPr lang="en-US" sz="1100" dirty="0">
                <a:solidFill>
                  <a:schemeClr val="bg1">
                    <a:lumMod val="50000"/>
                  </a:schemeClr>
                </a:solidFill>
                <a:latin typeface="Gill Sans MT" charset="0"/>
              </a:rPr>
              <a:t>Images reproduced in these slides have been included under section 29 of the Copyright Act, as fair dealing for research, private study, criticism, or review. Further distribution or uses may infringe copyright.</a:t>
            </a:r>
          </a:p>
        </p:txBody>
      </p:sp>
    </p:spTree>
    <p:extLst>
      <p:ext uri="{BB962C8B-B14F-4D97-AF65-F5344CB8AC3E}">
        <p14:creationId xmlns:p14="http://schemas.microsoft.com/office/powerpoint/2010/main" val="399105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19222810-D806-AF0F-0D47-56591AAEDBA6}"/>
              </a:ext>
            </a:extLst>
          </p:cNvPr>
          <p:cNvSpPr>
            <a:spLocks noGrp="1"/>
          </p:cNvSpPr>
          <p:nvPr>
            <p:ph idx="1"/>
          </p:nvPr>
        </p:nvSpPr>
        <p:spPr>
          <a:xfrm>
            <a:off x="838200" y="1825625"/>
            <a:ext cx="10515600" cy="4351338"/>
          </a:xfrm>
        </p:spPr>
        <p:txBody>
          <a:bodyPr/>
          <a:lstStyle/>
          <a:p>
            <a:r>
              <a:rPr lang="en-US" dirty="0"/>
              <a:t>Model:</a:t>
            </a:r>
          </a:p>
          <a:p>
            <a:pPr lvl="1"/>
            <a:r>
              <a:rPr lang="en-US" dirty="0"/>
              <a:t>Entity layer</a:t>
            </a:r>
          </a:p>
          <a:p>
            <a:pPr lvl="2"/>
            <a:r>
              <a:rPr lang="en-US" dirty="0"/>
              <a:t>Complete, self-contained representation of the data managed by the application</a:t>
            </a:r>
          </a:p>
          <a:p>
            <a:pPr lvl="2"/>
            <a:r>
              <a:rPr lang="en-US" dirty="0"/>
              <a:t>Provides services to manipulate this data</a:t>
            </a:r>
          </a:p>
          <a:p>
            <a:pPr lvl="2"/>
            <a:r>
              <a:rPr lang="en-US" dirty="0"/>
              <a:t>“The back end” </a:t>
            </a:r>
          </a:p>
          <a:p>
            <a:pPr lvl="1"/>
            <a:r>
              <a:rPr lang="en-US" dirty="0"/>
              <a:t>Main responsibilities</a:t>
            </a:r>
          </a:p>
          <a:p>
            <a:pPr lvl="2"/>
            <a:r>
              <a:rPr lang="en-US" dirty="0"/>
              <a:t>Representation and computation issues</a:t>
            </a:r>
          </a:p>
          <a:p>
            <a:pPr lvl="2"/>
            <a:r>
              <a:rPr lang="en-US" dirty="0"/>
              <a:t>Sometimes persistence</a:t>
            </a:r>
          </a:p>
        </p:txBody>
      </p:sp>
      <p:sp>
        <p:nvSpPr>
          <p:cNvPr id="5" name="object 2">
            <a:extLst>
              <a:ext uri="{FF2B5EF4-FFF2-40B4-BE49-F238E27FC236}">
                <a16:creationId xmlns:a16="http://schemas.microsoft.com/office/drawing/2014/main" id="{DD46BFF4-18C1-0711-6536-E5F6321F9114}"/>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lang="en-CA" dirty="0"/>
              <a:t>Model/View/Controller</a:t>
            </a:r>
            <a:r>
              <a:rPr dirty="0"/>
              <a:t> Roles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D06AA84-3D6C-1855-2B2E-3C08293F8B2E}"/>
              </a:ext>
            </a:extLst>
          </p:cNvPr>
          <p:cNvSpPr>
            <a:spLocks noGrp="1"/>
          </p:cNvSpPr>
          <p:nvPr>
            <p:ph idx="1"/>
          </p:nvPr>
        </p:nvSpPr>
        <p:spPr>
          <a:xfrm>
            <a:off x="838200" y="1825625"/>
            <a:ext cx="10515600" cy="4351338"/>
          </a:xfrm>
        </p:spPr>
        <p:txBody>
          <a:bodyPr/>
          <a:lstStyle/>
          <a:p>
            <a:r>
              <a:rPr lang="en-US" dirty="0"/>
              <a:t>View:</a:t>
            </a:r>
          </a:p>
          <a:p>
            <a:pPr lvl="1"/>
            <a:r>
              <a:rPr lang="en-US" dirty="0"/>
              <a:t>Boundary layer</a:t>
            </a:r>
          </a:p>
          <a:p>
            <a:pPr lvl="2"/>
            <a:r>
              <a:rPr lang="en-US" dirty="0"/>
              <a:t>Set of user interface components determines what is needed for a particular perspective of the data</a:t>
            </a:r>
          </a:p>
          <a:p>
            <a:pPr lvl="2"/>
            <a:r>
              <a:rPr lang="en-US" dirty="0"/>
              <a:t>“The front end” or what the user sees</a:t>
            </a:r>
          </a:p>
          <a:p>
            <a:pPr lvl="1"/>
            <a:r>
              <a:rPr lang="en-US" dirty="0"/>
              <a:t>Main responsibility</a:t>
            </a:r>
          </a:p>
          <a:p>
            <a:pPr lvl="2"/>
            <a:r>
              <a:rPr lang="en-US" dirty="0"/>
              <a:t>Display the current data</a:t>
            </a:r>
          </a:p>
          <a:p>
            <a:pPr lvl="2"/>
            <a:r>
              <a:rPr lang="en-US" dirty="0"/>
              <a:t>Presentation issues</a:t>
            </a:r>
          </a:p>
        </p:txBody>
      </p:sp>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MVC Roles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6D877DF-8998-8527-285F-BD5163C405EE}"/>
              </a:ext>
            </a:extLst>
          </p:cNvPr>
          <p:cNvSpPr>
            <a:spLocks noGrp="1"/>
          </p:cNvSpPr>
          <p:nvPr>
            <p:ph idx="1"/>
          </p:nvPr>
        </p:nvSpPr>
        <p:spPr>
          <a:xfrm>
            <a:off x="838200" y="1825625"/>
            <a:ext cx="10515600" cy="4351338"/>
          </a:xfrm>
        </p:spPr>
        <p:txBody>
          <a:bodyPr/>
          <a:lstStyle/>
          <a:p>
            <a:r>
              <a:rPr lang="en-US" dirty="0"/>
              <a:t>Controller:</a:t>
            </a:r>
          </a:p>
          <a:p>
            <a:pPr lvl="1"/>
            <a:r>
              <a:rPr lang="en-US" dirty="0"/>
              <a:t>Control layer</a:t>
            </a:r>
          </a:p>
          <a:p>
            <a:pPr lvl="2"/>
            <a:r>
              <a:rPr lang="en-US" dirty="0"/>
              <a:t>Handles events and uses appropriate information from user interface components to modify the model</a:t>
            </a:r>
          </a:p>
          <a:p>
            <a:pPr lvl="1"/>
            <a:r>
              <a:rPr lang="en-US" dirty="0"/>
              <a:t>Main responsibility</a:t>
            </a:r>
          </a:p>
          <a:p>
            <a:pPr lvl="2"/>
            <a:r>
              <a:rPr lang="en-US" dirty="0"/>
              <a:t>Interaction issues</a:t>
            </a:r>
          </a:p>
        </p:txBody>
      </p:sp>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MVC Roles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66" name="Group 165">
            <a:extLst>
              <a:ext uri="{FF2B5EF4-FFF2-40B4-BE49-F238E27FC236}">
                <a16:creationId xmlns:a16="http://schemas.microsoft.com/office/drawing/2014/main" id="{08998C02-2FA3-45CD-F6AE-EA276A481BD1}"/>
              </a:ext>
            </a:extLst>
          </p:cNvPr>
          <p:cNvGrpSpPr/>
          <p:nvPr/>
        </p:nvGrpSpPr>
        <p:grpSpPr>
          <a:xfrm>
            <a:off x="2482533" y="1111191"/>
            <a:ext cx="7226934" cy="1538605"/>
            <a:chOff x="2986980" y="1111191"/>
            <a:chExt cx="7226934" cy="1538605"/>
          </a:xfrm>
        </p:grpSpPr>
        <p:grpSp>
          <p:nvGrpSpPr>
            <p:cNvPr id="165" name="Group 164">
              <a:extLst>
                <a:ext uri="{FF2B5EF4-FFF2-40B4-BE49-F238E27FC236}">
                  <a16:creationId xmlns:a16="http://schemas.microsoft.com/office/drawing/2014/main" id="{A1D66E51-6967-2824-9F0C-37A99CC12AB5}"/>
                </a:ext>
              </a:extLst>
            </p:cNvPr>
            <p:cNvGrpSpPr/>
            <p:nvPr/>
          </p:nvGrpSpPr>
          <p:grpSpPr>
            <a:xfrm>
              <a:off x="2986980" y="1111191"/>
              <a:ext cx="7226934" cy="1538605"/>
              <a:chOff x="2986980" y="1111191"/>
              <a:chExt cx="7226934" cy="1538605"/>
            </a:xfrm>
          </p:grpSpPr>
          <p:grpSp>
            <p:nvGrpSpPr>
              <p:cNvPr id="5" name="object 5"/>
              <p:cNvGrpSpPr/>
              <p:nvPr/>
            </p:nvGrpSpPr>
            <p:grpSpPr>
              <a:xfrm>
                <a:off x="5651441" y="1111191"/>
                <a:ext cx="1898014" cy="1538605"/>
                <a:chOff x="4127441" y="1111190"/>
                <a:chExt cx="1898014" cy="1538605"/>
              </a:xfrm>
            </p:grpSpPr>
            <p:sp>
              <p:nvSpPr>
                <p:cNvPr id="6" name="object 6"/>
                <p:cNvSpPr/>
                <p:nvPr/>
              </p:nvSpPr>
              <p:spPr>
                <a:xfrm>
                  <a:off x="4140200" y="1123950"/>
                  <a:ext cx="1871980" cy="1512570"/>
                </a:xfrm>
                <a:custGeom>
                  <a:avLst/>
                  <a:gdLst/>
                  <a:ahLst/>
                  <a:cxnLst/>
                  <a:rect l="l" t="t" r="r" b="b"/>
                  <a:pathLst>
                    <a:path w="1871979" h="1512570">
                      <a:moveTo>
                        <a:pt x="1871979" y="0"/>
                      </a:moveTo>
                      <a:lnTo>
                        <a:pt x="0" y="0"/>
                      </a:lnTo>
                      <a:lnTo>
                        <a:pt x="0" y="1512570"/>
                      </a:lnTo>
                      <a:lnTo>
                        <a:pt x="935989" y="1512570"/>
                      </a:lnTo>
                      <a:lnTo>
                        <a:pt x="1871979" y="1512570"/>
                      </a:lnTo>
                      <a:lnTo>
                        <a:pt x="1871979" y="0"/>
                      </a:lnTo>
                      <a:close/>
                    </a:path>
                  </a:pathLst>
                </a:custGeom>
                <a:solidFill>
                  <a:srgbClr val="FFFFFF"/>
                </a:solidFill>
              </p:spPr>
              <p:txBody>
                <a:bodyPr wrap="square" lIns="0" tIns="0" rIns="0" bIns="0" rtlCol="0"/>
                <a:lstStyle/>
                <a:p>
                  <a:endParaRPr/>
                </a:p>
              </p:txBody>
            </p:sp>
            <p:sp>
              <p:nvSpPr>
                <p:cNvPr id="7" name="object 7"/>
                <p:cNvSpPr/>
                <p:nvPr/>
              </p:nvSpPr>
              <p:spPr>
                <a:xfrm>
                  <a:off x="4140200" y="1123950"/>
                  <a:ext cx="1871980" cy="1512570"/>
                </a:xfrm>
                <a:custGeom>
                  <a:avLst/>
                  <a:gdLst/>
                  <a:ahLst/>
                  <a:cxnLst/>
                  <a:rect l="l" t="t" r="r" b="b"/>
                  <a:pathLst>
                    <a:path w="1871979" h="1512570">
                      <a:moveTo>
                        <a:pt x="935989" y="1512570"/>
                      </a:moveTo>
                      <a:lnTo>
                        <a:pt x="0" y="1512570"/>
                      </a:lnTo>
                      <a:lnTo>
                        <a:pt x="0" y="0"/>
                      </a:lnTo>
                      <a:lnTo>
                        <a:pt x="1871979" y="0"/>
                      </a:lnTo>
                      <a:lnTo>
                        <a:pt x="1871979" y="1512570"/>
                      </a:lnTo>
                      <a:lnTo>
                        <a:pt x="935989" y="1512570"/>
                      </a:lnTo>
                      <a:close/>
                    </a:path>
                  </a:pathLst>
                </a:custGeom>
                <a:ln w="25518">
                  <a:solidFill>
                    <a:srgbClr val="000000"/>
                  </a:solidFill>
                </a:ln>
              </p:spPr>
              <p:txBody>
                <a:bodyPr wrap="square" lIns="0" tIns="0" rIns="0" bIns="0" rtlCol="0"/>
                <a:lstStyle/>
                <a:p>
                  <a:endParaRPr/>
                </a:p>
              </p:txBody>
            </p:sp>
            <p:sp>
              <p:nvSpPr>
                <p:cNvPr id="8" name="object 8"/>
                <p:cNvSpPr/>
                <p:nvPr/>
              </p:nvSpPr>
              <p:spPr>
                <a:xfrm>
                  <a:off x="4356100" y="1555750"/>
                  <a:ext cx="1438910" cy="863600"/>
                </a:xfrm>
                <a:custGeom>
                  <a:avLst/>
                  <a:gdLst/>
                  <a:ahLst/>
                  <a:cxnLst/>
                  <a:rect l="l" t="t" r="r" b="b"/>
                  <a:pathLst>
                    <a:path w="1438910" h="863600">
                      <a:moveTo>
                        <a:pt x="1438910" y="0"/>
                      </a:moveTo>
                      <a:lnTo>
                        <a:pt x="0" y="0"/>
                      </a:lnTo>
                      <a:lnTo>
                        <a:pt x="0" y="863600"/>
                      </a:lnTo>
                      <a:lnTo>
                        <a:pt x="720089" y="863600"/>
                      </a:lnTo>
                      <a:lnTo>
                        <a:pt x="1438910" y="863600"/>
                      </a:lnTo>
                      <a:lnTo>
                        <a:pt x="1438910" y="0"/>
                      </a:lnTo>
                      <a:close/>
                    </a:path>
                  </a:pathLst>
                </a:custGeom>
                <a:solidFill>
                  <a:srgbClr val="FFFFFF"/>
                </a:solidFill>
              </p:spPr>
              <p:txBody>
                <a:bodyPr wrap="square" lIns="0" tIns="0" rIns="0" bIns="0" rtlCol="0"/>
                <a:lstStyle/>
                <a:p>
                  <a:endParaRPr/>
                </a:p>
              </p:txBody>
            </p:sp>
            <p:sp>
              <p:nvSpPr>
                <p:cNvPr id="9" name="object 9"/>
                <p:cNvSpPr/>
                <p:nvPr/>
              </p:nvSpPr>
              <p:spPr>
                <a:xfrm>
                  <a:off x="4356100" y="1555750"/>
                  <a:ext cx="1438910" cy="863600"/>
                </a:xfrm>
                <a:custGeom>
                  <a:avLst/>
                  <a:gdLst/>
                  <a:ahLst/>
                  <a:cxnLst/>
                  <a:rect l="l" t="t" r="r" b="b"/>
                  <a:pathLst>
                    <a:path w="1438910" h="863600">
                      <a:moveTo>
                        <a:pt x="720089" y="863600"/>
                      </a:moveTo>
                      <a:lnTo>
                        <a:pt x="0" y="863600"/>
                      </a:lnTo>
                      <a:lnTo>
                        <a:pt x="0" y="0"/>
                      </a:lnTo>
                      <a:lnTo>
                        <a:pt x="1438910" y="0"/>
                      </a:lnTo>
                      <a:lnTo>
                        <a:pt x="1438910" y="863600"/>
                      </a:lnTo>
                      <a:lnTo>
                        <a:pt x="720089" y="863600"/>
                      </a:lnTo>
                      <a:close/>
                    </a:path>
                  </a:pathLst>
                </a:custGeom>
                <a:ln w="25518">
                  <a:solidFill>
                    <a:srgbClr val="000000"/>
                  </a:solidFill>
                </a:ln>
              </p:spPr>
              <p:txBody>
                <a:bodyPr wrap="square" lIns="0" tIns="0" rIns="0" bIns="0" rtlCol="0"/>
                <a:lstStyle/>
                <a:p>
                  <a:endParaRPr/>
                </a:p>
              </p:txBody>
            </p:sp>
            <p:sp>
              <p:nvSpPr>
                <p:cNvPr id="10" name="object 10"/>
                <p:cNvSpPr/>
                <p:nvPr/>
              </p:nvSpPr>
              <p:spPr>
                <a:xfrm>
                  <a:off x="4356100" y="1557020"/>
                  <a:ext cx="1440180" cy="863600"/>
                </a:xfrm>
                <a:custGeom>
                  <a:avLst/>
                  <a:gdLst/>
                  <a:ahLst/>
                  <a:cxnLst/>
                  <a:rect l="l" t="t" r="r" b="b"/>
                  <a:pathLst>
                    <a:path w="1440179" h="863600">
                      <a:moveTo>
                        <a:pt x="0" y="215900"/>
                      </a:moveTo>
                      <a:lnTo>
                        <a:pt x="1440179" y="215900"/>
                      </a:lnTo>
                    </a:path>
                    <a:path w="1440179" h="863600">
                      <a:moveTo>
                        <a:pt x="0" y="431800"/>
                      </a:moveTo>
                      <a:lnTo>
                        <a:pt x="1440179" y="431800"/>
                      </a:lnTo>
                    </a:path>
                    <a:path w="1440179" h="863600">
                      <a:moveTo>
                        <a:pt x="0" y="647700"/>
                      </a:moveTo>
                      <a:lnTo>
                        <a:pt x="1440179" y="647700"/>
                      </a:lnTo>
                    </a:path>
                    <a:path w="1440179" h="863600">
                      <a:moveTo>
                        <a:pt x="359410" y="0"/>
                      </a:moveTo>
                      <a:lnTo>
                        <a:pt x="359410" y="863600"/>
                      </a:lnTo>
                    </a:path>
                    <a:path w="1440179" h="863600">
                      <a:moveTo>
                        <a:pt x="720089" y="0"/>
                      </a:moveTo>
                      <a:lnTo>
                        <a:pt x="720089" y="863600"/>
                      </a:lnTo>
                    </a:path>
                    <a:path w="1440179" h="863600">
                      <a:moveTo>
                        <a:pt x="1079500" y="0"/>
                      </a:moveTo>
                      <a:lnTo>
                        <a:pt x="1079500" y="863600"/>
                      </a:lnTo>
                    </a:path>
                  </a:pathLst>
                </a:custGeom>
                <a:ln w="9344">
                  <a:solidFill>
                    <a:srgbClr val="000000"/>
                  </a:solidFill>
                </a:ln>
              </p:spPr>
              <p:txBody>
                <a:bodyPr wrap="square" lIns="0" tIns="0" rIns="0" bIns="0" rtlCol="0"/>
                <a:lstStyle/>
                <a:p>
                  <a:endParaRPr/>
                </a:p>
              </p:txBody>
            </p:sp>
            <p:sp>
              <p:nvSpPr>
                <p:cNvPr id="11" name="object 11"/>
                <p:cNvSpPr/>
                <p:nvPr/>
              </p:nvSpPr>
              <p:spPr>
                <a:xfrm>
                  <a:off x="4140200" y="1125219"/>
                  <a:ext cx="1871980" cy="215900"/>
                </a:xfrm>
                <a:custGeom>
                  <a:avLst/>
                  <a:gdLst/>
                  <a:ahLst/>
                  <a:cxnLst/>
                  <a:rect l="l" t="t" r="r" b="b"/>
                  <a:pathLst>
                    <a:path w="1871979" h="215900">
                      <a:moveTo>
                        <a:pt x="786130" y="0"/>
                      </a:moveTo>
                      <a:lnTo>
                        <a:pt x="0" y="0"/>
                      </a:lnTo>
                      <a:lnTo>
                        <a:pt x="0" y="214630"/>
                      </a:lnTo>
                      <a:lnTo>
                        <a:pt x="786130" y="214630"/>
                      </a:lnTo>
                      <a:lnTo>
                        <a:pt x="786130" y="0"/>
                      </a:lnTo>
                      <a:close/>
                    </a:path>
                    <a:path w="1871979" h="215900">
                      <a:moveTo>
                        <a:pt x="1084580" y="214630"/>
                      </a:moveTo>
                      <a:lnTo>
                        <a:pt x="786130" y="214630"/>
                      </a:lnTo>
                      <a:lnTo>
                        <a:pt x="786130" y="215900"/>
                      </a:lnTo>
                      <a:lnTo>
                        <a:pt x="1084580" y="215900"/>
                      </a:lnTo>
                      <a:lnTo>
                        <a:pt x="1084580" y="214630"/>
                      </a:lnTo>
                      <a:close/>
                    </a:path>
                    <a:path w="1871979" h="215900">
                      <a:moveTo>
                        <a:pt x="1871980" y="0"/>
                      </a:moveTo>
                      <a:lnTo>
                        <a:pt x="1084580" y="0"/>
                      </a:lnTo>
                      <a:lnTo>
                        <a:pt x="1084580" y="214630"/>
                      </a:lnTo>
                      <a:lnTo>
                        <a:pt x="1871980" y="214630"/>
                      </a:lnTo>
                      <a:lnTo>
                        <a:pt x="1871980" y="0"/>
                      </a:lnTo>
                      <a:close/>
                    </a:path>
                  </a:pathLst>
                </a:custGeom>
                <a:solidFill>
                  <a:srgbClr val="000000"/>
                </a:solidFill>
              </p:spPr>
              <p:txBody>
                <a:bodyPr wrap="square" lIns="0" tIns="0" rIns="0" bIns="0" rtlCol="0"/>
                <a:lstStyle/>
                <a:p>
                  <a:endParaRPr/>
                </a:p>
              </p:txBody>
            </p:sp>
            <p:sp>
              <p:nvSpPr>
                <p:cNvPr id="12" name="object 12"/>
                <p:cNvSpPr/>
                <p:nvPr/>
              </p:nvSpPr>
              <p:spPr>
                <a:xfrm>
                  <a:off x="492633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3" name="object 13"/>
                <p:cNvSpPr/>
                <p:nvPr/>
              </p:nvSpPr>
              <p:spPr>
                <a:xfrm>
                  <a:off x="493014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4" name="object 14"/>
                <p:cNvSpPr/>
                <p:nvPr/>
              </p:nvSpPr>
              <p:spPr>
                <a:xfrm>
                  <a:off x="4933950" y="1125220"/>
                  <a:ext cx="284480" cy="215900"/>
                </a:xfrm>
                <a:custGeom>
                  <a:avLst/>
                  <a:gdLst/>
                  <a:ahLst/>
                  <a:cxnLst/>
                  <a:rect l="l" t="t" r="r" b="b"/>
                  <a:pathLst>
                    <a:path w="284479" h="215900">
                      <a:moveTo>
                        <a:pt x="3321" y="0"/>
                      </a:moveTo>
                      <a:lnTo>
                        <a:pt x="0" y="0"/>
                      </a:lnTo>
                      <a:lnTo>
                        <a:pt x="0" y="215900"/>
                      </a:lnTo>
                      <a:lnTo>
                        <a:pt x="3345" y="215900"/>
                      </a:lnTo>
                      <a:lnTo>
                        <a:pt x="2539" y="173989"/>
                      </a:lnTo>
                      <a:lnTo>
                        <a:pt x="2539" y="40639"/>
                      </a:lnTo>
                      <a:lnTo>
                        <a:pt x="3321" y="0"/>
                      </a:lnTo>
                      <a:close/>
                    </a:path>
                    <a:path w="284479" h="215900">
                      <a:moveTo>
                        <a:pt x="283210" y="0"/>
                      </a:moveTo>
                      <a:lnTo>
                        <a:pt x="279888" y="0"/>
                      </a:lnTo>
                      <a:lnTo>
                        <a:pt x="280670" y="40639"/>
                      </a:lnTo>
                      <a:lnTo>
                        <a:pt x="280670" y="173989"/>
                      </a:lnTo>
                      <a:lnTo>
                        <a:pt x="279864" y="215900"/>
                      </a:lnTo>
                      <a:lnTo>
                        <a:pt x="283210" y="215900"/>
                      </a:lnTo>
                      <a:lnTo>
                        <a:pt x="283210" y="173989"/>
                      </a:lnTo>
                      <a:lnTo>
                        <a:pt x="284479" y="107950"/>
                      </a:lnTo>
                      <a:lnTo>
                        <a:pt x="283210" y="40639"/>
                      </a:lnTo>
                      <a:lnTo>
                        <a:pt x="283210" y="0"/>
                      </a:lnTo>
                      <a:close/>
                    </a:path>
                  </a:pathLst>
                </a:custGeom>
                <a:solidFill>
                  <a:srgbClr val="050505"/>
                </a:solidFill>
              </p:spPr>
              <p:txBody>
                <a:bodyPr wrap="square" lIns="0" tIns="0" rIns="0" bIns="0" rtlCol="0"/>
                <a:lstStyle/>
                <a:p>
                  <a:endParaRPr/>
                </a:p>
              </p:txBody>
            </p:sp>
            <p:sp>
              <p:nvSpPr>
                <p:cNvPr id="15" name="object 15"/>
                <p:cNvSpPr/>
                <p:nvPr/>
              </p:nvSpPr>
              <p:spPr>
                <a:xfrm>
                  <a:off x="493649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16" name="object 16"/>
                <p:cNvSpPr/>
                <p:nvPr/>
              </p:nvSpPr>
              <p:spPr>
                <a:xfrm>
                  <a:off x="494030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7" name="object 17"/>
                <p:cNvSpPr/>
                <p:nvPr/>
              </p:nvSpPr>
              <p:spPr>
                <a:xfrm>
                  <a:off x="494411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18" name="object 18"/>
                <p:cNvSpPr/>
                <p:nvPr/>
              </p:nvSpPr>
              <p:spPr>
                <a:xfrm>
                  <a:off x="494792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70"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9" name="object 19"/>
                <p:cNvSpPr/>
                <p:nvPr/>
              </p:nvSpPr>
              <p:spPr>
                <a:xfrm>
                  <a:off x="495173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20" name="object 20"/>
                <p:cNvSpPr/>
                <p:nvPr/>
              </p:nvSpPr>
              <p:spPr>
                <a:xfrm>
                  <a:off x="495554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21" name="object 21"/>
                <p:cNvSpPr/>
                <p:nvPr/>
              </p:nvSpPr>
              <p:spPr>
                <a:xfrm>
                  <a:off x="495935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22" name="object 22"/>
                <p:cNvSpPr/>
                <p:nvPr/>
              </p:nvSpPr>
              <p:spPr>
                <a:xfrm>
                  <a:off x="496316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23" name="object 23"/>
                <p:cNvSpPr/>
                <p:nvPr/>
              </p:nvSpPr>
              <p:spPr>
                <a:xfrm>
                  <a:off x="496570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24" name="object 24"/>
                <p:cNvSpPr/>
                <p:nvPr/>
              </p:nvSpPr>
              <p:spPr>
                <a:xfrm>
                  <a:off x="496951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25" name="object 25"/>
                <p:cNvSpPr/>
                <p:nvPr/>
              </p:nvSpPr>
              <p:spPr>
                <a:xfrm>
                  <a:off x="497332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26" name="object 26"/>
                <p:cNvSpPr/>
                <p:nvPr/>
              </p:nvSpPr>
              <p:spPr>
                <a:xfrm>
                  <a:off x="497713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27" name="object 27"/>
                <p:cNvSpPr/>
                <p:nvPr/>
              </p:nvSpPr>
              <p:spPr>
                <a:xfrm>
                  <a:off x="498094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28" name="object 28"/>
                <p:cNvSpPr/>
                <p:nvPr/>
              </p:nvSpPr>
              <p:spPr>
                <a:xfrm>
                  <a:off x="498475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29" name="object 29"/>
                <p:cNvSpPr/>
                <p:nvPr/>
              </p:nvSpPr>
              <p:spPr>
                <a:xfrm>
                  <a:off x="4988560" y="1125219"/>
                  <a:ext cx="173990" cy="215900"/>
                </a:xfrm>
                <a:custGeom>
                  <a:avLst/>
                  <a:gdLst/>
                  <a:ahLst/>
                  <a:cxnLst/>
                  <a:rect l="l" t="t" r="r" b="b"/>
                  <a:pathLst>
                    <a:path w="173989" h="215900">
                      <a:moveTo>
                        <a:pt x="3810" y="0"/>
                      </a:moveTo>
                      <a:lnTo>
                        <a:pt x="0" y="0"/>
                      </a:lnTo>
                      <a:lnTo>
                        <a:pt x="0" y="215900"/>
                      </a:lnTo>
                      <a:lnTo>
                        <a:pt x="3810" y="215900"/>
                      </a:lnTo>
                      <a:lnTo>
                        <a:pt x="3810" y="0"/>
                      </a:lnTo>
                      <a:close/>
                    </a:path>
                    <a:path w="173989"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30" name="object 30"/>
                <p:cNvSpPr/>
                <p:nvPr/>
              </p:nvSpPr>
              <p:spPr>
                <a:xfrm>
                  <a:off x="499237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372" y="0"/>
                      </a:lnTo>
                      <a:lnTo>
                        <a:pt x="163372" y="43180"/>
                      </a:lnTo>
                      <a:lnTo>
                        <a:pt x="163804" y="43180"/>
                      </a:lnTo>
                      <a:lnTo>
                        <a:pt x="163804" y="171450"/>
                      </a:lnTo>
                      <a:lnTo>
                        <a:pt x="163360" y="171450"/>
                      </a:lnTo>
                      <a:lnTo>
                        <a:pt x="16336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31" name="object 31"/>
                <p:cNvSpPr/>
                <p:nvPr/>
              </p:nvSpPr>
              <p:spPr>
                <a:xfrm>
                  <a:off x="4994910" y="1125219"/>
                  <a:ext cx="161290" cy="215900"/>
                </a:xfrm>
                <a:custGeom>
                  <a:avLst/>
                  <a:gdLst/>
                  <a:ahLst/>
                  <a:cxnLst/>
                  <a:rect l="l" t="t" r="r" b="b"/>
                  <a:pathLst>
                    <a:path w="16128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89"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32" name="object 32"/>
                <p:cNvSpPr/>
                <p:nvPr/>
              </p:nvSpPr>
              <p:spPr>
                <a:xfrm>
                  <a:off x="499872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33" name="object 33"/>
                <p:cNvSpPr/>
                <p:nvPr/>
              </p:nvSpPr>
              <p:spPr>
                <a:xfrm>
                  <a:off x="500253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34" name="object 34"/>
                <p:cNvSpPr/>
                <p:nvPr/>
              </p:nvSpPr>
              <p:spPr>
                <a:xfrm>
                  <a:off x="500634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35" name="object 35"/>
                <p:cNvSpPr/>
                <p:nvPr/>
              </p:nvSpPr>
              <p:spPr>
                <a:xfrm>
                  <a:off x="501015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36" name="object 36"/>
                <p:cNvSpPr/>
                <p:nvPr/>
              </p:nvSpPr>
              <p:spPr>
                <a:xfrm>
                  <a:off x="501396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37" name="object 37"/>
                <p:cNvSpPr/>
                <p:nvPr/>
              </p:nvSpPr>
              <p:spPr>
                <a:xfrm>
                  <a:off x="501777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38" name="object 38"/>
                <p:cNvSpPr/>
                <p:nvPr/>
              </p:nvSpPr>
              <p:spPr>
                <a:xfrm>
                  <a:off x="5020310" y="1125219"/>
                  <a:ext cx="110489" cy="215900"/>
                </a:xfrm>
                <a:custGeom>
                  <a:avLst/>
                  <a:gdLst/>
                  <a:ahLst/>
                  <a:cxnLst/>
                  <a:rect l="l" t="t" r="r" b="b"/>
                  <a:pathLst>
                    <a:path w="110489"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89" h="215900">
                      <a:moveTo>
                        <a:pt x="110490" y="45720"/>
                      </a:moveTo>
                      <a:lnTo>
                        <a:pt x="110020" y="45720"/>
                      </a:lnTo>
                      <a:lnTo>
                        <a:pt x="110020" y="0"/>
                      </a:lnTo>
                      <a:lnTo>
                        <a:pt x="106680" y="0"/>
                      </a:lnTo>
                      <a:lnTo>
                        <a:pt x="106680" y="45720"/>
                      </a:lnTo>
                      <a:lnTo>
                        <a:pt x="106680" y="168910"/>
                      </a:lnTo>
                      <a:lnTo>
                        <a:pt x="106680"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39" name="object 39"/>
                <p:cNvSpPr/>
                <p:nvPr/>
              </p:nvSpPr>
              <p:spPr>
                <a:xfrm>
                  <a:off x="502412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40" name="object 40"/>
                <p:cNvSpPr/>
                <p:nvPr/>
              </p:nvSpPr>
              <p:spPr>
                <a:xfrm>
                  <a:off x="502793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41" name="object 41"/>
                <p:cNvSpPr/>
                <p:nvPr/>
              </p:nvSpPr>
              <p:spPr>
                <a:xfrm>
                  <a:off x="503174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42" name="object 42"/>
                <p:cNvSpPr/>
                <p:nvPr/>
              </p:nvSpPr>
              <p:spPr>
                <a:xfrm>
                  <a:off x="503555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43" name="object 43"/>
                <p:cNvSpPr/>
                <p:nvPr/>
              </p:nvSpPr>
              <p:spPr>
                <a:xfrm>
                  <a:off x="503936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44" name="object 44"/>
                <p:cNvSpPr/>
                <p:nvPr/>
              </p:nvSpPr>
              <p:spPr>
                <a:xfrm>
                  <a:off x="504317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45" name="object 45"/>
                <p:cNvSpPr/>
                <p:nvPr/>
              </p:nvSpPr>
              <p:spPr>
                <a:xfrm>
                  <a:off x="5046980" y="1125219"/>
                  <a:ext cx="58419" cy="215900"/>
                </a:xfrm>
                <a:custGeom>
                  <a:avLst/>
                  <a:gdLst/>
                  <a:ahLst/>
                  <a:cxnLst/>
                  <a:rect l="l" t="t" r="r" b="b"/>
                  <a:pathLst>
                    <a:path w="58420" h="215900">
                      <a:moveTo>
                        <a:pt x="2540" y="0"/>
                      </a:moveTo>
                      <a:lnTo>
                        <a:pt x="0" y="0"/>
                      </a:lnTo>
                      <a:lnTo>
                        <a:pt x="0" y="215900"/>
                      </a:lnTo>
                      <a:lnTo>
                        <a:pt x="2540" y="215900"/>
                      </a:lnTo>
                      <a:lnTo>
                        <a:pt x="2540" y="0"/>
                      </a:lnTo>
                      <a:close/>
                    </a:path>
                    <a:path w="58420"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46" name="object 46"/>
                <p:cNvSpPr/>
                <p:nvPr/>
              </p:nvSpPr>
              <p:spPr>
                <a:xfrm>
                  <a:off x="504952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47" name="object 47"/>
                <p:cNvSpPr/>
                <p:nvPr/>
              </p:nvSpPr>
              <p:spPr>
                <a:xfrm>
                  <a:off x="505333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48" name="object 48"/>
                <p:cNvSpPr/>
                <p:nvPr/>
              </p:nvSpPr>
              <p:spPr>
                <a:xfrm>
                  <a:off x="505714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49" name="object 49"/>
                <p:cNvSpPr/>
                <p:nvPr/>
              </p:nvSpPr>
              <p:spPr>
                <a:xfrm>
                  <a:off x="506095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50" name="object 50"/>
                <p:cNvSpPr/>
                <p:nvPr/>
              </p:nvSpPr>
              <p:spPr>
                <a:xfrm>
                  <a:off x="506476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51" name="object 51"/>
                <p:cNvSpPr/>
                <p:nvPr/>
              </p:nvSpPr>
              <p:spPr>
                <a:xfrm>
                  <a:off x="506857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52" name="object 52"/>
                <p:cNvSpPr/>
                <p:nvPr/>
              </p:nvSpPr>
              <p:spPr>
                <a:xfrm>
                  <a:off x="5072380"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53" name="object 53"/>
              <p:cNvGrpSpPr/>
              <p:nvPr/>
            </p:nvGrpSpPr>
            <p:grpSpPr>
              <a:xfrm>
                <a:off x="8315900" y="1111191"/>
                <a:ext cx="1898014" cy="1538605"/>
                <a:chOff x="6791900" y="1111190"/>
                <a:chExt cx="1898014" cy="1538605"/>
              </a:xfrm>
            </p:grpSpPr>
            <p:sp>
              <p:nvSpPr>
                <p:cNvPr id="54" name="object 54"/>
                <p:cNvSpPr/>
                <p:nvPr/>
              </p:nvSpPr>
              <p:spPr>
                <a:xfrm>
                  <a:off x="6804659"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55" name="object 55"/>
                <p:cNvSpPr/>
                <p:nvPr/>
              </p:nvSpPr>
              <p:spPr>
                <a:xfrm>
                  <a:off x="6804659"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56" name="object 56"/>
                <p:cNvSpPr/>
                <p:nvPr/>
              </p:nvSpPr>
              <p:spPr>
                <a:xfrm>
                  <a:off x="6803390" y="1125219"/>
                  <a:ext cx="1871980" cy="215900"/>
                </a:xfrm>
                <a:custGeom>
                  <a:avLst/>
                  <a:gdLst/>
                  <a:ahLst/>
                  <a:cxnLst/>
                  <a:rect l="l" t="t" r="r" b="b"/>
                  <a:pathLst>
                    <a:path w="1871979" h="215900">
                      <a:moveTo>
                        <a:pt x="787400" y="0"/>
                      </a:moveTo>
                      <a:lnTo>
                        <a:pt x="0" y="0"/>
                      </a:lnTo>
                      <a:lnTo>
                        <a:pt x="0" y="214630"/>
                      </a:lnTo>
                      <a:lnTo>
                        <a:pt x="787400" y="214630"/>
                      </a:lnTo>
                      <a:lnTo>
                        <a:pt x="787400" y="0"/>
                      </a:lnTo>
                      <a:close/>
                    </a:path>
                    <a:path w="1871979" h="215900">
                      <a:moveTo>
                        <a:pt x="1085850" y="214630"/>
                      </a:moveTo>
                      <a:lnTo>
                        <a:pt x="787400" y="214630"/>
                      </a:lnTo>
                      <a:lnTo>
                        <a:pt x="787400" y="215900"/>
                      </a:lnTo>
                      <a:lnTo>
                        <a:pt x="1085850" y="215900"/>
                      </a:lnTo>
                      <a:lnTo>
                        <a:pt x="1085850" y="214630"/>
                      </a:lnTo>
                      <a:close/>
                    </a:path>
                    <a:path w="1871979" h="215900">
                      <a:moveTo>
                        <a:pt x="1871980" y="0"/>
                      </a:moveTo>
                      <a:lnTo>
                        <a:pt x="1085850" y="0"/>
                      </a:lnTo>
                      <a:lnTo>
                        <a:pt x="1085850" y="214630"/>
                      </a:lnTo>
                      <a:lnTo>
                        <a:pt x="1871980" y="214630"/>
                      </a:lnTo>
                      <a:lnTo>
                        <a:pt x="1871980" y="0"/>
                      </a:lnTo>
                      <a:close/>
                    </a:path>
                  </a:pathLst>
                </a:custGeom>
                <a:solidFill>
                  <a:srgbClr val="000000"/>
                </a:solidFill>
              </p:spPr>
              <p:txBody>
                <a:bodyPr wrap="square" lIns="0" tIns="0" rIns="0" bIns="0" rtlCol="0"/>
                <a:lstStyle/>
                <a:p>
                  <a:endParaRPr/>
                </a:p>
              </p:txBody>
            </p:sp>
            <p:sp>
              <p:nvSpPr>
                <p:cNvPr id="57" name="object 57"/>
                <p:cNvSpPr/>
                <p:nvPr/>
              </p:nvSpPr>
              <p:spPr>
                <a:xfrm>
                  <a:off x="759079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58" name="object 58"/>
                <p:cNvSpPr/>
                <p:nvPr/>
              </p:nvSpPr>
              <p:spPr>
                <a:xfrm>
                  <a:off x="759460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215900"/>
                      </a:lnTo>
                      <a:lnTo>
                        <a:pt x="290830" y="215900"/>
                      </a:lnTo>
                      <a:lnTo>
                        <a:pt x="290830" y="0"/>
                      </a:lnTo>
                      <a:close/>
                    </a:path>
                  </a:pathLst>
                </a:custGeom>
                <a:solidFill>
                  <a:srgbClr val="030303"/>
                </a:solidFill>
              </p:spPr>
              <p:txBody>
                <a:bodyPr wrap="square" lIns="0" tIns="0" rIns="0" bIns="0" rtlCol="0"/>
                <a:lstStyle/>
                <a:p>
                  <a:endParaRPr/>
                </a:p>
              </p:txBody>
            </p:sp>
            <p:sp>
              <p:nvSpPr>
                <p:cNvPr id="59" name="object 59"/>
                <p:cNvSpPr/>
                <p:nvPr/>
              </p:nvSpPr>
              <p:spPr>
                <a:xfrm>
                  <a:off x="7598410" y="1125219"/>
                  <a:ext cx="283210" cy="215900"/>
                </a:xfrm>
                <a:custGeom>
                  <a:avLst/>
                  <a:gdLst/>
                  <a:ahLst/>
                  <a:cxnLst/>
                  <a:rect l="l" t="t" r="r" b="b"/>
                  <a:pathLst>
                    <a:path w="283209" h="215900">
                      <a:moveTo>
                        <a:pt x="2933" y="173990"/>
                      </a:moveTo>
                      <a:lnTo>
                        <a:pt x="2540" y="173990"/>
                      </a:lnTo>
                      <a:lnTo>
                        <a:pt x="2540" y="40640"/>
                      </a:lnTo>
                      <a:lnTo>
                        <a:pt x="2921" y="40640"/>
                      </a:lnTo>
                      <a:lnTo>
                        <a:pt x="2921" y="0"/>
                      </a:lnTo>
                      <a:lnTo>
                        <a:pt x="0" y="0"/>
                      </a:lnTo>
                      <a:lnTo>
                        <a:pt x="0" y="40640"/>
                      </a:lnTo>
                      <a:lnTo>
                        <a:pt x="0" y="173990"/>
                      </a:lnTo>
                      <a:lnTo>
                        <a:pt x="0" y="215900"/>
                      </a:lnTo>
                      <a:lnTo>
                        <a:pt x="2933" y="215900"/>
                      </a:lnTo>
                      <a:lnTo>
                        <a:pt x="2933" y="173990"/>
                      </a:lnTo>
                      <a:close/>
                    </a:path>
                    <a:path w="283209" h="215900">
                      <a:moveTo>
                        <a:pt x="283210" y="0"/>
                      </a:moveTo>
                      <a:lnTo>
                        <a:pt x="280276" y="0"/>
                      </a:lnTo>
                      <a:lnTo>
                        <a:pt x="280276" y="40640"/>
                      </a:lnTo>
                      <a:lnTo>
                        <a:pt x="280670" y="40640"/>
                      </a:lnTo>
                      <a:lnTo>
                        <a:pt x="280670" y="173990"/>
                      </a:lnTo>
                      <a:lnTo>
                        <a:pt x="280263" y="173990"/>
                      </a:lnTo>
                      <a:lnTo>
                        <a:pt x="280263" y="215900"/>
                      </a:lnTo>
                      <a:lnTo>
                        <a:pt x="283210" y="215900"/>
                      </a:lnTo>
                      <a:lnTo>
                        <a:pt x="283210" y="173990"/>
                      </a:lnTo>
                      <a:lnTo>
                        <a:pt x="283210" y="40640"/>
                      </a:lnTo>
                      <a:lnTo>
                        <a:pt x="283210" y="0"/>
                      </a:lnTo>
                      <a:close/>
                    </a:path>
                  </a:pathLst>
                </a:custGeom>
                <a:solidFill>
                  <a:srgbClr val="050505"/>
                </a:solidFill>
              </p:spPr>
              <p:txBody>
                <a:bodyPr wrap="square" lIns="0" tIns="0" rIns="0" bIns="0" rtlCol="0"/>
                <a:lstStyle/>
                <a:p>
                  <a:endParaRPr/>
                </a:p>
              </p:txBody>
            </p:sp>
            <p:sp>
              <p:nvSpPr>
                <p:cNvPr id="60" name="object 60"/>
                <p:cNvSpPr/>
                <p:nvPr/>
              </p:nvSpPr>
              <p:spPr>
                <a:xfrm>
                  <a:off x="760095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61" name="object 61"/>
                <p:cNvSpPr/>
                <p:nvPr/>
              </p:nvSpPr>
              <p:spPr>
                <a:xfrm>
                  <a:off x="7604760" y="1125219"/>
                  <a:ext cx="270510" cy="215900"/>
                </a:xfrm>
                <a:custGeom>
                  <a:avLst/>
                  <a:gdLst/>
                  <a:ahLst/>
                  <a:cxnLst/>
                  <a:rect l="l" t="t" r="r" b="b"/>
                  <a:pathLst>
                    <a:path w="270509"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09"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62" name="object 62"/>
                <p:cNvSpPr/>
                <p:nvPr/>
              </p:nvSpPr>
              <p:spPr>
                <a:xfrm>
                  <a:off x="7608570" y="1125219"/>
                  <a:ext cx="262890" cy="215900"/>
                </a:xfrm>
                <a:custGeom>
                  <a:avLst/>
                  <a:gdLst/>
                  <a:ahLst/>
                  <a:cxnLst/>
                  <a:rect l="l" t="t" r="r" b="b"/>
                  <a:pathLst>
                    <a:path w="26289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62890"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63" name="object 63"/>
                <p:cNvSpPr/>
                <p:nvPr/>
              </p:nvSpPr>
              <p:spPr>
                <a:xfrm>
                  <a:off x="761238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0" y="0"/>
                      </a:lnTo>
                      <a:lnTo>
                        <a:pt x="0" y="41910"/>
                      </a:lnTo>
                      <a:lnTo>
                        <a:pt x="0" y="172720"/>
                      </a:lnTo>
                      <a:lnTo>
                        <a:pt x="0" y="215900"/>
                      </a:lnTo>
                      <a:lnTo>
                        <a:pt x="4216" y="215900"/>
                      </a:lnTo>
                      <a:lnTo>
                        <a:pt x="4216" y="172720"/>
                      </a:lnTo>
                      <a:close/>
                    </a:path>
                    <a:path w="255270" h="215900">
                      <a:moveTo>
                        <a:pt x="255270" y="0"/>
                      </a:moveTo>
                      <a:lnTo>
                        <a:pt x="251053" y="0"/>
                      </a:lnTo>
                      <a:lnTo>
                        <a:pt x="251053" y="41910"/>
                      </a:lnTo>
                      <a:lnTo>
                        <a:pt x="251460" y="41910"/>
                      </a:lnTo>
                      <a:lnTo>
                        <a:pt x="251460" y="172720"/>
                      </a:lnTo>
                      <a:lnTo>
                        <a:pt x="251040" y="172720"/>
                      </a:lnTo>
                      <a:lnTo>
                        <a:pt x="251040" y="215900"/>
                      </a:lnTo>
                      <a:lnTo>
                        <a:pt x="255270" y="215900"/>
                      </a:lnTo>
                      <a:lnTo>
                        <a:pt x="255270" y="172720"/>
                      </a:lnTo>
                      <a:lnTo>
                        <a:pt x="255270" y="41910"/>
                      </a:lnTo>
                      <a:lnTo>
                        <a:pt x="255270" y="0"/>
                      </a:lnTo>
                      <a:close/>
                    </a:path>
                  </a:pathLst>
                </a:custGeom>
                <a:solidFill>
                  <a:srgbClr val="0D0D0D"/>
                </a:solidFill>
              </p:spPr>
              <p:txBody>
                <a:bodyPr wrap="square" lIns="0" tIns="0" rIns="0" bIns="0" rtlCol="0"/>
                <a:lstStyle/>
                <a:p>
                  <a:endParaRPr/>
                </a:p>
              </p:txBody>
            </p:sp>
            <p:sp>
              <p:nvSpPr>
                <p:cNvPr id="64" name="object 64"/>
                <p:cNvSpPr/>
                <p:nvPr/>
              </p:nvSpPr>
              <p:spPr>
                <a:xfrm>
                  <a:off x="761619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41910"/>
                      </a:moveTo>
                      <a:lnTo>
                        <a:pt x="247243" y="41910"/>
                      </a:lnTo>
                      <a:lnTo>
                        <a:pt x="247243" y="0"/>
                      </a:lnTo>
                      <a:lnTo>
                        <a:pt x="243840" y="0"/>
                      </a:lnTo>
                      <a:lnTo>
                        <a:pt x="243840" y="41910"/>
                      </a:lnTo>
                      <a:lnTo>
                        <a:pt x="243840" y="172720"/>
                      </a:lnTo>
                      <a:lnTo>
                        <a:pt x="243840" y="215900"/>
                      </a:lnTo>
                      <a:lnTo>
                        <a:pt x="247230" y="215900"/>
                      </a:lnTo>
                      <a:lnTo>
                        <a:pt x="247230" y="172720"/>
                      </a:lnTo>
                      <a:lnTo>
                        <a:pt x="247650" y="172720"/>
                      </a:lnTo>
                      <a:lnTo>
                        <a:pt x="247650" y="41910"/>
                      </a:lnTo>
                      <a:close/>
                    </a:path>
                  </a:pathLst>
                </a:custGeom>
                <a:solidFill>
                  <a:srgbClr val="0F0F0F"/>
                </a:solidFill>
              </p:spPr>
              <p:txBody>
                <a:bodyPr wrap="square" lIns="0" tIns="0" rIns="0" bIns="0" rtlCol="0"/>
                <a:lstStyle/>
                <a:p>
                  <a:endParaRPr/>
                </a:p>
              </p:txBody>
            </p:sp>
            <p:sp>
              <p:nvSpPr>
                <p:cNvPr id="65" name="object 65"/>
                <p:cNvSpPr/>
                <p:nvPr/>
              </p:nvSpPr>
              <p:spPr>
                <a:xfrm>
                  <a:off x="762000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66" name="object 66"/>
                <p:cNvSpPr/>
                <p:nvPr/>
              </p:nvSpPr>
              <p:spPr>
                <a:xfrm>
                  <a:off x="7623810" y="1125219"/>
                  <a:ext cx="232410" cy="215900"/>
                </a:xfrm>
                <a:custGeom>
                  <a:avLst/>
                  <a:gdLst/>
                  <a:ahLst/>
                  <a:cxnLst/>
                  <a:rect l="l" t="t" r="r" b="b"/>
                  <a:pathLst>
                    <a:path w="232409" h="215900">
                      <a:moveTo>
                        <a:pt x="2959" y="172720"/>
                      </a:moveTo>
                      <a:lnTo>
                        <a:pt x="2540" y="172720"/>
                      </a:lnTo>
                      <a:lnTo>
                        <a:pt x="2540" y="41910"/>
                      </a:lnTo>
                      <a:lnTo>
                        <a:pt x="2946" y="41910"/>
                      </a:lnTo>
                      <a:lnTo>
                        <a:pt x="2946" y="0"/>
                      </a:lnTo>
                      <a:lnTo>
                        <a:pt x="0" y="0"/>
                      </a:lnTo>
                      <a:lnTo>
                        <a:pt x="0" y="41910"/>
                      </a:lnTo>
                      <a:lnTo>
                        <a:pt x="0" y="172720"/>
                      </a:lnTo>
                      <a:lnTo>
                        <a:pt x="0" y="215900"/>
                      </a:lnTo>
                      <a:lnTo>
                        <a:pt x="2959" y="215900"/>
                      </a:lnTo>
                      <a:lnTo>
                        <a:pt x="2959" y="172720"/>
                      </a:lnTo>
                      <a:close/>
                    </a:path>
                    <a:path w="232409" h="215900">
                      <a:moveTo>
                        <a:pt x="232410" y="0"/>
                      </a:moveTo>
                      <a:lnTo>
                        <a:pt x="228600" y="0"/>
                      </a:lnTo>
                      <a:lnTo>
                        <a:pt x="228600" y="215900"/>
                      </a:lnTo>
                      <a:lnTo>
                        <a:pt x="232410" y="215900"/>
                      </a:lnTo>
                      <a:lnTo>
                        <a:pt x="232410" y="0"/>
                      </a:lnTo>
                      <a:close/>
                    </a:path>
                  </a:pathLst>
                </a:custGeom>
                <a:solidFill>
                  <a:srgbClr val="131313"/>
                </a:solidFill>
              </p:spPr>
              <p:txBody>
                <a:bodyPr wrap="square" lIns="0" tIns="0" rIns="0" bIns="0" rtlCol="0"/>
                <a:lstStyle/>
                <a:p>
                  <a:endParaRPr/>
                </a:p>
              </p:txBody>
            </p:sp>
            <p:sp>
              <p:nvSpPr>
                <p:cNvPr id="67" name="object 67"/>
                <p:cNvSpPr/>
                <p:nvPr/>
              </p:nvSpPr>
              <p:spPr>
                <a:xfrm>
                  <a:off x="7626350" y="1125219"/>
                  <a:ext cx="226060" cy="215900"/>
                </a:xfrm>
                <a:custGeom>
                  <a:avLst/>
                  <a:gdLst/>
                  <a:ahLst/>
                  <a:cxnLst/>
                  <a:rect l="l" t="t" r="r" b="b"/>
                  <a:pathLst>
                    <a:path w="226059" h="215900">
                      <a:moveTo>
                        <a:pt x="4241" y="0"/>
                      </a:moveTo>
                      <a:lnTo>
                        <a:pt x="406" y="0"/>
                      </a:lnTo>
                      <a:lnTo>
                        <a:pt x="406" y="41910"/>
                      </a:lnTo>
                      <a:lnTo>
                        <a:pt x="0" y="41910"/>
                      </a:lnTo>
                      <a:lnTo>
                        <a:pt x="0" y="172720"/>
                      </a:lnTo>
                      <a:lnTo>
                        <a:pt x="419" y="172720"/>
                      </a:lnTo>
                      <a:lnTo>
                        <a:pt x="419" y="215900"/>
                      </a:lnTo>
                      <a:lnTo>
                        <a:pt x="4229" y="215900"/>
                      </a:lnTo>
                      <a:lnTo>
                        <a:pt x="4229" y="172720"/>
                      </a:lnTo>
                      <a:lnTo>
                        <a:pt x="3810" y="172720"/>
                      </a:lnTo>
                      <a:lnTo>
                        <a:pt x="3810" y="41910"/>
                      </a:lnTo>
                      <a:lnTo>
                        <a:pt x="4241" y="41910"/>
                      </a:lnTo>
                      <a:lnTo>
                        <a:pt x="4241" y="0"/>
                      </a:lnTo>
                      <a:close/>
                    </a:path>
                    <a:path w="226059" h="215900">
                      <a:moveTo>
                        <a:pt x="226060" y="0"/>
                      </a:moveTo>
                      <a:lnTo>
                        <a:pt x="223075" y="0"/>
                      </a:lnTo>
                      <a:lnTo>
                        <a:pt x="223075" y="41910"/>
                      </a:lnTo>
                      <a:lnTo>
                        <a:pt x="223507" y="41910"/>
                      </a:lnTo>
                      <a:lnTo>
                        <a:pt x="223507" y="172720"/>
                      </a:lnTo>
                      <a:lnTo>
                        <a:pt x="223088" y="172720"/>
                      </a:lnTo>
                      <a:lnTo>
                        <a:pt x="223088" y="215900"/>
                      </a:lnTo>
                      <a:lnTo>
                        <a:pt x="226060" y="215900"/>
                      </a:lnTo>
                      <a:lnTo>
                        <a:pt x="226060" y="172720"/>
                      </a:lnTo>
                      <a:lnTo>
                        <a:pt x="226060" y="41910"/>
                      </a:lnTo>
                      <a:lnTo>
                        <a:pt x="226060" y="0"/>
                      </a:lnTo>
                      <a:close/>
                    </a:path>
                  </a:pathLst>
                </a:custGeom>
                <a:solidFill>
                  <a:srgbClr val="151515"/>
                </a:solidFill>
              </p:spPr>
              <p:txBody>
                <a:bodyPr wrap="square" lIns="0" tIns="0" rIns="0" bIns="0" rtlCol="0"/>
                <a:lstStyle/>
                <a:p>
                  <a:endParaRPr/>
                </a:p>
              </p:txBody>
            </p:sp>
            <p:sp>
              <p:nvSpPr>
                <p:cNvPr id="68" name="object 68"/>
                <p:cNvSpPr/>
                <p:nvPr/>
              </p:nvSpPr>
              <p:spPr>
                <a:xfrm>
                  <a:off x="7630160" y="1125219"/>
                  <a:ext cx="219710" cy="215900"/>
                </a:xfrm>
                <a:custGeom>
                  <a:avLst/>
                  <a:gdLst/>
                  <a:ahLst/>
                  <a:cxnLst/>
                  <a:rect l="l" t="t" r="r" b="b"/>
                  <a:pathLst>
                    <a:path w="219709"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09"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69" name="object 69"/>
                <p:cNvSpPr/>
                <p:nvPr/>
              </p:nvSpPr>
              <p:spPr>
                <a:xfrm>
                  <a:off x="7633970" y="1125219"/>
                  <a:ext cx="212090" cy="215900"/>
                </a:xfrm>
                <a:custGeom>
                  <a:avLst/>
                  <a:gdLst/>
                  <a:ahLst/>
                  <a:cxnLst/>
                  <a:rect l="l" t="t" r="r" b="b"/>
                  <a:pathLst>
                    <a:path w="212090"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90"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70" name="object 70"/>
                <p:cNvSpPr/>
                <p:nvPr/>
              </p:nvSpPr>
              <p:spPr>
                <a:xfrm>
                  <a:off x="763778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71" name="object 71"/>
                <p:cNvSpPr/>
                <p:nvPr/>
              </p:nvSpPr>
              <p:spPr>
                <a:xfrm>
                  <a:off x="764159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72" name="object 72"/>
                <p:cNvSpPr/>
                <p:nvPr/>
              </p:nvSpPr>
              <p:spPr>
                <a:xfrm>
                  <a:off x="764540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73" name="object 73"/>
                <p:cNvSpPr/>
                <p:nvPr/>
              </p:nvSpPr>
              <p:spPr>
                <a:xfrm>
                  <a:off x="7649210" y="1125219"/>
                  <a:ext cx="181610" cy="215900"/>
                </a:xfrm>
                <a:custGeom>
                  <a:avLst/>
                  <a:gdLst/>
                  <a:ahLst/>
                  <a:cxnLst/>
                  <a:rect l="l" t="t" r="r" b="b"/>
                  <a:pathLst>
                    <a:path w="181609" h="215900">
                      <a:moveTo>
                        <a:pt x="3810" y="0"/>
                      </a:moveTo>
                      <a:lnTo>
                        <a:pt x="0" y="0"/>
                      </a:lnTo>
                      <a:lnTo>
                        <a:pt x="0" y="215900"/>
                      </a:lnTo>
                      <a:lnTo>
                        <a:pt x="3810" y="215900"/>
                      </a:lnTo>
                      <a:lnTo>
                        <a:pt x="3810" y="0"/>
                      </a:lnTo>
                      <a:close/>
                    </a:path>
                    <a:path w="181609"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74" name="object 74"/>
                <p:cNvSpPr/>
                <p:nvPr/>
              </p:nvSpPr>
              <p:spPr>
                <a:xfrm>
                  <a:off x="7653020" y="1125219"/>
                  <a:ext cx="173990" cy="215900"/>
                </a:xfrm>
                <a:custGeom>
                  <a:avLst/>
                  <a:gdLst/>
                  <a:ahLst/>
                  <a:cxnLst/>
                  <a:rect l="l" t="t" r="r" b="b"/>
                  <a:pathLst>
                    <a:path w="173990" h="215900">
                      <a:moveTo>
                        <a:pt x="2971" y="0"/>
                      </a:moveTo>
                      <a:lnTo>
                        <a:pt x="0" y="0"/>
                      </a:lnTo>
                      <a:lnTo>
                        <a:pt x="0" y="43180"/>
                      </a:lnTo>
                      <a:lnTo>
                        <a:pt x="0" y="171450"/>
                      </a:lnTo>
                      <a:lnTo>
                        <a:pt x="0" y="215900"/>
                      </a:lnTo>
                      <a:lnTo>
                        <a:pt x="2971" y="215900"/>
                      </a:lnTo>
                      <a:lnTo>
                        <a:pt x="2971" y="171450"/>
                      </a:lnTo>
                      <a:lnTo>
                        <a:pt x="2540" y="171450"/>
                      </a:lnTo>
                      <a:lnTo>
                        <a:pt x="2540" y="43180"/>
                      </a:lnTo>
                      <a:lnTo>
                        <a:pt x="2971" y="43180"/>
                      </a:lnTo>
                      <a:lnTo>
                        <a:pt x="2971" y="0"/>
                      </a:lnTo>
                      <a:close/>
                    </a:path>
                    <a:path w="173990"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75" name="object 75"/>
                <p:cNvSpPr/>
                <p:nvPr/>
              </p:nvSpPr>
              <p:spPr>
                <a:xfrm>
                  <a:off x="7655560" y="1125219"/>
                  <a:ext cx="168910" cy="215900"/>
                </a:xfrm>
                <a:custGeom>
                  <a:avLst/>
                  <a:gdLst/>
                  <a:ahLst/>
                  <a:cxnLst/>
                  <a:rect l="l" t="t" r="r" b="b"/>
                  <a:pathLst>
                    <a:path w="168909" h="215900">
                      <a:moveTo>
                        <a:pt x="4279" y="171450"/>
                      </a:moveTo>
                      <a:lnTo>
                        <a:pt x="3835" y="171450"/>
                      </a:lnTo>
                      <a:lnTo>
                        <a:pt x="3835" y="43180"/>
                      </a:lnTo>
                      <a:lnTo>
                        <a:pt x="4267" y="43180"/>
                      </a:lnTo>
                      <a:lnTo>
                        <a:pt x="4267" y="0"/>
                      </a:lnTo>
                      <a:lnTo>
                        <a:pt x="431" y="0"/>
                      </a:lnTo>
                      <a:lnTo>
                        <a:pt x="431" y="43180"/>
                      </a:lnTo>
                      <a:lnTo>
                        <a:pt x="0" y="43180"/>
                      </a:lnTo>
                      <a:lnTo>
                        <a:pt x="0" y="171450"/>
                      </a:lnTo>
                      <a:lnTo>
                        <a:pt x="431" y="171450"/>
                      </a:lnTo>
                      <a:lnTo>
                        <a:pt x="431" y="215900"/>
                      </a:lnTo>
                      <a:lnTo>
                        <a:pt x="4279" y="215900"/>
                      </a:lnTo>
                      <a:lnTo>
                        <a:pt x="4279" y="171450"/>
                      </a:lnTo>
                      <a:close/>
                    </a:path>
                    <a:path w="168909" h="215900">
                      <a:moveTo>
                        <a:pt x="168910" y="43180"/>
                      </a:moveTo>
                      <a:lnTo>
                        <a:pt x="168465" y="43180"/>
                      </a:lnTo>
                      <a:lnTo>
                        <a:pt x="168465" y="0"/>
                      </a:lnTo>
                      <a:lnTo>
                        <a:pt x="164642" y="0"/>
                      </a:lnTo>
                      <a:lnTo>
                        <a:pt x="164642" y="43180"/>
                      </a:lnTo>
                      <a:lnTo>
                        <a:pt x="165074" y="43180"/>
                      </a:lnTo>
                      <a:lnTo>
                        <a:pt x="165074" y="171450"/>
                      </a:lnTo>
                      <a:lnTo>
                        <a:pt x="164630" y="171450"/>
                      </a:lnTo>
                      <a:lnTo>
                        <a:pt x="164630" y="215900"/>
                      </a:lnTo>
                      <a:lnTo>
                        <a:pt x="168465" y="215900"/>
                      </a:lnTo>
                      <a:lnTo>
                        <a:pt x="168465" y="171450"/>
                      </a:lnTo>
                      <a:lnTo>
                        <a:pt x="168910" y="171450"/>
                      </a:lnTo>
                      <a:lnTo>
                        <a:pt x="168910" y="43180"/>
                      </a:lnTo>
                      <a:close/>
                    </a:path>
                  </a:pathLst>
                </a:custGeom>
                <a:solidFill>
                  <a:srgbClr val="252525"/>
                </a:solidFill>
              </p:spPr>
              <p:txBody>
                <a:bodyPr wrap="square" lIns="0" tIns="0" rIns="0" bIns="0" rtlCol="0"/>
                <a:lstStyle/>
                <a:p>
                  <a:endParaRPr/>
                </a:p>
              </p:txBody>
            </p:sp>
            <p:sp>
              <p:nvSpPr>
                <p:cNvPr id="76" name="object 76"/>
                <p:cNvSpPr/>
                <p:nvPr/>
              </p:nvSpPr>
              <p:spPr>
                <a:xfrm>
                  <a:off x="7659370" y="1125219"/>
                  <a:ext cx="161290" cy="215900"/>
                </a:xfrm>
                <a:custGeom>
                  <a:avLst/>
                  <a:gdLst/>
                  <a:ahLst/>
                  <a:cxnLst/>
                  <a:rect l="l" t="t" r="r" b="b"/>
                  <a:pathLst>
                    <a:path w="16129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90"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77" name="object 77"/>
                <p:cNvSpPr/>
                <p:nvPr/>
              </p:nvSpPr>
              <p:spPr>
                <a:xfrm>
                  <a:off x="766318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78" name="object 78"/>
                <p:cNvSpPr/>
                <p:nvPr/>
              </p:nvSpPr>
              <p:spPr>
                <a:xfrm>
                  <a:off x="766699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79" name="object 79"/>
                <p:cNvSpPr/>
                <p:nvPr/>
              </p:nvSpPr>
              <p:spPr>
                <a:xfrm>
                  <a:off x="767080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80" name="object 80"/>
                <p:cNvSpPr/>
                <p:nvPr/>
              </p:nvSpPr>
              <p:spPr>
                <a:xfrm>
                  <a:off x="7674610" y="1125219"/>
                  <a:ext cx="130810" cy="215900"/>
                </a:xfrm>
                <a:custGeom>
                  <a:avLst/>
                  <a:gdLst/>
                  <a:ahLst/>
                  <a:cxnLst/>
                  <a:rect l="l" t="t" r="r" b="b"/>
                  <a:pathLst>
                    <a:path w="130809" h="215900">
                      <a:moveTo>
                        <a:pt x="3810" y="0"/>
                      </a:moveTo>
                      <a:lnTo>
                        <a:pt x="0" y="0"/>
                      </a:lnTo>
                      <a:lnTo>
                        <a:pt x="0" y="215900"/>
                      </a:lnTo>
                      <a:lnTo>
                        <a:pt x="3810" y="215900"/>
                      </a:lnTo>
                      <a:lnTo>
                        <a:pt x="3810" y="0"/>
                      </a:lnTo>
                      <a:close/>
                    </a:path>
                    <a:path w="130809"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81" name="object 81"/>
                <p:cNvSpPr/>
                <p:nvPr/>
              </p:nvSpPr>
              <p:spPr>
                <a:xfrm>
                  <a:off x="7678420" y="1125219"/>
                  <a:ext cx="123189" cy="215900"/>
                </a:xfrm>
                <a:custGeom>
                  <a:avLst/>
                  <a:gdLst/>
                  <a:ahLst/>
                  <a:cxnLst/>
                  <a:rect l="l" t="t" r="r" b="b"/>
                  <a:pathLst>
                    <a:path w="123190" h="215900">
                      <a:moveTo>
                        <a:pt x="3810" y="0"/>
                      </a:moveTo>
                      <a:lnTo>
                        <a:pt x="0" y="0"/>
                      </a:lnTo>
                      <a:lnTo>
                        <a:pt x="0" y="215900"/>
                      </a:lnTo>
                      <a:lnTo>
                        <a:pt x="3810" y="215900"/>
                      </a:lnTo>
                      <a:lnTo>
                        <a:pt x="3810" y="0"/>
                      </a:lnTo>
                      <a:close/>
                    </a:path>
                    <a:path w="123190"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82" name="object 82"/>
                <p:cNvSpPr/>
                <p:nvPr/>
              </p:nvSpPr>
              <p:spPr>
                <a:xfrm>
                  <a:off x="768223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83" name="object 83"/>
                <p:cNvSpPr/>
                <p:nvPr/>
              </p:nvSpPr>
              <p:spPr>
                <a:xfrm>
                  <a:off x="7684770" y="1125219"/>
                  <a:ext cx="110489" cy="215900"/>
                </a:xfrm>
                <a:custGeom>
                  <a:avLst/>
                  <a:gdLst/>
                  <a:ahLst/>
                  <a:cxnLst/>
                  <a:rect l="l" t="t" r="r" b="b"/>
                  <a:pathLst>
                    <a:path w="110490"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90" h="215900">
                      <a:moveTo>
                        <a:pt x="110490" y="45720"/>
                      </a:moveTo>
                      <a:lnTo>
                        <a:pt x="110020" y="45720"/>
                      </a:lnTo>
                      <a:lnTo>
                        <a:pt x="110020" y="0"/>
                      </a:lnTo>
                      <a:lnTo>
                        <a:pt x="106210" y="0"/>
                      </a:lnTo>
                      <a:lnTo>
                        <a:pt x="106210" y="45720"/>
                      </a:lnTo>
                      <a:lnTo>
                        <a:pt x="106680" y="45720"/>
                      </a:lnTo>
                      <a:lnTo>
                        <a:pt x="106680" y="168910"/>
                      </a:lnTo>
                      <a:lnTo>
                        <a:pt x="106197" y="168910"/>
                      </a:lnTo>
                      <a:lnTo>
                        <a:pt x="106197"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84" name="object 84"/>
                <p:cNvSpPr/>
                <p:nvPr/>
              </p:nvSpPr>
              <p:spPr>
                <a:xfrm>
                  <a:off x="768858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45720"/>
                      </a:moveTo>
                      <a:lnTo>
                        <a:pt x="102400" y="45720"/>
                      </a:lnTo>
                      <a:lnTo>
                        <a:pt x="102400" y="0"/>
                      </a:lnTo>
                      <a:lnTo>
                        <a:pt x="99060" y="0"/>
                      </a:lnTo>
                      <a:lnTo>
                        <a:pt x="99060" y="45720"/>
                      </a:lnTo>
                      <a:lnTo>
                        <a:pt x="99060" y="168910"/>
                      </a:lnTo>
                      <a:lnTo>
                        <a:pt x="99060" y="215900"/>
                      </a:lnTo>
                      <a:lnTo>
                        <a:pt x="102387" y="215900"/>
                      </a:lnTo>
                      <a:lnTo>
                        <a:pt x="102387" y="168910"/>
                      </a:lnTo>
                      <a:lnTo>
                        <a:pt x="102870" y="168910"/>
                      </a:lnTo>
                      <a:lnTo>
                        <a:pt x="102870" y="45720"/>
                      </a:lnTo>
                      <a:close/>
                    </a:path>
                  </a:pathLst>
                </a:custGeom>
                <a:solidFill>
                  <a:srgbClr val="373737"/>
                </a:solidFill>
              </p:spPr>
              <p:txBody>
                <a:bodyPr wrap="square" lIns="0" tIns="0" rIns="0" bIns="0" rtlCol="0"/>
                <a:lstStyle/>
                <a:p>
                  <a:endParaRPr/>
                </a:p>
              </p:txBody>
            </p:sp>
            <p:sp>
              <p:nvSpPr>
                <p:cNvPr id="85" name="object 85"/>
                <p:cNvSpPr/>
                <p:nvPr/>
              </p:nvSpPr>
              <p:spPr>
                <a:xfrm>
                  <a:off x="769239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86" name="object 86"/>
                <p:cNvSpPr/>
                <p:nvPr/>
              </p:nvSpPr>
              <p:spPr>
                <a:xfrm>
                  <a:off x="769620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87" name="object 87"/>
                <p:cNvSpPr/>
                <p:nvPr/>
              </p:nvSpPr>
              <p:spPr>
                <a:xfrm>
                  <a:off x="7700010" y="1125219"/>
                  <a:ext cx="80010" cy="215900"/>
                </a:xfrm>
                <a:custGeom>
                  <a:avLst/>
                  <a:gdLst/>
                  <a:ahLst/>
                  <a:cxnLst/>
                  <a:rect l="l" t="t" r="r" b="b"/>
                  <a:pathLst>
                    <a:path w="80009" h="215900">
                      <a:moveTo>
                        <a:pt x="3810" y="0"/>
                      </a:moveTo>
                      <a:lnTo>
                        <a:pt x="0" y="0"/>
                      </a:lnTo>
                      <a:lnTo>
                        <a:pt x="0" y="215900"/>
                      </a:lnTo>
                      <a:lnTo>
                        <a:pt x="3810" y="215900"/>
                      </a:lnTo>
                      <a:lnTo>
                        <a:pt x="3810" y="0"/>
                      </a:lnTo>
                      <a:close/>
                    </a:path>
                    <a:path w="80009"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88" name="object 88"/>
                <p:cNvSpPr/>
                <p:nvPr/>
              </p:nvSpPr>
              <p:spPr>
                <a:xfrm>
                  <a:off x="7703820" y="1125219"/>
                  <a:ext cx="72390" cy="215900"/>
                </a:xfrm>
                <a:custGeom>
                  <a:avLst/>
                  <a:gdLst/>
                  <a:ahLst/>
                  <a:cxnLst/>
                  <a:rect l="l" t="t" r="r" b="b"/>
                  <a:pathLst>
                    <a:path w="72390" h="215900">
                      <a:moveTo>
                        <a:pt x="3810" y="0"/>
                      </a:moveTo>
                      <a:lnTo>
                        <a:pt x="0" y="0"/>
                      </a:lnTo>
                      <a:lnTo>
                        <a:pt x="0" y="215900"/>
                      </a:lnTo>
                      <a:lnTo>
                        <a:pt x="3810" y="215900"/>
                      </a:lnTo>
                      <a:lnTo>
                        <a:pt x="3810" y="0"/>
                      </a:lnTo>
                      <a:close/>
                    </a:path>
                    <a:path w="72390"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89" name="object 89"/>
                <p:cNvSpPr/>
                <p:nvPr/>
              </p:nvSpPr>
              <p:spPr>
                <a:xfrm>
                  <a:off x="770763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0960" y="0"/>
                      </a:lnTo>
                      <a:lnTo>
                        <a:pt x="60960" y="215900"/>
                      </a:lnTo>
                      <a:lnTo>
                        <a:pt x="64770" y="215900"/>
                      </a:lnTo>
                      <a:lnTo>
                        <a:pt x="64770" y="0"/>
                      </a:lnTo>
                      <a:close/>
                    </a:path>
                  </a:pathLst>
                </a:custGeom>
                <a:solidFill>
                  <a:srgbClr val="414141"/>
                </a:solidFill>
              </p:spPr>
              <p:txBody>
                <a:bodyPr wrap="square" lIns="0" tIns="0" rIns="0" bIns="0" rtlCol="0"/>
                <a:lstStyle/>
                <a:p>
                  <a:endParaRPr/>
                </a:p>
              </p:txBody>
            </p:sp>
            <p:sp>
              <p:nvSpPr>
                <p:cNvPr id="90" name="object 90"/>
                <p:cNvSpPr/>
                <p:nvPr/>
              </p:nvSpPr>
              <p:spPr>
                <a:xfrm>
                  <a:off x="7711440" y="1125219"/>
                  <a:ext cx="57150" cy="215900"/>
                </a:xfrm>
                <a:custGeom>
                  <a:avLst/>
                  <a:gdLst/>
                  <a:ahLst/>
                  <a:cxnLst/>
                  <a:rect l="l" t="t" r="r" b="b"/>
                  <a:pathLst>
                    <a:path w="57150" h="215900">
                      <a:moveTo>
                        <a:pt x="2540" y="0"/>
                      </a:moveTo>
                      <a:lnTo>
                        <a:pt x="0" y="0"/>
                      </a:lnTo>
                      <a:lnTo>
                        <a:pt x="0" y="215900"/>
                      </a:lnTo>
                      <a:lnTo>
                        <a:pt x="2540" y="215900"/>
                      </a:lnTo>
                      <a:lnTo>
                        <a:pt x="2540" y="0"/>
                      </a:lnTo>
                      <a:close/>
                    </a:path>
                    <a:path w="57150" h="215900">
                      <a:moveTo>
                        <a:pt x="57150" y="0"/>
                      </a:moveTo>
                      <a:lnTo>
                        <a:pt x="54610" y="0"/>
                      </a:lnTo>
                      <a:lnTo>
                        <a:pt x="54610" y="215900"/>
                      </a:lnTo>
                      <a:lnTo>
                        <a:pt x="57150" y="215900"/>
                      </a:lnTo>
                      <a:lnTo>
                        <a:pt x="57150" y="0"/>
                      </a:lnTo>
                      <a:close/>
                    </a:path>
                  </a:pathLst>
                </a:custGeom>
                <a:solidFill>
                  <a:srgbClr val="434343"/>
                </a:solidFill>
              </p:spPr>
              <p:txBody>
                <a:bodyPr wrap="square" lIns="0" tIns="0" rIns="0" bIns="0" rtlCol="0"/>
                <a:lstStyle/>
                <a:p>
                  <a:endParaRPr/>
                </a:p>
              </p:txBody>
            </p:sp>
            <p:sp>
              <p:nvSpPr>
                <p:cNvPr id="91" name="object 91"/>
                <p:cNvSpPr/>
                <p:nvPr/>
              </p:nvSpPr>
              <p:spPr>
                <a:xfrm>
                  <a:off x="771398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92" name="object 92"/>
                <p:cNvSpPr/>
                <p:nvPr/>
              </p:nvSpPr>
              <p:spPr>
                <a:xfrm>
                  <a:off x="771779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93" name="object 93"/>
                <p:cNvSpPr/>
                <p:nvPr/>
              </p:nvSpPr>
              <p:spPr>
                <a:xfrm>
                  <a:off x="772160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94" name="object 94"/>
                <p:cNvSpPr/>
                <p:nvPr/>
              </p:nvSpPr>
              <p:spPr>
                <a:xfrm>
                  <a:off x="7725410" y="1125219"/>
                  <a:ext cx="29209" cy="215900"/>
                </a:xfrm>
                <a:custGeom>
                  <a:avLst/>
                  <a:gdLst/>
                  <a:ahLst/>
                  <a:cxnLst/>
                  <a:rect l="l" t="t" r="r" b="b"/>
                  <a:pathLst>
                    <a:path w="29209" h="215900">
                      <a:moveTo>
                        <a:pt x="3810" y="0"/>
                      </a:moveTo>
                      <a:lnTo>
                        <a:pt x="0" y="0"/>
                      </a:lnTo>
                      <a:lnTo>
                        <a:pt x="0" y="215900"/>
                      </a:lnTo>
                      <a:lnTo>
                        <a:pt x="3810" y="215900"/>
                      </a:lnTo>
                      <a:lnTo>
                        <a:pt x="3810" y="0"/>
                      </a:lnTo>
                      <a:close/>
                    </a:path>
                    <a:path w="29209"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95" name="object 95"/>
                <p:cNvSpPr/>
                <p:nvPr/>
              </p:nvSpPr>
              <p:spPr>
                <a:xfrm>
                  <a:off x="7729220" y="1125219"/>
                  <a:ext cx="21590" cy="215900"/>
                </a:xfrm>
                <a:custGeom>
                  <a:avLst/>
                  <a:gdLst/>
                  <a:ahLst/>
                  <a:cxnLst/>
                  <a:rect l="l" t="t" r="r" b="b"/>
                  <a:pathLst>
                    <a:path w="21590" h="215900">
                      <a:moveTo>
                        <a:pt x="3810" y="0"/>
                      </a:moveTo>
                      <a:lnTo>
                        <a:pt x="0" y="0"/>
                      </a:lnTo>
                      <a:lnTo>
                        <a:pt x="0" y="215900"/>
                      </a:lnTo>
                      <a:lnTo>
                        <a:pt x="3810" y="215900"/>
                      </a:lnTo>
                      <a:lnTo>
                        <a:pt x="3810" y="0"/>
                      </a:lnTo>
                      <a:close/>
                    </a:path>
                    <a:path w="21590"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96" name="object 96"/>
                <p:cNvSpPr/>
                <p:nvPr/>
              </p:nvSpPr>
              <p:spPr>
                <a:xfrm>
                  <a:off x="773303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97" name="object 97"/>
                <p:cNvSpPr/>
                <p:nvPr/>
              </p:nvSpPr>
              <p:spPr>
                <a:xfrm>
                  <a:off x="773683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98" name="object 98"/>
              <p:cNvGrpSpPr/>
              <p:nvPr/>
            </p:nvGrpSpPr>
            <p:grpSpPr>
              <a:xfrm>
                <a:off x="2986980" y="1111191"/>
                <a:ext cx="1898014" cy="1538605"/>
                <a:chOff x="1462980" y="1111190"/>
                <a:chExt cx="1898014" cy="1538605"/>
              </a:xfrm>
            </p:grpSpPr>
            <p:sp>
              <p:nvSpPr>
                <p:cNvPr id="99" name="object 99"/>
                <p:cNvSpPr/>
                <p:nvPr/>
              </p:nvSpPr>
              <p:spPr>
                <a:xfrm>
                  <a:off x="1475740"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100" name="object 100"/>
                <p:cNvSpPr/>
                <p:nvPr/>
              </p:nvSpPr>
              <p:spPr>
                <a:xfrm>
                  <a:off x="1475740"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101" name="object 101"/>
                <p:cNvSpPr/>
                <p:nvPr/>
              </p:nvSpPr>
              <p:spPr>
                <a:xfrm>
                  <a:off x="1691640" y="1628140"/>
                  <a:ext cx="1367790" cy="143510"/>
                </a:xfrm>
                <a:custGeom>
                  <a:avLst/>
                  <a:gdLst/>
                  <a:ahLst/>
                  <a:cxnLst/>
                  <a:rect l="l" t="t" r="r" b="b"/>
                  <a:pathLst>
                    <a:path w="1367789" h="143510">
                      <a:moveTo>
                        <a:pt x="1367790" y="0"/>
                      </a:moveTo>
                      <a:lnTo>
                        <a:pt x="0" y="0"/>
                      </a:lnTo>
                      <a:lnTo>
                        <a:pt x="0" y="143510"/>
                      </a:lnTo>
                      <a:lnTo>
                        <a:pt x="683260" y="143510"/>
                      </a:lnTo>
                      <a:lnTo>
                        <a:pt x="1367790" y="143510"/>
                      </a:lnTo>
                      <a:lnTo>
                        <a:pt x="1367790" y="0"/>
                      </a:lnTo>
                      <a:close/>
                    </a:path>
                  </a:pathLst>
                </a:custGeom>
                <a:solidFill>
                  <a:srgbClr val="FFFFFF"/>
                </a:solidFill>
              </p:spPr>
              <p:txBody>
                <a:bodyPr wrap="square" lIns="0" tIns="0" rIns="0" bIns="0" rtlCol="0"/>
                <a:lstStyle/>
                <a:p>
                  <a:endParaRPr/>
                </a:p>
              </p:txBody>
            </p:sp>
            <p:sp>
              <p:nvSpPr>
                <p:cNvPr id="102" name="object 102"/>
                <p:cNvSpPr/>
                <p:nvPr/>
              </p:nvSpPr>
              <p:spPr>
                <a:xfrm>
                  <a:off x="1691640" y="1628140"/>
                  <a:ext cx="1367790" cy="143510"/>
                </a:xfrm>
                <a:custGeom>
                  <a:avLst/>
                  <a:gdLst/>
                  <a:ahLst/>
                  <a:cxnLst/>
                  <a:rect l="l" t="t" r="r" b="b"/>
                  <a:pathLst>
                    <a:path w="1367789" h="143510">
                      <a:moveTo>
                        <a:pt x="683260" y="143510"/>
                      </a:moveTo>
                      <a:lnTo>
                        <a:pt x="0" y="143510"/>
                      </a:lnTo>
                      <a:lnTo>
                        <a:pt x="0" y="0"/>
                      </a:lnTo>
                      <a:lnTo>
                        <a:pt x="1367790" y="0"/>
                      </a:lnTo>
                      <a:lnTo>
                        <a:pt x="1367790" y="143510"/>
                      </a:lnTo>
                      <a:lnTo>
                        <a:pt x="683260" y="143510"/>
                      </a:lnTo>
                      <a:close/>
                    </a:path>
                  </a:pathLst>
                </a:custGeom>
                <a:ln w="25518">
                  <a:solidFill>
                    <a:srgbClr val="000000"/>
                  </a:solidFill>
                </a:ln>
              </p:spPr>
              <p:txBody>
                <a:bodyPr wrap="square" lIns="0" tIns="0" rIns="0" bIns="0" rtlCol="0"/>
                <a:lstStyle/>
                <a:p>
                  <a:endParaRPr/>
                </a:p>
              </p:txBody>
            </p:sp>
            <p:sp>
              <p:nvSpPr>
                <p:cNvPr id="103" name="object 103"/>
                <p:cNvSpPr/>
                <p:nvPr/>
              </p:nvSpPr>
              <p:spPr>
                <a:xfrm>
                  <a:off x="1691640" y="1484630"/>
                  <a:ext cx="0" cy="1008380"/>
                </a:xfrm>
                <a:custGeom>
                  <a:avLst/>
                  <a:gdLst/>
                  <a:ahLst/>
                  <a:cxnLst/>
                  <a:rect l="l" t="t" r="r" b="b"/>
                  <a:pathLst>
                    <a:path h="1008380">
                      <a:moveTo>
                        <a:pt x="0" y="0"/>
                      </a:moveTo>
                      <a:lnTo>
                        <a:pt x="0" y="1008380"/>
                      </a:lnTo>
                    </a:path>
                  </a:pathLst>
                </a:custGeom>
                <a:ln w="9344">
                  <a:solidFill>
                    <a:srgbClr val="000000"/>
                  </a:solidFill>
                </a:ln>
              </p:spPr>
              <p:txBody>
                <a:bodyPr wrap="square" lIns="0" tIns="0" rIns="0" bIns="0" rtlCol="0"/>
                <a:lstStyle/>
                <a:p>
                  <a:endParaRPr/>
                </a:p>
              </p:txBody>
            </p:sp>
            <p:sp>
              <p:nvSpPr>
                <p:cNvPr id="104" name="object 104"/>
                <p:cNvSpPr/>
                <p:nvPr/>
              </p:nvSpPr>
              <p:spPr>
                <a:xfrm>
                  <a:off x="1475740" y="1125219"/>
                  <a:ext cx="1870710" cy="215900"/>
                </a:xfrm>
                <a:custGeom>
                  <a:avLst/>
                  <a:gdLst/>
                  <a:ahLst/>
                  <a:cxnLst/>
                  <a:rect l="l" t="t" r="r" b="b"/>
                  <a:pathLst>
                    <a:path w="1870710" h="215900">
                      <a:moveTo>
                        <a:pt x="786511" y="0"/>
                      </a:moveTo>
                      <a:lnTo>
                        <a:pt x="0" y="0"/>
                      </a:lnTo>
                      <a:lnTo>
                        <a:pt x="0" y="40640"/>
                      </a:lnTo>
                      <a:lnTo>
                        <a:pt x="0" y="173990"/>
                      </a:lnTo>
                      <a:lnTo>
                        <a:pt x="0" y="214630"/>
                      </a:lnTo>
                      <a:lnTo>
                        <a:pt x="786511" y="214630"/>
                      </a:lnTo>
                      <a:lnTo>
                        <a:pt x="786511" y="173990"/>
                      </a:lnTo>
                      <a:lnTo>
                        <a:pt x="786130" y="173990"/>
                      </a:lnTo>
                      <a:lnTo>
                        <a:pt x="786130" y="40640"/>
                      </a:lnTo>
                      <a:lnTo>
                        <a:pt x="786511" y="40640"/>
                      </a:lnTo>
                      <a:lnTo>
                        <a:pt x="786511" y="0"/>
                      </a:lnTo>
                      <a:close/>
                    </a:path>
                    <a:path w="1870710" h="215900">
                      <a:moveTo>
                        <a:pt x="1084580" y="214630"/>
                      </a:moveTo>
                      <a:lnTo>
                        <a:pt x="786892" y="214630"/>
                      </a:lnTo>
                      <a:lnTo>
                        <a:pt x="786917" y="215900"/>
                      </a:lnTo>
                      <a:lnTo>
                        <a:pt x="1084580" y="215900"/>
                      </a:lnTo>
                      <a:lnTo>
                        <a:pt x="1084580" y="214630"/>
                      </a:lnTo>
                      <a:close/>
                    </a:path>
                    <a:path w="1870710" h="215900">
                      <a:moveTo>
                        <a:pt x="1870710" y="0"/>
                      </a:moveTo>
                      <a:lnTo>
                        <a:pt x="1084580" y="0"/>
                      </a:lnTo>
                      <a:lnTo>
                        <a:pt x="1084580" y="214630"/>
                      </a:lnTo>
                      <a:lnTo>
                        <a:pt x="1870710" y="214630"/>
                      </a:lnTo>
                      <a:lnTo>
                        <a:pt x="1870710" y="0"/>
                      </a:lnTo>
                      <a:close/>
                    </a:path>
                  </a:pathLst>
                </a:custGeom>
                <a:solidFill>
                  <a:srgbClr val="000000"/>
                </a:solidFill>
              </p:spPr>
              <p:txBody>
                <a:bodyPr wrap="square" lIns="0" tIns="0" rIns="0" bIns="0" rtlCol="0"/>
                <a:lstStyle/>
                <a:p>
                  <a:endParaRPr/>
                </a:p>
              </p:txBody>
            </p:sp>
            <p:sp>
              <p:nvSpPr>
                <p:cNvPr id="105" name="object 105"/>
                <p:cNvSpPr/>
                <p:nvPr/>
              </p:nvSpPr>
              <p:spPr>
                <a:xfrm>
                  <a:off x="2261870" y="1125219"/>
                  <a:ext cx="298450" cy="215900"/>
                </a:xfrm>
                <a:custGeom>
                  <a:avLst/>
                  <a:gdLst/>
                  <a:ahLst/>
                  <a:cxnLst/>
                  <a:rect l="l" t="t" r="r" b="b"/>
                  <a:pathLst>
                    <a:path w="298450" h="215900">
                      <a:moveTo>
                        <a:pt x="3810" y="0"/>
                      </a:moveTo>
                      <a:lnTo>
                        <a:pt x="381" y="0"/>
                      </a:lnTo>
                      <a:lnTo>
                        <a:pt x="381" y="40640"/>
                      </a:lnTo>
                      <a:lnTo>
                        <a:pt x="0" y="40640"/>
                      </a:lnTo>
                      <a:lnTo>
                        <a:pt x="0" y="173990"/>
                      </a:lnTo>
                      <a:lnTo>
                        <a:pt x="393" y="173990"/>
                      </a:lnTo>
                      <a:lnTo>
                        <a:pt x="393" y="215900"/>
                      </a:lnTo>
                      <a:lnTo>
                        <a:pt x="3810" y="215900"/>
                      </a:lnTo>
                      <a:lnTo>
                        <a:pt x="3810" y="173990"/>
                      </a:lnTo>
                      <a:lnTo>
                        <a:pt x="3810" y="4064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06" name="object 106"/>
                <p:cNvSpPr/>
                <p:nvPr/>
              </p:nvSpPr>
              <p:spPr>
                <a:xfrm>
                  <a:off x="2265680" y="1125219"/>
                  <a:ext cx="290830" cy="215900"/>
                </a:xfrm>
                <a:custGeom>
                  <a:avLst/>
                  <a:gdLst/>
                  <a:ahLst/>
                  <a:cxnLst/>
                  <a:rect l="l" t="t" r="r" b="b"/>
                  <a:pathLst>
                    <a:path w="290830" h="215900">
                      <a:moveTo>
                        <a:pt x="3810" y="0"/>
                      </a:moveTo>
                      <a:lnTo>
                        <a:pt x="0" y="0"/>
                      </a:lnTo>
                      <a:lnTo>
                        <a:pt x="0" y="215900"/>
                      </a:lnTo>
                      <a:lnTo>
                        <a:pt x="3810" y="215900"/>
                      </a:lnTo>
                      <a:lnTo>
                        <a:pt x="3810" y="0"/>
                      </a:lnTo>
                      <a:close/>
                    </a:path>
                    <a:path w="290830"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07" name="object 107"/>
                <p:cNvSpPr/>
                <p:nvPr/>
              </p:nvSpPr>
              <p:spPr>
                <a:xfrm>
                  <a:off x="2269490" y="1125219"/>
                  <a:ext cx="283845" cy="215900"/>
                </a:xfrm>
                <a:custGeom>
                  <a:avLst/>
                  <a:gdLst/>
                  <a:ahLst/>
                  <a:cxnLst/>
                  <a:rect l="l" t="t" r="r" b="b"/>
                  <a:pathLst>
                    <a:path w="283844" h="215900">
                      <a:moveTo>
                        <a:pt x="3810" y="0"/>
                      </a:moveTo>
                      <a:lnTo>
                        <a:pt x="0" y="0"/>
                      </a:lnTo>
                      <a:lnTo>
                        <a:pt x="0" y="215900"/>
                      </a:lnTo>
                      <a:lnTo>
                        <a:pt x="3810" y="215900"/>
                      </a:lnTo>
                      <a:lnTo>
                        <a:pt x="3810" y="0"/>
                      </a:lnTo>
                      <a:close/>
                    </a:path>
                    <a:path w="283844" h="215900">
                      <a:moveTo>
                        <a:pt x="283845" y="107950"/>
                      </a:moveTo>
                      <a:lnTo>
                        <a:pt x="283832" y="40640"/>
                      </a:lnTo>
                      <a:lnTo>
                        <a:pt x="283210" y="40640"/>
                      </a:lnTo>
                      <a:lnTo>
                        <a:pt x="283210" y="0"/>
                      </a:lnTo>
                      <a:lnTo>
                        <a:pt x="280276" y="0"/>
                      </a:lnTo>
                      <a:lnTo>
                        <a:pt x="280276" y="40640"/>
                      </a:lnTo>
                      <a:lnTo>
                        <a:pt x="280670" y="40640"/>
                      </a:lnTo>
                      <a:lnTo>
                        <a:pt x="280670" y="107950"/>
                      </a:lnTo>
                      <a:lnTo>
                        <a:pt x="280670" y="173990"/>
                      </a:lnTo>
                      <a:lnTo>
                        <a:pt x="280263" y="173990"/>
                      </a:lnTo>
                      <a:lnTo>
                        <a:pt x="280263" y="215900"/>
                      </a:lnTo>
                      <a:lnTo>
                        <a:pt x="283210" y="215900"/>
                      </a:lnTo>
                      <a:lnTo>
                        <a:pt x="283210" y="173990"/>
                      </a:lnTo>
                      <a:lnTo>
                        <a:pt x="283845" y="173990"/>
                      </a:lnTo>
                      <a:lnTo>
                        <a:pt x="283845" y="107950"/>
                      </a:lnTo>
                      <a:close/>
                    </a:path>
                  </a:pathLst>
                </a:custGeom>
                <a:solidFill>
                  <a:srgbClr val="050505"/>
                </a:solidFill>
              </p:spPr>
              <p:txBody>
                <a:bodyPr wrap="square" lIns="0" tIns="0" rIns="0" bIns="0" rtlCol="0"/>
                <a:lstStyle/>
                <a:p>
                  <a:endParaRPr/>
                </a:p>
              </p:txBody>
            </p:sp>
            <p:sp>
              <p:nvSpPr>
                <p:cNvPr id="108" name="object 108"/>
                <p:cNvSpPr/>
                <p:nvPr/>
              </p:nvSpPr>
              <p:spPr>
                <a:xfrm>
                  <a:off x="2273300" y="1125219"/>
                  <a:ext cx="276860" cy="215900"/>
                </a:xfrm>
                <a:custGeom>
                  <a:avLst/>
                  <a:gdLst/>
                  <a:ahLst/>
                  <a:cxnLst/>
                  <a:rect l="l" t="t" r="r" b="b"/>
                  <a:pathLst>
                    <a:path w="276860" h="215900">
                      <a:moveTo>
                        <a:pt x="2933" y="0"/>
                      </a:moveTo>
                      <a:lnTo>
                        <a:pt x="0" y="0"/>
                      </a:lnTo>
                      <a:lnTo>
                        <a:pt x="0" y="40640"/>
                      </a:lnTo>
                      <a:lnTo>
                        <a:pt x="0" y="173990"/>
                      </a:lnTo>
                      <a:lnTo>
                        <a:pt x="0" y="215900"/>
                      </a:lnTo>
                      <a:lnTo>
                        <a:pt x="2933" y="215900"/>
                      </a:lnTo>
                      <a:lnTo>
                        <a:pt x="2933" y="173990"/>
                      </a:lnTo>
                      <a:lnTo>
                        <a:pt x="2540" y="173990"/>
                      </a:lnTo>
                      <a:lnTo>
                        <a:pt x="2540" y="40640"/>
                      </a:lnTo>
                      <a:lnTo>
                        <a:pt x="2933" y="40640"/>
                      </a:lnTo>
                      <a:lnTo>
                        <a:pt x="2933" y="0"/>
                      </a:lnTo>
                      <a:close/>
                    </a:path>
                    <a:path w="276860" h="215900">
                      <a:moveTo>
                        <a:pt x="276860" y="40640"/>
                      </a:moveTo>
                      <a:lnTo>
                        <a:pt x="276466" y="40640"/>
                      </a:lnTo>
                      <a:lnTo>
                        <a:pt x="276466" y="0"/>
                      </a:lnTo>
                      <a:lnTo>
                        <a:pt x="272643" y="0"/>
                      </a:lnTo>
                      <a:lnTo>
                        <a:pt x="272643" y="40640"/>
                      </a:lnTo>
                      <a:lnTo>
                        <a:pt x="273050" y="40640"/>
                      </a:lnTo>
                      <a:lnTo>
                        <a:pt x="273050" y="173990"/>
                      </a:lnTo>
                      <a:lnTo>
                        <a:pt x="272643" y="173990"/>
                      </a:lnTo>
                      <a:lnTo>
                        <a:pt x="272643" y="215900"/>
                      </a:lnTo>
                      <a:lnTo>
                        <a:pt x="276453" y="215900"/>
                      </a:lnTo>
                      <a:lnTo>
                        <a:pt x="276453" y="173990"/>
                      </a:lnTo>
                      <a:lnTo>
                        <a:pt x="276860" y="173990"/>
                      </a:lnTo>
                      <a:lnTo>
                        <a:pt x="276860" y="40640"/>
                      </a:lnTo>
                      <a:close/>
                    </a:path>
                  </a:pathLst>
                </a:custGeom>
                <a:solidFill>
                  <a:srgbClr val="070707"/>
                </a:solidFill>
              </p:spPr>
              <p:txBody>
                <a:bodyPr wrap="square" lIns="0" tIns="0" rIns="0" bIns="0" rtlCol="0"/>
                <a:lstStyle/>
                <a:p>
                  <a:endParaRPr/>
                </a:p>
              </p:txBody>
            </p:sp>
            <p:sp>
              <p:nvSpPr>
                <p:cNvPr id="109" name="object 109"/>
                <p:cNvSpPr/>
                <p:nvPr/>
              </p:nvSpPr>
              <p:spPr>
                <a:xfrm>
                  <a:off x="227584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700" y="0"/>
                      </a:lnTo>
                      <a:lnTo>
                        <a:pt x="266700" y="40640"/>
                      </a:lnTo>
                      <a:lnTo>
                        <a:pt x="266700" y="173990"/>
                      </a:lnTo>
                      <a:lnTo>
                        <a:pt x="266700"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10" name="object 110"/>
                <p:cNvSpPr/>
                <p:nvPr/>
              </p:nvSpPr>
              <p:spPr>
                <a:xfrm>
                  <a:off x="227965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0"/>
                      </a:moveTo>
                      <a:lnTo>
                        <a:pt x="259080" y="0"/>
                      </a:lnTo>
                      <a:lnTo>
                        <a:pt x="259080" y="215900"/>
                      </a:lnTo>
                      <a:lnTo>
                        <a:pt x="262890" y="215900"/>
                      </a:lnTo>
                      <a:lnTo>
                        <a:pt x="262890" y="0"/>
                      </a:lnTo>
                      <a:close/>
                    </a:path>
                  </a:pathLst>
                </a:custGeom>
                <a:solidFill>
                  <a:srgbClr val="0B0B0B"/>
                </a:solidFill>
              </p:spPr>
              <p:txBody>
                <a:bodyPr wrap="square" lIns="0" tIns="0" rIns="0" bIns="0" rtlCol="0"/>
                <a:lstStyle/>
                <a:p>
                  <a:endParaRPr/>
                </a:p>
              </p:txBody>
            </p:sp>
            <p:sp>
              <p:nvSpPr>
                <p:cNvPr id="111" name="object 111"/>
                <p:cNvSpPr/>
                <p:nvPr/>
              </p:nvSpPr>
              <p:spPr>
                <a:xfrm>
                  <a:off x="2283460" y="1125219"/>
                  <a:ext cx="255270" cy="215900"/>
                </a:xfrm>
                <a:custGeom>
                  <a:avLst/>
                  <a:gdLst/>
                  <a:ahLst/>
                  <a:cxnLst/>
                  <a:rect l="l" t="t" r="r" b="b"/>
                  <a:pathLst>
                    <a:path w="25526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69"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12" name="object 112"/>
                <p:cNvSpPr/>
                <p:nvPr/>
              </p:nvSpPr>
              <p:spPr>
                <a:xfrm>
                  <a:off x="2287270" y="1125219"/>
                  <a:ext cx="247650" cy="215900"/>
                </a:xfrm>
                <a:custGeom>
                  <a:avLst/>
                  <a:gdLst/>
                  <a:ahLst/>
                  <a:cxnLst/>
                  <a:rect l="l" t="t" r="r" b="b"/>
                  <a:pathLst>
                    <a:path w="247650" h="215900">
                      <a:moveTo>
                        <a:pt x="4229" y="172720"/>
                      </a:moveTo>
                      <a:lnTo>
                        <a:pt x="3810" y="172720"/>
                      </a:lnTo>
                      <a:lnTo>
                        <a:pt x="3810" y="41910"/>
                      </a:lnTo>
                      <a:lnTo>
                        <a:pt x="4216" y="41910"/>
                      </a:lnTo>
                      <a:lnTo>
                        <a:pt x="4216" y="0"/>
                      </a:lnTo>
                      <a:lnTo>
                        <a:pt x="393" y="0"/>
                      </a:lnTo>
                      <a:lnTo>
                        <a:pt x="393" y="41910"/>
                      </a:lnTo>
                      <a:lnTo>
                        <a:pt x="0" y="41910"/>
                      </a:lnTo>
                      <a:lnTo>
                        <a:pt x="0" y="172720"/>
                      </a:lnTo>
                      <a:lnTo>
                        <a:pt x="406" y="172720"/>
                      </a:lnTo>
                      <a:lnTo>
                        <a:pt x="406" y="215900"/>
                      </a:lnTo>
                      <a:lnTo>
                        <a:pt x="4229" y="215900"/>
                      </a:lnTo>
                      <a:lnTo>
                        <a:pt x="4229" y="17272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113" name="object 113"/>
                <p:cNvSpPr/>
                <p:nvPr/>
              </p:nvSpPr>
              <p:spPr>
                <a:xfrm>
                  <a:off x="2291080" y="1125219"/>
                  <a:ext cx="240029" cy="215900"/>
                </a:xfrm>
                <a:custGeom>
                  <a:avLst/>
                  <a:gdLst/>
                  <a:ahLst/>
                  <a:cxnLst/>
                  <a:rect l="l" t="t" r="r" b="b"/>
                  <a:pathLst>
                    <a:path w="240030" h="215900">
                      <a:moveTo>
                        <a:pt x="3810" y="0"/>
                      </a:moveTo>
                      <a:lnTo>
                        <a:pt x="406" y="0"/>
                      </a:lnTo>
                      <a:lnTo>
                        <a:pt x="406" y="41910"/>
                      </a:lnTo>
                      <a:lnTo>
                        <a:pt x="0" y="41910"/>
                      </a:lnTo>
                      <a:lnTo>
                        <a:pt x="0" y="172720"/>
                      </a:lnTo>
                      <a:lnTo>
                        <a:pt x="419" y="172720"/>
                      </a:lnTo>
                      <a:lnTo>
                        <a:pt x="419" y="215900"/>
                      </a:lnTo>
                      <a:lnTo>
                        <a:pt x="3810" y="215900"/>
                      </a:lnTo>
                      <a:lnTo>
                        <a:pt x="3810" y="172720"/>
                      </a:lnTo>
                      <a:lnTo>
                        <a:pt x="3810" y="41910"/>
                      </a:lnTo>
                      <a:lnTo>
                        <a:pt x="3810" y="0"/>
                      </a:lnTo>
                      <a:close/>
                    </a:path>
                    <a:path w="240030"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114" name="object 114"/>
                <p:cNvSpPr/>
                <p:nvPr/>
              </p:nvSpPr>
              <p:spPr>
                <a:xfrm>
                  <a:off x="229489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115" name="object 115"/>
                <p:cNvSpPr/>
                <p:nvPr/>
              </p:nvSpPr>
              <p:spPr>
                <a:xfrm>
                  <a:off x="229870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116" name="object 116"/>
                <p:cNvSpPr/>
                <p:nvPr/>
              </p:nvSpPr>
              <p:spPr>
                <a:xfrm>
                  <a:off x="230124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117" name="object 117"/>
                <p:cNvSpPr/>
                <p:nvPr/>
              </p:nvSpPr>
              <p:spPr>
                <a:xfrm>
                  <a:off x="230505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118" name="object 118"/>
                <p:cNvSpPr/>
                <p:nvPr/>
              </p:nvSpPr>
              <p:spPr>
                <a:xfrm>
                  <a:off x="2308860" y="1125219"/>
                  <a:ext cx="204470" cy="215900"/>
                </a:xfrm>
                <a:custGeom>
                  <a:avLst/>
                  <a:gdLst/>
                  <a:ahLst/>
                  <a:cxnLst/>
                  <a:rect l="l" t="t" r="r" b="b"/>
                  <a:pathLst>
                    <a:path w="204469" h="215900">
                      <a:moveTo>
                        <a:pt x="3810" y="0"/>
                      </a:moveTo>
                      <a:lnTo>
                        <a:pt x="0" y="0"/>
                      </a:lnTo>
                      <a:lnTo>
                        <a:pt x="0" y="215900"/>
                      </a:lnTo>
                      <a:lnTo>
                        <a:pt x="3810" y="215900"/>
                      </a:lnTo>
                      <a:lnTo>
                        <a:pt x="3810" y="0"/>
                      </a:lnTo>
                      <a:close/>
                    </a:path>
                    <a:path w="204469"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119" name="object 119"/>
                <p:cNvSpPr/>
                <p:nvPr/>
              </p:nvSpPr>
              <p:spPr>
                <a:xfrm>
                  <a:off x="231267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120" name="object 120"/>
                <p:cNvSpPr/>
                <p:nvPr/>
              </p:nvSpPr>
              <p:spPr>
                <a:xfrm>
                  <a:off x="2316480" y="1125219"/>
                  <a:ext cx="189230" cy="215900"/>
                </a:xfrm>
                <a:custGeom>
                  <a:avLst/>
                  <a:gdLst/>
                  <a:ahLst/>
                  <a:cxnLst/>
                  <a:rect l="l" t="t" r="r" b="b"/>
                  <a:pathLst>
                    <a:path w="189230" h="215900">
                      <a:moveTo>
                        <a:pt x="3810" y="0"/>
                      </a:moveTo>
                      <a:lnTo>
                        <a:pt x="0" y="0"/>
                      </a:lnTo>
                      <a:lnTo>
                        <a:pt x="0" y="215900"/>
                      </a:lnTo>
                      <a:lnTo>
                        <a:pt x="3810" y="215900"/>
                      </a:lnTo>
                      <a:lnTo>
                        <a:pt x="3810" y="0"/>
                      </a:lnTo>
                      <a:close/>
                    </a:path>
                    <a:path w="189230"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121" name="object 121"/>
                <p:cNvSpPr/>
                <p:nvPr/>
              </p:nvSpPr>
              <p:spPr>
                <a:xfrm>
                  <a:off x="232029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8638" y="0"/>
                      </a:lnTo>
                      <a:lnTo>
                        <a:pt x="178638" y="43180"/>
                      </a:lnTo>
                      <a:lnTo>
                        <a:pt x="179070" y="43180"/>
                      </a:lnTo>
                      <a:lnTo>
                        <a:pt x="179070" y="171450"/>
                      </a:lnTo>
                      <a:lnTo>
                        <a:pt x="178625" y="171450"/>
                      </a:lnTo>
                      <a:lnTo>
                        <a:pt x="178625" y="215900"/>
                      </a:lnTo>
                      <a:lnTo>
                        <a:pt x="181610" y="215900"/>
                      </a:lnTo>
                      <a:lnTo>
                        <a:pt x="181610" y="171450"/>
                      </a:lnTo>
                      <a:lnTo>
                        <a:pt x="181610" y="43180"/>
                      </a:lnTo>
                      <a:lnTo>
                        <a:pt x="181610" y="0"/>
                      </a:lnTo>
                      <a:close/>
                    </a:path>
                  </a:pathLst>
                </a:custGeom>
                <a:solidFill>
                  <a:srgbClr val="212121"/>
                </a:solidFill>
              </p:spPr>
              <p:txBody>
                <a:bodyPr wrap="square" lIns="0" tIns="0" rIns="0" bIns="0" rtlCol="0"/>
                <a:lstStyle/>
                <a:p>
                  <a:endParaRPr/>
                </a:p>
              </p:txBody>
            </p:sp>
            <p:sp>
              <p:nvSpPr>
                <p:cNvPr id="122" name="object 122"/>
                <p:cNvSpPr/>
                <p:nvPr/>
              </p:nvSpPr>
              <p:spPr>
                <a:xfrm>
                  <a:off x="2324100" y="1125219"/>
                  <a:ext cx="175260" cy="215900"/>
                </a:xfrm>
                <a:custGeom>
                  <a:avLst/>
                  <a:gdLst/>
                  <a:ahLst/>
                  <a:cxnLst/>
                  <a:rect l="l" t="t" r="r" b="b"/>
                  <a:pathLst>
                    <a:path w="175260" h="215900">
                      <a:moveTo>
                        <a:pt x="3810" y="0"/>
                      </a:moveTo>
                      <a:lnTo>
                        <a:pt x="0" y="0"/>
                      </a:lnTo>
                      <a:lnTo>
                        <a:pt x="0" y="215900"/>
                      </a:lnTo>
                      <a:lnTo>
                        <a:pt x="3810" y="215900"/>
                      </a:lnTo>
                      <a:lnTo>
                        <a:pt x="3810" y="0"/>
                      </a:lnTo>
                      <a:close/>
                    </a:path>
                    <a:path w="175260" h="215900">
                      <a:moveTo>
                        <a:pt x="175260" y="43180"/>
                      </a:moveTo>
                      <a:lnTo>
                        <a:pt x="174828" y="43180"/>
                      </a:lnTo>
                      <a:lnTo>
                        <a:pt x="174828" y="0"/>
                      </a:lnTo>
                      <a:lnTo>
                        <a:pt x="171005" y="0"/>
                      </a:lnTo>
                      <a:lnTo>
                        <a:pt x="171005" y="43180"/>
                      </a:lnTo>
                      <a:lnTo>
                        <a:pt x="171450" y="43180"/>
                      </a:lnTo>
                      <a:lnTo>
                        <a:pt x="171450" y="171450"/>
                      </a:lnTo>
                      <a:lnTo>
                        <a:pt x="171005" y="171450"/>
                      </a:lnTo>
                      <a:lnTo>
                        <a:pt x="171005" y="215900"/>
                      </a:lnTo>
                      <a:lnTo>
                        <a:pt x="174815" y="215900"/>
                      </a:lnTo>
                      <a:lnTo>
                        <a:pt x="174815" y="171450"/>
                      </a:lnTo>
                      <a:lnTo>
                        <a:pt x="175260" y="171450"/>
                      </a:lnTo>
                      <a:lnTo>
                        <a:pt x="175260" y="43180"/>
                      </a:lnTo>
                      <a:close/>
                    </a:path>
                  </a:pathLst>
                </a:custGeom>
                <a:solidFill>
                  <a:srgbClr val="232323"/>
                </a:solidFill>
              </p:spPr>
              <p:txBody>
                <a:bodyPr wrap="square" lIns="0" tIns="0" rIns="0" bIns="0" rtlCol="0"/>
                <a:lstStyle/>
                <a:p>
                  <a:endParaRPr/>
                </a:p>
              </p:txBody>
            </p:sp>
            <p:sp>
              <p:nvSpPr>
                <p:cNvPr id="123" name="object 123"/>
                <p:cNvSpPr/>
                <p:nvPr/>
              </p:nvSpPr>
              <p:spPr>
                <a:xfrm>
                  <a:off x="232791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830" y="0"/>
                      </a:lnTo>
                      <a:lnTo>
                        <a:pt x="163830" y="43180"/>
                      </a:lnTo>
                      <a:lnTo>
                        <a:pt x="163830" y="171450"/>
                      </a:lnTo>
                      <a:lnTo>
                        <a:pt x="16383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124" name="object 124"/>
                <p:cNvSpPr/>
                <p:nvPr/>
              </p:nvSpPr>
              <p:spPr>
                <a:xfrm>
                  <a:off x="2330450" y="1125219"/>
                  <a:ext cx="161290" cy="215900"/>
                </a:xfrm>
                <a:custGeom>
                  <a:avLst/>
                  <a:gdLst/>
                  <a:ahLst/>
                  <a:cxnLst/>
                  <a:rect l="l" t="t" r="r" b="b"/>
                  <a:pathLst>
                    <a:path w="161289" h="215900">
                      <a:moveTo>
                        <a:pt x="4267" y="170180"/>
                      </a:moveTo>
                      <a:lnTo>
                        <a:pt x="3810" y="170180"/>
                      </a:lnTo>
                      <a:lnTo>
                        <a:pt x="3810" y="44450"/>
                      </a:lnTo>
                      <a:lnTo>
                        <a:pt x="4254" y="44450"/>
                      </a:lnTo>
                      <a:lnTo>
                        <a:pt x="4254" y="0"/>
                      </a:lnTo>
                      <a:lnTo>
                        <a:pt x="444" y="0"/>
                      </a:lnTo>
                      <a:lnTo>
                        <a:pt x="444" y="44450"/>
                      </a:lnTo>
                      <a:lnTo>
                        <a:pt x="0" y="44450"/>
                      </a:lnTo>
                      <a:lnTo>
                        <a:pt x="0" y="170180"/>
                      </a:lnTo>
                      <a:lnTo>
                        <a:pt x="457" y="170180"/>
                      </a:lnTo>
                      <a:lnTo>
                        <a:pt x="457" y="215900"/>
                      </a:lnTo>
                      <a:lnTo>
                        <a:pt x="4267" y="215900"/>
                      </a:lnTo>
                      <a:lnTo>
                        <a:pt x="4267" y="170180"/>
                      </a:lnTo>
                      <a:close/>
                    </a:path>
                    <a:path w="161289" h="215900">
                      <a:moveTo>
                        <a:pt x="161290" y="0"/>
                      </a:moveTo>
                      <a:lnTo>
                        <a:pt x="157480" y="0"/>
                      </a:lnTo>
                      <a:lnTo>
                        <a:pt x="157480" y="215900"/>
                      </a:lnTo>
                      <a:lnTo>
                        <a:pt x="161290" y="215900"/>
                      </a:lnTo>
                      <a:lnTo>
                        <a:pt x="161290" y="0"/>
                      </a:lnTo>
                      <a:close/>
                    </a:path>
                  </a:pathLst>
                </a:custGeom>
                <a:solidFill>
                  <a:srgbClr val="272727"/>
                </a:solidFill>
              </p:spPr>
              <p:txBody>
                <a:bodyPr wrap="square" lIns="0" tIns="0" rIns="0" bIns="0" rtlCol="0"/>
                <a:lstStyle/>
                <a:p>
                  <a:endParaRPr/>
                </a:p>
              </p:txBody>
            </p:sp>
            <p:sp>
              <p:nvSpPr>
                <p:cNvPr id="125" name="object 125"/>
                <p:cNvSpPr/>
                <p:nvPr/>
              </p:nvSpPr>
              <p:spPr>
                <a:xfrm>
                  <a:off x="2334260" y="1125219"/>
                  <a:ext cx="153670" cy="215900"/>
                </a:xfrm>
                <a:custGeom>
                  <a:avLst/>
                  <a:gdLst/>
                  <a:ahLst/>
                  <a:cxnLst/>
                  <a:rect l="l" t="t" r="r" b="b"/>
                  <a:pathLst>
                    <a:path w="15366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53669"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126" name="object 126"/>
                <p:cNvSpPr/>
                <p:nvPr/>
              </p:nvSpPr>
              <p:spPr>
                <a:xfrm>
                  <a:off x="2338070" y="1125219"/>
                  <a:ext cx="146050" cy="215900"/>
                </a:xfrm>
                <a:custGeom>
                  <a:avLst/>
                  <a:gdLst/>
                  <a:ahLst/>
                  <a:cxnLst/>
                  <a:rect l="l" t="t" r="r" b="b"/>
                  <a:pathLst>
                    <a:path w="146050" h="215900">
                      <a:moveTo>
                        <a:pt x="4267" y="170180"/>
                      </a:moveTo>
                      <a:lnTo>
                        <a:pt x="3810" y="170180"/>
                      </a:lnTo>
                      <a:lnTo>
                        <a:pt x="3810" y="44450"/>
                      </a:lnTo>
                      <a:lnTo>
                        <a:pt x="4254" y="44450"/>
                      </a:lnTo>
                      <a:lnTo>
                        <a:pt x="4254" y="0"/>
                      </a:lnTo>
                      <a:lnTo>
                        <a:pt x="0" y="0"/>
                      </a:lnTo>
                      <a:lnTo>
                        <a:pt x="0" y="44450"/>
                      </a:lnTo>
                      <a:lnTo>
                        <a:pt x="0" y="170180"/>
                      </a:lnTo>
                      <a:lnTo>
                        <a:pt x="0" y="215900"/>
                      </a:lnTo>
                      <a:lnTo>
                        <a:pt x="4267" y="215900"/>
                      </a:lnTo>
                      <a:lnTo>
                        <a:pt x="4267" y="17018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127" name="object 127"/>
                <p:cNvSpPr/>
                <p:nvPr/>
              </p:nvSpPr>
              <p:spPr>
                <a:xfrm>
                  <a:off x="2341880" y="1125219"/>
                  <a:ext cx="138430" cy="215900"/>
                </a:xfrm>
                <a:custGeom>
                  <a:avLst/>
                  <a:gdLst/>
                  <a:ahLst/>
                  <a:cxnLst/>
                  <a:rect l="l" t="t" r="r" b="b"/>
                  <a:pathLst>
                    <a:path w="13843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38430"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128" name="object 128"/>
                <p:cNvSpPr/>
                <p:nvPr/>
              </p:nvSpPr>
              <p:spPr>
                <a:xfrm>
                  <a:off x="234569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129" name="object 129"/>
                <p:cNvSpPr/>
                <p:nvPr/>
              </p:nvSpPr>
              <p:spPr>
                <a:xfrm>
                  <a:off x="234950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20180" y="0"/>
                      </a:lnTo>
                      <a:lnTo>
                        <a:pt x="120180" y="45720"/>
                      </a:lnTo>
                      <a:lnTo>
                        <a:pt x="120650" y="45720"/>
                      </a:lnTo>
                      <a:lnTo>
                        <a:pt x="120650" y="170180"/>
                      </a:lnTo>
                      <a:lnTo>
                        <a:pt x="120167" y="170180"/>
                      </a:lnTo>
                      <a:lnTo>
                        <a:pt x="120167" y="215900"/>
                      </a:lnTo>
                      <a:lnTo>
                        <a:pt x="123190" y="215900"/>
                      </a:lnTo>
                      <a:lnTo>
                        <a:pt x="123190" y="170180"/>
                      </a:lnTo>
                      <a:lnTo>
                        <a:pt x="123190" y="45720"/>
                      </a:lnTo>
                      <a:lnTo>
                        <a:pt x="123190" y="0"/>
                      </a:lnTo>
                      <a:close/>
                    </a:path>
                  </a:pathLst>
                </a:custGeom>
                <a:solidFill>
                  <a:srgbClr val="313131"/>
                </a:solidFill>
              </p:spPr>
              <p:txBody>
                <a:bodyPr wrap="square" lIns="0" tIns="0" rIns="0" bIns="0" rtlCol="0"/>
                <a:lstStyle/>
                <a:p>
                  <a:endParaRPr/>
                </a:p>
              </p:txBody>
            </p:sp>
            <p:sp>
              <p:nvSpPr>
                <p:cNvPr id="130" name="object 130"/>
                <p:cNvSpPr/>
                <p:nvPr/>
              </p:nvSpPr>
              <p:spPr>
                <a:xfrm>
                  <a:off x="2353310" y="1125219"/>
                  <a:ext cx="116839" cy="215900"/>
                </a:xfrm>
                <a:custGeom>
                  <a:avLst/>
                  <a:gdLst/>
                  <a:ahLst/>
                  <a:cxnLst/>
                  <a:rect l="l" t="t" r="r" b="b"/>
                  <a:pathLst>
                    <a:path w="116839" h="215900">
                      <a:moveTo>
                        <a:pt x="3810" y="0"/>
                      </a:moveTo>
                      <a:lnTo>
                        <a:pt x="0" y="0"/>
                      </a:lnTo>
                      <a:lnTo>
                        <a:pt x="0" y="215900"/>
                      </a:lnTo>
                      <a:lnTo>
                        <a:pt x="3810" y="215900"/>
                      </a:lnTo>
                      <a:lnTo>
                        <a:pt x="3810" y="0"/>
                      </a:lnTo>
                      <a:close/>
                    </a:path>
                    <a:path w="116839" h="215900">
                      <a:moveTo>
                        <a:pt x="116840" y="45720"/>
                      </a:moveTo>
                      <a:lnTo>
                        <a:pt x="116370" y="45720"/>
                      </a:lnTo>
                      <a:lnTo>
                        <a:pt x="116370" y="0"/>
                      </a:lnTo>
                      <a:lnTo>
                        <a:pt x="112560" y="0"/>
                      </a:lnTo>
                      <a:lnTo>
                        <a:pt x="112560" y="45720"/>
                      </a:lnTo>
                      <a:lnTo>
                        <a:pt x="113004" y="45720"/>
                      </a:lnTo>
                      <a:lnTo>
                        <a:pt x="113004" y="170180"/>
                      </a:lnTo>
                      <a:lnTo>
                        <a:pt x="112534" y="170180"/>
                      </a:lnTo>
                      <a:lnTo>
                        <a:pt x="112534" y="215900"/>
                      </a:lnTo>
                      <a:lnTo>
                        <a:pt x="116357" y="215900"/>
                      </a:lnTo>
                      <a:lnTo>
                        <a:pt x="116357" y="170180"/>
                      </a:lnTo>
                      <a:lnTo>
                        <a:pt x="116840" y="170180"/>
                      </a:lnTo>
                      <a:lnTo>
                        <a:pt x="116840" y="45720"/>
                      </a:lnTo>
                      <a:close/>
                    </a:path>
                  </a:pathLst>
                </a:custGeom>
                <a:solidFill>
                  <a:srgbClr val="333333"/>
                </a:solidFill>
              </p:spPr>
              <p:txBody>
                <a:bodyPr wrap="square" lIns="0" tIns="0" rIns="0" bIns="0" rtlCol="0"/>
                <a:lstStyle/>
                <a:p>
                  <a:endParaRPr/>
                </a:p>
              </p:txBody>
            </p:sp>
            <p:sp>
              <p:nvSpPr>
                <p:cNvPr id="131" name="object 131"/>
                <p:cNvSpPr/>
                <p:nvPr/>
              </p:nvSpPr>
              <p:spPr>
                <a:xfrm>
                  <a:off x="2357120" y="1125219"/>
                  <a:ext cx="109220" cy="215900"/>
                </a:xfrm>
                <a:custGeom>
                  <a:avLst/>
                  <a:gdLst/>
                  <a:ahLst/>
                  <a:cxnLst/>
                  <a:rect l="l" t="t" r="r" b="b"/>
                  <a:pathLst>
                    <a:path w="109219"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09219" h="215900">
                      <a:moveTo>
                        <a:pt x="109220" y="45720"/>
                      </a:moveTo>
                      <a:lnTo>
                        <a:pt x="108750" y="45720"/>
                      </a:lnTo>
                      <a:lnTo>
                        <a:pt x="108750" y="0"/>
                      </a:lnTo>
                      <a:lnTo>
                        <a:pt x="105410" y="0"/>
                      </a:lnTo>
                      <a:lnTo>
                        <a:pt x="105410" y="45720"/>
                      </a:lnTo>
                      <a:lnTo>
                        <a:pt x="105410" y="168910"/>
                      </a:lnTo>
                      <a:lnTo>
                        <a:pt x="105410" y="215900"/>
                      </a:lnTo>
                      <a:lnTo>
                        <a:pt x="108737" y="215900"/>
                      </a:lnTo>
                      <a:lnTo>
                        <a:pt x="108737" y="168910"/>
                      </a:lnTo>
                      <a:lnTo>
                        <a:pt x="109220" y="168910"/>
                      </a:lnTo>
                      <a:lnTo>
                        <a:pt x="109220" y="45720"/>
                      </a:lnTo>
                      <a:close/>
                    </a:path>
                  </a:pathLst>
                </a:custGeom>
                <a:solidFill>
                  <a:srgbClr val="353535"/>
                </a:solidFill>
              </p:spPr>
              <p:txBody>
                <a:bodyPr wrap="square" lIns="0" tIns="0" rIns="0" bIns="0" rtlCol="0"/>
                <a:lstStyle/>
                <a:p>
                  <a:endParaRPr/>
                </a:p>
              </p:txBody>
            </p:sp>
            <p:sp>
              <p:nvSpPr>
                <p:cNvPr id="132" name="object 132"/>
                <p:cNvSpPr/>
                <p:nvPr/>
              </p:nvSpPr>
              <p:spPr>
                <a:xfrm>
                  <a:off x="2359660" y="1125219"/>
                  <a:ext cx="102870" cy="215900"/>
                </a:xfrm>
                <a:custGeom>
                  <a:avLst/>
                  <a:gdLst/>
                  <a:ahLst/>
                  <a:cxnLst/>
                  <a:rect l="l" t="t" r="r" b="b"/>
                  <a:pathLst>
                    <a:path w="102869" h="215900">
                      <a:moveTo>
                        <a:pt x="4279" y="0"/>
                      </a:moveTo>
                      <a:lnTo>
                        <a:pt x="457" y="0"/>
                      </a:lnTo>
                      <a:lnTo>
                        <a:pt x="457" y="45720"/>
                      </a:lnTo>
                      <a:lnTo>
                        <a:pt x="0" y="45720"/>
                      </a:lnTo>
                      <a:lnTo>
                        <a:pt x="0" y="168910"/>
                      </a:lnTo>
                      <a:lnTo>
                        <a:pt x="469" y="168910"/>
                      </a:lnTo>
                      <a:lnTo>
                        <a:pt x="469" y="215900"/>
                      </a:lnTo>
                      <a:lnTo>
                        <a:pt x="4279" y="215900"/>
                      </a:lnTo>
                      <a:lnTo>
                        <a:pt x="4279" y="168910"/>
                      </a:lnTo>
                      <a:lnTo>
                        <a:pt x="3810" y="168910"/>
                      </a:lnTo>
                      <a:lnTo>
                        <a:pt x="3810" y="45720"/>
                      </a:lnTo>
                      <a:lnTo>
                        <a:pt x="4279" y="45720"/>
                      </a:lnTo>
                      <a:lnTo>
                        <a:pt x="4279" y="0"/>
                      </a:lnTo>
                      <a:close/>
                    </a:path>
                    <a:path w="102869"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133" name="object 133"/>
                <p:cNvSpPr/>
                <p:nvPr/>
              </p:nvSpPr>
              <p:spPr>
                <a:xfrm>
                  <a:off x="2363470" y="1125219"/>
                  <a:ext cx="95250" cy="215900"/>
                </a:xfrm>
                <a:custGeom>
                  <a:avLst/>
                  <a:gdLst/>
                  <a:ahLst/>
                  <a:cxnLst/>
                  <a:rect l="l" t="t" r="r" b="b"/>
                  <a:pathLst>
                    <a:path w="95250" h="215900">
                      <a:moveTo>
                        <a:pt x="3810" y="0"/>
                      </a:moveTo>
                      <a:lnTo>
                        <a:pt x="469" y="0"/>
                      </a:lnTo>
                      <a:lnTo>
                        <a:pt x="469" y="45720"/>
                      </a:lnTo>
                      <a:lnTo>
                        <a:pt x="0" y="45720"/>
                      </a:lnTo>
                      <a:lnTo>
                        <a:pt x="0" y="168910"/>
                      </a:lnTo>
                      <a:lnTo>
                        <a:pt x="469" y="168910"/>
                      </a:lnTo>
                      <a:lnTo>
                        <a:pt x="469" y="215900"/>
                      </a:lnTo>
                      <a:lnTo>
                        <a:pt x="3810" y="215900"/>
                      </a:lnTo>
                      <a:lnTo>
                        <a:pt x="3810" y="168910"/>
                      </a:lnTo>
                      <a:lnTo>
                        <a:pt x="3810" y="4572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134" name="object 134"/>
                <p:cNvSpPr/>
                <p:nvPr/>
              </p:nvSpPr>
              <p:spPr>
                <a:xfrm>
                  <a:off x="2367280" y="1125219"/>
                  <a:ext cx="87630" cy="215900"/>
                </a:xfrm>
                <a:custGeom>
                  <a:avLst/>
                  <a:gdLst/>
                  <a:ahLst/>
                  <a:cxnLst/>
                  <a:rect l="l" t="t" r="r" b="b"/>
                  <a:pathLst>
                    <a:path w="87630" h="215900">
                      <a:moveTo>
                        <a:pt x="3810" y="0"/>
                      </a:moveTo>
                      <a:lnTo>
                        <a:pt x="0" y="0"/>
                      </a:lnTo>
                      <a:lnTo>
                        <a:pt x="0" y="215900"/>
                      </a:lnTo>
                      <a:lnTo>
                        <a:pt x="3810" y="215900"/>
                      </a:lnTo>
                      <a:lnTo>
                        <a:pt x="3810" y="0"/>
                      </a:lnTo>
                      <a:close/>
                    </a:path>
                    <a:path w="87630"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135" name="object 135"/>
                <p:cNvSpPr/>
                <p:nvPr/>
              </p:nvSpPr>
              <p:spPr>
                <a:xfrm>
                  <a:off x="237109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136" name="object 136"/>
                <p:cNvSpPr/>
                <p:nvPr/>
              </p:nvSpPr>
              <p:spPr>
                <a:xfrm>
                  <a:off x="237490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137" name="object 137"/>
                <p:cNvSpPr/>
                <p:nvPr/>
              </p:nvSpPr>
              <p:spPr>
                <a:xfrm>
                  <a:off x="2378710" y="1125219"/>
                  <a:ext cx="64769" cy="215900"/>
                </a:xfrm>
                <a:custGeom>
                  <a:avLst/>
                  <a:gdLst/>
                  <a:ahLst/>
                  <a:cxnLst/>
                  <a:rect l="l" t="t" r="r" b="b"/>
                  <a:pathLst>
                    <a:path w="64769" h="215900">
                      <a:moveTo>
                        <a:pt x="3810" y="0"/>
                      </a:moveTo>
                      <a:lnTo>
                        <a:pt x="0" y="0"/>
                      </a:lnTo>
                      <a:lnTo>
                        <a:pt x="0" y="215900"/>
                      </a:lnTo>
                      <a:lnTo>
                        <a:pt x="3810" y="215900"/>
                      </a:lnTo>
                      <a:lnTo>
                        <a:pt x="3810" y="0"/>
                      </a:lnTo>
                      <a:close/>
                    </a:path>
                    <a:path w="64769"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138" name="object 138"/>
                <p:cNvSpPr/>
                <p:nvPr/>
              </p:nvSpPr>
              <p:spPr>
                <a:xfrm>
                  <a:off x="2382520" y="1125219"/>
                  <a:ext cx="58419" cy="215900"/>
                </a:xfrm>
                <a:custGeom>
                  <a:avLst/>
                  <a:gdLst/>
                  <a:ahLst/>
                  <a:cxnLst/>
                  <a:rect l="l" t="t" r="r" b="b"/>
                  <a:pathLst>
                    <a:path w="58419" h="215900">
                      <a:moveTo>
                        <a:pt x="3810" y="0"/>
                      </a:moveTo>
                      <a:lnTo>
                        <a:pt x="0" y="0"/>
                      </a:lnTo>
                      <a:lnTo>
                        <a:pt x="0" y="215900"/>
                      </a:lnTo>
                      <a:lnTo>
                        <a:pt x="3810" y="215900"/>
                      </a:lnTo>
                      <a:lnTo>
                        <a:pt x="3810" y="0"/>
                      </a:lnTo>
                      <a:close/>
                    </a:path>
                    <a:path w="58419"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139" name="object 139"/>
                <p:cNvSpPr/>
                <p:nvPr/>
              </p:nvSpPr>
              <p:spPr>
                <a:xfrm>
                  <a:off x="2386330" y="1125219"/>
                  <a:ext cx="50800" cy="215900"/>
                </a:xfrm>
                <a:custGeom>
                  <a:avLst/>
                  <a:gdLst/>
                  <a:ahLst/>
                  <a:cxnLst/>
                  <a:rect l="l" t="t" r="r" b="b"/>
                  <a:pathLst>
                    <a:path w="50800" h="215900">
                      <a:moveTo>
                        <a:pt x="2540" y="0"/>
                      </a:moveTo>
                      <a:lnTo>
                        <a:pt x="0" y="0"/>
                      </a:lnTo>
                      <a:lnTo>
                        <a:pt x="0" y="215900"/>
                      </a:lnTo>
                      <a:lnTo>
                        <a:pt x="2540" y="215900"/>
                      </a:lnTo>
                      <a:lnTo>
                        <a:pt x="2540" y="0"/>
                      </a:lnTo>
                      <a:close/>
                    </a:path>
                    <a:path w="50800" h="215900">
                      <a:moveTo>
                        <a:pt x="50800" y="0"/>
                      </a:moveTo>
                      <a:lnTo>
                        <a:pt x="46990" y="0"/>
                      </a:lnTo>
                      <a:lnTo>
                        <a:pt x="46990" y="215900"/>
                      </a:lnTo>
                      <a:lnTo>
                        <a:pt x="50800" y="215900"/>
                      </a:lnTo>
                      <a:lnTo>
                        <a:pt x="50800" y="0"/>
                      </a:lnTo>
                      <a:close/>
                    </a:path>
                  </a:pathLst>
                </a:custGeom>
                <a:solidFill>
                  <a:srgbClr val="454545"/>
                </a:solidFill>
              </p:spPr>
              <p:txBody>
                <a:bodyPr wrap="square" lIns="0" tIns="0" rIns="0" bIns="0" rtlCol="0"/>
                <a:lstStyle/>
                <a:p>
                  <a:endParaRPr/>
                </a:p>
              </p:txBody>
            </p:sp>
            <p:sp>
              <p:nvSpPr>
                <p:cNvPr id="140" name="object 140"/>
                <p:cNvSpPr/>
                <p:nvPr/>
              </p:nvSpPr>
              <p:spPr>
                <a:xfrm>
                  <a:off x="238887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141" name="object 141"/>
                <p:cNvSpPr/>
                <p:nvPr/>
              </p:nvSpPr>
              <p:spPr>
                <a:xfrm>
                  <a:off x="2392680" y="1125219"/>
                  <a:ext cx="36830" cy="215900"/>
                </a:xfrm>
                <a:custGeom>
                  <a:avLst/>
                  <a:gdLst/>
                  <a:ahLst/>
                  <a:cxnLst/>
                  <a:rect l="l" t="t" r="r" b="b"/>
                  <a:pathLst>
                    <a:path w="36830" h="215900">
                      <a:moveTo>
                        <a:pt x="3810" y="0"/>
                      </a:moveTo>
                      <a:lnTo>
                        <a:pt x="0" y="0"/>
                      </a:lnTo>
                      <a:lnTo>
                        <a:pt x="0" y="215900"/>
                      </a:lnTo>
                      <a:lnTo>
                        <a:pt x="3810" y="215900"/>
                      </a:lnTo>
                      <a:lnTo>
                        <a:pt x="3810" y="0"/>
                      </a:lnTo>
                      <a:close/>
                    </a:path>
                    <a:path w="36830"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142" name="object 142"/>
                <p:cNvSpPr/>
                <p:nvPr/>
              </p:nvSpPr>
              <p:spPr>
                <a:xfrm>
                  <a:off x="239649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143" name="object 143"/>
                <p:cNvSpPr/>
                <p:nvPr/>
              </p:nvSpPr>
              <p:spPr>
                <a:xfrm>
                  <a:off x="240030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144" name="object 144"/>
                <p:cNvSpPr/>
                <p:nvPr/>
              </p:nvSpPr>
              <p:spPr>
                <a:xfrm>
                  <a:off x="2404110" y="1125219"/>
                  <a:ext cx="13970" cy="215900"/>
                </a:xfrm>
                <a:custGeom>
                  <a:avLst/>
                  <a:gdLst/>
                  <a:ahLst/>
                  <a:cxnLst/>
                  <a:rect l="l" t="t" r="r" b="b"/>
                  <a:pathLst>
                    <a:path w="13969" h="215900">
                      <a:moveTo>
                        <a:pt x="3810" y="0"/>
                      </a:moveTo>
                      <a:lnTo>
                        <a:pt x="0" y="0"/>
                      </a:lnTo>
                      <a:lnTo>
                        <a:pt x="0" y="215900"/>
                      </a:lnTo>
                      <a:lnTo>
                        <a:pt x="3810" y="215900"/>
                      </a:lnTo>
                      <a:lnTo>
                        <a:pt x="3810" y="0"/>
                      </a:lnTo>
                      <a:close/>
                    </a:path>
                    <a:path w="13969"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145" name="object 145"/>
                <p:cNvSpPr/>
                <p:nvPr/>
              </p:nvSpPr>
              <p:spPr>
                <a:xfrm>
                  <a:off x="240791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sp>
              <p:nvSpPr>
                <p:cNvPr id="146" name="object 146"/>
                <p:cNvSpPr/>
                <p:nvPr/>
              </p:nvSpPr>
              <p:spPr>
                <a:xfrm>
                  <a:off x="1691640" y="1916430"/>
                  <a:ext cx="791210" cy="143510"/>
                </a:xfrm>
                <a:custGeom>
                  <a:avLst/>
                  <a:gdLst/>
                  <a:ahLst/>
                  <a:cxnLst/>
                  <a:rect l="l" t="t" r="r" b="b"/>
                  <a:pathLst>
                    <a:path w="791210" h="143510">
                      <a:moveTo>
                        <a:pt x="791210" y="0"/>
                      </a:moveTo>
                      <a:lnTo>
                        <a:pt x="0" y="0"/>
                      </a:lnTo>
                      <a:lnTo>
                        <a:pt x="0" y="143510"/>
                      </a:lnTo>
                      <a:lnTo>
                        <a:pt x="396240" y="143510"/>
                      </a:lnTo>
                      <a:lnTo>
                        <a:pt x="791210" y="143510"/>
                      </a:lnTo>
                      <a:lnTo>
                        <a:pt x="791210" y="0"/>
                      </a:lnTo>
                      <a:close/>
                    </a:path>
                  </a:pathLst>
                </a:custGeom>
                <a:solidFill>
                  <a:srgbClr val="FFFFFF"/>
                </a:solidFill>
              </p:spPr>
              <p:txBody>
                <a:bodyPr wrap="square" lIns="0" tIns="0" rIns="0" bIns="0" rtlCol="0"/>
                <a:lstStyle/>
                <a:p>
                  <a:endParaRPr/>
                </a:p>
              </p:txBody>
            </p:sp>
            <p:sp>
              <p:nvSpPr>
                <p:cNvPr id="147" name="object 147"/>
                <p:cNvSpPr/>
                <p:nvPr/>
              </p:nvSpPr>
              <p:spPr>
                <a:xfrm>
                  <a:off x="1691640" y="1916430"/>
                  <a:ext cx="791210" cy="143510"/>
                </a:xfrm>
                <a:custGeom>
                  <a:avLst/>
                  <a:gdLst/>
                  <a:ahLst/>
                  <a:cxnLst/>
                  <a:rect l="l" t="t" r="r" b="b"/>
                  <a:pathLst>
                    <a:path w="791210" h="143510">
                      <a:moveTo>
                        <a:pt x="396240" y="143510"/>
                      </a:moveTo>
                      <a:lnTo>
                        <a:pt x="0" y="143510"/>
                      </a:lnTo>
                      <a:lnTo>
                        <a:pt x="0" y="0"/>
                      </a:lnTo>
                      <a:lnTo>
                        <a:pt x="791210" y="0"/>
                      </a:lnTo>
                      <a:lnTo>
                        <a:pt x="791210" y="143510"/>
                      </a:lnTo>
                      <a:lnTo>
                        <a:pt x="396240" y="143510"/>
                      </a:lnTo>
                      <a:close/>
                    </a:path>
                  </a:pathLst>
                </a:custGeom>
                <a:ln w="25518">
                  <a:solidFill>
                    <a:srgbClr val="000000"/>
                  </a:solidFill>
                </a:ln>
              </p:spPr>
              <p:txBody>
                <a:bodyPr wrap="square" lIns="0" tIns="0" rIns="0" bIns="0" rtlCol="0"/>
                <a:lstStyle/>
                <a:p>
                  <a:endParaRPr/>
                </a:p>
              </p:txBody>
            </p:sp>
            <p:sp>
              <p:nvSpPr>
                <p:cNvPr id="148" name="object 148"/>
                <p:cNvSpPr/>
                <p:nvPr/>
              </p:nvSpPr>
              <p:spPr>
                <a:xfrm>
                  <a:off x="1691640" y="2204720"/>
                  <a:ext cx="1223010" cy="143510"/>
                </a:xfrm>
                <a:custGeom>
                  <a:avLst/>
                  <a:gdLst/>
                  <a:ahLst/>
                  <a:cxnLst/>
                  <a:rect l="l" t="t" r="r" b="b"/>
                  <a:pathLst>
                    <a:path w="1223010" h="143510">
                      <a:moveTo>
                        <a:pt x="1223010" y="0"/>
                      </a:moveTo>
                      <a:lnTo>
                        <a:pt x="0" y="0"/>
                      </a:lnTo>
                      <a:lnTo>
                        <a:pt x="0" y="143509"/>
                      </a:lnTo>
                      <a:lnTo>
                        <a:pt x="612140" y="143509"/>
                      </a:lnTo>
                      <a:lnTo>
                        <a:pt x="1223010" y="143509"/>
                      </a:lnTo>
                      <a:lnTo>
                        <a:pt x="1223010" y="0"/>
                      </a:lnTo>
                      <a:close/>
                    </a:path>
                  </a:pathLst>
                </a:custGeom>
                <a:solidFill>
                  <a:srgbClr val="FFFFFF"/>
                </a:solidFill>
              </p:spPr>
              <p:txBody>
                <a:bodyPr wrap="square" lIns="0" tIns="0" rIns="0" bIns="0" rtlCol="0"/>
                <a:lstStyle/>
                <a:p>
                  <a:endParaRPr/>
                </a:p>
              </p:txBody>
            </p:sp>
            <p:sp>
              <p:nvSpPr>
                <p:cNvPr id="149" name="object 149"/>
                <p:cNvSpPr/>
                <p:nvPr/>
              </p:nvSpPr>
              <p:spPr>
                <a:xfrm>
                  <a:off x="1691640" y="2204720"/>
                  <a:ext cx="1223010" cy="143510"/>
                </a:xfrm>
                <a:custGeom>
                  <a:avLst/>
                  <a:gdLst/>
                  <a:ahLst/>
                  <a:cxnLst/>
                  <a:rect l="l" t="t" r="r" b="b"/>
                  <a:pathLst>
                    <a:path w="1223010" h="143510">
                      <a:moveTo>
                        <a:pt x="612140" y="143509"/>
                      </a:moveTo>
                      <a:lnTo>
                        <a:pt x="0" y="143509"/>
                      </a:lnTo>
                      <a:lnTo>
                        <a:pt x="0" y="0"/>
                      </a:lnTo>
                      <a:lnTo>
                        <a:pt x="1223010" y="0"/>
                      </a:lnTo>
                      <a:lnTo>
                        <a:pt x="1223010" y="143509"/>
                      </a:lnTo>
                      <a:lnTo>
                        <a:pt x="612140" y="143509"/>
                      </a:lnTo>
                      <a:close/>
                    </a:path>
                  </a:pathLst>
                </a:custGeom>
                <a:ln w="25518">
                  <a:solidFill>
                    <a:srgbClr val="000000"/>
                  </a:solidFill>
                </a:ln>
              </p:spPr>
              <p:txBody>
                <a:bodyPr wrap="square" lIns="0" tIns="0" rIns="0" bIns="0" rtlCol="0"/>
                <a:lstStyle/>
                <a:p>
                  <a:endParaRPr/>
                </a:p>
              </p:txBody>
            </p:sp>
          </p:grpSp>
        </p:grpSp>
        <p:grpSp>
          <p:nvGrpSpPr>
            <p:cNvPr id="150" name="object 150"/>
            <p:cNvGrpSpPr/>
            <p:nvPr/>
          </p:nvGrpSpPr>
          <p:grpSpPr>
            <a:xfrm>
              <a:off x="8747700" y="1471870"/>
              <a:ext cx="1033144" cy="1033144"/>
              <a:chOff x="7223700" y="1471870"/>
              <a:chExt cx="1033144" cy="1033144"/>
            </a:xfrm>
          </p:grpSpPr>
          <p:sp>
            <p:nvSpPr>
              <p:cNvPr id="151" name="object 151"/>
              <p:cNvSpPr/>
              <p:nvPr/>
            </p:nvSpPr>
            <p:spPr>
              <a:xfrm>
                <a:off x="7236459" y="1484629"/>
                <a:ext cx="1007110" cy="1007110"/>
              </a:xfrm>
              <a:custGeom>
                <a:avLst/>
                <a:gdLst/>
                <a:ahLst/>
                <a:cxnLst/>
                <a:rect l="l" t="t" r="r" b="b"/>
                <a:pathLst>
                  <a:path w="1007109" h="1007110">
                    <a:moveTo>
                      <a:pt x="502920" y="0"/>
                    </a:moveTo>
                    <a:lnTo>
                      <a:pt x="453235" y="2236"/>
                    </a:lnTo>
                    <a:lnTo>
                      <a:pt x="405156" y="8822"/>
                    </a:lnTo>
                    <a:lnTo>
                      <a:pt x="358864" y="19570"/>
                    </a:lnTo>
                    <a:lnTo>
                      <a:pt x="314540" y="34295"/>
                    </a:lnTo>
                    <a:lnTo>
                      <a:pt x="272365" y="52811"/>
                    </a:lnTo>
                    <a:lnTo>
                      <a:pt x="232522" y="74931"/>
                    </a:lnTo>
                    <a:lnTo>
                      <a:pt x="195191" y="100469"/>
                    </a:lnTo>
                    <a:lnTo>
                      <a:pt x="160555" y="129240"/>
                    </a:lnTo>
                    <a:lnTo>
                      <a:pt x="128793" y="161057"/>
                    </a:lnTo>
                    <a:lnTo>
                      <a:pt x="100089" y="195734"/>
                    </a:lnTo>
                    <a:lnTo>
                      <a:pt x="74624" y="233085"/>
                    </a:lnTo>
                    <a:lnTo>
                      <a:pt x="52578" y="272924"/>
                    </a:lnTo>
                    <a:lnTo>
                      <a:pt x="34134" y="315064"/>
                    </a:lnTo>
                    <a:lnTo>
                      <a:pt x="19472" y="359320"/>
                    </a:lnTo>
                    <a:lnTo>
                      <a:pt x="8775" y="405505"/>
                    </a:lnTo>
                    <a:lnTo>
                      <a:pt x="2224" y="453434"/>
                    </a:lnTo>
                    <a:lnTo>
                      <a:pt x="0" y="502920"/>
                    </a:lnTo>
                    <a:lnTo>
                      <a:pt x="2224" y="552616"/>
                    </a:lnTo>
                    <a:lnTo>
                      <a:pt x="8775" y="600731"/>
                    </a:lnTo>
                    <a:lnTo>
                      <a:pt x="19472" y="647080"/>
                    </a:lnTo>
                    <a:lnTo>
                      <a:pt x="34134" y="691477"/>
                    </a:lnTo>
                    <a:lnTo>
                      <a:pt x="52578" y="733739"/>
                    </a:lnTo>
                    <a:lnTo>
                      <a:pt x="74624" y="773680"/>
                    </a:lnTo>
                    <a:lnTo>
                      <a:pt x="100089" y="811116"/>
                    </a:lnTo>
                    <a:lnTo>
                      <a:pt x="128793" y="845863"/>
                    </a:lnTo>
                    <a:lnTo>
                      <a:pt x="160555" y="877736"/>
                    </a:lnTo>
                    <a:lnTo>
                      <a:pt x="195191" y="906551"/>
                    </a:lnTo>
                    <a:lnTo>
                      <a:pt x="232522" y="932122"/>
                    </a:lnTo>
                    <a:lnTo>
                      <a:pt x="272365" y="954266"/>
                    </a:lnTo>
                    <a:lnTo>
                      <a:pt x="314540" y="972798"/>
                    </a:lnTo>
                    <a:lnTo>
                      <a:pt x="358864" y="987532"/>
                    </a:lnTo>
                    <a:lnTo>
                      <a:pt x="405156" y="998285"/>
                    </a:lnTo>
                    <a:lnTo>
                      <a:pt x="453235" y="1004873"/>
                    </a:lnTo>
                    <a:lnTo>
                      <a:pt x="502920" y="1007110"/>
                    </a:lnTo>
                    <a:lnTo>
                      <a:pt x="552616" y="1004873"/>
                    </a:lnTo>
                    <a:lnTo>
                      <a:pt x="600731" y="998285"/>
                    </a:lnTo>
                    <a:lnTo>
                      <a:pt x="647080" y="987532"/>
                    </a:lnTo>
                    <a:lnTo>
                      <a:pt x="691477" y="972798"/>
                    </a:lnTo>
                    <a:lnTo>
                      <a:pt x="733739" y="954266"/>
                    </a:lnTo>
                    <a:lnTo>
                      <a:pt x="773680" y="932122"/>
                    </a:lnTo>
                    <a:lnTo>
                      <a:pt x="811116" y="906551"/>
                    </a:lnTo>
                    <a:lnTo>
                      <a:pt x="845863" y="877736"/>
                    </a:lnTo>
                    <a:lnTo>
                      <a:pt x="877736" y="845863"/>
                    </a:lnTo>
                    <a:lnTo>
                      <a:pt x="906551" y="811116"/>
                    </a:lnTo>
                    <a:lnTo>
                      <a:pt x="932122" y="773680"/>
                    </a:lnTo>
                    <a:lnTo>
                      <a:pt x="954266" y="733739"/>
                    </a:lnTo>
                    <a:lnTo>
                      <a:pt x="972798" y="691477"/>
                    </a:lnTo>
                    <a:lnTo>
                      <a:pt x="987532" y="647080"/>
                    </a:lnTo>
                    <a:lnTo>
                      <a:pt x="998285" y="600731"/>
                    </a:lnTo>
                    <a:lnTo>
                      <a:pt x="1004873" y="552616"/>
                    </a:lnTo>
                    <a:lnTo>
                      <a:pt x="1007110" y="502920"/>
                    </a:lnTo>
                    <a:lnTo>
                      <a:pt x="1004873" y="453434"/>
                    </a:lnTo>
                    <a:lnTo>
                      <a:pt x="998285" y="405505"/>
                    </a:lnTo>
                    <a:lnTo>
                      <a:pt x="987532" y="359320"/>
                    </a:lnTo>
                    <a:lnTo>
                      <a:pt x="972798" y="315064"/>
                    </a:lnTo>
                    <a:lnTo>
                      <a:pt x="954266" y="272924"/>
                    </a:lnTo>
                    <a:lnTo>
                      <a:pt x="932122" y="233085"/>
                    </a:lnTo>
                    <a:lnTo>
                      <a:pt x="906551" y="195734"/>
                    </a:lnTo>
                    <a:lnTo>
                      <a:pt x="877736" y="161057"/>
                    </a:lnTo>
                    <a:lnTo>
                      <a:pt x="845863" y="129240"/>
                    </a:lnTo>
                    <a:lnTo>
                      <a:pt x="811116" y="100469"/>
                    </a:lnTo>
                    <a:lnTo>
                      <a:pt x="773680" y="74931"/>
                    </a:lnTo>
                    <a:lnTo>
                      <a:pt x="733739" y="52811"/>
                    </a:lnTo>
                    <a:lnTo>
                      <a:pt x="691477" y="34295"/>
                    </a:lnTo>
                    <a:lnTo>
                      <a:pt x="647080" y="19570"/>
                    </a:lnTo>
                    <a:lnTo>
                      <a:pt x="600731" y="8822"/>
                    </a:lnTo>
                    <a:lnTo>
                      <a:pt x="552616" y="2236"/>
                    </a:lnTo>
                    <a:lnTo>
                      <a:pt x="502920" y="0"/>
                    </a:lnTo>
                    <a:close/>
                  </a:path>
                </a:pathLst>
              </a:custGeom>
              <a:solidFill>
                <a:srgbClr val="FFFFFF"/>
              </a:solidFill>
            </p:spPr>
            <p:txBody>
              <a:bodyPr wrap="square" lIns="0" tIns="0" rIns="0" bIns="0" rtlCol="0"/>
              <a:lstStyle/>
              <a:p>
                <a:endParaRPr/>
              </a:p>
            </p:txBody>
          </p:sp>
          <p:sp>
            <p:nvSpPr>
              <p:cNvPr id="152" name="object 152"/>
              <p:cNvSpPr/>
              <p:nvPr/>
            </p:nvSpPr>
            <p:spPr>
              <a:xfrm>
                <a:off x="7236459" y="1484629"/>
                <a:ext cx="1007110" cy="1007110"/>
              </a:xfrm>
              <a:custGeom>
                <a:avLst/>
                <a:gdLst/>
                <a:ahLst/>
                <a:cxnLst/>
                <a:rect l="l" t="t" r="r" b="b"/>
                <a:pathLst>
                  <a:path w="1007109" h="1007110">
                    <a:moveTo>
                      <a:pt x="502920" y="0"/>
                    </a:moveTo>
                    <a:lnTo>
                      <a:pt x="552616" y="2236"/>
                    </a:lnTo>
                    <a:lnTo>
                      <a:pt x="600731" y="8822"/>
                    </a:lnTo>
                    <a:lnTo>
                      <a:pt x="647080" y="19570"/>
                    </a:lnTo>
                    <a:lnTo>
                      <a:pt x="691477" y="34295"/>
                    </a:lnTo>
                    <a:lnTo>
                      <a:pt x="733739" y="52811"/>
                    </a:lnTo>
                    <a:lnTo>
                      <a:pt x="773680" y="74931"/>
                    </a:lnTo>
                    <a:lnTo>
                      <a:pt x="811116" y="100469"/>
                    </a:lnTo>
                    <a:lnTo>
                      <a:pt x="845863" y="129240"/>
                    </a:lnTo>
                    <a:lnTo>
                      <a:pt x="877736" y="161057"/>
                    </a:lnTo>
                    <a:lnTo>
                      <a:pt x="906551" y="195734"/>
                    </a:lnTo>
                    <a:lnTo>
                      <a:pt x="932122" y="233085"/>
                    </a:lnTo>
                    <a:lnTo>
                      <a:pt x="954266" y="272924"/>
                    </a:lnTo>
                    <a:lnTo>
                      <a:pt x="972798" y="315064"/>
                    </a:lnTo>
                    <a:lnTo>
                      <a:pt x="987532" y="359320"/>
                    </a:lnTo>
                    <a:lnTo>
                      <a:pt x="998285" y="405505"/>
                    </a:lnTo>
                    <a:lnTo>
                      <a:pt x="1004873" y="453434"/>
                    </a:lnTo>
                    <a:lnTo>
                      <a:pt x="1007110" y="502920"/>
                    </a:lnTo>
                    <a:lnTo>
                      <a:pt x="1004873" y="552616"/>
                    </a:lnTo>
                    <a:lnTo>
                      <a:pt x="998285" y="600731"/>
                    </a:lnTo>
                    <a:lnTo>
                      <a:pt x="987532" y="647080"/>
                    </a:lnTo>
                    <a:lnTo>
                      <a:pt x="972798" y="691477"/>
                    </a:lnTo>
                    <a:lnTo>
                      <a:pt x="954266" y="733739"/>
                    </a:lnTo>
                    <a:lnTo>
                      <a:pt x="932122" y="773680"/>
                    </a:lnTo>
                    <a:lnTo>
                      <a:pt x="906551" y="811116"/>
                    </a:lnTo>
                    <a:lnTo>
                      <a:pt x="877736" y="845863"/>
                    </a:lnTo>
                    <a:lnTo>
                      <a:pt x="845863" y="877736"/>
                    </a:lnTo>
                    <a:lnTo>
                      <a:pt x="811116" y="906551"/>
                    </a:lnTo>
                    <a:lnTo>
                      <a:pt x="773680" y="932122"/>
                    </a:lnTo>
                    <a:lnTo>
                      <a:pt x="733739" y="954266"/>
                    </a:lnTo>
                    <a:lnTo>
                      <a:pt x="691477" y="972798"/>
                    </a:lnTo>
                    <a:lnTo>
                      <a:pt x="647080" y="987532"/>
                    </a:lnTo>
                    <a:lnTo>
                      <a:pt x="600731" y="998285"/>
                    </a:lnTo>
                    <a:lnTo>
                      <a:pt x="552616" y="1004873"/>
                    </a:lnTo>
                    <a:lnTo>
                      <a:pt x="502920" y="1007110"/>
                    </a:lnTo>
                    <a:lnTo>
                      <a:pt x="453235" y="1004873"/>
                    </a:lnTo>
                    <a:lnTo>
                      <a:pt x="405156" y="998285"/>
                    </a:lnTo>
                    <a:lnTo>
                      <a:pt x="358864" y="987532"/>
                    </a:lnTo>
                    <a:lnTo>
                      <a:pt x="314540" y="972798"/>
                    </a:lnTo>
                    <a:lnTo>
                      <a:pt x="272365" y="954266"/>
                    </a:lnTo>
                    <a:lnTo>
                      <a:pt x="232522" y="932122"/>
                    </a:lnTo>
                    <a:lnTo>
                      <a:pt x="195191" y="906551"/>
                    </a:lnTo>
                    <a:lnTo>
                      <a:pt x="160555" y="877736"/>
                    </a:lnTo>
                    <a:lnTo>
                      <a:pt x="128793" y="845863"/>
                    </a:lnTo>
                    <a:lnTo>
                      <a:pt x="100089" y="811116"/>
                    </a:lnTo>
                    <a:lnTo>
                      <a:pt x="74624" y="773680"/>
                    </a:lnTo>
                    <a:lnTo>
                      <a:pt x="52578" y="733739"/>
                    </a:lnTo>
                    <a:lnTo>
                      <a:pt x="34134" y="691477"/>
                    </a:lnTo>
                    <a:lnTo>
                      <a:pt x="19472" y="647080"/>
                    </a:lnTo>
                    <a:lnTo>
                      <a:pt x="8775" y="600731"/>
                    </a:lnTo>
                    <a:lnTo>
                      <a:pt x="2224" y="552616"/>
                    </a:lnTo>
                    <a:lnTo>
                      <a:pt x="0" y="502920"/>
                    </a:lnTo>
                    <a:lnTo>
                      <a:pt x="2224" y="453434"/>
                    </a:lnTo>
                    <a:lnTo>
                      <a:pt x="8775" y="405505"/>
                    </a:lnTo>
                    <a:lnTo>
                      <a:pt x="19472" y="359320"/>
                    </a:lnTo>
                    <a:lnTo>
                      <a:pt x="34134" y="315064"/>
                    </a:lnTo>
                    <a:lnTo>
                      <a:pt x="52578" y="272924"/>
                    </a:lnTo>
                    <a:lnTo>
                      <a:pt x="74624" y="233085"/>
                    </a:lnTo>
                    <a:lnTo>
                      <a:pt x="100089" y="195734"/>
                    </a:lnTo>
                    <a:lnTo>
                      <a:pt x="128793" y="161057"/>
                    </a:lnTo>
                    <a:lnTo>
                      <a:pt x="160555" y="129240"/>
                    </a:lnTo>
                    <a:lnTo>
                      <a:pt x="195191" y="100469"/>
                    </a:lnTo>
                    <a:lnTo>
                      <a:pt x="232522" y="74931"/>
                    </a:lnTo>
                    <a:lnTo>
                      <a:pt x="272365" y="52811"/>
                    </a:lnTo>
                    <a:lnTo>
                      <a:pt x="314540" y="34295"/>
                    </a:lnTo>
                    <a:lnTo>
                      <a:pt x="358864" y="19570"/>
                    </a:lnTo>
                    <a:lnTo>
                      <a:pt x="405156" y="8822"/>
                    </a:lnTo>
                    <a:lnTo>
                      <a:pt x="453235" y="2236"/>
                    </a:lnTo>
                    <a:lnTo>
                      <a:pt x="502920" y="0"/>
                    </a:lnTo>
                    <a:close/>
                  </a:path>
                </a:pathLst>
              </a:custGeom>
              <a:ln w="25518">
                <a:solidFill>
                  <a:srgbClr val="000000"/>
                </a:solidFill>
              </a:ln>
            </p:spPr>
            <p:txBody>
              <a:bodyPr wrap="square" lIns="0" tIns="0" rIns="0" bIns="0" rtlCol="0"/>
              <a:lstStyle/>
              <a:p>
                <a:endParaRPr/>
              </a:p>
            </p:txBody>
          </p:sp>
          <p:sp>
            <p:nvSpPr>
              <p:cNvPr id="153" name="object 153"/>
              <p:cNvSpPr/>
              <p:nvPr/>
            </p:nvSpPr>
            <p:spPr>
              <a:xfrm>
                <a:off x="7223696" y="1471878"/>
                <a:ext cx="1033144" cy="1033144"/>
              </a:xfrm>
              <a:custGeom>
                <a:avLst/>
                <a:gdLst/>
                <a:ahLst/>
                <a:cxnLst/>
                <a:rect l="l" t="t" r="r" b="b"/>
                <a:pathLst>
                  <a:path w="1033145" h="1033144">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1033145" h="1033144">
                    <a:moveTo>
                      <a:pt x="1032624" y="1019860"/>
                    </a:moveTo>
                    <a:lnTo>
                      <a:pt x="1028890" y="1010843"/>
                    </a:lnTo>
                    <a:lnTo>
                      <a:pt x="1019873" y="1007110"/>
                    </a:lnTo>
                    <a:lnTo>
                      <a:pt x="1010843" y="1010843"/>
                    </a:lnTo>
                    <a:lnTo>
                      <a:pt x="1007110" y="1019860"/>
                    </a:lnTo>
                    <a:lnTo>
                      <a:pt x="1010843" y="1028890"/>
                    </a:lnTo>
                    <a:lnTo>
                      <a:pt x="1019873" y="1032624"/>
                    </a:lnTo>
                    <a:lnTo>
                      <a:pt x="1028890" y="1028890"/>
                    </a:lnTo>
                    <a:lnTo>
                      <a:pt x="1032624" y="1019860"/>
                    </a:lnTo>
                    <a:close/>
                  </a:path>
                </a:pathLst>
              </a:custGeom>
              <a:solidFill>
                <a:srgbClr val="000000"/>
              </a:solidFill>
            </p:spPr>
            <p:txBody>
              <a:bodyPr wrap="square" lIns="0" tIns="0" rIns="0" bIns="0" rtlCol="0"/>
              <a:lstStyle/>
              <a:p>
                <a:endParaRPr/>
              </a:p>
            </p:txBody>
          </p:sp>
          <p:sp>
            <p:nvSpPr>
              <p:cNvPr id="154" name="object 154"/>
              <p:cNvSpPr/>
              <p:nvPr/>
            </p:nvSpPr>
            <p:spPr>
              <a:xfrm>
                <a:off x="7383779" y="1631949"/>
                <a:ext cx="861060" cy="861060"/>
              </a:xfrm>
              <a:custGeom>
                <a:avLst/>
                <a:gdLst/>
                <a:ahLst/>
                <a:cxnLst/>
                <a:rect l="l" t="t" r="r" b="b"/>
                <a:pathLst>
                  <a:path w="861059" h="861060">
                    <a:moveTo>
                      <a:pt x="0" y="0"/>
                    </a:moveTo>
                    <a:lnTo>
                      <a:pt x="355600" y="356870"/>
                    </a:lnTo>
                  </a:path>
                  <a:path w="861059" h="861060">
                    <a:moveTo>
                      <a:pt x="861060" y="356870"/>
                    </a:moveTo>
                    <a:lnTo>
                      <a:pt x="355600" y="356870"/>
                    </a:lnTo>
                  </a:path>
                  <a:path w="861059" h="861060">
                    <a:moveTo>
                      <a:pt x="355600" y="861060"/>
                    </a:moveTo>
                    <a:lnTo>
                      <a:pt x="355600" y="356870"/>
                    </a:lnTo>
                  </a:path>
                </a:pathLst>
              </a:custGeom>
              <a:ln w="19048">
                <a:solidFill>
                  <a:srgbClr val="000000"/>
                </a:solidFill>
              </a:ln>
            </p:spPr>
            <p:txBody>
              <a:bodyPr wrap="square" lIns="0" tIns="0" rIns="0" bIns="0" rtlCol="0"/>
              <a:lstStyle/>
              <a:p>
                <a:endParaRPr/>
              </a:p>
            </p:txBody>
          </p:sp>
        </p:grpSp>
      </p:grpSp>
      <p:sp>
        <p:nvSpPr>
          <p:cNvPr id="157" name="object 157"/>
          <p:cNvSpPr txBox="1">
            <a:spLocks noGrp="1"/>
          </p:cNvSpPr>
          <p:nvPr>
            <p:ph type="title"/>
          </p:nvPr>
        </p:nvSpPr>
        <p:spPr>
          <a:xfrm>
            <a:off x="5738972" y="640089"/>
            <a:ext cx="714057" cy="262123"/>
          </a:xfrm>
          <a:prstGeom prst="rect">
            <a:avLst/>
          </a:prstGeom>
        </p:spPr>
        <p:txBody>
          <a:bodyPr vert="horz" wrap="square" lIns="0" tIns="12700" rIns="0" bIns="0" rtlCol="0">
            <a:spAutoFit/>
          </a:bodyPr>
          <a:lstStyle/>
          <a:p>
            <a:pPr marL="12700">
              <a:spcBef>
                <a:spcPts val="100"/>
              </a:spcBef>
            </a:pPr>
            <a:r>
              <a:rPr lang="en-CA" sz="1800" i="1" spc="-10" dirty="0">
                <a:solidFill>
                  <a:srgbClr val="000000"/>
                </a:solidFill>
                <a:latin typeface="Verdana"/>
                <a:cs typeface="Verdana"/>
              </a:rPr>
              <a:t>Views</a:t>
            </a:r>
            <a:endParaRPr sz="1800" dirty="0">
              <a:latin typeface="Verdana"/>
              <a:cs typeface="Verdana"/>
            </a:endParaRPr>
          </a:p>
        </p:txBody>
      </p:sp>
      <p:sp>
        <p:nvSpPr>
          <p:cNvPr id="158" name="object 158"/>
          <p:cNvSpPr txBox="1"/>
          <p:nvPr/>
        </p:nvSpPr>
        <p:spPr>
          <a:xfrm>
            <a:off x="5738972" y="5918191"/>
            <a:ext cx="726440" cy="299720"/>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Model</a:t>
            </a:r>
            <a:endParaRPr dirty="0">
              <a:latin typeface="Verdana"/>
              <a:cs typeface="Verdana"/>
            </a:endParaRPr>
          </a:p>
        </p:txBody>
      </p:sp>
      <p:sp>
        <p:nvSpPr>
          <p:cNvPr id="159" name="object 159"/>
          <p:cNvSpPr/>
          <p:nvPr/>
        </p:nvSpPr>
        <p:spPr>
          <a:xfrm>
            <a:off x="5063490" y="3140710"/>
            <a:ext cx="2967990" cy="638810"/>
          </a:xfrm>
          <a:custGeom>
            <a:avLst/>
            <a:gdLst/>
            <a:ahLst/>
            <a:cxnLst/>
            <a:rect l="l" t="t" r="r" b="b"/>
            <a:pathLst>
              <a:path w="2967990" h="638810">
                <a:moveTo>
                  <a:pt x="2967990" y="0"/>
                </a:moveTo>
                <a:lnTo>
                  <a:pt x="0" y="0"/>
                </a:lnTo>
                <a:lnTo>
                  <a:pt x="0" y="638809"/>
                </a:lnTo>
                <a:lnTo>
                  <a:pt x="1484630" y="638809"/>
                </a:lnTo>
                <a:lnTo>
                  <a:pt x="2967990" y="638809"/>
                </a:lnTo>
                <a:lnTo>
                  <a:pt x="2967990" y="0"/>
                </a:lnTo>
                <a:close/>
              </a:path>
            </a:pathLst>
          </a:custGeom>
          <a:solidFill>
            <a:srgbClr val="FFFFFF"/>
          </a:solidFill>
        </p:spPr>
        <p:txBody>
          <a:bodyPr wrap="square" lIns="0" tIns="0" rIns="0" bIns="0" rtlCol="0"/>
          <a:lstStyle/>
          <a:p>
            <a:endParaRPr/>
          </a:p>
        </p:txBody>
      </p:sp>
      <p:sp>
        <p:nvSpPr>
          <p:cNvPr id="160" name="object 160"/>
          <p:cNvSpPr txBox="1"/>
          <p:nvPr/>
        </p:nvSpPr>
        <p:spPr>
          <a:xfrm>
            <a:off x="5067300" y="2889979"/>
            <a:ext cx="2057400" cy="843821"/>
          </a:xfrm>
          <a:prstGeom prst="rect">
            <a:avLst/>
          </a:prstGeom>
        </p:spPr>
        <p:txBody>
          <a:bodyPr vert="horz" wrap="square" lIns="0" tIns="12700" rIns="0" bIns="0" rtlCol="0">
            <a:spAutoFit/>
          </a:bodyPr>
          <a:lstStyle/>
          <a:p>
            <a:pPr marL="12700" marR="5080" algn="ctr">
              <a:spcBef>
                <a:spcPts val="100"/>
              </a:spcBef>
            </a:pPr>
            <a:r>
              <a:rPr lang="en-CA" i="1" spc="-40" dirty="0">
                <a:latin typeface="Verdana"/>
                <a:cs typeface="Verdana"/>
              </a:rPr>
              <a:t>Need</a:t>
            </a:r>
            <a:r>
              <a:rPr i="1" spc="-40" dirty="0">
                <a:latin typeface="Verdana"/>
                <a:cs typeface="Verdana"/>
              </a:rPr>
              <a:t> </a:t>
            </a:r>
            <a:r>
              <a:rPr i="1" dirty="0">
                <a:latin typeface="Verdana"/>
                <a:cs typeface="Verdana"/>
              </a:rPr>
              <a:t>to</a:t>
            </a:r>
            <a:r>
              <a:rPr i="1" spc="-35" dirty="0">
                <a:latin typeface="Verdana"/>
                <a:cs typeface="Verdana"/>
              </a:rPr>
              <a:t> </a:t>
            </a:r>
            <a:r>
              <a:rPr i="1" spc="-10" dirty="0">
                <a:latin typeface="Verdana"/>
                <a:cs typeface="Verdana"/>
              </a:rPr>
              <a:t>maintain</a:t>
            </a:r>
            <a:r>
              <a:rPr lang="en-CA" i="1" spc="-10" dirty="0">
                <a:latin typeface="Verdana"/>
                <a:cs typeface="Verdana"/>
              </a:rPr>
              <a:t> </a:t>
            </a:r>
            <a:r>
              <a:rPr i="1" dirty="0">
                <a:latin typeface="Verdana"/>
                <a:cs typeface="Verdana"/>
              </a:rPr>
              <a:t>consistency</a:t>
            </a:r>
            <a:r>
              <a:rPr i="1" spc="-40" dirty="0">
                <a:latin typeface="Verdana"/>
                <a:cs typeface="Verdana"/>
              </a:rPr>
              <a:t> </a:t>
            </a:r>
            <a:r>
              <a:rPr i="1" dirty="0">
                <a:latin typeface="Verdana"/>
                <a:cs typeface="Verdana"/>
              </a:rPr>
              <a:t>in</a:t>
            </a:r>
            <a:r>
              <a:rPr i="1" spc="-45" dirty="0">
                <a:latin typeface="Verdana"/>
                <a:cs typeface="Verdana"/>
              </a:rPr>
              <a:t> </a:t>
            </a:r>
            <a:r>
              <a:rPr i="1" dirty="0">
                <a:latin typeface="Verdana"/>
                <a:cs typeface="Verdana"/>
              </a:rPr>
              <a:t>the</a:t>
            </a:r>
            <a:r>
              <a:rPr i="1" spc="-45" dirty="0">
                <a:latin typeface="Verdana"/>
                <a:cs typeface="Verdana"/>
              </a:rPr>
              <a:t> </a:t>
            </a:r>
            <a:r>
              <a:rPr i="1" spc="-20" dirty="0">
                <a:latin typeface="Verdana"/>
                <a:cs typeface="Verdana"/>
              </a:rPr>
              <a:t>views</a:t>
            </a:r>
            <a:endParaRPr dirty="0">
              <a:latin typeface="Verdana"/>
              <a:cs typeface="Verdana"/>
            </a:endParaRPr>
          </a:p>
        </p:txBody>
      </p:sp>
      <p:sp>
        <p:nvSpPr>
          <p:cNvPr id="161" name="object 161"/>
          <p:cNvSpPr/>
          <p:nvPr/>
        </p:nvSpPr>
        <p:spPr>
          <a:xfrm>
            <a:off x="8045450" y="4076700"/>
            <a:ext cx="2575560" cy="913130"/>
          </a:xfrm>
          <a:custGeom>
            <a:avLst/>
            <a:gdLst/>
            <a:ahLst/>
            <a:cxnLst/>
            <a:rect l="l" t="t" r="r" b="b"/>
            <a:pathLst>
              <a:path w="2575559" h="913129">
                <a:moveTo>
                  <a:pt x="2575559" y="0"/>
                </a:moveTo>
                <a:lnTo>
                  <a:pt x="0" y="0"/>
                </a:lnTo>
                <a:lnTo>
                  <a:pt x="0" y="913130"/>
                </a:lnTo>
                <a:lnTo>
                  <a:pt x="1287779" y="913130"/>
                </a:lnTo>
                <a:lnTo>
                  <a:pt x="2575559" y="913130"/>
                </a:lnTo>
                <a:lnTo>
                  <a:pt x="2575559" y="0"/>
                </a:lnTo>
                <a:close/>
              </a:path>
            </a:pathLst>
          </a:custGeom>
          <a:solidFill>
            <a:srgbClr val="FFFFFF"/>
          </a:solidFill>
        </p:spPr>
        <p:txBody>
          <a:bodyPr wrap="square" lIns="0" tIns="0" rIns="0" bIns="0" rtlCol="0"/>
          <a:lstStyle/>
          <a:p>
            <a:endParaRPr/>
          </a:p>
        </p:txBody>
      </p:sp>
      <p:sp>
        <p:nvSpPr>
          <p:cNvPr id="162" name="object 162"/>
          <p:cNvSpPr txBox="1"/>
          <p:nvPr/>
        </p:nvSpPr>
        <p:spPr>
          <a:xfrm>
            <a:off x="7468423" y="4989830"/>
            <a:ext cx="3729613" cy="566822"/>
          </a:xfrm>
          <a:prstGeom prst="rect">
            <a:avLst/>
          </a:prstGeom>
        </p:spPr>
        <p:txBody>
          <a:bodyPr vert="horz" wrap="square" lIns="0" tIns="12700" rIns="0" bIns="0" rtlCol="0">
            <a:spAutoFit/>
          </a:bodyPr>
          <a:lstStyle/>
          <a:p>
            <a:pPr marL="12700" marR="5080">
              <a:spcBef>
                <a:spcPts val="100"/>
              </a:spcBef>
            </a:pPr>
            <a:r>
              <a:rPr lang="en-CA" i="1" dirty="0">
                <a:latin typeface="Verdana"/>
                <a:cs typeface="Verdana"/>
              </a:rPr>
              <a:t>Need</a:t>
            </a:r>
            <a:r>
              <a:rPr i="1" spc="-40" dirty="0">
                <a:latin typeface="Verdana"/>
                <a:cs typeface="Verdana"/>
              </a:rPr>
              <a:t> </a:t>
            </a:r>
            <a:r>
              <a:rPr i="1" dirty="0">
                <a:latin typeface="Verdana"/>
                <a:cs typeface="Verdana"/>
              </a:rPr>
              <a:t>to</a:t>
            </a:r>
            <a:r>
              <a:rPr i="1" spc="-35" dirty="0">
                <a:latin typeface="Verdana"/>
                <a:cs typeface="Verdana"/>
              </a:rPr>
              <a:t> </a:t>
            </a:r>
            <a:r>
              <a:rPr i="1" spc="-10" dirty="0">
                <a:latin typeface="Verdana"/>
                <a:cs typeface="Verdana"/>
              </a:rPr>
              <a:t>update </a:t>
            </a:r>
            <a:r>
              <a:rPr i="1" dirty="0">
                <a:latin typeface="Verdana"/>
                <a:cs typeface="Verdana"/>
              </a:rPr>
              <a:t>multiple</a:t>
            </a:r>
            <a:r>
              <a:rPr i="1" spc="-55" dirty="0">
                <a:latin typeface="Verdana"/>
                <a:cs typeface="Verdana"/>
              </a:rPr>
              <a:t> </a:t>
            </a:r>
            <a:r>
              <a:rPr i="1" dirty="0">
                <a:latin typeface="Verdana"/>
                <a:cs typeface="Verdana"/>
              </a:rPr>
              <a:t>views</a:t>
            </a:r>
            <a:r>
              <a:rPr i="1" spc="-55" dirty="0">
                <a:latin typeface="Verdana"/>
                <a:cs typeface="Verdana"/>
              </a:rPr>
              <a:t> </a:t>
            </a:r>
            <a:r>
              <a:rPr i="1" dirty="0">
                <a:latin typeface="Verdana"/>
                <a:cs typeface="Verdana"/>
              </a:rPr>
              <a:t>of</a:t>
            </a:r>
            <a:r>
              <a:rPr i="1" spc="-45" dirty="0">
                <a:latin typeface="Verdana"/>
                <a:cs typeface="Verdana"/>
              </a:rPr>
              <a:t> </a:t>
            </a:r>
            <a:r>
              <a:rPr i="1" spc="-25" dirty="0">
                <a:latin typeface="Verdana"/>
                <a:cs typeface="Verdana"/>
              </a:rPr>
              <a:t>the </a:t>
            </a:r>
            <a:r>
              <a:rPr i="1" dirty="0">
                <a:latin typeface="Verdana"/>
                <a:cs typeface="Verdana"/>
              </a:rPr>
              <a:t>common</a:t>
            </a:r>
            <a:r>
              <a:rPr i="1" spc="-25" dirty="0">
                <a:latin typeface="Verdana"/>
                <a:cs typeface="Verdana"/>
              </a:rPr>
              <a:t> </a:t>
            </a:r>
            <a:r>
              <a:rPr i="1" dirty="0">
                <a:latin typeface="Verdana"/>
                <a:cs typeface="Verdana"/>
              </a:rPr>
              <a:t>data</a:t>
            </a:r>
            <a:r>
              <a:rPr i="1" spc="-25" dirty="0">
                <a:latin typeface="Verdana"/>
                <a:cs typeface="Verdana"/>
              </a:rPr>
              <a:t> </a:t>
            </a:r>
            <a:r>
              <a:rPr i="1" spc="-20" dirty="0">
                <a:latin typeface="Verdana"/>
                <a:cs typeface="Verdana"/>
              </a:rPr>
              <a:t>model</a:t>
            </a:r>
            <a:endParaRPr dirty="0">
              <a:latin typeface="Verdana"/>
              <a:cs typeface="Verdana"/>
            </a:endParaRPr>
          </a:p>
        </p:txBody>
      </p:sp>
      <p:sp>
        <p:nvSpPr>
          <p:cNvPr id="164" name="object 164"/>
          <p:cNvSpPr txBox="1"/>
          <p:nvPr/>
        </p:nvSpPr>
        <p:spPr>
          <a:xfrm>
            <a:off x="666751" y="4845128"/>
            <a:ext cx="4493259" cy="843821"/>
          </a:xfrm>
          <a:prstGeom prst="rect">
            <a:avLst/>
          </a:prstGeom>
        </p:spPr>
        <p:txBody>
          <a:bodyPr vert="horz" wrap="square" lIns="0" tIns="12700" rIns="0" bIns="0" rtlCol="0">
            <a:spAutoFit/>
          </a:bodyPr>
          <a:lstStyle/>
          <a:p>
            <a:pPr marL="12700" marR="5080">
              <a:spcBef>
                <a:spcPts val="100"/>
              </a:spcBef>
            </a:pPr>
            <a:r>
              <a:rPr lang="en-CA" i="1" dirty="0">
                <a:latin typeface="Verdana"/>
                <a:cs typeface="Verdana"/>
              </a:rPr>
              <a:t>W</a:t>
            </a:r>
            <a:r>
              <a:rPr i="1" dirty="0">
                <a:latin typeface="Verdana"/>
                <a:cs typeface="Verdana"/>
              </a:rPr>
              <a:t>ant</a:t>
            </a:r>
            <a:r>
              <a:rPr i="1" spc="-40" dirty="0">
                <a:latin typeface="Verdana"/>
                <a:cs typeface="Verdana"/>
              </a:rPr>
              <a:t> </a:t>
            </a:r>
            <a:r>
              <a:rPr i="1" dirty="0">
                <a:latin typeface="Verdana"/>
                <a:cs typeface="Verdana"/>
              </a:rPr>
              <a:t>clear,</a:t>
            </a:r>
            <a:r>
              <a:rPr i="1" spc="-30" dirty="0">
                <a:latin typeface="Verdana"/>
                <a:cs typeface="Verdana"/>
              </a:rPr>
              <a:t> </a:t>
            </a:r>
            <a:r>
              <a:rPr i="1" spc="-10" dirty="0">
                <a:latin typeface="Verdana"/>
                <a:cs typeface="Verdana"/>
              </a:rPr>
              <a:t>separate</a:t>
            </a:r>
            <a:r>
              <a:rPr lang="en-CA" i="1" spc="-10" dirty="0">
                <a:latin typeface="Verdana"/>
                <a:cs typeface="Verdana"/>
              </a:rPr>
              <a:t> </a:t>
            </a:r>
            <a:r>
              <a:rPr i="1" spc="-10" dirty="0">
                <a:latin typeface="Verdana"/>
                <a:cs typeface="Verdana"/>
              </a:rPr>
              <a:t>responsibilities</a:t>
            </a:r>
            <a:r>
              <a:rPr i="1" spc="-20" dirty="0">
                <a:latin typeface="Verdana"/>
                <a:cs typeface="Verdana"/>
              </a:rPr>
              <a:t> </a:t>
            </a:r>
            <a:r>
              <a:rPr i="1" spc="-25" dirty="0">
                <a:latin typeface="Verdana"/>
                <a:cs typeface="Verdana"/>
              </a:rPr>
              <a:t>for</a:t>
            </a:r>
            <a:r>
              <a:rPr lang="en-CA" i="1" spc="-25" dirty="0">
                <a:latin typeface="Verdana"/>
                <a:cs typeface="Verdana"/>
              </a:rPr>
              <a:t> </a:t>
            </a:r>
            <a:r>
              <a:rPr i="1" dirty="0">
                <a:latin typeface="Verdana"/>
                <a:cs typeface="Verdana"/>
              </a:rPr>
              <a:t>presentation,</a:t>
            </a:r>
            <a:r>
              <a:rPr i="1" spc="-125" dirty="0">
                <a:latin typeface="Verdana"/>
                <a:cs typeface="Verdana"/>
              </a:rPr>
              <a:t> </a:t>
            </a:r>
            <a:r>
              <a:rPr i="1" spc="-10" dirty="0">
                <a:latin typeface="Verdana"/>
                <a:cs typeface="Verdana"/>
              </a:rPr>
              <a:t>interaction,</a:t>
            </a:r>
            <a:r>
              <a:rPr lang="en-CA" i="1" spc="-10" dirty="0">
                <a:latin typeface="Verdana"/>
                <a:cs typeface="Verdana"/>
              </a:rPr>
              <a:t> </a:t>
            </a:r>
            <a:r>
              <a:rPr i="1" dirty="0">
                <a:latin typeface="Verdana"/>
                <a:cs typeface="Verdana"/>
              </a:rPr>
              <a:t>computation,</a:t>
            </a:r>
            <a:r>
              <a:rPr i="1" spc="-95" dirty="0">
                <a:latin typeface="Verdana"/>
                <a:cs typeface="Verdana"/>
              </a:rPr>
              <a:t> </a:t>
            </a:r>
            <a:r>
              <a:rPr i="1" spc="-25" dirty="0">
                <a:latin typeface="Verdana"/>
                <a:cs typeface="Verdana"/>
              </a:rPr>
              <a:t>and</a:t>
            </a:r>
            <a:r>
              <a:rPr lang="en-CA" i="1" spc="-25" dirty="0">
                <a:latin typeface="Verdana"/>
                <a:cs typeface="Verdana"/>
              </a:rPr>
              <a:t> </a:t>
            </a:r>
            <a:r>
              <a:rPr i="1" spc="-10" dirty="0">
                <a:latin typeface="Verdana"/>
                <a:cs typeface="Verdana"/>
              </a:rPr>
              <a:t>representation</a:t>
            </a:r>
            <a:endParaRPr dirty="0">
              <a:latin typeface="Verdana"/>
              <a:cs typeface="Verdana"/>
            </a:endParaRPr>
          </a:p>
        </p:txBody>
      </p:sp>
      <p:sp>
        <p:nvSpPr>
          <p:cNvPr id="168" name="object 156">
            <a:extLst>
              <a:ext uri="{FF2B5EF4-FFF2-40B4-BE49-F238E27FC236}">
                <a16:creationId xmlns:a16="http://schemas.microsoft.com/office/drawing/2014/main" id="{FC9C4231-1E33-CF1A-3FF3-0448AFC79F0F}"/>
              </a:ext>
            </a:extLst>
          </p:cNvPr>
          <p:cNvSpPr txBox="1"/>
          <p:nvPr/>
        </p:nvSpPr>
        <p:spPr>
          <a:xfrm>
            <a:off x="5159753" y="4796791"/>
            <a:ext cx="1871980" cy="420628"/>
          </a:xfrm>
          <a:prstGeom prst="rect">
            <a:avLst/>
          </a:prstGeom>
          <a:ln w="25518">
            <a:solidFill>
              <a:srgbClr val="000000"/>
            </a:solidFill>
          </a:ln>
        </p:spPr>
        <p:txBody>
          <a:bodyPr vert="horz" wrap="square" lIns="0" tIns="142240" rIns="0" bIns="0" rtlCol="0">
            <a:spAutoFit/>
          </a:bodyPr>
          <a:lstStyle/>
          <a:p>
            <a:pPr marL="6985" algn="ctr"/>
            <a:r>
              <a:rPr spc="-20" dirty="0">
                <a:latin typeface="Verdana"/>
                <a:cs typeface="Verdana"/>
              </a:rPr>
              <a:t>Data</a:t>
            </a:r>
            <a:endParaRPr dirty="0">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5" name="object 155"/>
          <p:cNvSpPr/>
          <p:nvPr/>
        </p:nvSpPr>
        <p:spPr>
          <a:xfrm>
            <a:off x="5664200" y="4796790"/>
            <a:ext cx="1871980" cy="1079500"/>
          </a:xfrm>
          <a:custGeom>
            <a:avLst/>
            <a:gdLst/>
            <a:ahLst/>
            <a:cxnLst/>
            <a:rect l="l" t="t" r="r" b="b"/>
            <a:pathLst>
              <a:path w="1871979" h="1079500">
                <a:moveTo>
                  <a:pt x="1871979" y="0"/>
                </a:moveTo>
                <a:lnTo>
                  <a:pt x="0" y="0"/>
                </a:lnTo>
                <a:lnTo>
                  <a:pt x="0" y="1079500"/>
                </a:lnTo>
                <a:lnTo>
                  <a:pt x="935989" y="1079500"/>
                </a:lnTo>
                <a:lnTo>
                  <a:pt x="1871979" y="1079500"/>
                </a:lnTo>
                <a:lnTo>
                  <a:pt x="1871979" y="0"/>
                </a:lnTo>
                <a:close/>
              </a:path>
            </a:pathLst>
          </a:custGeom>
          <a:solidFill>
            <a:srgbClr val="FFFFFF"/>
          </a:solidFill>
        </p:spPr>
        <p:txBody>
          <a:bodyPr wrap="square" lIns="0" tIns="0" rIns="0" bIns="0" rtlCol="0"/>
          <a:lstStyle/>
          <a:p>
            <a:endParaRPr/>
          </a:p>
        </p:txBody>
      </p:sp>
      <p:sp>
        <p:nvSpPr>
          <p:cNvPr id="157" name="object 157"/>
          <p:cNvSpPr txBox="1">
            <a:spLocks noGrp="1"/>
          </p:cNvSpPr>
          <p:nvPr>
            <p:ph type="title"/>
          </p:nvPr>
        </p:nvSpPr>
        <p:spPr>
          <a:xfrm>
            <a:off x="4346953" y="609600"/>
            <a:ext cx="3497579" cy="262123"/>
          </a:xfrm>
          <a:prstGeom prst="rect">
            <a:avLst/>
          </a:prstGeom>
        </p:spPr>
        <p:txBody>
          <a:bodyPr vert="horz" wrap="square" lIns="0" tIns="12700" rIns="0" bIns="0" rtlCol="0">
            <a:spAutoFit/>
          </a:bodyPr>
          <a:lstStyle/>
          <a:p>
            <a:pPr marL="12700">
              <a:spcBef>
                <a:spcPts val="100"/>
              </a:spcBef>
            </a:pPr>
            <a:r>
              <a:rPr lang="en-CA" sz="1800" i="1" dirty="0">
                <a:solidFill>
                  <a:srgbClr val="000000"/>
                </a:solidFill>
                <a:latin typeface="Verdana"/>
                <a:cs typeface="Verdana"/>
              </a:rPr>
              <a:t>Views</a:t>
            </a:r>
            <a:r>
              <a:rPr lang="en-CA" sz="1800" i="1" spc="-60" dirty="0">
                <a:solidFill>
                  <a:srgbClr val="000000"/>
                </a:solidFill>
                <a:latin typeface="Verdana"/>
                <a:cs typeface="Verdana"/>
              </a:rPr>
              <a:t> </a:t>
            </a:r>
            <a:r>
              <a:rPr lang="en-CA" sz="1800" i="1" dirty="0">
                <a:solidFill>
                  <a:srgbClr val="000000"/>
                </a:solidFill>
                <a:latin typeface="Verdana"/>
                <a:cs typeface="Verdana"/>
              </a:rPr>
              <a:t>(i.e.,</a:t>
            </a:r>
            <a:r>
              <a:rPr lang="en-CA" sz="1800" i="1" spc="-50" dirty="0">
                <a:solidFill>
                  <a:srgbClr val="000000"/>
                </a:solidFill>
                <a:latin typeface="Verdana"/>
                <a:cs typeface="Verdana"/>
              </a:rPr>
              <a:t> </a:t>
            </a:r>
            <a:r>
              <a:rPr lang="en-CA" sz="1800" i="1" dirty="0">
                <a:solidFill>
                  <a:srgbClr val="000000"/>
                </a:solidFill>
                <a:latin typeface="Verdana"/>
                <a:cs typeface="Verdana"/>
              </a:rPr>
              <a:t>observers,</a:t>
            </a:r>
            <a:r>
              <a:rPr lang="en-CA" sz="1800" i="1" spc="-40" dirty="0">
                <a:solidFill>
                  <a:srgbClr val="000000"/>
                </a:solidFill>
                <a:latin typeface="Verdana"/>
                <a:cs typeface="Verdana"/>
              </a:rPr>
              <a:t> </a:t>
            </a:r>
            <a:r>
              <a:rPr lang="en-CA" sz="1800" i="1" spc="-10" dirty="0">
                <a:solidFill>
                  <a:srgbClr val="000000"/>
                </a:solidFill>
                <a:latin typeface="Verdana"/>
                <a:cs typeface="Verdana"/>
              </a:rPr>
              <a:t>clients)</a:t>
            </a:r>
            <a:endParaRPr lang="en-CA" sz="1800" dirty="0">
              <a:latin typeface="Verdana"/>
              <a:cs typeface="Verdana"/>
            </a:endParaRPr>
          </a:p>
        </p:txBody>
      </p:sp>
      <p:sp>
        <p:nvSpPr>
          <p:cNvPr id="158" name="object 158"/>
          <p:cNvSpPr txBox="1"/>
          <p:nvPr/>
        </p:nvSpPr>
        <p:spPr>
          <a:xfrm>
            <a:off x="4467602" y="5948680"/>
            <a:ext cx="3256279" cy="299720"/>
          </a:xfrm>
          <a:prstGeom prst="rect">
            <a:avLst/>
          </a:prstGeom>
        </p:spPr>
        <p:txBody>
          <a:bodyPr vert="horz" wrap="square" lIns="0" tIns="12700" rIns="0" bIns="0" rtlCol="0">
            <a:spAutoFit/>
          </a:bodyPr>
          <a:lstStyle/>
          <a:p>
            <a:pPr marL="12700">
              <a:spcBef>
                <a:spcPts val="100"/>
              </a:spcBef>
            </a:pPr>
            <a:r>
              <a:rPr lang="en-CA" i="1" dirty="0">
                <a:latin typeface="Verdana"/>
                <a:cs typeface="Verdana"/>
              </a:rPr>
              <a:t>Model </a:t>
            </a:r>
            <a:r>
              <a:rPr i="1" dirty="0">
                <a:latin typeface="Verdana"/>
                <a:cs typeface="Verdana"/>
              </a:rPr>
              <a:t>(i.e.,</a:t>
            </a:r>
            <a:r>
              <a:rPr i="1" spc="-40" dirty="0">
                <a:latin typeface="Verdana"/>
                <a:cs typeface="Verdana"/>
              </a:rPr>
              <a:t> </a:t>
            </a:r>
            <a:r>
              <a:rPr i="1" dirty="0">
                <a:latin typeface="Verdana"/>
                <a:cs typeface="Verdana"/>
              </a:rPr>
              <a:t>subject,</a:t>
            </a:r>
            <a:r>
              <a:rPr i="1" spc="-45" dirty="0">
                <a:latin typeface="Verdana"/>
                <a:cs typeface="Verdana"/>
              </a:rPr>
              <a:t> </a:t>
            </a:r>
            <a:r>
              <a:rPr i="1" spc="-10" dirty="0">
                <a:latin typeface="Verdana"/>
                <a:cs typeface="Verdana"/>
              </a:rPr>
              <a:t>server)</a:t>
            </a:r>
            <a:endParaRPr dirty="0">
              <a:latin typeface="Verdana"/>
              <a:cs typeface="Verdana"/>
            </a:endParaRPr>
          </a:p>
        </p:txBody>
      </p:sp>
      <p:grpSp>
        <p:nvGrpSpPr>
          <p:cNvPr id="166" name="Group 165">
            <a:extLst>
              <a:ext uri="{FF2B5EF4-FFF2-40B4-BE49-F238E27FC236}">
                <a16:creationId xmlns:a16="http://schemas.microsoft.com/office/drawing/2014/main" id="{8C1FCEBF-AF4D-D339-39DE-143121E96D68}"/>
              </a:ext>
            </a:extLst>
          </p:cNvPr>
          <p:cNvGrpSpPr/>
          <p:nvPr/>
        </p:nvGrpSpPr>
        <p:grpSpPr>
          <a:xfrm>
            <a:off x="2482533" y="1111191"/>
            <a:ext cx="7226934" cy="4106228"/>
            <a:chOff x="2986980" y="1111191"/>
            <a:chExt cx="7226934" cy="4106228"/>
          </a:xfrm>
        </p:grpSpPr>
        <p:grpSp>
          <p:nvGrpSpPr>
            <p:cNvPr id="5" name="object 5"/>
            <p:cNvGrpSpPr/>
            <p:nvPr/>
          </p:nvGrpSpPr>
          <p:grpSpPr>
            <a:xfrm>
              <a:off x="5651441" y="1111191"/>
              <a:ext cx="1898014" cy="1538605"/>
              <a:chOff x="4127441" y="1111190"/>
              <a:chExt cx="1898014" cy="1538605"/>
            </a:xfrm>
          </p:grpSpPr>
          <p:sp>
            <p:nvSpPr>
              <p:cNvPr id="6" name="object 6"/>
              <p:cNvSpPr/>
              <p:nvPr/>
            </p:nvSpPr>
            <p:spPr>
              <a:xfrm>
                <a:off x="4140200" y="1123950"/>
                <a:ext cx="1871980" cy="1512570"/>
              </a:xfrm>
              <a:custGeom>
                <a:avLst/>
                <a:gdLst/>
                <a:ahLst/>
                <a:cxnLst/>
                <a:rect l="l" t="t" r="r" b="b"/>
                <a:pathLst>
                  <a:path w="1871979" h="1512570">
                    <a:moveTo>
                      <a:pt x="1871979" y="0"/>
                    </a:moveTo>
                    <a:lnTo>
                      <a:pt x="0" y="0"/>
                    </a:lnTo>
                    <a:lnTo>
                      <a:pt x="0" y="1512570"/>
                    </a:lnTo>
                    <a:lnTo>
                      <a:pt x="935989" y="1512570"/>
                    </a:lnTo>
                    <a:lnTo>
                      <a:pt x="1871979" y="1512570"/>
                    </a:lnTo>
                    <a:lnTo>
                      <a:pt x="1871979" y="0"/>
                    </a:lnTo>
                    <a:close/>
                  </a:path>
                </a:pathLst>
              </a:custGeom>
              <a:solidFill>
                <a:srgbClr val="FFFFFF"/>
              </a:solidFill>
            </p:spPr>
            <p:txBody>
              <a:bodyPr wrap="square" lIns="0" tIns="0" rIns="0" bIns="0" rtlCol="0"/>
              <a:lstStyle/>
              <a:p>
                <a:endParaRPr/>
              </a:p>
            </p:txBody>
          </p:sp>
          <p:sp>
            <p:nvSpPr>
              <p:cNvPr id="7" name="object 7"/>
              <p:cNvSpPr/>
              <p:nvPr/>
            </p:nvSpPr>
            <p:spPr>
              <a:xfrm>
                <a:off x="4140200" y="1123950"/>
                <a:ext cx="1871980" cy="1512570"/>
              </a:xfrm>
              <a:custGeom>
                <a:avLst/>
                <a:gdLst/>
                <a:ahLst/>
                <a:cxnLst/>
                <a:rect l="l" t="t" r="r" b="b"/>
                <a:pathLst>
                  <a:path w="1871979" h="1512570">
                    <a:moveTo>
                      <a:pt x="935989" y="1512570"/>
                    </a:moveTo>
                    <a:lnTo>
                      <a:pt x="0" y="1512570"/>
                    </a:lnTo>
                    <a:lnTo>
                      <a:pt x="0" y="0"/>
                    </a:lnTo>
                    <a:lnTo>
                      <a:pt x="1871979" y="0"/>
                    </a:lnTo>
                    <a:lnTo>
                      <a:pt x="1871979" y="1512570"/>
                    </a:lnTo>
                    <a:lnTo>
                      <a:pt x="935989" y="1512570"/>
                    </a:lnTo>
                    <a:close/>
                  </a:path>
                </a:pathLst>
              </a:custGeom>
              <a:ln w="25518">
                <a:solidFill>
                  <a:srgbClr val="000000"/>
                </a:solidFill>
              </a:ln>
            </p:spPr>
            <p:txBody>
              <a:bodyPr wrap="square" lIns="0" tIns="0" rIns="0" bIns="0" rtlCol="0"/>
              <a:lstStyle/>
              <a:p>
                <a:endParaRPr/>
              </a:p>
            </p:txBody>
          </p:sp>
          <p:sp>
            <p:nvSpPr>
              <p:cNvPr id="8" name="object 8"/>
              <p:cNvSpPr/>
              <p:nvPr/>
            </p:nvSpPr>
            <p:spPr>
              <a:xfrm>
                <a:off x="4356100" y="1555750"/>
                <a:ext cx="1438910" cy="863600"/>
              </a:xfrm>
              <a:custGeom>
                <a:avLst/>
                <a:gdLst/>
                <a:ahLst/>
                <a:cxnLst/>
                <a:rect l="l" t="t" r="r" b="b"/>
                <a:pathLst>
                  <a:path w="1438910" h="863600">
                    <a:moveTo>
                      <a:pt x="1438910" y="0"/>
                    </a:moveTo>
                    <a:lnTo>
                      <a:pt x="0" y="0"/>
                    </a:lnTo>
                    <a:lnTo>
                      <a:pt x="0" y="863600"/>
                    </a:lnTo>
                    <a:lnTo>
                      <a:pt x="720089" y="863600"/>
                    </a:lnTo>
                    <a:lnTo>
                      <a:pt x="1438910" y="863600"/>
                    </a:lnTo>
                    <a:lnTo>
                      <a:pt x="1438910" y="0"/>
                    </a:lnTo>
                    <a:close/>
                  </a:path>
                </a:pathLst>
              </a:custGeom>
              <a:solidFill>
                <a:srgbClr val="FFFFFF"/>
              </a:solidFill>
            </p:spPr>
            <p:txBody>
              <a:bodyPr wrap="square" lIns="0" tIns="0" rIns="0" bIns="0" rtlCol="0"/>
              <a:lstStyle/>
              <a:p>
                <a:endParaRPr/>
              </a:p>
            </p:txBody>
          </p:sp>
          <p:sp>
            <p:nvSpPr>
              <p:cNvPr id="9" name="object 9"/>
              <p:cNvSpPr/>
              <p:nvPr/>
            </p:nvSpPr>
            <p:spPr>
              <a:xfrm>
                <a:off x="4356100" y="1555750"/>
                <a:ext cx="1438910" cy="863600"/>
              </a:xfrm>
              <a:custGeom>
                <a:avLst/>
                <a:gdLst/>
                <a:ahLst/>
                <a:cxnLst/>
                <a:rect l="l" t="t" r="r" b="b"/>
                <a:pathLst>
                  <a:path w="1438910" h="863600">
                    <a:moveTo>
                      <a:pt x="720089" y="863600"/>
                    </a:moveTo>
                    <a:lnTo>
                      <a:pt x="0" y="863600"/>
                    </a:lnTo>
                    <a:lnTo>
                      <a:pt x="0" y="0"/>
                    </a:lnTo>
                    <a:lnTo>
                      <a:pt x="1438910" y="0"/>
                    </a:lnTo>
                    <a:lnTo>
                      <a:pt x="1438910" y="863600"/>
                    </a:lnTo>
                    <a:lnTo>
                      <a:pt x="720089" y="863600"/>
                    </a:lnTo>
                    <a:close/>
                  </a:path>
                </a:pathLst>
              </a:custGeom>
              <a:ln w="25518">
                <a:solidFill>
                  <a:srgbClr val="000000"/>
                </a:solidFill>
              </a:ln>
            </p:spPr>
            <p:txBody>
              <a:bodyPr wrap="square" lIns="0" tIns="0" rIns="0" bIns="0" rtlCol="0"/>
              <a:lstStyle/>
              <a:p>
                <a:endParaRPr/>
              </a:p>
            </p:txBody>
          </p:sp>
          <p:sp>
            <p:nvSpPr>
              <p:cNvPr id="10" name="object 10"/>
              <p:cNvSpPr/>
              <p:nvPr/>
            </p:nvSpPr>
            <p:spPr>
              <a:xfrm>
                <a:off x="4356100" y="1557020"/>
                <a:ext cx="1440180" cy="863600"/>
              </a:xfrm>
              <a:custGeom>
                <a:avLst/>
                <a:gdLst/>
                <a:ahLst/>
                <a:cxnLst/>
                <a:rect l="l" t="t" r="r" b="b"/>
                <a:pathLst>
                  <a:path w="1440179" h="863600">
                    <a:moveTo>
                      <a:pt x="0" y="215900"/>
                    </a:moveTo>
                    <a:lnTo>
                      <a:pt x="1440179" y="215900"/>
                    </a:lnTo>
                  </a:path>
                  <a:path w="1440179" h="863600">
                    <a:moveTo>
                      <a:pt x="0" y="431800"/>
                    </a:moveTo>
                    <a:lnTo>
                      <a:pt x="1440179" y="431800"/>
                    </a:lnTo>
                  </a:path>
                  <a:path w="1440179" h="863600">
                    <a:moveTo>
                      <a:pt x="0" y="647700"/>
                    </a:moveTo>
                    <a:lnTo>
                      <a:pt x="1440179" y="647700"/>
                    </a:lnTo>
                  </a:path>
                  <a:path w="1440179" h="863600">
                    <a:moveTo>
                      <a:pt x="359410" y="0"/>
                    </a:moveTo>
                    <a:lnTo>
                      <a:pt x="359410" y="863600"/>
                    </a:lnTo>
                  </a:path>
                  <a:path w="1440179" h="863600">
                    <a:moveTo>
                      <a:pt x="720089" y="0"/>
                    </a:moveTo>
                    <a:lnTo>
                      <a:pt x="720089" y="863600"/>
                    </a:lnTo>
                  </a:path>
                  <a:path w="1440179" h="863600">
                    <a:moveTo>
                      <a:pt x="1079500" y="0"/>
                    </a:moveTo>
                    <a:lnTo>
                      <a:pt x="1079500" y="863600"/>
                    </a:lnTo>
                  </a:path>
                </a:pathLst>
              </a:custGeom>
              <a:ln w="9344">
                <a:solidFill>
                  <a:srgbClr val="000000"/>
                </a:solidFill>
              </a:ln>
            </p:spPr>
            <p:txBody>
              <a:bodyPr wrap="square" lIns="0" tIns="0" rIns="0" bIns="0" rtlCol="0"/>
              <a:lstStyle/>
              <a:p>
                <a:endParaRPr/>
              </a:p>
            </p:txBody>
          </p:sp>
          <p:sp>
            <p:nvSpPr>
              <p:cNvPr id="11" name="object 11"/>
              <p:cNvSpPr/>
              <p:nvPr/>
            </p:nvSpPr>
            <p:spPr>
              <a:xfrm>
                <a:off x="4140200" y="1125219"/>
                <a:ext cx="1871980" cy="215900"/>
              </a:xfrm>
              <a:custGeom>
                <a:avLst/>
                <a:gdLst/>
                <a:ahLst/>
                <a:cxnLst/>
                <a:rect l="l" t="t" r="r" b="b"/>
                <a:pathLst>
                  <a:path w="1871979" h="215900">
                    <a:moveTo>
                      <a:pt x="786130" y="0"/>
                    </a:moveTo>
                    <a:lnTo>
                      <a:pt x="0" y="0"/>
                    </a:lnTo>
                    <a:lnTo>
                      <a:pt x="0" y="214630"/>
                    </a:lnTo>
                    <a:lnTo>
                      <a:pt x="786130" y="214630"/>
                    </a:lnTo>
                    <a:lnTo>
                      <a:pt x="786130" y="0"/>
                    </a:lnTo>
                    <a:close/>
                  </a:path>
                  <a:path w="1871979" h="215900">
                    <a:moveTo>
                      <a:pt x="1084580" y="214630"/>
                    </a:moveTo>
                    <a:lnTo>
                      <a:pt x="786130" y="214630"/>
                    </a:lnTo>
                    <a:lnTo>
                      <a:pt x="786130" y="215900"/>
                    </a:lnTo>
                    <a:lnTo>
                      <a:pt x="1084580" y="215900"/>
                    </a:lnTo>
                    <a:lnTo>
                      <a:pt x="1084580" y="214630"/>
                    </a:lnTo>
                    <a:close/>
                  </a:path>
                  <a:path w="1871979" h="215900">
                    <a:moveTo>
                      <a:pt x="1871980" y="0"/>
                    </a:moveTo>
                    <a:lnTo>
                      <a:pt x="1084580" y="0"/>
                    </a:lnTo>
                    <a:lnTo>
                      <a:pt x="1084580" y="214630"/>
                    </a:lnTo>
                    <a:lnTo>
                      <a:pt x="1871980" y="214630"/>
                    </a:lnTo>
                    <a:lnTo>
                      <a:pt x="1871980" y="0"/>
                    </a:lnTo>
                    <a:close/>
                  </a:path>
                </a:pathLst>
              </a:custGeom>
              <a:solidFill>
                <a:srgbClr val="000000"/>
              </a:solidFill>
            </p:spPr>
            <p:txBody>
              <a:bodyPr wrap="square" lIns="0" tIns="0" rIns="0" bIns="0" rtlCol="0"/>
              <a:lstStyle/>
              <a:p>
                <a:endParaRPr/>
              </a:p>
            </p:txBody>
          </p:sp>
          <p:sp>
            <p:nvSpPr>
              <p:cNvPr id="12" name="object 12"/>
              <p:cNvSpPr/>
              <p:nvPr/>
            </p:nvSpPr>
            <p:spPr>
              <a:xfrm>
                <a:off x="492633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3" name="object 13"/>
              <p:cNvSpPr/>
              <p:nvPr/>
            </p:nvSpPr>
            <p:spPr>
              <a:xfrm>
                <a:off x="493014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4" name="object 14"/>
              <p:cNvSpPr/>
              <p:nvPr/>
            </p:nvSpPr>
            <p:spPr>
              <a:xfrm>
                <a:off x="4933950" y="1125220"/>
                <a:ext cx="284480" cy="215900"/>
              </a:xfrm>
              <a:custGeom>
                <a:avLst/>
                <a:gdLst/>
                <a:ahLst/>
                <a:cxnLst/>
                <a:rect l="l" t="t" r="r" b="b"/>
                <a:pathLst>
                  <a:path w="284479" h="215900">
                    <a:moveTo>
                      <a:pt x="3321" y="0"/>
                    </a:moveTo>
                    <a:lnTo>
                      <a:pt x="0" y="0"/>
                    </a:lnTo>
                    <a:lnTo>
                      <a:pt x="0" y="215900"/>
                    </a:lnTo>
                    <a:lnTo>
                      <a:pt x="3345" y="215900"/>
                    </a:lnTo>
                    <a:lnTo>
                      <a:pt x="2539" y="173989"/>
                    </a:lnTo>
                    <a:lnTo>
                      <a:pt x="2539" y="40639"/>
                    </a:lnTo>
                    <a:lnTo>
                      <a:pt x="3321" y="0"/>
                    </a:lnTo>
                    <a:close/>
                  </a:path>
                  <a:path w="284479" h="215900">
                    <a:moveTo>
                      <a:pt x="283210" y="0"/>
                    </a:moveTo>
                    <a:lnTo>
                      <a:pt x="279888" y="0"/>
                    </a:lnTo>
                    <a:lnTo>
                      <a:pt x="280670" y="40639"/>
                    </a:lnTo>
                    <a:lnTo>
                      <a:pt x="280670" y="173989"/>
                    </a:lnTo>
                    <a:lnTo>
                      <a:pt x="279864" y="215900"/>
                    </a:lnTo>
                    <a:lnTo>
                      <a:pt x="283210" y="215900"/>
                    </a:lnTo>
                    <a:lnTo>
                      <a:pt x="283210" y="173989"/>
                    </a:lnTo>
                    <a:lnTo>
                      <a:pt x="284479" y="107950"/>
                    </a:lnTo>
                    <a:lnTo>
                      <a:pt x="283210" y="40639"/>
                    </a:lnTo>
                    <a:lnTo>
                      <a:pt x="283210" y="0"/>
                    </a:lnTo>
                    <a:close/>
                  </a:path>
                </a:pathLst>
              </a:custGeom>
              <a:solidFill>
                <a:srgbClr val="050505"/>
              </a:solidFill>
            </p:spPr>
            <p:txBody>
              <a:bodyPr wrap="square" lIns="0" tIns="0" rIns="0" bIns="0" rtlCol="0"/>
              <a:lstStyle/>
              <a:p>
                <a:endParaRPr/>
              </a:p>
            </p:txBody>
          </p:sp>
          <p:sp>
            <p:nvSpPr>
              <p:cNvPr id="15" name="object 15"/>
              <p:cNvSpPr/>
              <p:nvPr/>
            </p:nvSpPr>
            <p:spPr>
              <a:xfrm>
                <a:off x="493649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16" name="object 16"/>
              <p:cNvSpPr/>
              <p:nvPr/>
            </p:nvSpPr>
            <p:spPr>
              <a:xfrm>
                <a:off x="494030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7" name="object 17"/>
              <p:cNvSpPr/>
              <p:nvPr/>
            </p:nvSpPr>
            <p:spPr>
              <a:xfrm>
                <a:off x="494411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18" name="object 18"/>
              <p:cNvSpPr/>
              <p:nvPr/>
            </p:nvSpPr>
            <p:spPr>
              <a:xfrm>
                <a:off x="494792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70"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9" name="object 19"/>
              <p:cNvSpPr/>
              <p:nvPr/>
            </p:nvSpPr>
            <p:spPr>
              <a:xfrm>
                <a:off x="495173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20" name="object 20"/>
              <p:cNvSpPr/>
              <p:nvPr/>
            </p:nvSpPr>
            <p:spPr>
              <a:xfrm>
                <a:off x="495554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21" name="object 21"/>
              <p:cNvSpPr/>
              <p:nvPr/>
            </p:nvSpPr>
            <p:spPr>
              <a:xfrm>
                <a:off x="495935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22" name="object 22"/>
              <p:cNvSpPr/>
              <p:nvPr/>
            </p:nvSpPr>
            <p:spPr>
              <a:xfrm>
                <a:off x="496316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23" name="object 23"/>
              <p:cNvSpPr/>
              <p:nvPr/>
            </p:nvSpPr>
            <p:spPr>
              <a:xfrm>
                <a:off x="496570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24" name="object 24"/>
              <p:cNvSpPr/>
              <p:nvPr/>
            </p:nvSpPr>
            <p:spPr>
              <a:xfrm>
                <a:off x="496951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25" name="object 25"/>
              <p:cNvSpPr/>
              <p:nvPr/>
            </p:nvSpPr>
            <p:spPr>
              <a:xfrm>
                <a:off x="497332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26" name="object 26"/>
              <p:cNvSpPr/>
              <p:nvPr/>
            </p:nvSpPr>
            <p:spPr>
              <a:xfrm>
                <a:off x="497713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27" name="object 27"/>
              <p:cNvSpPr/>
              <p:nvPr/>
            </p:nvSpPr>
            <p:spPr>
              <a:xfrm>
                <a:off x="498094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28" name="object 28"/>
              <p:cNvSpPr/>
              <p:nvPr/>
            </p:nvSpPr>
            <p:spPr>
              <a:xfrm>
                <a:off x="498475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29" name="object 29"/>
              <p:cNvSpPr/>
              <p:nvPr/>
            </p:nvSpPr>
            <p:spPr>
              <a:xfrm>
                <a:off x="4988560" y="1125219"/>
                <a:ext cx="173990" cy="215900"/>
              </a:xfrm>
              <a:custGeom>
                <a:avLst/>
                <a:gdLst/>
                <a:ahLst/>
                <a:cxnLst/>
                <a:rect l="l" t="t" r="r" b="b"/>
                <a:pathLst>
                  <a:path w="173989" h="215900">
                    <a:moveTo>
                      <a:pt x="3810" y="0"/>
                    </a:moveTo>
                    <a:lnTo>
                      <a:pt x="0" y="0"/>
                    </a:lnTo>
                    <a:lnTo>
                      <a:pt x="0" y="215900"/>
                    </a:lnTo>
                    <a:lnTo>
                      <a:pt x="3810" y="215900"/>
                    </a:lnTo>
                    <a:lnTo>
                      <a:pt x="3810" y="0"/>
                    </a:lnTo>
                    <a:close/>
                  </a:path>
                  <a:path w="173989"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30" name="object 30"/>
              <p:cNvSpPr/>
              <p:nvPr/>
            </p:nvSpPr>
            <p:spPr>
              <a:xfrm>
                <a:off x="499237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372" y="0"/>
                    </a:lnTo>
                    <a:lnTo>
                      <a:pt x="163372" y="43180"/>
                    </a:lnTo>
                    <a:lnTo>
                      <a:pt x="163804" y="43180"/>
                    </a:lnTo>
                    <a:lnTo>
                      <a:pt x="163804" y="171450"/>
                    </a:lnTo>
                    <a:lnTo>
                      <a:pt x="163360" y="171450"/>
                    </a:lnTo>
                    <a:lnTo>
                      <a:pt x="16336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31" name="object 31"/>
              <p:cNvSpPr/>
              <p:nvPr/>
            </p:nvSpPr>
            <p:spPr>
              <a:xfrm>
                <a:off x="4994910" y="1125219"/>
                <a:ext cx="161290" cy="215900"/>
              </a:xfrm>
              <a:custGeom>
                <a:avLst/>
                <a:gdLst/>
                <a:ahLst/>
                <a:cxnLst/>
                <a:rect l="l" t="t" r="r" b="b"/>
                <a:pathLst>
                  <a:path w="16128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89"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32" name="object 32"/>
              <p:cNvSpPr/>
              <p:nvPr/>
            </p:nvSpPr>
            <p:spPr>
              <a:xfrm>
                <a:off x="499872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33" name="object 33"/>
              <p:cNvSpPr/>
              <p:nvPr/>
            </p:nvSpPr>
            <p:spPr>
              <a:xfrm>
                <a:off x="500253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34" name="object 34"/>
              <p:cNvSpPr/>
              <p:nvPr/>
            </p:nvSpPr>
            <p:spPr>
              <a:xfrm>
                <a:off x="500634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35" name="object 35"/>
              <p:cNvSpPr/>
              <p:nvPr/>
            </p:nvSpPr>
            <p:spPr>
              <a:xfrm>
                <a:off x="501015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36" name="object 36"/>
              <p:cNvSpPr/>
              <p:nvPr/>
            </p:nvSpPr>
            <p:spPr>
              <a:xfrm>
                <a:off x="501396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37" name="object 37"/>
              <p:cNvSpPr/>
              <p:nvPr/>
            </p:nvSpPr>
            <p:spPr>
              <a:xfrm>
                <a:off x="501777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38" name="object 38"/>
              <p:cNvSpPr/>
              <p:nvPr/>
            </p:nvSpPr>
            <p:spPr>
              <a:xfrm>
                <a:off x="5020310" y="1125219"/>
                <a:ext cx="110489" cy="215900"/>
              </a:xfrm>
              <a:custGeom>
                <a:avLst/>
                <a:gdLst/>
                <a:ahLst/>
                <a:cxnLst/>
                <a:rect l="l" t="t" r="r" b="b"/>
                <a:pathLst>
                  <a:path w="110489"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89" h="215900">
                    <a:moveTo>
                      <a:pt x="110490" y="45720"/>
                    </a:moveTo>
                    <a:lnTo>
                      <a:pt x="110020" y="45720"/>
                    </a:lnTo>
                    <a:lnTo>
                      <a:pt x="110020" y="0"/>
                    </a:lnTo>
                    <a:lnTo>
                      <a:pt x="106680" y="0"/>
                    </a:lnTo>
                    <a:lnTo>
                      <a:pt x="106680" y="45720"/>
                    </a:lnTo>
                    <a:lnTo>
                      <a:pt x="106680" y="168910"/>
                    </a:lnTo>
                    <a:lnTo>
                      <a:pt x="106680"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39" name="object 39"/>
              <p:cNvSpPr/>
              <p:nvPr/>
            </p:nvSpPr>
            <p:spPr>
              <a:xfrm>
                <a:off x="502412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40" name="object 40"/>
              <p:cNvSpPr/>
              <p:nvPr/>
            </p:nvSpPr>
            <p:spPr>
              <a:xfrm>
                <a:off x="502793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41" name="object 41"/>
              <p:cNvSpPr/>
              <p:nvPr/>
            </p:nvSpPr>
            <p:spPr>
              <a:xfrm>
                <a:off x="503174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42" name="object 42"/>
              <p:cNvSpPr/>
              <p:nvPr/>
            </p:nvSpPr>
            <p:spPr>
              <a:xfrm>
                <a:off x="503555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43" name="object 43"/>
              <p:cNvSpPr/>
              <p:nvPr/>
            </p:nvSpPr>
            <p:spPr>
              <a:xfrm>
                <a:off x="503936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44" name="object 44"/>
              <p:cNvSpPr/>
              <p:nvPr/>
            </p:nvSpPr>
            <p:spPr>
              <a:xfrm>
                <a:off x="504317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45" name="object 45"/>
              <p:cNvSpPr/>
              <p:nvPr/>
            </p:nvSpPr>
            <p:spPr>
              <a:xfrm>
                <a:off x="5046980" y="1125219"/>
                <a:ext cx="58419" cy="215900"/>
              </a:xfrm>
              <a:custGeom>
                <a:avLst/>
                <a:gdLst/>
                <a:ahLst/>
                <a:cxnLst/>
                <a:rect l="l" t="t" r="r" b="b"/>
                <a:pathLst>
                  <a:path w="58420" h="215900">
                    <a:moveTo>
                      <a:pt x="2540" y="0"/>
                    </a:moveTo>
                    <a:lnTo>
                      <a:pt x="0" y="0"/>
                    </a:lnTo>
                    <a:lnTo>
                      <a:pt x="0" y="215900"/>
                    </a:lnTo>
                    <a:lnTo>
                      <a:pt x="2540" y="215900"/>
                    </a:lnTo>
                    <a:lnTo>
                      <a:pt x="2540" y="0"/>
                    </a:lnTo>
                    <a:close/>
                  </a:path>
                  <a:path w="58420"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46" name="object 46"/>
              <p:cNvSpPr/>
              <p:nvPr/>
            </p:nvSpPr>
            <p:spPr>
              <a:xfrm>
                <a:off x="504952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47" name="object 47"/>
              <p:cNvSpPr/>
              <p:nvPr/>
            </p:nvSpPr>
            <p:spPr>
              <a:xfrm>
                <a:off x="505333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48" name="object 48"/>
              <p:cNvSpPr/>
              <p:nvPr/>
            </p:nvSpPr>
            <p:spPr>
              <a:xfrm>
                <a:off x="505714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49" name="object 49"/>
              <p:cNvSpPr/>
              <p:nvPr/>
            </p:nvSpPr>
            <p:spPr>
              <a:xfrm>
                <a:off x="506095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50" name="object 50"/>
              <p:cNvSpPr/>
              <p:nvPr/>
            </p:nvSpPr>
            <p:spPr>
              <a:xfrm>
                <a:off x="506476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51" name="object 51"/>
              <p:cNvSpPr/>
              <p:nvPr/>
            </p:nvSpPr>
            <p:spPr>
              <a:xfrm>
                <a:off x="506857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52" name="object 52"/>
              <p:cNvSpPr/>
              <p:nvPr/>
            </p:nvSpPr>
            <p:spPr>
              <a:xfrm>
                <a:off x="5072380"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53" name="object 53"/>
            <p:cNvGrpSpPr/>
            <p:nvPr/>
          </p:nvGrpSpPr>
          <p:grpSpPr>
            <a:xfrm>
              <a:off x="8315900" y="1111191"/>
              <a:ext cx="1898014" cy="1538605"/>
              <a:chOff x="6791900" y="1111190"/>
              <a:chExt cx="1898014" cy="1538605"/>
            </a:xfrm>
          </p:grpSpPr>
          <p:sp>
            <p:nvSpPr>
              <p:cNvPr id="54" name="object 54"/>
              <p:cNvSpPr/>
              <p:nvPr/>
            </p:nvSpPr>
            <p:spPr>
              <a:xfrm>
                <a:off x="6804659"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55" name="object 55"/>
              <p:cNvSpPr/>
              <p:nvPr/>
            </p:nvSpPr>
            <p:spPr>
              <a:xfrm>
                <a:off x="6804659"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56" name="object 56"/>
              <p:cNvSpPr/>
              <p:nvPr/>
            </p:nvSpPr>
            <p:spPr>
              <a:xfrm>
                <a:off x="6803390" y="1125219"/>
                <a:ext cx="1871980" cy="215900"/>
              </a:xfrm>
              <a:custGeom>
                <a:avLst/>
                <a:gdLst/>
                <a:ahLst/>
                <a:cxnLst/>
                <a:rect l="l" t="t" r="r" b="b"/>
                <a:pathLst>
                  <a:path w="1871979" h="215900">
                    <a:moveTo>
                      <a:pt x="787400" y="0"/>
                    </a:moveTo>
                    <a:lnTo>
                      <a:pt x="0" y="0"/>
                    </a:lnTo>
                    <a:lnTo>
                      <a:pt x="0" y="214630"/>
                    </a:lnTo>
                    <a:lnTo>
                      <a:pt x="787400" y="214630"/>
                    </a:lnTo>
                    <a:lnTo>
                      <a:pt x="787400" y="0"/>
                    </a:lnTo>
                    <a:close/>
                  </a:path>
                  <a:path w="1871979" h="215900">
                    <a:moveTo>
                      <a:pt x="1085850" y="214630"/>
                    </a:moveTo>
                    <a:lnTo>
                      <a:pt x="787400" y="214630"/>
                    </a:lnTo>
                    <a:lnTo>
                      <a:pt x="787400" y="215900"/>
                    </a:lnTo>
                    <a:lnTo>
                      <a:pt x="1085850" y="215900"/>
                    </a:lnTo>
                    <a:lnTo>
                      <a:pt x="1085850" y="214630"/>
                    </a:lnTo>
                    <a:close/>
                  </a:path>
                  <a:path w="1871979" h="215900">
                    <a:moveTo>
                      <a:pt x="1871980" y="0"/>
                    </a:moveTo>
                    <a:lnTo>
                      <a:pt x="1085850" y="0"/>
                    </a:lnTo>
                    <a:lnTo>
                      <a:pt x="1085850" y="214630"/>
                    </a:lnTo>
                    <a:lnTo>
                      <a:pt x="1871980" y="214630"/>
                    </a:lnTo>
                    <a:lnTo>
                      <a:pt x="1871980" y="0"/>
                    </a:lnTo>
                    <a:close/>
                  </a:path>
                </a:pathLst>
              </a:custGeom>
              <a:solidFill>
                <a:srgbClr val="000000"/>
              </a:solidFill>
            </p:spPr>
            <p:txBody>
              <a:bodyPr wrap="square" lIns="0" tIns="0" rIns="0" bIns="0" rtlCol="0"/>
              <a:lstStyle/>
              <a:p>
                <a:endParaRPr/>
              </a:p>
            </p:txBody>
          </p:sp>
          <p:sp>
            <p:nvSpPr>
              <p:cNvPr id="57" name="object 57"/>
              <p:cNvSpPr/>
              <p:nvPr/>
            </p:nvSpPr>
            <p:spPr>
              <a:xfrm>
                <a:off x="759079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58" name="object 58"/>
              <p:cNvSpPr/>
              <p:nvPr/>
            </p:nvSpPr>
            <p:spPr>
              <a:xfrm>
                <a:off x="759460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215900"/>
                    </a:lnTo>
                    <a:lnTo>
                      <a:pt x="290830" y="215900"/>
                    </a:lnTo>
                    <a:lnTo>
                      <a:pt x="290830" y="0"/>
                    </a:lnTo>
                    <a:close/>
                  </a:path>
                </a:pathLst>
              </a:custGeom>
              <a:solidFill>
                <a:srgbClr val="030303"/>
              </a:solidFill>
            </p:spPr>
            <p:txBody>
              <a:bodyPr wrap="square" lIns="0" tIns="0" rIns="0" bIns="0" rtlCol="0"/>
              <a:lstStyle/>
              <a:p>
                <a:endParaRPr/>
              </a:p>
            </p:txBody>
          </p:sp>
          <p:sp>
            <p:nvSpPr>
              <p:cNvPr id="59" name="object 59"/>
              <p:cNvSpPr/>
              <p:nvPr/>
            </p:nvSpPr>
            <p:spPr>
              <a:xfrm>
                <a:off x="7598410" y="1125219"/>
                <a:ext cx="283210" cy="215900"/>
              </a:xfrm>
              <a:custGeom>
                <a:avLst/>
                <a:gdLst/>
                <a:ahLst/>
                <a:cxnLst/>
                <a:rect l="l" t="t" r="r" b="b"/>
                <a:pathLst>
                  <a:path w="283209" h="215900">
                    <a:moveTo>
                      <a:pt x="2933" y="173990"/>
                    </a:moveTo>
                    <a:lnTo>
                      <a:pt x="2540" y="173990"/>
                    </a:lnTo>
                    <a:lnTo>
                      <a:pt x="2540" y="40640"/>
                    </a:lnTo>
                    <a:lnTo>
                      <a:pt x="2921" y="40640"/>
                    </a:lnTo>
                    <a:lnTo>
                      <a:pt x="2921" y="0"/>
                    </a:lnTo>
                    <a:lnTo>
                      <a:pt x="0" y="0"/>
                    </a:lnTo>
                    <a:lnTo>
                      <a:pt x="0" y="40640"/>
                    </a:lnTo>
                    <a:lnTo>
                      <a:pt x="0" y="173990"/>
                    </a:lnTo>
                    <a:lnTo>
                      <a:pt x="0" y="215900"/>
                    </a:lnTo>
                    <a:lnTo>
                      <a:pt x="2933" y="215900"/>
                    </a:lnTo>
                    <a:lnTo>
                      <a:pt x="2933" y="173990"/>
                    </a:lnTo>
                    <a:close/>
                  </a:path>
                  <a:path w="283209" h="215900">
                    <a:moveTo>
                      <a:pt x="283210" y="0"/>
                    </a:moveTo>
                    <a:lnTo>
                      <a:pt x="280276" y="0"/>
                    </a:lnTo>
                    <a:lnTo>
                      <a:pt x="280276" y="40640"/>
                    </a:lnTo>
                    <a:lnTo>
                      <a:pt x="280670" y="40640"/>
                    </a:lnTo>
                    <a:lnTo>
                      <a:pt x="280670" y="173990"/>
                    </a:lnTo>
                    <a:lnTo>
                      <a:pt x="280263" y="173990"/>
                    </a:lnTo>
                    <a:lnTo>
                      <a:pt x="280263" y="215900"/>
                    </a:lnTo>
                    <a:lnTo>
                      <a:pt x="283210" y="215900"/>
                    </a:lnTo>
                    <a:lnTo>
                      <a:pt x="283210" y="173990"/>
                    </a:lnTo>
                    <a:lnTo>
                      <a:pt x="283210" y="40640"/>
                    </a:lnTo>
                    <a:lnTo>
                      <a:pt x="283210" y="0"/>
                    </a:lnTo>
                    <a:close/>
                  </a:path>
                </a:pathLst>
              </a:custGeom>
              <a:solidFill>
                <a:srgbClr val="050505"/>
              </a:solidFill>
            </p:spPr>
            <p:txBody>
              <a:bodyPr wrap="square" lIns="0" tIns="0" rIns="0" bIns="0" rtlCol="0"/>
              <a:lstStyle/>
              <a:p>
                <a:endParaRPr/>
              </a:p>
            </p:txBody>
          </p:sp>
          <p:sp>
            <p:nvSpPr>
              <p:cNvPr id="60" name="object 60"/>
              <p:cNvSpPr/>
              <p:nvPr/>
            </p:nvSpPr>
            <p:spPr>
              <a:xfrm>
                <a:off x="760095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61" name="object 61"/>
              <p:cNvSpPr/>
              <p:nvPr/>
            </p:nvSpPr>
            <p:spPr>
              <a:xfrm>
                <a:off x="7604760" y="1125219"/>
                <a:ext cx="270510" cy="215900"/>
              </a:xfrm>
              <a:custGeom>
                <a:avLst/>
                <a:gdLst/>
                <a:ahLst/>
                <a:cxnLst/>
                <a:rect l="l" t="t" r="r" b="b"/>
                <a:pathLst>
                  <a:path w="270509"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09"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62" name="object 62"/>
              <p:cNvSpPr/>
              <p:nvPr/>
            </p:nvSpPr>
            <p:spPr>
              <a:xfrm>
                <a:off x="7608570" y="1125219"/>
                <a:ext cx="262890" cy="215900"/>
              </a:xfrm>
              <a:custGeom>
                <a:avLst/>
                <a:gdLst/>
                <a:ahLst/>
                <a:cxnLst/>
                <a:rect l="l" t="t" r="r" b="b"/>
                <a:pathLst>
                  <a:path w="26289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62890"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63" name="object 63"/>
              <p:cNvSpPr/>
              <p:nvPr/>
            </p:nvSpPr>
            <p:spPr>
              <a:xfrm>
                <a:off x="761238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0" y="0"/>
                    </a:lnTo>
                    <a:lnTo>
                      <a:pt x="0" y="41910"/>
                    </a:lnTo>
                    <a:lnTo>
                      <a:pt x="0" y="172720"/>
                    </a:lnTo>
                    <a:lnTo>
                      <a:pt x="0" y="215900"/>
                    </a:lnTo>
                    <a:lnTo>
                      <a:pt x="4216" y="215900"/>
                    </a:lnTo>
                    <a:lnTo>
                      <a:pt x="4216" y="172720"/>
                    </a:lnTo>
                    <a:close/>
                  </a:path>
                  <a:path w="255270" h="215900">
                    <a:moveTo>
                      <a:pt x="255270" y="0"/>
                    </a:moveTo>
                    <a:lnTo>
                      <a:pt x="251053" y="0"/>
                    </a:lnTo>
                    <a:lnTo>
                      <a:pt x="251053" y="41910"/>
                    </a:lnTo>
                    <a:lnTo>
                      <a:pt x="251460" y="41910"/>
                    </a:lnTo>
                    <a:lnTo>
                      <a:pt x="251460" y="172720"/>
                    </a:lnTo>
                    <a:lnTo>
                      <a:pt x="251040" y="172720"/>
                    </a:lnTo>
                    <a:lnTo>
                      <a:pt x="251040" y="215900"/>
                    </a:lnTo>
                    <a:lnTo>
                      <a:pt x="255270" y="215900"/>
                    </a:lnTo>
                    <a:lnTo>
                      <a:pt x="255270" y="172720"/>
                    </a:lnTo>
                    <a:lnTo>
                      <a:pt x="255270" y="41910"/>
                    </a:lnTo>
                    <a:lnTo>
                      <a:pt x="255270" y="0"/>
                    </a:lnTo>
                    <a:close/>
                  </a:path>
                </a:pathLst>
              </a:custGeom>
              <a:solidFill>
                <a:srgbClr val="0D0D0D"/>
              </a:solidFill>
            </p:spPr>
            <p:txBody>
              <a:bodyPr wrap="square" lIns="0" tIns="0" rIns="0" bIns="0" rtlCol="0"/>
              <a:lstStyle/>
              <a:p>
                <a:endParaRPr/>
              </a:p>
            </p:txBody>
          </p:sp>
          <p:sp>
            <p:nvSpPr>
              <p:cNvPr id="64" name="object 64"/>
              <p:cNvSpPr/>
              <p:nvPr/>
            </p:nvSpPr>
            <p:spPr>
              <a:xfrm>
                <a:off x="761619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41910"/>
                    </a:moveTo>
                    <a:lnTo>
                      <a:pt x="247243" y="41910"/>
                    </a:lnTo>
                    <a:lnTo>
                      <a:pt x="247243" y="0"/>
                    </a:lnTo>
                    <a:lnTo>
                      <a:pt x="243840" y="0"/>
                    </a:lnTo>
                    <a:lnTo>
                      <a:pt x="243840" y="41910"/>
                    </a:lnTo>
                    <a:lnTo>
                      <a:pt x="243840" y="172720"/>
                    </a:lnTo>
                    <a:lnTo>
                      <a:pt x="243840" y="215900"/>
                    </a:lnTo>
                    <a:lnTo>
                      <a:pt x="247230" y="215900"/>
                    </a:lnTo>
                    <a:lnTo>
                      <a:pt x="247230" y="172720"/>
                    </a:lnTo>
                    <a:lnTo>
                      <a:pt x="247650" y="172720"/>
                    </a:lnTo>
                    <a:lnTo>
                      <a:pt x="247650" y="41910"/>
                    </a:lnTo>
                    <a:close/>
                  </a:path>
                </a:pathLst>
              </a:custGeom>
              <a:solidFill>
                <a:srgbClr val="0F0F0F"/>
              </a:solidFill>
            </p:spPr>
            <p:txBody>
              <a:bodyPr wrap="square" lIns="0" tIns="0" rIns="0" bIns="0" rtlCol="0"/>
              <a:lstStyle/>
              <a:p>
                <a:endParaRPr/>
              </a:p>
            </p:txBody>
          </p:sp>
          <p:sp>
            <p:nvSpPr>
              <p:cNvPr id="65" name="object 65"/>
              <p:cNvSpPr/>
              <p:nvPr/>
            </p:nvSpPr>
            <p:spPr>
              <a:xfrm>
                <a:off x="762000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66" name="object 66"/>
              <p:cNvSpPr/>
              <p:nvPr/>
            </p:nvSpPr>
            <p:spPr>
              <a:xfrm>
                <a:off x="7623810" y="1125219"/>
                <a:ext cx="232410" cy="215900"/>
              </a:xfrm>
              <a:custGeom>
                <a:avLst/>
                <a:gdLst/>
                <a:ahLst/>
                <a:cxnLst/>
                <a:rect l="l" t="t" r="r" b="b"/>
                <a:pathLst>
                  <a:path w="232409" h="215900">
                    <a:moveTo>
                      <a:pt x="2959" y="172720"/>
                    </a:moveTo>
                    <a:lnTo>
                      <a:pt x="2540" y="172720"/>
                    </a:lnTo>
                    <a:lnTo>
                      <a:pt x="2540" y="41910"/>
                    </a:lnTo>
                    <a:lnTo>
                      <a:pt x="2946" y="41910"/>
                    </a:lnTo>
                    <a:lnTo>
                      <a:pt x="2946" y="0"/>
                    </a:lnTo>
                    <a:lnTo>
                      <a:pt x="0" y="0"/>
                    </a:lnTo>
                    <a:lnTo>
                      <a:pt x="0" y="41910"/>
                    </a:lnTo>
                    <a:lnTo>
                      <a:pt x="0" y="172720"/>
                    </a:lnTo>
                    <a:lnTo>
                      <a:pt x="0" y="215900"/>
                    </a:lnTo>
                    <a:lnTo>
                      <a:pt x="2959" y="215900"/>
                    </a:lnTo>
                    <a:lnTo>
                      <a:pt x="2959" y="172720"/>
                    </a:lnTo>
                    <a:close/>
                  </a:path>
                  <a:path w="232409" h="215900">
                    <a:moveTo>
                      <a:pt x="232410" y="0"/>
                    </a:moveTo>
                    <a:lnTo>
                      <a:pt x="228600" y="0"/>
                    </a:lnTo>
                    <a:lnTo>
                      <a:pt x="228600" y="215900"/>
                    </a:lnTo>
                    <a:lnTo>
                      <a:pt x="232410" y="215900"/>
                    </a:lnTo>
                    <a:lnTo>
                      <a:pt x="232410" y="0"/>
                    </a:lnTo>
                    <a:close/>
                  </a:path>
                </a:pathLst>
              </a:custGeom>
              <a:solidFill>
                <a:srgbClr val="131313"/>
              </a:solidFill>
            </p:spPr>
            <p:txBody>
              <a:bodyPr wrap="square" lIns="0" tIns="0" rIns="0" bIns="0" rtlCol="0"/>
              <a:lstStyle/>
              <a:p>
                <a:endParaRPr/>
              </a:p>
            </p:txBody>
          </p:sp>
          <p:sp>
            <p:nvSpPr>
              <p:cNvPr id="67" name="object 67"/>
              <p:cNvSpPr/>
              <p:nvPr/>
            </p:nvSpPr>
            <p:spPr>
              <a:xfrm>
                <a:off x="7626350" y="1125219"/>
                <a:ext cx="226060" cy="215900"/>
              </a:xfrm>
              <a:custGeom>
                <a:avLst/>
                <a:gdLst/>
                <a:ahLst/>
                <a:cxnLst/>
                <a:rect l="l" t="t" r="r" b="b"/>
                <a:pathLst>
                  <a:path w="226059" h="215900">
                    <a:moveTo>
                      <a:pt x="4241" y="0"/>
                    </a:moveTo>
                    <a:lnTo>
                      <a:pt x="406" y="0"/>
                    </a:lnTo>
                    <a:lnTo>
                      <a:pt x="406" y="41910"/>
                    </a:lnTo>
                    <a:lnTo>
                      <a:pt x="0" y="41910"/>
                    </a:lnTo>
                    <a:lnTo>
                      <a:pt x="0" y="172720"/>
                    </a:lnTo>
                    <a:lnTo>
                      <a:pt x="419" y="172720"/>
                    </a:lnTo>
                    <a:lnTo>
                      <a:pt x="419" y="215900"/>
                    </a:lnTo>
                    <a:lnTo>
                      <a:pt x="4229" y="215900"/>
                    </a:lnTo>
                    <a:lnTo>
                      <a:pt x="4229" y="172720"/>
                    </a:lnTo>
                    <a:lnTo>
                      <a:pt x="3810" y="172720"/>
                    </a:lnTo>
                    <a:lnTo>
                      <a:pt x="3810" y="41910"/>
                    </a:lnTo>
                    <a:lnTo>
                      <a:pt x="4241" y="41910"/>
                    </a:lnTo>
                    <a:lnTo>
                      <a:pt x="4241" y="0"/>
                    </a:lnTo>
                    <a:close/>
                  </a:path>
                  <a:path w="226059" h="215900">
                    <a:moveTo>
                      <a:pt x="226060" y="0"/>
                    </a:moveTo>
                    <a:lnTo>
                      <a:pt x="223075" y="0"/>
                    </a:lnTo>
                    <a:lnTo>
                      <a:pt x="223075" y="41910"/>
                    </a:lnTo>
                    <a:lnTo>
                      <a:pt x="223507" y="41910"/>
                    </a:lnTo>
                    <a:lnTo>
                      <a:pt x="223507" y="172720"/>
                    </a:lnTo>
                    <a:lnTo>
                      <a:pt x="223088" y="172720"/>
                    </a:lnTo>
                    <a:lnTo>
                      <a:pt x="223088" y="215900"/>
                    </a:lnTo>
                    <a:lnTo>
                      <a:pt x="226060" y="215900"/>
                    </a:lnTo>
                    <a:lnTo>
                      <a:pt x="226060" y="172720"/>
                    </a:lnTo>
                    <a:lnTo>
                      <a:pt x="226060" y="41910"/>
                    </a:lnTo>
                    <a:lnTo>
                      <a:pt x="226060" y="0"/>
                    </a:lnTo>
                    <a:close/>
                  </a:path>
                </a:pathLst>
              </a:custGeom>
              <a:solidFill>
                <a:srgbClr val="151515"/>
              </a:solidFill>
            </p:spPr>
            <p:txBody>
              <a:bodyPr wrap="square" lIns="0" tIns="0" rIns="0" bIns="0" rtlCol="0"/>
              <a:lstStyle/>
              <a:p>
                <a:endParaRPr/>
              </a:p>
            </p:txBody>
          </p:sp>
          <p:sp>
            <p:nvSpPr>
              <p:cNvPr id="68" name="object 68"/>
              <p:cNvSpPr/>
              <p:nvPr/>
            </p:nvSpPr>
            <p:spPr>
              <a:xfrm>
                <a:off x="7630160" y="1125219"/>
                <a:ext cx="219710" cy="215900"/>
              </a:xfrm>
              <a:custGeom>
                <a:avLst/>
                <a:gdLst/>
                <a:ahLst/>
                <a:cxnLst/>
                <a:rect l="l" t="t" r="r" b="b"/>
                <a:pathLst>
                  <a:path w="219709"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09"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69" name="object 69"/>
              <p:cNvSpPr/>
              <p:nvPr/>
            </p:nvSpPr>
            <p:spPr>
              <a:xfrm>
                <a:off x="7633970" y="1125219"/>
                <a:ext cx="212090" cy="215900"/>
              </a:xfrm>
              <a:custGeom>
                <a:avLst/>
                <a:gdLst/>
                <a:ahLst/>
                <a:cxnLst/>
                <a:rect l="l" t="t" r="r" b="b"/>
                <a:pathLst>
                  <a:path w="212090"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90"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70" name="object 70"/>
              <p:cNvSpPr/>
              <p:nvPr/>
            </p:nvSpPr>
            <p:spPr>
              <a:xfrm>
                <a:off x="763778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71" name="object 71"/>
              <p:cNvSpPr/>
              <p:nvPr/>
            </p:nvSpPr>
            <p:spPr>
              <a:xfrm>
                <a:off x="764159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72" name="object 72"/>
              <p:cNvSpPr/>
              <p:nvPr/>
            </p:nvSpPr>
            <p:spPr>
              <a:xfrm>
                <a:off x="764540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73" name="object 73"/>
              <p:cNvSpPr/>
              <p:nvPr/>
            </p:nvSpPr>
            <p:spPr>
              <a:xfrm>
                <a:off x="7649210" y="1125219"/>
                <a:ext cx="181610" cy="215900"/>
              </a:xfrm>
              <a:custGeom>
                <a:avLst/>
                <a:gdLst/>
                <a:ahLst/>
                <a:cxnLst/>
                <a:rect l="l" t="t" r="r" b="b"/>
                <a:pathLst>
                  <a:path w="181609" h="215900">
                    <a:moveTo>
                      <a:pt x="3810" y="0"/>
                    </a:moveTo>
                    <a:lnTo>
                      <a:pt x="0" y="0"/>
                    </a:lnTo>
                    <a:lnTo>
                      <a:pt x="0" y="215900"/>
                    </a:lnTo>
                    <a:lnTo>
                      <a:pt x="3810" y="215900"/>
                    </a:lnTo>
                    <a:lnTo>
                      <a:pt x="3810" y="0"/>
                    </a:lnTo>
                    <a:close/>
                  </a:path>
                  <a:path w="181609"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74" name="object 74"/>
              <p:cNvSpPr/>
              <p:nvPr/>
            </p:nvSpPr>
            <p:spPr>
              <a:xfrm>
                <a:off x="7653020" y="1125219"/>
                <a:ext cx="173990" cy="215900"/>
              </a:xfrm>
              <a:custGeom>
                <a:avLst/>
                <a:gdLst/>
                <a:ahLst/>
                <a:cxnLst/>
                <a:rect l="l" t="t" r="r" b="b"/>
                <a:pathLst>
                  <a:path w="173990" h="215900">
                    <a:moveTo>
                      <a:pt x="2971" y="0"/>
                    </a:moveTo>
                    <a:lnTo>
                      <a:pt x="0" y="0"/>
                    </a:lnTo>
                    <a:lnTo>
                      <a:pt x="0" y="43180"/>
                    </a:lnTo>
                    <a:lnTo>
                      <a:pt x="0" y="171450"/>
                    </a:lnTo>
                    <a:lnTo>
                      <a:pt x="0" y="215900"/>
                    </a:lnTo>
                    <a:lnTo>
                      <a:pt x="2971" y="215900"/>
                    </a:lnTo>
                    <a:lnTo>
                      <a:pt x="2971" y="171450"/>
                    </a:lnTo>
                    <a:lnTo>
                      <a:pt x="2540" y="171450"/>
                    </a:lnTo>
                    <a:lnTo>
                      <a:pt x="2540" y="43180"/>
                    </a:lnTo>
                    <a:lnTo>
                      <a:pt x="2971" y="43180"/>
                    </a:lnTo>
                    <a:lnTo>
                      <a:pt x="2971" y="0"/>
                    </a:lnTo>
                    <a:close/>
                  </a:path>
                  <a:path w="173990"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75" name="object 75"/>
              <p:cNvSpPr/>
              <p:nvPr/>
            </p:nvSpPr>
            <p:spPr>
              <a:xfrm>
                <a:off x="7655560" y="1125219"/>
                <a:ext cx="168910" cy="215900"/>
              </a:xfrm>
              <a:custGeom>
                <a:avLst/>
                <a:gdLst/>
                <a:ahLst/>
                <a:cxnLst/>
                <a:rect l="l" t="t" r="r" b="b"/>
                <a:pathLst>
                  <a:path w="168909" h="215900">
                    <a:moveTo>
                      <a:pt x="4279" y="171450"/>
                    </a:moveTo>
                    <a:lnTo>
                      <a:pt x="3835" y="171450"/>
                    </a:lnTo>
                    <a:lnTo>
                      <a:pt x="3835" y="43180"/>
                    </a:lnTo>
                    <a:lnTo>
                      <a:pt x="4267" y="43180"/>
                    </a:lnTo>
                    <a:lnTo>
                      <a:pt x="4267" y="0"/>
                    </a:lnTo>
                    <a:lnTo>
                      <a:pt x="431" y="0"/>
                    </a:lnTo>
                    <a:lnTo>
                      <a:pt x="431" y="43180"/>
                    </a:lnTo>
                    <a:lnTo>
                      <a:pt x="0" y="43180"/>
                    </a:lnTo>
                    <a:lnTo>
                      <a:pt x="0" y="171450"/>
                    </a:lnTo>
                    <a:lnTo>
                      <a:pt x="431" y="171450"/>
                    </a:lnTo>
                    <a:lnTo>
                      <a:pt x="431" y="215900"/>
                    </a:lnTo>
                    <a:lnTo>
                      <a:pt x="4279" y="215900"/>
                    </a:lnTo>
                    <a:lnTo>
                      <a:pt x="4279" y="171450"/>
                    </a:lnTo>
                    <a:close/>
                  </a:path>
                  <a:path w="168909" h="215900">
                    <a:moveTo>
                      <a:pt x="168910" y="43180"/>
                    </a:moveTo>
                    <a:lnTo>
                      <a:pt x="168465" y="43180"/>
                    </a:lnTo>
                    <a:lnTo>
                      <a:pt x="168465" y="0"/>
                    </a:lnTo>
                    <a:lnTo>
                      <a:pt x="164642" y="0"/>
                    </a:lnTo>
                    <a:lnTo>
                      <a:pt x="164642" y="43180"/>
                    </a:lnTo>
                    <a:lnTo>
                      <a:pt x="165074" y="43180"/>
                    </a:lnTo>
                    <a:lnTo>
                      <a:pt x="165074" y="171450"/>
                    </a:lnTo>
                    <a:lnTo>
                      <a:pt x="164630" y="171450"/>
                    </a:lnTo>
                    <a:lnTo>
                      <a:pt x="164630" y="215900"/>
                    </a:lnTo>
                    <a:lnTo>
                      <a:pt x="168465" y="215900"/>
                    </a:lnTo>
                    <a:lnTo>
                      <a:pt x="168465" y="171450"/>
                    </a:lnTo>
                    <a:lnTo>
                      <a:pt x="168910" y="171450"/>
                    </a:lnTo>
                    <a:lnTo>
                      <a:pt x="168910" y="43180"/>
                    </a:lnTo>
                    <a:close/>
                  </a:path>
                </a:pathLst>
              </a:custGeom>
              <a:solidFill>
                <a:srgbClr val="252525"/>
              </a:solidFill>
            </p:spPr>
            <p:txBody>
              <a:bodyPr wrap="square" lIns="0" tIns="0" rIns="0" bIns="0" rtlCol="0"/>
              <a:lstStyle/>
              <a:p>
                <a:endParaRPr/>
              </a:p>
            </p:txBody>
          </p:sp>
          <p:sp>
            <p:nvSpPr>
              <p:cNvPr id="76" name="object 76"/>
              <p:cNvSpPr/>
              <p:nvPr/>
            </p:nvSpPr>
            <p:spPr>
              <a:xfrm>
                <a:off x="7659370" y="1125219"/>
                <a:ext cx="161290" cy="215900"/>
              </a:xfrm>
              <a:custGeom>
                <a:avLst/>
                <a:gdLst/>
                <a:ahLst/>
                <a:cxnLst/>
                <a:rect l="l" t="t" r="r" b="b"/>
                <a:pathLst>
                  <a:path w="16129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90"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77" name="object 77"/>
              <p:cNvSpPr/>
              <p:nvPr/>
            </p:nvSpPr>
            <p:spPr>
              <a:xfrm>
                <a:off x="766318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78" name="object 78"/>
              <p:cNvSpPr/>
              <p:nvPr/>
            </p:nvSpPr>
            <p:spPr>
              <a:xfrm>
                <a:off x="766699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79" name="object 79"/>
              <p:cNvSpPr/>
              <p:nvPr/>
            </p:nvSpPr>
            <p:spPr>
              <a:xfrm>
                <a:off x="767080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80" name="object 80"/>
              <p:cNvSpPr/>
              <p:nvPr/>
            </p:nvSpPr>
            <p:spPr>
              <a:xfrm>
                <a:off x="7674610" y="1125219"/>
                <a:ext cx="130810" cy="215900"/>
              </a:xfrm>
              <a:custGeom>
                <a:avLst/>
                <a:gdLst/>
                <a:ahLst/>
                <a:cxnLst/>
                <a:rect l="l" t="t" r="r" b="b"/>
                <a:pathLst>
                  <a:path w="130809" h="215900">
                    <a:moveTo>
                      <a:pt x="3810" y="0"/>
                    </a:moveTo>
                    <a:lnTo>
                      <a:pt x="0" y="0"/>
                    </a:lnTo>
                    <a:lnTo>
                      <a:pt x="0" y="215900"/>
                    </a:lnTo>
                    <a:lnTo>
                      <a:pt x="3810" y="215900"/>
                    </a:lnTo>
                    <a:lnTo>
                      <a:pt x="3810" y="0"/>
                    </a:lnTo>
                    <a:close/>
                  </a:path>
                  <a:path w="130809"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81" name="object 81"/>
              <p:cNvSpPr/>
              <p:nvPr/>
            </p:nvSpPr>
            <p:spPr>
              <a:xfrm>
                <a:off x="7678420" y="1125219"/>
                <a:ext cx="123189" cy="215900"/>
              </a:xfrm>
              <a:custGeom>
                <a:avLst/>
                <a:gdLst/>
                <a:ahLst/>
                <a:cxnLst/>
                <a:rect l="l" t="t" r="r" b="b"/>
                <a:pathLst>
                  <a:path w="123190" h="215900">
                    <a:moveTo>
                      <a:pt x="3810" y="0"/>
                    </a:moveTo>
                    <a:lnTo>
                      <a:pt x="0" y="0"/>
                    </a:lnTo>
                    <a:lnTo>
                      <a:pt x="0" y="215900"/>
                    </a:lnTo>
                    <a:lnTo>
                      <a:pt x="3810" y="215900"/>
                    </a:lnTo>
                    <a:lnTo>
                      <a:pt x="3810" y="0"/>
                    </a:lnTo>
                    <a:close/>
                  </a:path>
                  <a:path w="123190"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82" name="object 82"/>
              <p:cNvSpPr/>
              <p:nvPr/>
            </p:nvSpPr>
            <p:spPr>
              <a:xfrm>
                <a:off x="768223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83" name="object 83"/>
              <p:cNvSpPr/>
              <p:nvPr/>
            </p:nvSpPr>
            <p:spPr>
              <a:xfrm>
                <a:off x="7684770" y="1125219"/>
                <a:ext cx="110489" cy="215900"/>
              </a:xfrm>
              <a:custGeom>
                <a:avLst/>
                <a:gdLst/>
                <a:ahLst/>
                <a:cxnLst/>
                <a:rect l="l" t="t" r="r" b="b"/>
                <a:pathLst>
                  <a:path w="110490"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90" h="215900">
                    <a:moveTo>
                      <a:pt x="110490" y="45720"/>
                    </a:moveTo>
                    <a:lnTo>
                      <a:pt x="110020" y="45720"/>
                    </a:lnTo>
                    <a:lnTo>
                      <a:pt x="110020" y="0"/>
                    </a:lnTo>
                    <a:lnTo>
                      <a:pt x="106210" y="0"/>
                    </a:lnTo>
                    <a:lnTo>
                      <a:pt x="106210" y="45720"/>
                    </a:lnTo>
                    <a:lnTo>
                      <a:pt x="106680" y="45720"/>
                    </a:lnTo>
                    <a:lnTo>
                      <a:pt x="106680" y="168910"/>
                    </a:lnTo>
                    <a:lnTo>
                      <a:pt x="106197" y="168910"/>
                    </a:lnTo>
                    <a:lnTo>
                      <a:pt x="106197"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84" name="object 84"/>
              <p:cNvSpPr/>
              <p:nvPr/>
            </p:nvSpPr>
            <p:spPr>
              <a:xfrm>
                <a:off x="768858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45720"/>
                    </a:moveTo>
                    <a:lnTo>
                      <a:pt x="102400" y="45720"/>
                    </a:lnTo>
                    <a:lnTo>
                      <a:pt x="102400" y="0"/>
                    </a:lnTo>
                    <a:lnTo>
                      <a:pt x="99060" y="0"/>
                    </a:lnTo>
                    <a:lnTo>
                      <a:pt x="99060" y="45720"/>
                    </a:lnTo>
                    <a:lnTo>
                      <a:pt x="99060" y="168910"/>
                    </a:lnTo>
                    <a:lnTo>
                      <a:pt x="99060" y="215900"/>
                    </a:lnTo>
                    <a:lnTo>
                      <a:pt x="102387" y="215900"/>
                    </a:lnTo>
                    <a:lnTo>
                      <a:pt x="102387" y="168910"/>
                    </a:lnTo>
                    <a:lnTo>
                      <a:pt x="102870" y="168910"/>
                    </a:lnTo>
                    <a:lnTo>
                      <a:pt x="102870" y="45720"/>
                    </a:lnTo>
                    <a:close/>
                  </a:path>
                </a:pathLst>
              </a:custGeom>
              <a:solidFill>
                <a:srgbClr val="373737"/>
              </a:solidFill>
            </p:spPr>
            <p:txBody>
              <a:bodyPr wrap="square" lIns="0" tIns="0" rIns="0" bIns="0" rtlCol="0"/>
              <a:lstStyle/>
              <a:p>
                <a:endParaRPr/>
              </a:p>
            </p:txBody>
          </p:sp>
          <p:sp>
            <p:nvSpPr>
              <p:cNvPr id="85" name="object 85"/>
              <p:cNvSpPr/>
              <p:nvPr/>
            </p:nvSpPr>
            <p:spPr>
              <a:xfrm>
                <a:off x="769239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86" name="object 86"/>
              <p:cNvSpPr/>
              <p:nvPr/>
            </p:nvSpPr>
            <p:spPr>
              <a:xfrm>
                <a:off x="769620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87" name="object 87"/>
              <p:cNvSpPr/>
              <p:nvPr/>
            </p:nvSpPr>
            <p:spPr>
              <a:xfrm>
                <a:off x="7700010" y="1125219"/>
                <a:ext cx="80010" cy="215900"/>
              </a:xfrm>
              <a:custGeom>
                <a:avLst/>
                <a:gdLst/>
                <a:ahLst/>
                <a:cxnLst/>
                <a:rect l="l" t="t" r="r" b="b"/>
                <a:pathLst>
                  <a:path w="80009" h="215900">
                    <a:moveTo>
                      <a:pt x="3810" y="0"/>
                    </a:moveTo>
                    <a:lnTo>
                      <a:pt x="0" y="0"/>
                    </a:lnTo>
                    <a:lnTo>
                      <a:pt x="0" y="215900"/>
                    </a:lnTo>
                    <a:lnTo>
                      <a:pt x="3810" y="215900"/>
                    </a:lnTo>
                    <a:lnTo>
                      <a:pt x="3810" y="0"/>
                    </a:lnTo>
                    <a:close/>
                  </a:path>
                  <a:path w="80009"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88" name="object 88"/>
              <p:cNvSpPr/>
              <p:nvPr/>
            </p:nvSpPr>
            <p:spPr>
              <a:xfrm>
                <a:off x="7703820" y="1125219"/>
                <a:ext cx="72390" cy="215900"/>
              </a:xfrm>
              <a:custGeom>
                <a:avLst/>
                <a:gdLst/>
                <a:ahLst/>
                <a:cxnLst/>
                <a:rect l="l" t="t" r="r" b="b"/>
                <a:pathLst>
                  <a:path w="72390" h="215900">
                    <a:moveTo>
                      <a:pt x="3810" y="0"/>
                    </a:moveTo>
                    <a:lnTo>
                      <a:pt x="0" y="0"/>
                    </a:lnTo>
                    <a:lnTo>
                      <a:pt x="0" y="215900"/>
                    </a:lnTo>
                    <a:lnTo>
                      <a:pt x="3810" y="215900"/>
                    </a:lnTo>
                    <a:lnTo>
                      <a:pt x="3810" y="0"/>
                    </a:lnTo>
                    <a:close/>
                  </a:path>
                  <a:path w="72390"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89" name="object 89"/>
              <p:cNvSpPr/>
              <p:nvPr/>
            </p:nvSpPr>
            <p:spPr>
              <a:xfrm>
                <a:off x="770763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0960" y="0"/>
                    </a:lnTo>
                    <a:lnTo>
                      <a:pt x="60960" y="215900"/>
                    </a:lnTo>
                    <a:lnTo>
                      <a:pt x="64770" y="215900"/>
                    </a:lnTo>
                    <a:lnTo>
                      <a:pt x="64770" y="0"/>
                    </a:lnTo>
                    <a:close/>
                  </a:path>
                </a:pathLst>
              </a:custGeom>
              <a:solidFill>
                <a:srgbClr val="414141"/>
              </a:solidFill>
            </p:spPr>
            <p:txBody>
              <a:bodyPr wrap="square" lIns="0" tIns="0" rIns="0" bIns="0" rtlCol="0"/>
              <a:lstStyle/>
              <a:p>
                <a:endParaRPr/>
              </a:p>
            </p:txBody>
          </p:sp>
          <p:sp>
            <p:nvSpPr>
              <p:cNvPr id="90" name="object 90"/>
              <p:cNvSpPr/>
              <p:nvPr/>
            </p:nvSpPr>
            <p:spPr>
              <a:xfrm>
                <a:off x="7711440" y="1125219"/>
                <a:ext cx="57150" cy="215900"/>
              </a:xfrm>
              <a:custGeom>
                <a:avLst/>
                <a:gdLst/>
                <a:ahLst/>
                <a:cxnLst/>
                <a:rect l="l" t="t" r="r" b="b"/>
                <a:pathLst>
                  <a:path w="57150" h="215900">
                    <a:moveTo>
                      <a:pt x="2540" y="0"/>
                    </a:moveTo>
                    <a:lnTo>
                      <a:pt x="0" y="0"/>
                    </a:lnTo>
                    <a:lnTo>
                      <a:pt x="0" y="215900"/>
                    </a:lnTo>
                    <a:lnTo>
                      <a:pt x="2540" y="215900"/>
                    </a:lnTo>
                    <a:lnTo>
                      <a:pt x="2540" y="0"/>
                    </a:lnTo>
                    <a:close/>
                  </a:path>
                  <a:path w="57150" h="215900">
                    <a:moveTo>
                      <a:pt x="57150" y="0"/>
                    </a:moveTo>
                    <a:lnTo>
                      <a:pt x="54610" y="0"/>
                    </a:lnTo>
                    <a:lnTo>
                      <a:pt x="54610" y="215900"/>
                    </a:lnTo>
                    <a:lnTo>
                      <a:pt x="57150" y="215900"/>
                    </a:lnTo>
                    <a:lnTo>
                      <a:pt x="57150" y="0"/>
                    </a:lnTo>
                    <a:close/>
                  </a:path>
                </a:pathLst>
              </a:custGeom>
              <a:solidFill>
                <a:srgbClr val="434343"/>
              </a:solidFill>
            </p:spPr>
            <p:txBody>
              <a:bodyPr wrap="square" lIns="0" tIns="0" rIns="0" bIns="0" rtlCol="0"/>
              <a:lstStyle/>
              <a:p>
                <a:endParaRPr/>
              </a:p>
            </p:txBody>
          </p:sp>
          <p:sp>
            <p:nvSpPr>
              <p:cNvPr id="91" name="object 91"/>
              <p:cNvSpPr/>
              <p:nvPr/>
            </p:nvSpPr>
            <p:spPr>
              <a:xfrm>
                <a:off x="771398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92" name="object 92"/>
              <p:cNvSpPr/>
              <p:nvPr/>
            </p:nvSpPr>
            <p:spPr>
              <a:xfrm>
                <a:off x="771779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93" name="object 93"/>
              <p:cNvSpPr/>
              <p:nvPr/>
            </p:nvSpPr>
            <p:spPr>
              <a:xfrm>
                <a:off x="772160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94" name="object 94"/>
              <p:cNvSpPr/>
              <p:nvPr/>
            </p:nvSpPr>
            <p:spPr>
              <a:xfrm>
                <a:off x="7725410" y="1125219"/>
                <a:ext cx="29209" cy="215900"/>
              </a:xfrm>
              <a:custGeom>
                <a:avLst/>
                <a:gdLst/>
                <a:ahLst/>
                <a:cxnLst/>
                <a:rect l="l" t="t" r="r" b="b"/>
                <a:pathLst>
                  <a:path w="29209" h="215900">
                    <a:moveTo>
                      <a:pt x="3810" y="0"/>
                    </a:moveTo>
                    <a:lnTo>
                      <a:pt x="0" y="0"/>
                    </a:lnTo>
                    <a:lnTo>
                      <a:pt x="0" y="215900"/>
                    </a:lnTo>
                    <a:lnTo>
                      <a:pt x="3810" y="215900"/>
                    </a:lnTo>
                    <a:lnTo>
                      <a:pt x="3810" y="0"/>
                    </a:lnTo>
                    <a:close/>
                  </a:path>
                  <a:path w="29209"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95" name="object 95"/>
              <p:cNvSpPr/>
              <p:nvPr/>
            </p:nvSpPr>
            <p:spPr>
              <a:xfrm>
                <a:off x="7729220" y="1125219"/>
                <a:ext cx="21590" cy="215900"/>
              </a:xfrm>
              <a:custGeom>
                <a:avLst/>
                <a:gdLst/>
                <a:ahLst/>
                <a:cxnLst/>
                <a:rect l="l" t="t" r="r" b="b"/>
                <a:pathLst>
                  <a:path w="21590" h="215900">
                    <a:moveTo>
                      <a:pt x="3810" y="0"/>
                    </a:moveTo>
                    <a:lnTo>
                      <a:pt x="0" y="0"/>
                    </a:lnTo>
                    <a:lnTo>
                      <a:pt x="0" y="215900"/>
                    </a:lnTo>
                    <a:lnTo>
                      <a:pt x="3810" y="215900"/>
                    </a:lnTo>
                    <a:lnTo>
                      <a:pt x="3810" y="0"/>
                    </a:lnTo>
                    <a:close/>
                  </a:path>
                  <a:path w="21590"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96" name="object 96"/>
              <p:cNvSpPr/>
              <p:nvPr/>
            </p:nvSpPr>
            <p:spPr>
              <a:xfrm>
                <a:off x="773303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97" name="object 97"/>
              <p:cNvSpPr/>
              <p:nvPr/>
            </p:nvSpPr>
            <p:spPr>
              <a:xfrm>
                <a:off x="773683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98" name="object 98"/>
            <p:cNvGrpSpPr/>
            <p:nvPr/>
          </p:nvGrpSpPr>
          <p:grpSpPr>
            <a:xfrm>
              <a:off x="2986980" y="1111191"/>
              <a:ext cx="1898014" cy="1538605"/>
              <a:chOff x="1462980" y="1111190"/>
              <a:chExt cx="1898014" cy="1538605"/>
            </a:xfrm>
          </p:grpSpPr>
          <p:sp>
            <p:nvSpPr>
              <p:cNvPr id="99" name="object 99"/>
              <p:cNvSpPr/>
              <p:nvPr/>
            </p:nvSpPr>
            <p:spPr>
              <a:xfrm>
                <a:off x="1475740"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100" name="object 100"/>
              <p:cNvSpPr/>
              <p:nvPr/>
            </p:nvSpPr>
            <p:spPr>
              <a:xfrm>
                <a:off x="1475740"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101" name="object 101"/>
              <p:cNvSpPr/>
              <p:nvPr/>
            </p:nvSpPr>
            <p:spPr>
              <a:xfrm>
                <a:off x="1691640" y="1628140"/>
                <a:ext cx="1367790" cy="143510"/>
              </a:xfrm>
              <a:custGeom>
                <a:avLst/>
                <a:gdLst/>
                <a:ahLst/>
                <a:cxnLst/>
                <a:rect l="l" t="t" r="r" b="b"/>
                <a:pathLst>
                  <a:path w="1367789" h="143510">
                    <a:moveTo>
                      <a:pt x="1367790" y="0"/>
                    </a:moveTo>
                    <a:lnTo>
                      <a:pt x="0" y="0"/>
                    </a:lnTo>
                    <a:lnTo>
                      <a:pt x="0" y="143510"/>
                    </a:lnTo>
                    <a:lnTo>
                      <a:pt x="683260" y="143510"/>
                    </a:lnTo>
                    <a:lnTo>
                      <a:pt x="1367790" y="143510"/>
                    </a:lnTo>
                    <a:lnTo>
                      <a:pt x="1367790" y="0"/>
                    </a:lnTo>
                    <a:close/>
                  </a:path>
                </a:pathLst>
              </a:custGeom>
              <a:solidFill>
                <a:srgbClr val="FFFFFF"/>
              </a:solidFill>
            </p:spPr>
            <p:txBody>
              <a:bodyPr wrap="square" lIns="0" tIns="0" rIns="0" bIns="0" rtlCol="0"/>
              <a:lstStyle/>
              <a:p>
                <a:endParaRPr/>
              </a:p>
            </p:txBody>
          </p:sp>
          <p:sp>
            <p:nvSpPr>
              <p:cNvPr id="102" name="object 102"/>
              <p:cNvSpPr/>
              <p:nvPr/>
            </p:nvSpPr>
            <p:spPr>
              <a:xfrm>
                <a:off x="1691640" y="1628140"/>
                <a:ext cx="1367790" cy="143510"/>
              </a:xfrm>
              <a:custGeom>
                <a:avLst/>
                <a:gdLst/>
                <a:ahLst/>
                <a:cxnLst/>
                <a:rect l="l" t="t" r="r" b="b"/>
                <a:pathLst>
                  <a:path w="1367789" h="143510">
                    <a:moveTo>
                      <a:pt x="683260" y="143510"/>
                    </a:moveTo>
                    <a:lnTo>
                      <a:pt x="0" y="143510"/>
                    </a:lnTo>
                    <a:lnTo>
                      <a:pt x="0" y="0"/>
                    </a:lnTo>
                    <a:lnTo>
                      <a:pt x="1367790" y="0"/>
                    </a:lnTo>
                    <a:lnTo>
                      <a:pt x="1367790" y="143510"/>
                    </a:lnTo>
                    <a:lnTo>
                      <a:pt x="683260" y="143510"/>
                    </a:lnTo>
                    <a:close/>
                  </a:path>
                </a:pathLst>
              </a:custGeom>
              <a:ln w="25518">
                <a:solidFill>
                  <a:srgbClr val="000000"/>
                </a:solidFill>
              </a:ln>
            </p:spPr>
            <p:txBody>
              <a:bodyPr wrap="square" lIns="0" tIns="0" rIns="0" bIns="0" rtlCol="0"/>
              <a:lstStyle/>
              <a:p>
                <a:endParaRPr/>
              </a:p>
            </p:txBody>
          </p:sp>
          <p:sp>
            <p:nvSpPr>
              <p:cNvPr id="103" name="object 103"/>
              <p:cNvSpPr/>
              <p:nvPr/>
            </p:nvSpPr>
            <p:spPr>
              <a:xfrm>
                <a:off x="1691640" y="1484630"/>
                <a:ext cx="0" cy="1008380"/>
              </a:xfrm>
              <a:custGeom>
                <a:avLst/>
                <a:gdLst/>
                <a:ahLst/>
                <a:cxnLst/>
                <a:rect l="l" t="t" r="r" b="b"/>
                <a:pathLst>
                  <a:path h="1008380">
                    <a:moveTo>
                      <a:pt x="0" y="0"/>
                    </a:moveTo>
                    <a:lnTo>
                      <a:pt x="0" y="1008380"/>
                    </a:lnTo>
                  </a:path>
                </a:pathLst>
              </a:custGeom>
              <a:ln w="9344">
                <a:solidFill>
                  <a:srgbClr val="000000"/>
                </a:solidFill>
              </a:ln>
            </p:spPr>
            <p:txBody>
              <a:bodyPr wrap="square" lIns="0" tIns="0" rIns="0" bIns="0" rtlCol="0"/>
              <a:lstStyle/>
              <a:p>
                <a:endParaRPr/>
              </a:p>
            </p:txBody>
          </p:sp>
          <p:sp>
            <p:nvSpPr>
              <p:cNvPr id="104" name="object 104"/>
              <p:cNvSpPr/>
              <p:nvPr/>
            </p:nvSpPr>
            <p:spPr>
              <a:xfrm>
                <a:off x="1475740" y="1125219"/>
                <a:ext cx="1870710" cy="215900"/>
              </a:xfrm>
              <a:custGeom>
                <a:avLst/>
                <a:gdLst/>
                <a:ahLst/>
                <a:cxnLst/>
                <a:rect l="l" t="t" r="r" b="b"/>
                <a:pathLst>
                  <a:path w="1870710" h="215900">
                    <a:moveTo>
                      <a:pt x="786511" y="0"/>
                    </a:moveTo>
                    <a:lnTo>
                      <a:pt x="0" y="0"/>
                    </a:lnTo>
                    <a:lnTo>
                      <a:pt x="0" y="40640"/>
                    </a:lnTo>
                    <a:lnTo>
                      <a:pt x="0" y="173990"/>
                    </a:lnTo>
                    <a:lnTo>
                      <a:pt x="0" y="214630"/>
                    </a:lnTo>
                    <a:lnTo>
                      <a:pt x="786511" y="214630"/>
                    </a:lnTo>
                    <a:lnTo>
                      <a:pt x="786511" y="173990"/>
                    </a:lnTo>
                    <a:lnTo>
                      <a:pt x="786130" y="173990"/>
                    </a:lnTo>
                    <a:lnTo>
                      <a:pt x="786130" y="40640"/>
                    </a:lnTo>
                    <a:lnTo>
                      <a:pt x="786511" y="40640"/>
                    </a:lnTo>
                    <a:lnTo>
                      <a:pt x="786511" y="0"/>
                    </a:lnTo>
                    <a:close/>
                  </a:path>
                  <a:path w="1870710" h="215900">
                    <a:moveTo>
                      <a:pt x="1084580" y="214630"/>
                    </a:moveTo>
                    <a:lnTo>
                      <a:pt x="786892" y="214630"/>
                    </a:lnTo>
                    <a:lnTo>
                      <a:pt x="786917" y="215900"/>
                    </a:lnTo>
                    <a:lnTo>
                      <a:pt x="1084580" y="215900"/>
                    </a:lnTo>
                    <a:lnTo>
                      <a:pt x="1084580" y="214630"/>
                    </a:lnTo>
                    <a:close/>
                  </a:path>
                  <a:path w="1870710" h="215900">
                    <a:moveTo>
                      <a:pt x="1870710" y="0"/>
                    </a:moveTo>
                    <a:lnTo>
                      <a:pt x="1084580" y="0"/>
                    </a:lnTo>
                    <a:lnTo>
                      <a:pt x="1084580" y="214630"/>
                    </a:lnTo>
                    <a:lnTo>
                      <a:pt x="1870710" y="214630"/>
                    </a:lnTo>
                    <a:lnTo>
                      <a:pt x="1870710" y="0"/>
                    </a:lnTo>
                    <a:close/>
                  </a:path>
                </a:pathLst>
              </a:custGeom>
              <a:solidFill>
                <a:srgbClr val="000000"/>
              </a:solidFill>
            </p:spPr>
            <p:txBody>
              <a:bodyPr wrap="square" lIns="0" tIns="0" rIns="0" bIns="0" rtlCol="0"/>
              <a:lstStyle/>
              <a:p>
                <a:endParaRPr/>
              </a:p>
            </p:txBody>
          </p:sp>
          <p:sp>
            <p:nvSpPr>
              <p:cNvPr id="105" name="object 105"/>
              <p:cNvSpPr/>
              <p:nvPr/>
            </p:nvSpPr>
            <p:spPr>
              <a:xfrm>
                <a:off x="2261870" y="1125219"/>
                <a:ext cx="298450" cy="215900"/>
              </a:xfrm>
              <a:custGeom>
                <a:avLst/>
                <a:gdLst/>
                <a:ahLst/>
                <a:cxnLst/>
                <a:rect l="l" t="t" r="r" b="b"/>
                <a:pathLst>
                  <a:path w="298450" h="215900">
                    <a:moveTo>
                      <a:pt x="3810" y="0"/>
                    </a:moveTo>
                    <a:lnTo>
                      <a:pt x="381" y="0"/>
                    </a:lnTo>
                    <a:lnTo>
                      <a:pt x="381" y="40640"/>
                    </a:lnTo>
                    <a:lnTo>
                      <a:pt x="0" y="40640"/>
                    </a:lnTo>
                    <a:lnTo>
                      <a:pt x="0" y="173990"/>
                    </a:lnTo>
                    <a:lnTo>
                      <a:pt x="393" y="173990"/>
                    </a:lnTo>
                    <a:lnTo>
                      <a:pt x="393" y="215900"/>
                    </a:lnTo>
                    <a:lnTo>
                      <a:pt x="3810" y="215900"/>
                    </a:lnTo>
                    <a:lnTo>
                      <a:pt x="3810" y="173990"/>
                    </a:lnTo>
                    <a:lnTo>
                      <a:pt x="3810" y="4064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06" name="object 106"/>
              <p:cNvSpPr/>
              <p:nvPr/>
            </p:nvSpPr>
            <p:spPr>
              <a:xfrm>
                <a:off x="2265680" y="1125219"/>
                <a:ext cx="290830" cy="215900"/>
              </a:xfrm>
              <a:custGeom>
                <a:avLst/>
                <a:gdLst/>
                <a:ahLst/>
                <a:cxnLst/>
                <a:rect l="l" t="t" r="r" b="b"/>
                <a:pathLst>
                  <a:path w="290830" h="215900">
                    <a:moveTo>
                      <a:pt x="3810" y="0"/>
                    </a:moveTo>
                    <a:lnTo>
                      <a:pt x="0" y="0"/>
                    </a:lnTo>
                    <a:lnTo>
                      <a:pt x="0" y="215900"/>
                    </a:lnTo>
                    <a:lnTo>
                      <a:pt x="3810" y="215900"/>
                    </a:lnTo>
                    <a:lnTo>
                      <a:pt x="3810" y="0"/>
                    </a:lnTo>
                    <a:close/>
                  </a:path>
                  <a:path w="290830"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07" name="object 107"/>
              <p:cNvSpPr/>
              <p:nvPr/>
            </p:nvSpPr>
            <p:spPr>
              <a:xfrm>
                <a:off x="2269490" y="1125219"/>
                <a:ext cx="283845" cy="215900"/>
              </a:xfrm>
              <a:custGeom>
                <a:avLst/>
                <a:gdLst/>
                <a:ahLst/>
                <a:cxnLst/>
                <a:rect l="l" t="t" r="r" b="b"/>
                <a:pathLst>
                  <a:path w="283844" h="215900">
                    <a:moveTo>
                      <a:pt x="3810" y="0"/>
                    </a:moveTo>
                    <a:lnTo>
                      <a:pt x="0" y="0"/>
                    </a:lnTo>
                    <a:lnTo>
                      <a:pt x="0" y="215900"/>
                    </a:lnTo>
                    <a:lnTo>
                      <a:pt x="3810" y="215900"/>
                    </a:lnTo>
                    <a:lnTo>
                      <a:pt x="3810" y="0"/>
                    </a:lnTo>
                    <a:close/>
                  </a:path>
                  <a:path w="283844" h="215900">
                    <a:moveTo>
                      <a:pt x="283845" y="107950"/>
                    </a:moveTo>
                    <a:lnTo>
                      <a:pt x="283832" y="40640"/>
                    </a:lnTo>
                    <a:lnTo>
                      <a:pt x="283210" y="40640"/>
                    </a:lnTo>
                    <a:lnTo>
                      <a:pt x="283210" y="0"/>
                    </a:lnTo>
                    <a:lnTo>
                      <a:pt x="280276" y="0"/>
                    </a:lnTo>
                    <a:lnTo>
                      <a:pt x="280276" y="40640"/>
                    </a:lnTo>
                    <a:lnTo>
                      <a:pt x="280670" y="40640"/>
                    </a:lnTo>
                    <a:lnTo>
                      <a:pt x="280670" y="107950"/>
                    </a:lnTo>
                    <a:lnTo>
                      <a:pt x="280670" y="173990"/>
                    </a:lnTo>
                    <a:lnTo>
                      <a:pt x="280263" y="173990"/>
                    </a:lnTo>
                    <a:lnTo>
                      <a:pt x="280263" y="215900"/>
                    </a:lnTo>
                    <a:lnTo>
                      <a:pt x="283210" y="215900"/>
                    </a:lnTo>
                    <a:lnTo>
                      <a:pt x="283210" y="173990"/>
                    </a:lnTo>
                    <a:lnTo>
                      <a:pt x="283845" y="173990"/>
                    </a:lnTo>
                    <a:lnTo>
                      <a:pt x="283845" y="107950"/>
                    </a:lnTo>
                    <a:close/>
                  </a:path>
                </a:pathLst>
              </a:custGeom>
              <a:solidFill>
                <a:srgbClr val="050505"/>
              </a:solidFill>
            </p:spPr>
            <p:txBody>
              <a:bodyPr wrap="square" lIns="0" tIns="0" rIns="0" bIns="0" rtlCol="0"/>
              <a:lstStyle/>
              <a:p>
                <a:endParaRPr/>
              </a:p>
            </p:txBody>
          </p:sp>
          <p:sp>
            <p:nvSpPr>
              <p:cNvPr id="108" name="object 108"/>
              <p:cNvSpPr/>
              <p:nvPr/>
            </p:nvSpPr>
            <p:spPr>
              <a:xfrm>
                <a:off x="2273300" y="1125219"/>
                <a:ext cx="276860" cy="215900"/>
              </a:xfrm>
              <a:custGeom>
                <a:avLst/>
                <a:gdLst/>
                <a:ahLst/>
                <a:cxnLst/>
                <a:rect l="l" t="t" r="r" b="b"/>
                <a:pathLst>
                  <a:path w="276860" h="215900">
                    <a:moveTo>
                      <a:pt x="2933" y="0"/>
                    </a:moveTo>
                    <a:lnTo>
                      <a:pt x="0" y="0"/>
                    </a:lnTo>
                    <a:lnTo>
                      <a:pt x="0" y="40640"/>
                    </a:lnTo>
                    <a:lnTo>
                      <a:pt x="0" y="173990"/>
                    </a:lnTo>
                    <a:lnTo>
                      <a:pt x="0" y="215900"/>
                    </a:lnTo>
                    <a:lnTo>
                      <a:pt x="2933" y="215900"/>
                    </a:lnTo>
                    <a:lnTo>
                      <a:pt x="2933" y="173990"/>
                    </a:lnTo>
                    <a:lnTo>
                      <a:pt x="2540" y="173990"/>
                    </a:lnTo>
                    <a:lnTo>
                      <a:pt x="2540" y="40640"/>
                    </a:lnTo>
                    <a:lnTo>
                      <a:pt x="2933" y="40640"/>
                    </a:lnTo>
                    <a:lnTo>
                      <a:pt x="2933" y="0"/>
                    </a:lnTo>
                    <a:close/>
                  </a:path>
                  <a:path w="276860" h="215900">
                    <a:moveTo>
                      <a:pt x="276860" y="40640"/>
                    </a:moveTo>
                    <a:lnTo>
                      <a:pt x="276466" y="40640"/>
                    </a:lnTo>
                    <a:lnTo>
                      <a:pt x="276466" y="0"/>
                    </a:lnTo>
                    <a:lnTo>
                      <a:pt x="272643" y="0"/>
                    </a:lnTo>
                    <a:lnTo>
                      <a:pt x="272643" y="40640"/>
                    </a:lnTo>
                    <a:lnTo>
                      <a:pt x="273050" y="40640"/>
                    </a:lnTo>
                    <a:lnTo>
                      <a:pt x="273050" y="173990"/>
                    </a:lnTo>
                    <a:lnTo>
                      <a:pt x="272643" y="173990"/>
                    </a:lnTo>
                    <a:lnTo>
                      <a:pt x="272643" y="215900"/>
                    </a:lnTo>
                    <a:lnTo>
                      <a:pt x="276453" y="215900"/>
                    </a:lnTo>
                    <a:lnTo>
                      <a:pt x="276453" y="173990"/>
                    </a:lnTo>
                    <a:lnTo>
                      <a:pt x="276860" y="173990"/>
                    </a:lnTo>
                    <a:lnTo>
                      <a:pt x="276860" y="40640"/>
                    </a:lnTo>
                    <a:close/>
                  </a:path>
                </a:pathLst>
              </a:custGeom>
              <a:solidFill>
                <a:srgbClr val="070707"/>
              </a:solidFill>
            </p:spPr>
            <p:txBody>
              <a:bodyPr wrap="square" lIns="0" tIns="0" rIns="0" bIns="0" rtlCol="0"/>
              <a:lstStyle/>
              <a:p>
                <a:endParaRPr/>
              </a:p>
            </p:txBody>
          </p:sp>
          <p:sp>
            <p:nvSpPr>
              <p:cNvPr id="109" name="object 109"/>
              <p:cNvSpPr/>
              <p:nvPr/>
            </p:nvSpPr>
            <p:spPr>
              <a:xfrm>
                <a:off x="227584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700" y="0"/>
                    </a:lnTo>
                    <a:lnTo>
                      <a:pt x="266700" y="40640"/>
                    </a:lnTo>
                    <a:lnTo>
                      <a:pt x="266700" y="173990"/>
                    </a:lnTo>
                    <a:lnTo>
                      <a:pt x="266700"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10" name="object 110"/>
              <p:cNvSpPr/>
              <p:nvPr/>
            </p:nvSpPr>
            <p:spPr>
              <a:xfrm>
                <a:off x="227965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0"/>
                    </a:moveTo>
                    <a:lnTo>
                      <a:pt x="259080" y="0"/>
                    </a:lnTo>
                    <a:lnTo>
                      <a:pt x="259080" y="215900"/>
                    </a:lnTo>
                    <a:lnTo>
                      <a:pt x="262890" y="215900"/>
                    </a:lnTo>
                    <a:lnTo>
                      <a:pt x="262890" y="0"/>
                    </a:lnTo>
                    <a:close/>
                  </a:path>
                </a:pathLst>
              </a:custGeom>
              <a:solidFill>
                <a:srgbClr val="0B0B0B"/>
              </a:solidFill>
            </p:spPr>
            <p:txBody>
              <a:bodyPr wrap="square" lIns="0" tIns="0" rIns="0" bIns="0" rtlCol="0"/>
              <a:lstStyle/>
              <a:p>
                <a:endParaRPr/>
              </a:p>
            </p:txBody>
          </p:sp>
          <p:sp>
            <p:nvSpPr>
              <p:cNvPr id="111" name="object 111"/>
              <p:cNvSpPr/>
              <p:nvPr/>
            </p:nvSpPr>
            <p:spPr>
              <a:xfrm>
                <a:off x="2283460" y="1125219"/>
                <a:ext cx="255270" cy="215900"/>
              </a:xfrm>
              <a:custGeom>
                <a:avLst/>
                <a:gdLst/>
                <a:ahLst/>
                <a:cxnLst/>
                <a:rect l="l" t="t" r="r" b="b"/>
                <a:pathLst>
                  <a:path w="25526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69"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12" name="object 112"/>
              <p:cNvSpPr/>
              <p:nvPr/>
            </p:nvSpPr>
            <p:spPr>
              <a:xfrm>
                <a:off x="2287270" y="1125219"/>
                <a:ext cx="247650" cy="215900"/>
              </a:xfrm>
              <a:custGeom>
                <a:avLst/>
                <a:gdLst/>
                <a:ahLst/>
                <a:cxnLst/>
                <a:rect l="l" t="t" r="r" b="b"/>
                <a:pathLst>
                  <a:path w="247650" h="215900">
                    <a:moveTo>
                      <a:pt x="4229" y="172720"/>
                    </a:moveTo>
                    <a:lnTo>
                      <a:pt x="3810" y="172720"/>
                    </a:lnTo>
                    <a:lnTo>
                      <a:pt x="3810" y="41910"/>
                    </a:lnTo>
                    <a:lnTo>
                      <a:pt x="4216" y="41910"/>
                    </a:lnTo>
                    <a:lnTo>
                      <a:pt x="4216" y="0"/>
                    </a:lnTo>
                    <a:lnTo>
                      <a:pt x="393" y="0"/>
                    </a:lnTo>
                    <a:lnTo>
                      <a:pt x="393" y="41910"/>
                    </a:lnTo>
                    <a:lnTo>
                      <a:pt x="0" y="41910"/>
                    </a:lnTo>
                    <a:lnTo>
                      <a:pt x="0" y="172720"/>
                    </a:lnTo>
                    <a:lnTo>
                      <a:pt x="406" y="172720"/>
                    </a:lnTo>
                    <a:lnTo>
                      <a:pt x="406" y="215900"/>
                    </a:lnTo>
                    <a:lnTo>
                      <a:pt x="4229" y="215900"/>
                    </a:lnTo>
                    <a:lnTo>
                      <a:pt x="4229" y="17272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113" name="object 113"/>
              <p:cNvSpPr/>
              <p:nvPr/>
            </p:nvSpPr>
            <p:spPr>
              <a:xfrm>
                <a:off x="2291080" y="1125219"/>
                <a:ext cx="240029" cy="215900"/>
              </a:xfrm>
              <a:custGeom>
                <a:avLst/>
                <a:gdLst/>
                <a:ahLst/>
                <a:cxnLst/>
                <a:rect l="l" t="t" r="r" b="b"/>
                <a:pathLst>
                  <a:path w="240030" h="215900">
                    <a:moveTo>
                      <a:pt x="3810" y="0"/>
                    </a:moveTo>
                    <a:lnTo>
                      <a:pt x="406" y="0"/>
                    </a:lnTo>
                    <a:lnTo>
                      <a:pt x="406" y="41910"/>
                    </a:lnTo>
                    <a:lnTo>
                      <a:pt x="0" y="41910"/>
                    </a:lnTo>
                    <a:lnTo>
                      <a:pt x="0" y="172720"/>
                    </a:lnTo>
                    <a:lnTo>
                      <a:pt x="419" y="172720"/>
                    </a:lnTo>
                    <a:lnTo>
                      <a:pt x="419" y="215900"/>
                    </a:lnTo>
                    <a:lnTo>
                      <a:pt x="3810" y="215900"/>
                    </a:lnTo>
                    <a:lnTo>
                      <a:pt x="3810" y="172720"/>
                    </a:lnTo>
                    <a:lnTo>
                      <a:pt x="3810" y="41910"/>
                    </a:lnTo>
                    <a:lnTo>
                      <a:pt x="3810" y="0"/>
                    </a:lnTo>
                    <a:close/>
                  </a:path>
                  <a:path w="240030"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114" name="object 114"/>
              <p:cNvSpPr/>
              <p:nvPr/>
            </p:nvSpPr>
            <p:spPr>
              <a:xfrm>
                <a:off x="229489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115" name="object 115"/>
              <p:cNvSpPr/>
              <p:nvPr/>
            </p:nvSpPr>
            <p:spPr>
              <a:xfrm>
                <a:off x="229870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116" name="object 116"/>
              <p:cNvSpPr/>
              <p:nvPr/>
            </p:nvSpPr>
            <p:spPr>
              <a:xfrm>
                <a:off x="230124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117" name="object 117"/>
              <p:cNvSpPr/>
              <p:nvPr/>
            </p:nvSpPr>
            <p:spPr>
              <a:xfrm>
                <a:off x="230505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118" name="object 118"/>
              <p:cNvSpPr/>
              <p:nvPr/>
            </p:nvSpPr>
            <p:spPr>
              <a:xfrm>
                <a:off x="2308860" y="1125219"/>
                <a:ext cx="204470" cy="215900"/>
              </a:xfrm>
              <a:custGeom>
                <a:avLst/>
                <a:gdLst/>
                <a:ahLst/>
                <a:cxnLst/>
                <a:rect l="l" t="t" r="r" b="b"/>
                <a:pathLst>
                  <a:path w="204469" h="215900">
                    <a:moveTo>
                      <a:pt x="3810" y="0"/>
                    </a:moveTo>
                    <a:lnTo>
                      <a:pt x="0" y="0"/>
                    </a:lnTo>
                    <a:lnTo>
                      <a:pt x="0" y="215900"/>
                    </a:lnTo>
                    <a:lnTo>
                      <a:pt x="3810" y="215900"/>
                    </a:lnTo>
                    <a:lnTo>
                      <a:pt x="3810" y="0"/>
                    </a:lnTo>
                    <a:close/>
                  </a:path>
                  <a:path w="204469"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119" name="object 119"/>
              <p:cNvSpPr/>
              <p:nvPr/>
            </p:nvSpPr>
            <p:spPr>
              <a:xfrm>
                <a:off x="231267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120" name="object 120"/>
              <p:cNvSpPr/>
              <p:nvPr/>
            </p:nvSpPr>
            <p:spPr>
              <a:xfrm>
                <a:off x="2316480" y="1125219"/>
                <a:ext cx="189230" cy="215900"/>
              </a:xfrm>
              <a:custGeom>
                <a:avLst/>
                <a:gdLst/>
                <a:ahLst/>
                <a:cxnLst/>
                <a:rect l="l" t="t" r="r" b="b"/>
                <a:pathLst>
                  <a:path w="189230" h="215900">
                    <a:moveTo>
                      <a:pt x="3810" y="0"/>
                    </a:moveTo>
                    <a:lnTo>
                      <a:pt x="0" y="0"/>
                    </a:lnTo>
                    <a:lnTo>
                      <a:pt x="0" y="215900"/>
                    </a:lnTo>
                    <a:lnTo>
                      <a:pt x="3810" y="215900"/>
                    </a:lnTo>
                    <a:lnTo>
                      <a:pt x="3810" y="0"/>
                    </a:lnTo>
                    <a:close/>
                  </a:path>
                  <a:path w="189230"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121" name="object 121"/>
              <p:cNvSpPr/>
              <p:nvPr/>
            </p:nvSpPr>
            <p:spPr>
              <a:xfrm>
                <a:off x="232029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8638" y="0"/>
                    </a:lnTo>
                    <a:lnTo>
                      <a:pt x="178638" y="43180"/>
                    </a:lnTo>
                    <a:lnTo>
                      <a:pt x="179070" y="43180"/>
                    </a:lnTo>
                    <a:lnTo>
                      <a:pt x="179070" y="171450"/>
                    </a:lnTo>
                    <a:lnTo>
                      <a:pt x="178625" y="171450"/>
                    </a:lnTo>
                    <a:lnTo>
                      <a:pt x="178625" y="215900"/>
                    </a:lnTo>
                    <a:lnTo>
                      <a:pt x="181610" y="215900"/>
                    </a:lnTo>
                    <a:lnTo>
                      <a:pt x="181610" y="171450"/>
                    </a:lnTo>
                    <a:lnTo>
                      <a:pt x="181610" y="43180"/>
                    </a:lnTo>
                    <a:lnTo>
                      <a:pt x="181610" y="0"/>
                    </a:lnTo>
                    <a:close/>
                  </a:path>
                </a:pathLst>
              </a:custGeom>
              <a:solidFill>
                <a:srgbClr val="212121"/>
              </a:solidFill>
            </p:spPr>
            <p:txBody>
              <a:bodyPr wrap="square" lIns="0" tIns="0" rIns="0" bIns="0" rtlCol="0"/>
              <a:lstStyle/>
              <a:p>
                <a:endParaRPr/>
              </a:p>
            </p:txBody>
          </p:sp>
          <p:sp>
            <p:nvSpPr>
              <p:cNvPr id="122" name="object 122"/>
              <p:cNvSpPr/>
              <p:nvPr/>
            </p:nvSpPr>
            <p:spPr>
              <a:xfrm>
                <a:off x="2324100" y="1125219"/>
                <a:ext cx="175260" cy="215900"/>
              </a:xfrm>
              <a:custGeom>
                <a:avLst/>
                <a:gdLst/>
                <a:ahLst/>
                <a:cxnLst/>
                <a:rect l="l" t="t" r="r" b="b"/>
                <a:pathLst>
                  <a:path w="175260" h="215900">
                    <a:moveTo>
                      <a:pt x="3810" y="0"/>
                    </a:moveTo>
                    <a:lnTo>
                      <a:pt x="0" y="0"/>
                    </a:lnTo>
                    <a:lnTo>
                      <a:pt x="0" y="215900"/>
                    </a:lnTo>
                    <a:lnTo>
                      <a:pt x="3810" y="215900"/>
                    </a:lnTo>
                    <a:lnTo>
                      <a:pt x="3810" y="0"/>
                    </a:lnTo>
                    <a:close/>
                  </a:path>
                  <a:path w="175260" h="215900">
                    <a:moveTo>
                      <a:pt x="175260" y="43180"/>
                    </a:moveTo>
                    <a:lnTo>
                      <a:pt x="174828" y="43180"/>
                    </a:lnTo>
                    <a:lnTo>
                      <a:pt x="174828" y="0"/>
                    </a:lnTo>
                    <a:lnTo>
                      <a:pt x="171005" y="0"/>
                    </a:lnTo>
                    <a:lnTo>
                      <a:pt x="171005" y="43180"/>
                    </a:lnTo>
                    <a:lnTo>
                      <a:pt x="171450" y="43180"/>
                    </a:lnTo>
                    <a:lnTo>
                      <a:pt x="171450" y="171450"/>
                    </a:lnTo>
                    <a:lnTo>
                      <a:pt x="171005" y="171450"/>
                    </a:lnTo>
                    <a:lnTo>
                      <a:pt x="171005" y="215900"/>
                    </a:lnTo>
                    <a:lnTo>
                      <a:pt x="174815" y="215900"/>
                    </a:lnTo>
                    <a:lnTo>
                      <a:pt x="174815" y="171450"/>
                    </a:lnTo>
                    <a:lnTo>
                      <a:pt x="175260" y="171450"/>
                    </a:lnTo>
                    <a:lnTo>
                      <a:pt x="175260" y="43180"/>
                    </a:lnTo>
                    <a:close/>
                  </a:path>
                </a:pathLst>
              </a:custGeom>
              <a:solidFill>
                <a:srgbClr val="232323"/>
              </a:solidFill>
            </p:spPr>
            <p:txBody>
              <a:bodyPr wrap="square" lIns="0" tIns="0" rIns="0" bIns="0" rtlCol="0"/>
              <a:lstStyle/>
              <a:p>
                <a:endParaRPr/>
              </a:p>
            </p:txBody>
          </p:sp>
          <p:sp>
            <p:nvSpPr>
              <p:cNvPr id="123" name="object 123"/>
              <p:cNvSpPr/>
              <p:nvPr/>
            </p:nvSpPr>
            <p:spPr>
              <a:xfrm>
                <a:off x="232791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830" y="0"/>
                    </a:lnTo>
                    <a:lnTo>
                      <a:pt x="163830" y="43180"/>
                    </a:lnTo>
                    <a:lnTo>
                      <a:pt x="163830" y="171450"/>
                    </a:lnTo>
                    <a:lnTo>
                      <a:pt x="16383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124" name="object 124"/>
              <p:cNvSpPr/>
              <p:nvPr/>
            </p:nvSpPr>
            <p:spPr>
              <a:xfrm>
                <a:off x="2330450" y="1125219"/>
                <a:ext cx="161290" cy="215900"/>
              </a:xfrm>
              <a:custGeom>
                <a:avLst/>
                <a:gdLst/>
                <a:ahLst/>
                <a:cxnLst/>
                <a:rect l="l" t="t" r="r" b="b"/>
                <a:pathLst>
                  <a:path w="161289" h="215900">
                    <a:moveTo>
                      <a:pt x="4267" y="170180"/>
                    </a:moveTo>
                    <a:lnTo>
                      <a:pt x="3810" y="170180"/>
                    </a:lnTo>
                    <a:lnTo>
                      <a:pt x="3810" y="44450"/>
                    </a:lnTo>
                    <a:lnTo>
                      <a:pt x="4254" y="44450"/>
                    </a:lnTo>
                    <a:lnTo>
                      <a:pt x="4254" y="0"/>
                    </a:lnTo>
                    <a:lnTo>
                      <a:pt x="444" y="0"/>
                    </a:lnTo>
                    <a:lnTo>
                      <a:pt x="444" y="44450"/>
                    </a:lnTo>
                    <a:lnTo>
                      <a:pt x="0" y="44450"/>
                    </a:lnTo>
                    <a:lnTo>
                      <a:pt x="0" y="170180"/>
                    </a:lnTo>
                    <a:lnTo>
                      <a:pt x="457" y="170180"/>
                    </a:lnTo>
                    <a:lnTo>
                      <a:pt x="457" y="215900"/>
                    </a:lnTo>
                    <a:lnTo>
                      <a:pt x="4267" y="215900"/>
                    </a:lnTo>
                    <a:lnTo>
                      <a:pt x="4267" y="170180"/>
                    </a:lnTo>
                    <a:close/>
                  </a:path>
                  <a:path w="161289" h="215900">
                    <a:moveTo>
                      <a:pt x="161290" y="0"/>
                    </a:moveTo>
                    <a:lnTo>
                      <a:pt x="157480" y="0"/>
                    </a:lnTo>
                    <a:lnTo>
                      <a:pt x="157480" y="215900"/>
                    </a:lnTo>
                    <a:lnTo>
                      <a:pt x="161290" y="215900"/>
                    </a:lnTo>
                    <a:lnTo>
                      <a:pt x="161290" y="0"/>
                    </a:lnTo>
                    <a:close/>
                  </a:path>
                </a:pathLst>
              </a:custGeom>
              <a:solidFill>
                <a:srgbClr val="272727"/>
              </a:solidFill>
            </p:spPr>
            <p:txBody>
              <a:bodyPr wrap="square" lIns="0" tIns="0" rIns="0" bIns="0" rtlCol="0"/>
              <a:lstStyle/>
              <a:p>
                <a:endParaRPr/>
              </a:p>
            </p:txBody>
          </p:sp>
          <p:sp>
            <p:nvSpPr>
              <p:cNvPr id="125" name="object 125"/>
              <p:cNvSpPr/>
              <p:nvPr/>
            </p:nvSpPr>
            <p:spPr>
              <a:xfrm>
                <a:off x="2334260" y="1125219"/>
                <a:ext cx="153670" cy="215900"/>
              </a:xfrm>
              <a:custGeom>
                <a:avLst/>
                <a:gdLst/>
                <a:ahLst/>
                <a:cxnLst/>
                <a:rect l="l" t="t" r="r" b="b"/>
                <a:pathLst>
                  <a:path w="15366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53669"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126" name="object 126"/>
              <p:cNvSpPr/>
              <p:nvPr/>
            </p:nvSpPr>
            <p:spPr>
              <a:xfrm>
                <a:off x="2338070" y="1125219"/>
                <a:ext cx="146050" cy="215900"/>
              </a:xfrm>
              <a:custGeom>
                <a:avLst/>
                <a:gdLst/>
                <a:ahLst/>
                <a:cxnLst/>
                <a:rect l="l" t="t" r="r" b="b"/>
                <a:pathLst>
                  <a:path w="146050" h="215900">
                    <a:moveTo>
                      <a:pt x="4267" y="170180"/>
                    </a:moveTo>
                    <a:lnTo>
                      <a:pt x="3810" y="170180"/>
                    </a:lnTo>
                    <a:lnTo>
                      <a:pt x="3810" y="44450"/>
                    </a:lnTo>
                    <a:lnTo>
                      <a:pt x="4254" y="44450"/>
                    </a:lnTo>
                    <a:lnTo>
                      <a:pt x="4254" y="0"/>
                    </a:lnTo>
                    <a:lnTo>
                      <a:pt x="0" y="0"/>
                    </a:lnTo>
                    <a:lnTo>
                      <a:pt x="0" y="44450"/>
                    </a:lnTo>
                    <a:lnTo>
                      <a:pt x="0" y="170180"/>
                    </a:lnTo>
                    <a:lnTo>
                      <a:pt x="0" y="215900"/>
                    </a:lnTo>
                    <a:lnTo>
                      <a:pt x="4267" y="215900"/>
                    </a:lnTo>
                    <a:lnTo>
                      <a:pt x="4267" y="17018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127" name="object 127"/>
              <p:cNvSpPr/>
              <p:nvPr/>
            </p:nvSpPr>
            <p:spPr>
              <a:xfrm>
                <a:off x="2341880" y="1125219"/>
                <a:ext cx="138430" cy="215900"/>
              </a:xfrm>
              <a:custGeom>
                <a:avLst/>
                <a:gdLst/>
                <a:ahLst/>
                <a:cxnLst/>
                <a:rect l="l" t="t" r="r" b="b"/>
                <a:pathLst>
                  <a:path w="13843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38430"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128" name="object 128"/>
              <p:cNvSpPr/>
              <p:nvPr/>
            </p:nvSpPr>
            <p:spPr>
              <a:xfrm>
                <a:off x="234569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129" name="object 129"/>
              <p:cNvSpPr/>
              <p:nvPr/>
            </p:nvSpPr>
            <p:spPr>
              <a:xfrm>
                <a:off x="234950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20180" y="0"/>
                    </a:lnTo>
                    <a:lnTo>
                      <a:pt x="120180" y="45720"/>
                    </a:lnTo>
                    <a:lnTo>
                      <a:pt x="120650" y="45720"/>
                    </a:lnTo>
                    <a:lnTo>
                      <a:pt x="120650" y="170180"/>
                    </a:lnTo>
                    <a:lnTo>
                      <a:pt x="120167" y="170180"/>
                    </a:lnTo>
                    <a:lnTo>
                      <a:pt x="120167" y="215900"/>
                    </a:lnTo>
                    <a:lnTo>
                      <a:pt x="123190" y="215900"/>
                    </a:lnTo>
                    <a:lnTo>
                      <a:pt x="123190" y="170180"/>
                    </a:lnTo>
                    <a:lnTo>
                      <a:pt x="123190" y="45720"/>
                    </a:lnTo>
                    <a:lnTo>
                      <a:pt x="123190" y="0"/>
                    </a:lnTo>
                    <a:close/>
                  </a:path>
                </a:pathLst>
              </a:custGeom>
              <a:solidFill>
                <a:srgbClr val="313131"/>
              </a:solidFill>
            </p:spPr>
            <p:txBody>
              <a:bodyPr wrap="square" lIns="0" tIns="0" rIns="0" bIns="0" rtlCol="0"/>
              <a:lstStyle/>
              <a:p>
                <a:endParaRPr/>
              </a:p>
            </p:txBody>
          </p:sp>
          <p:sp>
            <p:nvSpPr>
              <p:cNvPr id="130" name="object 130"/>
              <p:cNvSpPr/>
              <p:nvPr/>
            </p:nvSpPr>
            <p:spPr>
              <a:xfrm>
                <a:off x="2353310" y="1125219"/>
                <a:ext cx="116839" cy="215900"/>
              </a:xfrm>
              <a:custGeom>
                <a:avLst/>
                <a:gdLst/>
                <a:ahLst/>
                <a:cxnLst/>
                <a:rect l="l" t="t" r="r" b="b"/>
                <a:pathLst>
                  <a:path w="116839" h="215900">
                    <a:moveTo>
                      <a:pt x="3810" y="0"/>
                    </a:moveTo>
                    <a:lnTo>
                      <a:pt x="0" y="0"/>
                    </a:lnTo>
                    <a:lnTo>
                      <a:pt x="0" y="215900"/>
                    </a:lnTo>
                    <a:lnTo>
                      <a:pt x="3810" y="215900"/>
                    </a:lnTo>
                    <a:lnTo>
                      <a:pt x="3810" y="0"/>
                    </a:lnTo>
                    <a:close/>
                  </a:path>
                  <a:path w="116839" h="215900">
                    <a:moveTo>
                      <a:pt x="116840" y="45720"/>
                    </a:moveTo>
                    <a:lnTo>
                      <a:pt x="116370" y="45720"/>
                    </a:lnTo>
                    <a:lnTo>
                      <a:pt x="116370" y="0"/>
                    </a:lnTo>
                    <a:lnTo>
                      <a:pt x="112560" y="0"/>
                    </a:lnTo>
                    <a:lnTo>
                      <a:pt x="112560" y="45720"/>
                    </a:lnTo>
                    <a:lnTo>
                      <a:pt x="113004" y="45720"/>
                    </a:lnTo>
                    <a:lnTo>
                      <a:pt x="113004" y="170180"/>
                    </a:lnTo>
                    <a:lnTo>
                      <a:pt x="112534" y="170180"/>
                    </a:lnTo>
                    <a:lnTo>
                      <a:pt x="112534" y="215900"/>
                    </a:lnTo>
                    <a:lnTo>
                      <a:pt x="116357" y="215900"/>
                    </a:lnTo>
                    <a:lnTo>
                      <a:pt x="116357" y="170180"/>
                    </a:lnTo>
                    <a:lnTo>
                      <a:pt x="116840" y="170180"/>
                    </a:lnTo>
                    <a:lnTo>
                      <a:pt x="116840" y="45720"/>
                    </a:lnTo>
                    <a:close/>
                  </a:path>
                </a:pathLst>
              </a:custGeom>
              <a:solidFill>
                <a:srgbClr val="333333"/>
              </a:solidFill>
            </p:spPr>
            <p:txBody>
              <a:bodyPr wrap="square" lIns="0" tIns="0" rIns="0" bIns="0" rtlCol="0"/>
              <a:lstStyle/>
              <a:p>
                <a:endParaRPr/>
              </a:p>
            </p:txBody>
          </p:sp>
          <p:sp>
            <p:nvSpPr>
              <p:cNvPr id="131" name="object 131"/>
              <p:cNvSpPr/>
              <p:nvPr/>
            </p:nvSpPr>
            <p:spPr>
              <a:xfrm>
                <a:off x="2357120" y="1125219"/>
                <a:ext cx="109220" cy="215900"/>
              </a:xfrm>
              <a:custGeom>
                <a:avLst/>
                <a:gdLst/>
                <a:ahLst/>
                <a:cxnLst/>
                <a:rect l="l" t="t" r="r" b="b"/>
                <a:pathLst>
                  <a:path w="109219"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09219" h="215900">
                    <a:moveTo>
                      <a:pt x="109220" y="45720"/>
                    </a:moveTo>
                    <a:lnTo>
                      <a:pt x="108750" y="45720"/>
                    </a:lnTo>
                    <a:lnTo>
                      <a:pt x="108750" y="0"/>
                    </a:lnTo>
                    <a:lnTo>
                      <a:pt x="105410" y="0"/>
                    </a:lnTo>
                    <a:lnTo>
                      <a:pt x="105410" y="45720"/>
                    </a:lnTo>
                    <a:lnTo>
                      <a:pt x="105410" y="168910"/>
                    </a:lnTo>
                    <a:lnTo>
                      <a:pt x="105410" y="215900"/>
                    </a:lnTo>
                    <a:lnTo>
                      <a:pt x="108737" y="215900"/>
                    </a:lnTo>
                    <a:lnTo>
                      <a:pt x="108737" y="168910"/>
                    </a:lnTo>
                    <a:lnTo>
                      <a:pt x="109220" y="168910"/>
                    </a:lnTo>
                    <a:lnTo>
                      <a:pt x="109220" y="45720"/>
                    </a:lnTo>
                    <a:close/>
                  </a:path>
                </a:pathLst>
              </a:custGeom>
              <a:solidFill>
                <a:srgbClr val="353535"/>
              </a:solidFill>
            </p:spPr>
            <p:txBody>
              <a:bodyPr wrap="square" lIns="0" tIns="0" rIns="0" bIns="0" rtlCol="0"/>
              <a:lstStyle/>
              <a:p>
                <a:endParaRPr/>
              </a:p>
            </p:txBody>
          </p:sp>
          <p:sp>
            <p:nvSpPr>
              <p:cNvPr id="132" name="object 132"/>
              <p:cNvSpPr/>
              <p:nvPr/>
            </p:nvSpPr>
            <p:spPr>
              <a:xfrm>
                <a:off x="2359660" y="1125219"/>
                <a:ext cx="102870" cy="215900"/>
              </a:xfrm>
              <a:custGeom>
                <a:avLst/>
                <a:gdLst/>
                <a:ahLst/>
                <a:cxnLst/>
                <a:rect l="l" t="t" r="r" b="b"/>
                <a:pathLst>
                  <a:path w="102869" h="215900">
                    <a:moveTo>
                      <a:pt x="4279" y="0"/>
                    </a:moveTo>
                    <a:lnTo>
                      <a:pt x="457" y="0"/>
                    </a:lnTo>
                    <a:lnTo>
                      <a:pt x="457" y="45720"/>
                    </a:lnTo>
                    <a:lnTo>
                      <a:pt x="0" y="45720"/>
                    </a:lnTo>
                    <a:lnTo>
                      <a:pt x="0" y="168910"/>
                    </a:lnTo>
                    <a:lnTo>
                      <a:pt x="469" y="168910"/>
                    </a:lnTo>
                    <a:lnTo>
                      <a:pt x="469" y="215900"/>
                    </a:lnTo>
                    <a:lnTo>
                      <a:pt x="4279" y="215900"/>
                    </a:lnTo>
                    <a:lnTo>
                      <a:pt x="4279" y="168910"/>
                    </a:lnTo>
                    <a:lnTo>
                      <a:pt x="3810" y="168910"/>
                    </a:lnTo>
                    <a:lnTo>
                      <a:pt x="3810" y="45720"/>
                    </a:lnTo>
                    <a:lnTo>
                      <a:pt x="4279" y="45720"/>
                    </a:lnTo>
                    <a:lnTo>
                      <a:pt x="4279" y="0"/>
                    </a:lnTo>
                    <a:close/>
                  </a:path>
                  <a:path w="102869"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133" name="object 133"/>
              <p:cNvSpPr/>
              <p:nvPr/>
            </p:nvSpPr>
            <p:spPr>
              <a:xfrm>
                <a:off x="2363470" y="1125219"/>
                <a:ext cx="95250" cy="215900"/>
              </a:xfrm>
              <a:custGeom>
                <a:avLst/>
                <a:gdLst/>
                <a:ahLst/>
                <a:cxnLst/>
                <a:rect l="l" t="t" r="r" b="b"/>
                <a:pathLst>
                  <a:path w="95250" h="215900">
                    <a:moveTo>
                      <a:pt x="3810" y="0"/>
                    </a:moveTo>
                    <a:lnTo>
                      <a:pt x="469" y="0"/>
                    </a:lnTo>
                    <a:lnTo>
                      <a:pt x="469" y="45720"/>
                    </a:lnTo>
                    <a:lnTo>
                      <a:pt x="0" y="45720"/>
                    </a:lnTo>
                    <a:lnTo>
                      <a:pt x="0" y="168910"/>
                    </a:lnTo>
                    <a:lnTo>
                      <a:pt x="469" y="168910"/>
                    </a:lnTo>
                    <a:lnTo>
                      <a:pt x="469" y="215900"/>
                    </a:lnTo>
                    <a:lnTo>
                      <a:pt x="3810" y="215900"/>
                    </a:lnTo>
                    <a:lnTo>
                      <a:pt x="3810" y="168910"/>
                    </a:lnTo>
                    <a:lnTo>
                      <a:pt x="3810" y="4572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134" name="object 134"/>
              <p:cNvSpPr/>
              <p:nvPr/>
            </p:nvSpPr>
            <p:spPr>
              <a:xfrm>
                <a:off x="2367280" y="1125219"/>
                <a:ext cx="87630" cy="215900"/>
              </a:xfrm>
              <a:custGeom>
                <a:avLst/>
                <a:gdLst/>
                <a:ahLst/>
                <a:cxnLst/>
                <a:rect l="l" t="t" r="r" b="b"/>
                <a:pathLst>
                  <a:path w="87630" h="215900">
                    <a:moveTo>
                      <a:pt x="3810" y="0"/>
                    </a:moveTo>
                    <a:lnTo>
                      <a:pt x="0" y="0"/>
                    </a:lnTo>
                    <a:lnTo>
                      <a:pt x="0" y="215900"/>
                    </a:lnTo>
                    <a:lnTo>
                      <a:pt x="3810" y="215900"/>
                    </a:lnTo>
                    <a:lnTo>
                      <a:pt x="3810" y="0"/>
                    </a:lnTo>
                    <a:close/>
                  </a:path>
                  <a:path w="87630"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135" name="object 135"/>
              <p:cNvSpPr/>
              <p:nvPr/>
            </p:nvSpPr>
            <p:spPr>
              <a:xfrm>
                <a:off x="237109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136" name="object 136"/>
              <p:cNvSpPr/>
              <p:nvPr/>
            </p:nvSpPr>
            <p:spPr>
              <a:xfrm>
                <a:off x="237490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137" name="object 137"/>
              <p:cNvSpPr/>
              <p:nvPr/>
            </p:nvSpPr>
            <p:spPr>
              <a:xfrm>
                <a:off x="2378710" y="1125219"/>
                <a:ext cx="64769" cy="215900"/>
              </a:xfrm>
              <a:custGeom>
                <a:avLst/>
                <a:gdLst/>
                <a:ahLst/>
                <a:cxnLst/>
                <a:rect l="l" t="t" r="r" b="b"/>
                <a:pathLst>
                  <a:path w="64769" h="215900">
                    <a:moveTo>
                      <a:pt x="3810" y="0"/>
                    </a:moveTo>
                    <a:lnTo>
                      <a:pt x="0" y="0"/>
                    </a:lnTo>
                    <a:lnTo>
                      <a:pt x="0" y="215900"/>
                    </a:lnTo>
                    <a:lnTo>
                      <a:pt x="3810" y="215900"/>
                    </a:lnTo>
                    <a:lnTo>
                      <a:pt x="3810" y="0"/>
                    </a:lnTo>
                    <a:close/>
                  </a:path>
                  <a:path w="64769"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138" name="object 138"/>
              <p:cNvSpPr/>
              <p:nvPr/>
            </p:nvSpPr>
            <p:spPr>
              <a:xfrm>
                <a:off x="2382520" y="1125219"/>
                <a:ext cx="58419" cy="215900"/>
              </a:xfrm>
              <a:custGeom>
                <a:avLst/>
                <a:gdLst/>
                <a:ahLst/>
                <a:cxnLst/>
                <a:rect l="l" t="t" r="r" b="b"/>
                <a:pathLst>
                  <a:path w="58419" h="215900">
                    <a:moveTo>
                      <a:pt x="3810" y="0"/>
                    </a:moveTo>
                    <a:lnTo>
                      <a:pt x="0" y="0"/>
                    </a:lnTo>
                    <a:lnTo>
                      <a:pt x="0" y="215900"/>
                    </a:lnTo>
                    <a:lnTo>
                      <a:pt x="3810" y="215900"/>
                    </a:lnTo>
                    <a:lnTo>
                      <a:pt x="3810" y="0"/>
                    </a:lnTo>
                    <a:close/>
                  </a:path>
                  <a:path w="58419"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139" name="object 139"/>
              <p:cNvSpPr/>
              <p:nvPr/>
            </p:nvSpPr>
            <p:spPr>
              <a:xfrm>
                <a:off x="2386330" y="1125219"/>
                <a:ext cx="50800" cy="215900"/>
              </a:xfrm>
              <a:custGeom>
                <a:avLst/>
                <a:gdLst/>
                <a:ahLst/>
                <a:cxnLst/>
                <a:rect l="l" t="t" r="r" b="b"/>
                <a:pathLst>
                  <a:path w="50800" h="215900">
                    <a:moveTo>
                      <a:pt x="2540" y="0"/>
                    </a:moveTo>
                    <a:lnTo>
                      <a:pt x="0" y="0"/>
                    </a:lnTo>
                    <a:lnTo>
                      <a:pt x="0" y="215900"/>
                    </a:lnTo>
                    <a:lnTo>
                      <a:pt x="2540" y="215900"/>
                    </a:lnTo>
                    <a:lnTo>
                      <a:pt x="2540" y="0"/>
                    </a:lnTo>
                    <a:close/>
                  </a:path>
                  <a:path w="50800" h="215900">
                    <a:moveTo>
                      <a:pt x="50800" y="0"/>
                    </a:moveTo>
                    <a:lnTo>
                      <a:pt x="46990" y="0"/>
                    </a:lnTo>
                    <a:lnTo>
                      <a:pt x="46990" y="215900"/>
                    </a:lnTo>
                    <a:lnTo>
                      <a:pt x="50800" y="215900"/>
                    </a:lnTo>
                    <a:lnTo>
                      <a:pt x="50800" y="0"/>
                    </a:lnTo>
                    <a:close/>
                  </a:path>
                </a:pathLst>
              </a:custGeom>
              <a:solidFill>
                <a:srgbClr val="454545"/>
              </a:solidFill>
            </p:spPr>
            <p:txBody>
              <a:bodyPr wrap="square" lIns="0" tIns="0" rIns="0" bIns="0" rtlCol="0"/>
              <a:lstStyle/>
              <a:p>
                <a:endParaRPr/>
              </a:p>
            </p:txBody>
          </p:sp>
          <p:sp>
            <p:nvSpPr>
              <p:cNvPr id="140" name="object 140"/>
              <p:cNvSpPr/>
              <p:nvPr/>
            </p:nvSpPr>
            <p:spPr>
              <a:xfrm>
                <a:off x="238887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141" name="object 141"/>
              <p:cNvSpPr/>
              <p:nvPr/>
            </p:nvSpPr>
            <p:spPr>
              <a:xfrm>
                <a:off x="2392680" y="1125219"/>
                <a:ext cx="36830" cy="215900"/>
              </a:xfrm>
              <a:custGeom>
                <a:avLst/>
                <a:gdLst/>
                <a:ahLst/>
                <a:cxnLst/>
                <a:rect l="l" t="t" r="r" b="b"/>
                <a:pathLst>
                  <a:path w="36830" h="215900">
                    <a:moveTo>
                      <a:pt x="3810" y="0"/>
                    </a:moveTo>
                    <a:lnTo>
                      <a:pt x="0" y="0"/>
                    </a:lnTo>
                    <a:lnTo>
                      <a:pt x="0" y="215900"/>
                    </a:lnTo>
                    <a:lnTo>
                      <a:pt x="3810" y="215900"/>
                    </a:lnTo>
                    <a:lnTo>
                      <a:pt x="3810" y="0"/>
                    </a:lnTo>
                    <a:close/>
                  </a:path>
                  <a:path w="36830"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142" name="object 142"/>
              <p:cNvSpPr/>
              <p:nvPr/>
            </p:nvSpPr>
            <p:spPr>
              <a:xfrm>
                <a:off x="239649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143" name="object 143"/>
              <p:cNvSpPr/>
              <p:nvPr/>
            </p:nvSpPr>
            <p:spPr>
              <a:xfrm>
                <a:off x="240030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144" name="object 144"/>
              <p:cNvSpPr/>
              <p:nvPr/>
            </p:nvSpPr>
            <p:spPr>
              <a:xfrm>
                <a:off x="2404110" y="1125219"/>
                <a:ext cx="13970" cy="215900"/>
              </a:xfrm>
              <a:custGeom>
                <a:avLst/>
                <a:gdLst/>
                <a:ahLst/>
                <a:cxnLst/>
                <a:rect l="l" t="t" r="r" b="b"/>
                <a:pathLst>
                  <a:path w="13969" h="215900">
                    <a:moveTo>
                      <a:pt x="3810" y="0"/>
                    </a:moveTo>
                    <a:lnTo>
                      <a:pt x="0" y="0"/>
                    </a:lnTo>
                    <a:lnTo>
                      <a:pt x="0" y="215900"/>
                    </a:lnTo>
                    <a:lnTo>
                      <a:pt x="3810" y="215900"/>
                    </a:lnTo>
                    <a:lnTo>
                      <a:pt x="3810" y="0"/>
                    </a:lnTo>
                    <a:close/>
                  </a:path>
                  <a:path w="13969"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145" name="object 145"/>
              <p:cNvSpPr/>
              <p:nvPr/>
            </p:nvSpPr>
            <p:spPr>
              <a:xfrm>
                <a:off x="240791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sp>
            <p:nvSpPr>
              <p:cNvPr id="146" name="object 146"/>
              <p:cNvSpPr/>
              <p:nvPr/>
            </p:nvSpPr>
            <p:spPr>
              <a:xfrm>
                <a:off x="1691640" y="1916430"/>
                <a:ext cx="791210" cy="143510"/>
              </a:xfrm>
              <a:custGeom>
                <a:avLst/>
                <a:gdLst/>
                <a:ahLst/>
                <a:cxnLst/>
                <a:rect l="l" t="t" r="r" b="b"/>
                <a:pathLst>
                  <a:path w="791210" h="143510">
                    <a:moveTo>
                      <a:pt x="791210" y="0"/>
                    </a:moveTo>
                    <a:lnTo>
                      <a:pt x="0" y="0"/>
                    </a:lnTo>
                    <a:lnTo>
                      <a:pt x="0" y="143510"/>
                    </a:lnTo>
                    <a:lnTo>
                      <a:pt x="396240" y="143510"/>
                    </a:lnTo>
                    <a:lnTo>
                      <a:pt x="791210" y="143510"/>
                    </a:lnTo>
                    <a:lnTo>
                      <a:pt x="791210" y="0"/>
                    </a:lnTo>
                    <a:close/>
                  </a:path>
                </a:pathLst>
              </a:custGeom>
              <a:solidFill>
                <a:srgbClr val="FFFFFF"/>
              </a:solidFill>
            </p:spPr>
            <p:txBody>
              <a:bodyPr wrap="square" lIns="0" tIns="0" rIns="0" bIns="0" rtlCol="0"/>
              <a:lstStyle/>
              <a:p>
                <a:endParaRPr/>
              </a:p>
            </p:txBody>
          </p:sp>
          <p:sp>
            <p:nvSpPr>
              <p:cNvPr id="147" name="object 147"/>
              <p:cNvSpPr/>
              <p:nvPr/>
            </p:nvSpPr>
            <p:spPr>
              <a:xfrm>
                <a:off x="1691640" y="1916430"/>
                <a:ext cx="791210" cy="143510"/>
              </a:xfrm>
              <a:custGeom>
                <a:avLst/>
                <a:gdLst/>
                <a:ahLst/>
                <a:cxnLst/>
                <a:rect l="l" t="t" r="r" b="b"/>
                <a:pathLst>
                  <a:path w="791210" h="143510">
                    <a:moveTo>
                      <a:pt x="396240" y="143510"/>
                    </a:moveTo>
                    <a:lnTo>
                      <a:pt x="0" y="143510"/>
                    </a:lnTo>
                    <a:lnTo>
                      <a:pt x="0" y="0"/>
                    </a:lnTo>
                    <a:lnTo>
                      <a:pt x="791210" y="0"/>
                    </a:lnTo>
                    <a:lnTo>
                      <a:pt x="791210" y="143510"/>
                    </a:lnTo>
                    <a:lnTo>
                      <a:pt x="396240" y="143510"/>
                    </a:lnTo>
                    <a:close/>
                  </a:path>
                </a:pathLst>
              </a:custGeom>
              <a:ln w="25518">
                <a:solidFill>
                  <a:srgbClr val="000000"/>
                </a:solidFill>
              </a:ln>
            </p:spPr>
            <p:txBody>
              <a:bodyPr wrap="square" lIns="0" tIns="0" rIns="0" bIns="0" rtlCol="0"/>
              <a:lstStyle/>
              <a:p>
                <a:endParaRPr/>
              </a:p>
            </p:txBody>
          </p:sp>
          <p:sp>
            <p:nvSpPr>
              <p:cNvPr id="148" name="object 148"/>
              <p:cNvSpPr/>
              <p:nvPr/>
            </p:nvSpPr>
            <p:spPr>
              <a:xfrm>
                <a:off x="1691640" y="2204720"/>
                <a:ext cx="1223010" cy="143510"/>
              </a:xfrm>
              <a:custGeom>
                <a:avLst/>
                <a:gdLst/>
                <a:ahLst/>
                <a:cxnLst/>
                <a:rect l="l" t="t" r="r" b="b"/>
                <a:pathLst>
                  <a:path w="1223010" h="143510">
                    <a:moveTo>
                      <a:pt x="1223010" y="0"/>
                    </a:moveTo>
                    <a:lnTo>
                      <a:pt x="0" y="0"/>
                    </a:lnTo>
                    <a:lnTo>
                      <a:pt x="0" y="143509"/>
                    </a:lnTo>
                    <a:lnTo>
                      <a:pt x="612140" y="143509"/>
                    </a:lnTo>
                    <a:lnTo>
                      <a:pt x="1223010" y="143509"/>
                    </a:lnTo>
                    <a:lnTo>
                      <a:pt x="1223010" y="0"/>
                    </a:lnTo>
                    <a:close/>
                  </a:path>
                </a:pathLst>
              </a:custGeom>
              <a:solidFill>
                <a:srgbClr val="FFFFFF"/>
              </a:solidFill>
            </p:spPr>
            <p:txBody>
              <a:bodyPr wrap="square" lIns="0" tIns="0" rIns="0" bIns="0" rtlCol="0"/>
              <a:lstStyle/>
              <a:p>
                <a:endParaRPr/>
              </a:p>
            </p:txBody>
          </p:sp>
          <p:sp>
            <p:nvSpPr>
              <p:cNvPr id="149" name="object 149"/>
              <p:cNvSpPr/>
              <p:nvPr/>
            </p:nvSpPr>
            <p:spPr>
              <a:xfrm>
                <a:off x="1691640" y="2204720"/>
                <a:ext cx="1223010" cy="143510"/>
              </a:xfrm>
              <a:custGeom>
                <a:avLst/>
                <a:gdLst/>
                <a:ahLst/>
                <a:cxnLst/>
                <a:rect l="l" t="t" r="r" b="b"/>
                <a:pathLst>
                  <a:path w="1223010" h="143510">
                    <a:moveTo>
                      <a:pt x="612140" y="143509"/>
                    </a:moveTo>
                    <a:lnTo>
                      <a:pt x="0" y="143509"/>
                    </a:lnTo>
                    <a:lnTo>
                      <a:pt x="0" y="0"/>
                    </a:lnTo>
                    <a:lnTo>
                      <a:pt x="1223010" y="0"/>
                    </a:lnTo>
                    <a:lnTo>
                      <a:pt x="1223010" y="143509"/>
                    </a:lnTo>
                    <a:lnTo>
                      <a:pt x="612140" y="143509"/>
                    </a:lnTo>
                    <a:close/>
                  </a:path>
                </a:pathLst>
              </a:custGeom>
              <a:ln w="25518">
                <a:solidFill>
                  <a:srgbClr val="000000"/>
                </a:solidFill>
              </a:ln>
            </p:spPr>
            <p:txBody>
              <a:bodyPr wrap="square" lIns="0" tIns="0" rIns="0" bIns="0" rtlCol="0"/>
              <a:lstStyle/>
              <a:p>
                <a:endParaRPr/>
              </a:p>
            </p:txBody>
          </p:sp>
        </p:grpSp>
        <p:grpSp>
          <p:nvGrpSpPr>
            <p:cNvPr id="150" name="object 150"/>
            <p:cNvGrpSpPr/>
            <p:nvPr/>
          </p:nvGrpSpPr>
          <p:grpSpPr>
            <a:xfrm>
              <a:off x="8747700" y="1471870"/>
              <a:ext cx="1033144" cy="1033144"/>
              <a:chOff x="7223700" y="1471870"/>
              <a:chExt cx="1033144" cy="1033144"/>
            </a:xfrm>
          </p:grpSpPr>
          <p:sp>
            <p:nvSpPr>
              <p:cNvPr id="151" name="object 151"/>
              <p:cNvSpPr/>
              <p:nvPr/>
            </p:nvSpPr>
            <p:spPr>
              <a:xfrm>
                <a:off x="7236459" y="1484629"/>
                <a:ext cx="1007110" cy="1007110"/>
              </a:xfrm>
              <a:custGeom>
                <a:avLst/>
                <a:gdLst/>
                <a:ahLst/>
                <a:cxnLst/>
                <a:rect l="l" t="t" r="r" b="b"/>
                <a:pathLst>
                  <a:path w="1007109" h="1007110">
                    <a:moveTo>
                      <a:pt x="502920" y="0"/>
                    </a:moveTo>
                    <a:lnTo>
                      <a:pt x="453235" y="2236"/>
                    </a:lnTo>
                    <a:lnTo>
                      <a:pt x="405156" y="8822"/>
                    </a:lnTo>
                    <a:lnTo>
                      <a:pt x="358864" y="19570"/>
                    </a:lnTo>
                    <a:lnTo>
                      <a:pt x="314540" y="34295"/>
                    </a:lnTo>
                    <a:lnTo>
                      <a:pt x="272365" y="52811"/>
                    </a:lnTo>
                    <a:lnTo>
                      <a:pt x="232522" y="74931"/>
                    </a:lnTo>
                    <a:lnTo>
                      <a:pt x="195191" y="100469"/>
                    </a:lnTo>
                    <a:lnTo>
                      <a:pt x="160555" y="129240"/>
                    </a:lnTo>
                    <a:lnTo>
                      <a:pt x="128793" y="161057"/>
                    </a:lnTo>
                    <a:lnTo>
                      <a:pt x="100089" y="195734"/>
                    </a:lnTo>
                    <a:lnTo>
                      <a:pt x="74624" y="233085"/>
                    </a:lnTo>
                    <a:lnTo>
                      <a:pt x="52578" y="272924"/>
                    </a:lnTo>
                    <a:lnTo>
                      <a:pt x="34134" y="315064"/>
                    </a:lnTo>
                    <a:lnTo>
                      <a:pt x="19472" y="359320"/>
                    </a:lnTo>
                    <a:lnTo>
                      <a:pt x="8775" y="405505"/>
                    </a:lnTo>
                    <a:lnTo>
                      <a:pt x="2224" y="453434"/>
                    </a:lnTo>
                    <a:lnTo>
                      <a:pt x="0" y="502920"/>
                    </a:lnTo>
                    <a:lnTo>
                      <a:pt x="2224" y="552616"/>
                    </a:lnTo>
                    <a:lnTo>
                      <a:pt x="8775" y="600731"/>
                    </a:lnTo>
                    <a:lnTo>
                      <a:pt x="19472" y="647080"/>
                    </a:lnTo>
                    <a:lnTo>
                      <a:pt x="34134" y="691477"/>
                    </a:lnTo>
                    <a:lnTo>
                      <a:pt x="52578" y="733739"/>
                    </a:lnTo>
                    <a:lnTo>
                      <a:pt x="74624" y="773680"/>
                    </a:lnTo>
                    <a:lnTo>
                      <a:pt x="100089" y="811116"/>
                    </a:lnTo>
                    <a:lnTo>
                      <a:pt x="128793" y="845863"/>
                    </a:lnTo>
                    <a:lnTo>
                      <a:pt x="160555" y="877736"/>
                    </a:lnTo>
                    <a:lnTo>
                      <a:pt x="195191" y="906551"/>
                    </a:lnTo>
                    <a:lnTo>
                      <a:pt x="232522" y="932122"/>
                    </a:lnTo>
                    <a:lnTo>
                      <a:pt x="272365" y="954266"/>
                    </a:lnTo>
                    <a:lnTo>
                      <a:pt x="314540" y="972798"/>
                    </a:lnTo>
                    <a:lnTo>
                      <a:pt x="358864" y="987532"/>
                    </a:lnTo>
                    <a:lnTo>
                      <a:pt x="405156" y="998285"/>
                    </a:lnTo>
                    <a:lnTo>
                      <a:pt x="453235" y="1004873"/>
                    </a:lnTo>
                    <a:lnTo>
                      <a:pt x="502920" y="1007110"/>
                    </a:lnTo>
                    <a:lnTo>
                      <a:pt x="552616" y="1004873"/>
                    </a:lnTo>
                    <a:lnTo>
                      <a:pt x="600731" y="998285"/>
                    </a:lnTo>
                    <a:lnTo>
                      <a:pt x="647080" y="987532"/>
                    </a:lnTo>
                    <a:lnTo>
                      <a:pt x="691477" y="972798"/>
                    </a:lnTo>
                    <a:lnTo>
                      <a:pt x="733739" y="954266"/>
                    </a:lnTo>
                    <a:lnTo>
                      <a:pt x="773680" y="932122"/>
                    </a:lnTo>
                    <a:lnTo>
                      <a:pt x="811116" y="906551"/>
                    </a:lnTo>
                    <a:lnTo>
                      <a:pt x="845863" y="877736"/>
                    </a:lnTo>
                    <a:lnTo>
                      <a:pt x="877736" y="845863"/>
                    </a:lnTo>
                    <a:lnTo>
                      <a:pt x="906551" y="811116"/>
                    </a:lnTo>
                    <a:lnTo>
                      <a:pt x="932122" y="773680"/>
                    </a:lnTo>
                    <a:lnTo>
                      <a:pt x="954266" y="733739"/>
                    </a:lnTo>
                    <a:lnTo>
                      <a:pt x="972798" y="691477"/>
                    </a:lnTo>
                    <a:lnTo>
                      <a:pt x="987532" y="647080"/>
                    </a:lnTo>
                    <a:lnTo>
                      <a:pt x="998285" y="600731"/>
                    </a:lnTo>
                    <a:lnTo>
                      <a:pt x="1004873" y="552616"/>
                    </a:lnTo>
                    <a:lnTo>
                      <a:pt x="1007110" y="502920"/>
                    </a:lnTo>
                    <a:lnTo>
                      <a:pt x="1004873" y="453434"/>
                    </a:lnTo>
                    <a:lnTo>
                      <a:pt x="998285" y="405505"/>
                    </a:lnTo>
                    <a:lnTo>
                      <a:pt x="987532" y="359320"/>
                    </a:lnTo>
                    <a:lnTo>
                      <a:pt x="972798" y="315064"/>
                    </a:lnTo>
                    <a:lnTo>
                      <a:pt x="954266" y="272924"/>
                    </a:lnTo>
                    <a:lnTo>
                      <a:pt x="932122" y="233085"/>
                    </a:lnTo>
                    <a:lnTo>
                      <a:pt x="906551" y="195734"/>
                    </a:lnTo>
                    <a:lnTo>
                      <a:pt x="877736" y="161057"/>
                    </a:lnTo>
                    <a:lnTo>
                      <a:pt x="845863" y="129240"/>
                    </a:lnTo>
                    <a:lnTo>
                      <a:pt x="811116" y="100469"/>
                    </a:lnTo>
                    <a:lnTo>
                      <a:pt x="773680" y="74931"/>
                    </a:lnTo>
                    <a:lnTo>
                      <a:pt x="733739" y="52811"/>
                    </a:lnTo>
                    <a:lnTo>
                      <a:pt x="691477" y="34295"/>
                    </a:lnTo>
                    <a:lnTo>
                      <a:pt x="647080" y="19570"/>
                    </a:lnTo>
                    <a:lnTo>
                      <a:pt x="600731" y="8822"/>
                    </a:lnTo>
                    <a:lnTo>
                      <a:pt x="552616" y="2236"/>
                    </a:lnTo>
                    <a:lnTo>
                      <a:pt x="502920" y="0"/>
                    </a:lnTo>
                    <a:close/>
                  </a:path>
                </a:pathLst>
              </a:custGeom>
              <a:solidFill>
                <a:srgbClr val="FFFFFF"/>
              </a:solidFill>
            </p:spPr>
            <p:txBody>
              <a:bodyPr wrap="square" lIns="0" tIns="0" rIns="0" bIns="0" rtlCol="0"/>
              <a:lstStyle/>
              <a:p>
                <a:endParaRPr/>
              </a:p>
            </p:txBody>
          </p:sp>
          <p:sp>
            <p:nvSpPr>
              <p:cNvPr id="152" name="object 152"/>
              <p:cNvSpPr/>
              <p:nvPr/>
            </p:nvSpPr>
            <p:spPr>
              <a:xfrm>
                <a:off x="7236459" y="1484629"/>
                <a:ext cx="1007110" cy="1007110"/>
              </a:xfrm>
              <a:custGeom>
                <a:avLst/>
                <a:gdLst/>
                <a:ahLst/>
                <a:cxnLst/>
                <a:rect l="l" t="t" r="r" b="b"/>
                <a:pathLst>
                  <a:path w="1007109" h="1007110">
                    <a:moveTo>
                      <a:pt x="502920" y="0"/>
                    </a:moveTo>
                    <a:lnTo>
                      <a:pt x="552616" y="2236"/>
                    </a:lnTo>
                    <a:lnTo>
                      <a:pt x="600731" y="8822"/>
                    </a:lnTo>
                    <a:lnTo>
                      <a:pt x="647080" y="19570"/>
                    </a:lnTo>
                    <a:lnTo>
                      <a:pt x="691477" y="34295"/>
                    </a:lnTo>
                    <a:lnTo>
                      <a:pt x="733739" y="52811"/>
                    </a:lnTo>
                    <a:lnTo>
                      <a:pt x="773680" y="74931"/>
                    </a:lnTo>
                    <a:lnTo>
                      <a:pt x="811116" y="100469"/>
                    </a:lnTo>
                    <a:lnTo>
                      <a:pt x="845863" y="129240"/>
                    </a:lnTo>
                    <a:lnTo>
                      <a:pt x="877736" y="161057"/>
                    </a:lnTo>
                    <a:lnTo>
                      <a:pt x="906551" y="195734"/>
                    </a:lnTo>
                    <a:lnTo>
                      <a:pt x="932122" y="233085"/>
                    </a:lnTo>
                    <a:lnTo>
                      <a:pt x="954266" y="272924"/>
                    </a:lnTo>
                    <a:lnTo>
                      <a:pt x="972798" y="315064"/>
                    </a:lnTo>
                    <a:lnTo>
                      <a:pt x="987532" y="359320"/>
                    </a:lnTo>
                    <a:lnTo>
                      <a:pt x="998285" y="405505"/>
                    </a:lnTo>
                    <a:lnTo>
                      <a:pt x="1004873" y="453434"/>
                    </a:lnTo>
                    <a:lnTo>
                      <a:pt x="1007110" y="502920"/>
                    </a:lnTo>
                    <a:lnTo>
                      <a:pt x="1004873" y="552616"/>
                    </a:lnTo>
                    <a:lnTo>
                      <a:pt x="998285" y="600731"/>
                    </a:lnTo>
                    <a:lnTo>
                      <a:pt x="987532" y="647080"/>
                    </a:lnTo>
                    <a:lnTo>
                      <a:pt x="972798" y="691477"/>
                    </a:lnTo>
                    <a:lnTo>
                      <a:pt x="954266" y="733739"/>
                    </a:lnTo>
                    <a:lnTo>
                      <a:pt x="932122" y="773680"/>
                    </a:lnTo>
                    <a:lnTo>
                      <a:pt x="906551" y="811116"/>
                    </a:lnTo>
                    <a:lnTo>
                      <a:pt x="877736" y="845863"/>
                    </a:lnTo>
                    <a:lnTo>
                      <a:pt x="845863" y="877736"/>
                    </a:lnTo>
                    <a:lnTo>
                      <a:pt x="811116" y="906551"/>
                    </a:lnTo>
                    <a:lnTo>
                      <a:pt x="773680" y="932122"/>
                    </a:lnTo>
                    <a:lnTo>
                      <a:pt x="733739" y="954266"/>
                    </a:lnTo>
                    <a:lnTo>
                      <a:pt x="691477" y="972798"/>
                    </a:lnTo>
                    <a:lnTo>
                      <a:pt x="647080" y="987532"/>
                    </a:lnTo>
                    <a:lnTo>
                      <a:pt x="600731" y="998285"/>
                    </a:lnTo>
                    <a:lnTo>
                      <a:pt x="552616" y="1004873"/>
                    </a:lnTo>
                    <a:lnTo>
                      <a:pt x="502920" y="1007110"/>
                    </a:lnTo>
                    <a:lnTo>
                      <a:pt x="453235" y="1004873"/>
                    </a:lnTo>
                    <a:lnTo>
                      <a:pt x="405156" y="998285"/>
                    </a:lnTo>
                    <a:lnTo>
                      <a:pt x="358864" y="987532"/>
                    </a:lnTo>
                    <a:lnTo>
                      <a:pt x="314540" y="972798"/>
                    </a:lnTo>
                    <a:lnTo>
                      <a:pt x="272365" y="954266"/>
                    </a:lnTo>
                    <a:lnTo>
                      <a:pt x="232522" y="932122"/>
                    </a:lnTo>
                    <a:lnTo>
                      <a:pt x="195191" y="906551"/>
                    </a:lnTo>
                    <a:lnTo>
                      <a:pt x="160555" y="877736"/>
                    </a:lnTo>
                    <a:lnTo>
                      <a:pt x="128793" y="845863"/>
                    </a:lnTo>
                    <a:lnTo>
                      <a:pt x="100089" y="811116"/>
                    </a:lnTo>
                    <a:lnTo>
                      <a:pt x="74624" y="773680"/>
                    </a:lnTo>
                    <a:lnTo>
                      <a:pt x="52578" y="733739"/>
                    </a:lnTo>
                    <a:lnTo>
                      <a:pt x="34134" y="691477"/>
                    </a:lnTo>
                    <a:lnTo>
                      <a:pt x="19472" y="647080"/>
                    </a:lnTo>
                    <a:lnTo>
                      <a:pt x="8775" y="600731"/>
                    </a:lnTo>
                    <a:lnTo>
                      <a:pt x="2224" y="552616"/>
                    </a:lnTo>
                    <a:lnTo>
                      <a:pt x="0" y="502920"/>
                    </a:lnTo>
                    <a:lnTo>
                      <a:pt x="2224" y="453434"/>
                    </a:lnTo>
                    <a:lnTo>
                      <a:pt x="8775" y="405505"/>
                    </a:lnTo>
                    <a:lnTo>
                      <a:pt x="19472" y="359320"/>
                    </a:lnTo>
                    <a:lnTo>
                      <a:pt x="34134" y="315064"/>
                    </a:lnTo>
                    <a:lnTo>
                      <a:pt x="52578" y="272924"/>
                    </a:lnTo>
                    <a:lnTo>
                      <a:pt x="74624" y="233085"/>
                    </a:lnTo>
                    <a:lnTo>
                      <a:pt x="100089" y="195734"/>
                    </a:lnTo>
                    <a:lnTo>
                      <a:pt x="128793" y="161057"/>
                    </a:lnTo>
                    <a:lnTo>
                      <a:pt x="160555" y="129240"/>
                    </a:lnTo>
                    <a:lnTo>
                      <a:pt x="195191" y="100469"/>
                    </a:lnTo>
                    <a:lnTo>
                      <a:pt x="232522" y="74931"/>
                    </a:lnTo>
                    <a:lnTo>
                      <a:pt x="272365" y="52811"/>
                    </a:lnTo>
                    <a:lnTo>
                      <a:pt x="314540" y="34295"/>
                    </a:lnTo>
                    <a:lnTo>
                      <a:pt x="358864" y="19570"/>
                    </a:lnTo>
                    <a:lnTo>
                      <a:pt x="405156" y="8822"/>
                    </a:lnTo>
                    <a:lnTo>
                      <a:pt x="453235" y="2236"/>
                    </a:lnTo>
                    <a:lnTo>
                      <a:pt x="502920" y="0"/>
                    </a:lnTo>
                    <a:close/>
                  </a:path>
                </a:pathLst>
              </a:custGeom>
              <a:ln w="25518">
                <a:solidFill>
                  <a:srgbClr val="000000"/>
                </a:solidFill>
              </a:ln>
            </p:spPr>
            <p:txBody>
              <a:bodyPr wrap="square" lIns="0" tIns="0" rIns="0" bIns="0" rtlCol="0"/>
              <a:lstStyle/>
              <a:p>
                <a:endParaRPr/>
              </a:p>
            </p:txBody>
          </p:sp>
          <p:sp>
            <p:nvSpPr>
              <p:cNvPr id="153" name="object 153"/>
              <p:cNvSpPr/>
              <p:nvPr/>
            </p:nvSpPr>
            <p:spPr>
              <a:xfrm>
                <a:off x="7223696" y="1471878"/>
                <a:ext cx="1033144" cy="1033144"/>
              </a:xfrm>
              <a:custGeom>
                <a:avLst/>
                <a:gdLst/>
                <a:ahLst/>
                <a:cxnLst/>
                <a:rect l="l" t="t" r="r" b="b"/>
                <a:pathLst>
                  <a:path w="1033145" h="1033144">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1033145" h="1033144">
                    <a:moveTo>
                      <a:pt x="1032624" y="1019860"/>
                    </a:moveTo>
                    <a:lnTo>
                      <a:pt x="1028890" y="1010843"/>
                    </a:lnTo>
                    <a:lnTo>
                      <a:pt x="1019873" y="1007110"/>
                    </a:lnTo>
                    <a:lnTo>
                      <a:pt x="1010843" y="1010843"/>
                    </a:lnTo>
                    <a:lnTo>
                      <a:pt x="1007110" y="1019860"/>
                    </a:lnTo>
                    <a:lnTo>
                      <a:pt x="1010843" y="1028890"/>
                    </a:lnTo>
                    <a:lnTo>
                      <a:pt x="1019873" y="1032624"/>
                    </a:lnTo>
                    <a:lnTo>
                      <a:pt x="1028890" y="1028890"/>
                    </a:lnTo>
                    <a:lnTo>
                      <a:pt x="1032624" y="1019860"/>
                    </a:lnTo>
                    <a:close/>
                  </a:path>
                </a:pathLst>
              </a:custGeom>
              <a:solidFill>
                <a:srgbClr val="000000"/>
              </a:solidFill>
            </p:spPr>
            <p:txBody>
              <a:bodyPr wrap="square" lIns="0" tIns="0" rIns="0" bIns="0" rtlCol="0"/>
              <a:lstStyle/>
              <a:p>
                <a:endParaRPr/>
              </a:p>
            </p:txBody>
          </p:sp>
          <p:sp>
            <p:nvSpPr>
              <p:cNvPr id="154" name="object 154"/>
              <p:cNvSpPr/>
              <p:nvPr/>
            </p:nvSpPr>
            <p:spPr>
              <a:xfrm>
                <a:off x="7383779" y="1631949"/>
                <a:ext cx="861060" cy="861060"/>
              </a:xfrm>
              <a:custGeom>
                <a:avLst/>
                <a:gdLst/>
                <a:ahLst/>
                <a:cxnLst/>
                <a:rect l="l" t="t" r="r" b="b"/>
                <a:pathLst>
                  <a:path w="861059" h="861060">
                    <a:moveTo>
                      <a:pt x="0" y="0"/>
                    </a:moveTo>
                    <a:lnTo>
                      <a:pt x="355600" y="356870"/>
                    </a:lnTo>
                  </a:path>
                  <a:path w="861059" h="861060">
                    <a:moveTo>
                      <a:pt x="861060" y="356870"/>
                    </a:moveTo>
                    <a:lnTo>
                      <a:pt x="355600" y="356870"/>
                    </a:lnTo>
                  </a:path>
                  <a:path w="861059" h="861060">
                    <a:moveTo>
                      <a:pt x="355600" y="861060"/>
                    </a:moveTo>
                    <a:lnTo>
                      <a:pt x="355600" y="356870"/>
                    </a:lnTo>
                  </a:path>
                </a:pathLst>
              </a:custGeom>
              <a:ln w="19048">
                <a:solidFill>
                  <a:srgbClr val="000000"/>
                </a:solidFill>
              </a:ln>
            </p:spPr>
            <p:txBody>
              <a:bodyPr wrap="square" lIns="0" tIns="0" rIns="0" bIns="0" rtlCol="0"/>
              <a:lstStyle/>
              <a:p>
                <a:endParaRPr/>
              </a:p>
            </p:txBody>
          </p:sp>
        </p:grpSp>
        <p:sp>
          <p:nvSpPr>
            <p:cNvPr id="156" name="object 156"/>
            <p:cNvSpPr txBox="1"/>
            <p:nvPr/>
          </p:nvSpPr>
          <p:spPr>
            <a:xfrm>
              <a:off x="5664200" y="4796791"/>
              <a:ext cx="1871980" cy="420628"/>
            </a:xfrm>
            <a:prstGeom prst="rect">
              <a:avLst/>
            </a:prstGeom>
            <a:ln w="25518">
              <a:solidFill>
                <a:srgbClr val="000000"/>
              </a:solidFill>
            </a:ln>
          </p:spPr>
          <p:txBody>
            <a:bodyPr vert="horz" wrap="square" lIns="0" tIns="142240" rIns="0" bIns="0" rtlCol="0">
              <a:spAutoFit/>
            </a:bodyPr>
            <a:lstStyle/>
            <a:p>
              <a:pPr marL="6985" algn="ctr"/>
              <a:r>
                <a:rPr spc="-20" dirty="0">
                  <a:latin typeface="Verdana"/>
                  <a:cs typeface="Verdana"/>
                </a:rPr>
                <a:t>Data</a:t>
              </a:r>
              <a:endParaRPr dirty="0">
                <a:latin typeface="Verdana"/>
                <a:cs typeface="Verdana"/>
              </a:endParaRPr>
            </a:p>
          </p:txBody>
        </p:sp>
        <p:grpSp>
          <p:nvGrpSpPr>
            <p:cNvPr id="159" name="object 159"/>
            <p:cNvGrpSpPr/>
            <p:nvPr/>
          </p:nvGrpSpPr>
          <p:grpSpPr>
            <a:xfrm>
              <a:off x="3926205" y="2626995"/>
              <a:ext cx="5346700" cy="2179320"/>
              <a:chOff x="2402205" y="2626995"/>
              <a:chExt cx="5346700" cy="2179320"/>
            </a:xfrm>
          </p:grpSpPr>
          <p:sp>
            <p:nvSpPr>
              <p:cNvPr id="160" name="object 160"/>
              <p:cNvSpPr/>
              <p:nvPr/>
            </p:nvSpPr>
            <p:spPr>
              <a:xfrm>
                <a:off x="2411730" y="2636520"/>
                <a:ext cx="5327650" cy="2160270"/>
              </a:xfrm>
              <a:custGeom>
                <a:avLst/>
                <a:gdLst/>
                <a:ahLst/>
                <a:cxnLst/>
                <a:rect l="l" t="t" r="r" b="b"/>
                <a:pathLst>
                  <a:path w="5327650" h="2160270">
                    <a:moveTo>
                      <a:pt x="0" y="0"/>
                    </a:moveTo>
                    <a:lnTo>
                      <a:pt x="2664460" y="2160269"/>
                    </a:lnTo>
                  </a:path>
                  <a:path w="5327650" h="2160270">
                    <a:moveTo>
                      <a:pt x="2664460" y="0"/>
                    </a:moveTo>
                    <a:lnTo>
                      <a:pt x="2664460" y="2160269"/>
                    </a:lnTo>
                  </a:path>
                  <a:path w="5327650" h="2160270">
                    <a:moveTo>
                      <a:pt x="5327650" y="0"/>
                    </a:moveTo>
                    <a:lnTo>
                      <a:pt x="2664460" y="2160269"/>
                    </a:lnTo>
                  </a:path>
                </a:pathLst>
              </a:custGeom>
              <a:ln w="19048">
                <a:solidFill>
                  <a:srgbClr val="000000"/>
                </a:solidFill>
              </a:ln>
            </p:spPr>
            <p:txBody>
              <a:bodyPr wrap="square" lIns="0" tIns="0" rIns="0" bIns="0" rtlCol="0"/>
              <a:lstStyle/>
              <a:p>
                <a:endParaRPr/>
              </a:p>
            </p:txBody>
          </p:sp>
          <p:sp>
            <p:nvSpPr>
              <p:cNvPr id="161" name="object 161"/>
              <p:cNvSpPr/>
              <p:nvPr/>
            </p:nvSpPr>
            <p:spPr>
              <a:xfrm>
                <a:off x="5219700" y="3140710"/>
                <a:ext cx="0" cy="793750"/>
              </a:xfrm>
              <a:custGeom>
                <a:avLst/>
                <a:gdLst/>
                <a:ahLst/>
                <a:cxnLst/>
                <a:rect l="l" t="t" r="r" b="b"/>
                <a:pathLst>
                  <a:path h="793750">
                    <a:moveTo>
                      <a:pt x="0" y="0"/>
                    </a:moveTo>
                    <a:lnTo>
                      <a:pt x="0" y="793750"/>
                    </a:lnTo>
                  </a:path>
                </a:pathLst>
              </a:custGeom>
              <a:ln w="19050">
                <a:solidFill>
                  <a:srgbClr val="000000"/>
                </a:solidFill>
              </a:ln>
            </p:spPr>
            <p:txBody>
              <a:bodyPr wrap="square" lIns="0" tIns="0" rIns="0" bIns="0" rtlCol="0"/>
              <a:lstStyle/>
              <a:p>
                <a:endParaRPr/>
              </a:p>
            </p:txBody>
          </p:sp>
          <p:sp>
            <p:nvSpPr>
              <p:cNvPr id="162" name="object 162"/>
              <p:cNvSpPr/>
              <p:nvPr/>
            </p:nvSpPr>
            <p:spPr>
              <a:xfrm>
                <a:off x="5181600" y="392938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grpSp>
      </p:grpSp>
      <p:sp>
        <p:nvSpPr>
          <p:cNvPr id="163" name="object 163"/>
          <p:cNvSpPr txBox="1"/>
          <p:nvPr/>
        </p:nvSpPr>
        <p:spPr>
          <a:xfrm>
            <a:off x="6356350" y="3317240"/>
            <a:ext cx="806450" cy="299720"/>
          </a:xfrm>
          <a:prstGeom prst="rect">
            <a:avLst/>
          </a:prstGeom>
        </p:spPr>
        <p:txBody>
          <a:bodyPr vert="horz" wrap="square" lIns="0" tIns="12700" rIns="0" bIns="0" rtlCol="0">
            <a:spAutoFit/>
          </a:bodyPr>
          <a:lstStyle/>
          <a:p>
            <a:pPr marL="12700">
              <a:spcBef>
                <a:spcPts val="100"/>
              </a:spcBef>
            </a:pPr>
            <a:r>
              <a:rPr lang="en-CA" spc="-10" dirty="0">
                <a:latin typeface="Verdana"/>
                <a:cs typeface="Verdana"/>
              </a:rPr>
              <a:t>Modify</a:t>
            </a:r>
            <a:endParaRPr dirty="0">
              <a:latin typeface="Verdana"/>
              <a:cs typeface="Verdana"/>
            </a:endParaRPr>
          </a:p>
        </p:txBody>
      </p:sp>
      <p:sp>
        <p:nvSpPr>
          <p:cNvPr id="164" name="object 164"/>
          <p:cNvSpPr txBox="1"/>
          <p:nvPr/>
        </p:nvSpPr>
        <p:spPr>
          <a:xfrm>
            <a:off x="3795456" y="4857750"/>
            <a:ext cx="805815" cy="299720"/>
          </a:xfrm>
          <a:prstGeom prst="rect">
            <a:avLst/>
          </a:prstGeom>
        </p:spPr>
        <p:txBody>
          <a:bodyPr vert="horz" wrap="square" lIns="0" tIns="12700" rIns="0" bIns="0" rtlCol="0">
            <a:spAutoFit/>
          </a:bodyPr>
          <a:lstStyle/>
          <a:p>
            <a:pPr marL="12700">
              <a:spcBef>
                <a:spcPts val="100"/>
              </a:spcBef>
            </a:pPr>
            <a:r>
              <a:rPr lang="en-CA" spc="-10" dirty="0">
                <a:latin typeface="Verdana"/>
                <a:cs typeface="Verdana"/>
              </a:rPr>
              <a:t>Modify</a:t>
            </a:r>
            <a:endParaRPr dirty="0">
              <a:latin typeface="Verdana"/>
              <a:cs typeface="Verdana"/>
            </a:endParaRPr>
          </a:p>
        </p:txBody>
      </p:sp>
      <p:sp>
        <p:nvSpPr>
          <p:cNvPr id="165" name="object 165"/>
          <p:cNvSpPr txBox="1"/>
          <p:nvPr/>
        </p:nvSpPr>
        <p:spPr>
          <a:xfrm>
            <a:off x="7590215" y="4720085"/>
            <a:ext cx="1871981" cy="574040"/>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Represented </a:t>
            </a:r>
            <a:r>
              <a:rPr i="1" dirty="0">
                <a:latin typeface="Verdana"/>
                <a:cs typeface="Verdana"/>
              </a:rPr>
              <a:t>by</a:t>
            </a:r>
            <a:r>
              <a:rPr i="1" spc="-50" dirty="0">
                <a:latin typeface="Verdana"/>
                <a:cs typeface="Verdana"/>
              </a:rPr>
              <a:t> </a:t>
            </a:r>
            <a:r>
              <a:rPr i="1" dirty="0">
                <a:latin typeface="Verdana"/>
                <a:cs typeface="Verdana"/>
              </a:rPr>
              <a:t>entity</a:t>
            </a:r>
            <a:r>
              <a:rPr i="1" spc="-45" dirty="0">
                <a:latin typeface="Verdana"/>
                <a:cs typeface="Verdana"/>
              </a:rPr>
              <a:t> </a:t>
            </a:r>
            <a:r>
              <a:rPr i="1" spc="-10" dirty="0">
                <a:latin typeface="Verdana"/>
                <a:cs typeface="Verdana"/>
              </a:rPr>
              <a:t>objects</a:t>
            </a:r>
            <a:endParaRPr dirty="0">
              <a:latin typeface="Verdana"/>
              <a:cs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71" name="Group 170">
            <a:extLst>
              <a:ext uri="{FF2B5EF4-FFF2-40B4-BE49-F238E27FC236}">
                <a16:creationId xmlns:a16="http://schemas.microsoft.com/office/drawing/2014/main" id="{2A12E839-BD4B-64E8-7C93-91268A58F3DD}"/>
              </a:ext>
            </a:extLst>
          </p:cNvPr>
          <p:cNvGrpSpPr/>
          <p:nvPr/>
        </p:nvGrpSpPr>
        <p:grpSpPr>
          <a:xfrm>
            <a:off x="2482533" y="1111191"/>
            <a:ext cx="7226934" cy="4765099"/>
            <a:chOff x="2986980" y="1111191"/>
            <a:chExt cx="7226934" cy="4765099"/>
          </a:xfrm>
        </p:grpSpPr>
        <p:grpSp>
          <p:nvGrpSpPr>
            <p:cNvPr id="5" name="object 5"/>
            <p:cNvGrpSpPr/>
            <p:nvPr/>
          </p:nvGrpSpPr>
          <p:grpSpPr>
            <a:xfrm>
              <a:off x="5651441" y="1111191"/>
              <a:ext cx="1898014" cy="1538605"/>
              <a:chOff x="4127441" y="1111190"/>
              <a:chExt cx="1898014" cy="1538605"/>
            </a:xfrm>
          </p:grpSpPr>
          <p:sp>
            <p:nvSpPr>
              <p:cNvPr id="6" name="object 6"/>
              <p:cNvSpPr/>
              <p:nvPr/>
            </p:nvSpPr>
            <p:spPr>
              <a:xfrm>
                <a:off x="4140200" y="1123950"/>
                <a:ext cx="1871980" cy="1512570"/>
              </a:xfrm>
              <a:custGeom>
                <a:avLst/>
                <a:gdLst/>
                <a:ahLst/>
                <a:cxnLst/>
                <a:rect l="l" t="t" r="r" b="b"/>
                <a:pathLst>
                  <a:path w="1871979" h="1512570">
                    <a:moveTo>
                      <a:pt x="1871979" y="0"/>
                    </a:moveTo>
                    <a:lnTo>
                      <a:pt x="0" y="0"/>
                    </a:lnTo>
                    <a:lnTo>
                      <a:pt x="0" y="1512570"/>
                    </a:lnTo>
                    <a:lnTo>
                      <a:pt x="935989" y="1512570"/>
                    </a:lnTo>
                    <a:lnTo>
                      <a:pt x="1871979" y="1512570"/>
                    </a:lnTo>
                    <a:lnTo>
                      <a:pt x="1871979" y="0"/>
                    </a:lnTo>
                    <a:close/>
                  </a:path>
                </a:pathLst>
              </a:custGeom>
              <a:solidFill>
                <a:srgbClr val="FFFFFF"/>
              </a:solidFill>
            </p:spPr>
            <p:txBody>
              <a:bodyPr wrap="square" lIns="0" tIns="0" rIns="0" bIns="0" rtlCol="0"/>
              <a:lstStyle/>
              <a:p>
                <a:endParaRPr/>
              </a:p>
            </p:txBody>
          </p:sp>
          <p:sp>
            <p:nvSpPr>
              <p:cNvPr id="7" name="object 7"/>
              <p:cNvSpPr/>
              <p:nvPr/>
            </p:nvSpPr>
            <p:spPr>
              <a:xfrm>
                <a:off x="4140200" y="1123950"/>
                <a:ext cx="1871980" cy="1512570"/>
              </a:xfrm>
              <a:custGeom>
                <a:avLst/>
                <a:gdLst/>
                <a:ahLst/>
                <a:cxnLst/>
                <a:rect l="l" t="t" r="r" b="b"/>
                <a:pathLst>
                  <a:path w="1871979" h="1512570">
                    <a:moveTo>
                      <a:pt x="935989" y="1512570"/>
                    </a:moveTo>
                    <a:lnTo>
                      <a:pt x="0" y="1512570"/>
                    </a:lnTo>
                    <a:lnTo>
                      <a:pt x="0" y="0"/>
                    </a:lnTo>
                    <a:lnTo>
                      <a:pt x="1871979" y="0"/>
                    </a:lnTo>
                    <a:lnTo>
                      <a:pt x="1871979" y="1512570"/>
                    </a:lnTo>
                    <a:lnTo>
                      <a:pt x="935989" y="1512570"/>
                    </a:lnTo>
                    <a:close/>
                  </a:path>
                </a:pathLst>
              </a:custGeom>
              <a:ln w="25518">
                <a:solidFill>
                  <a:srgbClr val="000000"/>
                </a:solidFill>
              </a:ln>
            </p:spPr>
            <p:txBody>
              <a:bodyPr wrap="square" lIns="0" tIns="0" rIns="0" bIns="0" rtlCol="0"/>
              <a:lstStyle/>
              <a:p>
                <a:endParaRPr/>
              </a:p>
            </p:txBody>
          </p:sp>
          <p:sp>
            <p:nvSpPr>
              <p:cNvPr id="8" name="object 8"/>
              <p:cNvSpPr/>
              <p:nvPr/>
            </p:nvSpPr>
            <p:spPr>
              <a:xfrm>
                <a:off x="4356100" y="1555750"/>
                <a:ext cx="1438910" cy="863600"/>
              </a:xfrm>
              <a:custGeom>
                <a:avLst/>
                <a:gdLst/>
                <a:ahLst/>
                <a:cxnLst/>
                <a:rect l="l" t="t" r="r" b="b"/>
                <a:pathLst>
                  <a:path w="1438910" h="863600">
                    <a:moveTo>
                      <a:pt x="1438910" y="0"/>
                    </a:moveTo>
                    <a:lnTo>
                      <a:pt x="0" y="0"/>
                    </a:lnTo>
                    <a:lnTo>
                      <a:pt x="0" y="863600"/>
                    </a:lnTo>
                    <a:lnTo>
                      <a:pt x="720089" y="863600"/>
                    </a:lnTo>
                    <a:lnTo>
                      <a:pt x="1438910" y="863600"/>
                    </a:lnTo>
                    <a:lnTo>
                      <a:pt x="1438910" y="0"/>
                    </a:lnTo>
                    <a:close/>
                  </a:path>
                </a:pathLst>
              </a:custGeom>
              <a:solidFill>
                <a:srgbClr val="FFFFFF"/>
              </a:solidFill>
            </p:spPr>
            <p:txBody>
              <a:bodyPr wrap="square" lIns="0" tIns="0" rIns="0" bIns="0" rtlCol="0"/>
              <a:lstStyle/>
              <a:p>
                <a:endParaRPr/>
              </a:p>
            </p:txBody>
          </p:sp>
          <p:sp>
            <p:nvSpPr>
              <p:cNvPr id="9" name="object 9"/>
              <p:cNvSpPr/>
              <p:nvPr/>
            </p:nvSpPr>
            <p:spPr>
              <a:xfrm>
                <a:off x="4356100" y="1555750"/>
                <a:ext cx="1438910" cy="863600"/>
              </a:xfrm>
              <a:custGeom>
                <a:avLst/>
                <a:gdLst/>
                <a:ahLst/>
                <a:cxnLst/>
                <a:rect l="l" t="t" r="r" b="b"/>
                <a:pathLst>
                  <a:path w="1438910" h="863600">
                    <a:moveTo>
                      <a:pt x="720089" y="863600"/>
                    </a:moveTo>
                    <a:lnTo>
                      <a:pt x="0" y="863600"/>
                    </a:lnTo>
                    <a:lnTo>
                      <a:pt x="0" y="0"/>
                    </a:lnTo>
                    <a:lnTo>
                      <a:pt x="1438910" y="0"/>
                    </a:lnTo>
                    <a:lnTo>
                      <a:pt x="1438910" y="863600"/>
                    </a:lnTo>
                    <a:lnTo>
                      <a:pt x="720089" y="863600"/>
                    </a:lnTo>
                    <a:close/>
                  </a:path>
                </a:pathLst>
              </a:custGeom>
              <a:ln w="25518">
                <a:solidFill>
                  <a:srgbClr val="000000"/>
                </a:solidFill>
              </a:ln>
            </p:spPr>
            <p:txBody>
              <a:bodyPr wrap="square" lIns="0" tIns="0" rIns="0" bIns="0" rtlCol="0"/>
              <a:lstStyle/>
              <a:p>
                <a:endParaRPr/>
              </a:p>
            </p:txBody>
          </p:sp>
          <p:sp>
            <p:nvSpPr>
              <p:cNvPr id="10" name="object 10"/>
              <p:cNvSpPr/>
              <p:nvPr/>
            </p:nvSpPr>
            <p:spPr>
              <a:xfrm>
                <a:off x="4356100" y="1557020"/>
                <a:ext cx="1440180" cy="863600"/>
              </a:xfrm>
              <a:custGeom>
                <a:avLst/>
                <a:gdLst/>
                <a:ahLst/>
                <a:cxnLst/>
                <a:rect l="l" t="t" r="r" b="b"/>
                <a:pathLst>
                  <a:path w="1440179" h="863600">
                    <a:moveTo>
                      <a:pt x="0" y="215900"/>
                    </a:moveTo>
                    <a:lnTo>
                      <a:pt x="1440179" y="215900"/>
                    </a:lnTo>
                  </a:path>
                  <a:path w="1440179" h="863600">
                    <a:moveTo>
                      <a:pt x="0" y="431800"/>
                    </a:moveTo>
                    <a:lnTo>
                      <a:pt x="1440179" y="431800"/>
                    </a:lnTo>
                  </a:path>
                  <a:path w="1440179" h="863600">
                    <a:moveTo>
                      <a:pt x="0" y="647700"/>
                    </a:moveTo>
                    <a:lnTo>
                      <a:pt x="1440179" y="647700"/>
                    </a:lnTo>
                  </a:path>
                  <a:path w="1440179" h="863600">
                    <a:moveTo>
                      <a:pt x="359410" y="0"/>
                    </a:moveTo>
                    <a:lnTo>
                      <a:pt x="359410" y="863600"/>
                    </a:lnTo>
                  </a:path>
                  <a:path w="1440179" h="863600">
                    <a:moveTo>
                      <a:pt x="720089" y="0"/>
                    </a:moveTo>
                    <a:lnTo>
                      <a:pt x="720089" y="863600"/>
                    </a:lnTo>
                  </a:path>
                  <a:path w="1440179" h="863600">
                    <a:moveTo>
                      <a:pt x="1079500" y="0"/>
                    </a:moveTo>
                    <a:lnTo>
                      <a:pt x="1079500" y="863600"/>
                    </a:lnTo>
                  </a:path>
                </a:pathLst>
              </a:custGeom>
              <a:ln w="9344">
                <a:solidFill>
                  <a:srgbClr val="000000"/>
                </a:solidFill>
              </a:ln>
            </p:spPr>
            <p:txBody>
              <a:bodyPr wrap="square" lIns="0" tIns="0" rIns="0" bIns="0" rtlCol="0"/>
              <a:lstStyle/>
              <a:p>
                <a:endParaRPr/>
              </a:p>
            </p:txBody>
          </p:sp>
          <p:sp>
            <p:nvSpPr>
              <p:cNvPr id="11" name="object 11"/>
              <p:cNvSpPr/>
              <p:nvPr/>
            </p:nvSpPr>
            <p:spPr>
              <a:xfrm>
                <a:off x="4140200" y="1125219"/>
                <a:ext cx="1871980" cy="215900"/>
              </a:xfrm>
              <a:custGeom>
                <a:avLst/>
                <a:gdLst/>
                <a:ahLst/>
                <a:cxnLst/>
                <a:rect l="l" t="t" r="r" b="b"/>
                <a:pathLst>
                  <a:path w="1871979" h="215900">
                    <a:moveTo>
                      <a:pt x="786130" y="0"/>
                    </a:moveTo>
                    <a:lnTo>
                      <a:pt x="0" y="0"/>
                    </a:lnTo>
                    <a:lnTo>
                      <a:pt x="0" y="214630"/>
                    </a:lnTo>
                    <a:lnTo>
                      <a:pt x="786130" y="214630"/>
                    </a:lnTo>
                    <a:lnTo>
                      <a:pt x="786130" y="0"/>
                    </a:lnTo>
                    <a:close/>
                  </a:path>
                  <a:path w="1871979" h="215900">
                    <a:moveTo>
                      <a:pt x="1084580" y="214630"/>
                    </a:moveTo>
                    <a:lnTo>
                      <a:pt x="786130" y="214630"/>
                    </a:lnTo>
                    <a:lnTo>
                      <a:pt x="786130" y="215900"/>
                    </a:lnTo>
                    <a:lnTo>
                      <a:pt x="1084580" y="215900"/>
                    </a:lnTo>
                    <a:lnTo>
                      <a:pt x="1084580" y="214630"/>
                    </a:lnTo>
                    <a:close/>
                  </a:path>
                  <a:path w="1871979" h="215900">
                    <a:moveTo>
                      <a:pt x="1871980" y="0"/>
                    </a:moveTo>
                    <a:lnTo>
                      <a:pt x="1084580" y="0"/>
                    </a:lnTo>
                    <a:lnTo>
                      <a:pt x="1084580" y="214630"/>
                    </a:lnTo>
                    <a:lnTo>
                      <a:pt x="1871980" y="214630"/>
                    </a:lnTo>
                    <a:lnTo>
                      <a:pt x="1871980" y="0"/>
                    </a:lnTo>
                    <a:close/>
                  </a:path>
                </a:pathLst>
              </a:custGeom>
              <a:solidFill>
                <a:srgbClr val="000000"/>
              </a:solidFill>
            </p:spPr>
            <p:txBody>
              <a:bodyPr wrap="square" lIns="0" tIns="0" rIns="0" bIns="0" rtlCol="0"/>
              <a:lstStyle/>
              <a:p>
                <a:endParaRPr/>
              </a:p>
            </p:txBody>
          </p:sp>
          <p:sp>
            <p:nvSpPr>
              <p:cNvPr id="12" name="object 12"/>
              <p:cNvSpPr/>
              <p:nvPr/>
            </p:nvSpPr>
            <p:spPr>
              <a:xfrm>
                <a:off x="492633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3" name="object 13"/>
              <p:cNvSpPr/>
              <p:nvPr/>
            </p:nvSpPr>
            <p:spPr>
              <a:xfrm>
                <a:off x="493014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4" name="object 14"/>
              <p:cNvSpPr/>
              <p:nvPr/>
            </p:nvSpPr>
            <p:spPr>
              <a:xfrm>
                <a:off x="4933950" y="1125220"/>
                <a:ext cx="284480" cy="215900"/>
              </a:xfrm>
              <a:custGeom>
                <a:avLst/>
                <a:gdLst/>
                <a:ahLst/>
                <a:cxnLst/>
                <a:rect l="l" t="t" r="r" b="b"/>
                <a:pathLst>
                  <a:path w="284479" h="215900">
                    <a:moveTo>
                      <a:pt x="3321" y="0"/>
                    </a:moveTo>
                    <a:lnTo>
                      <a:pt x="0" y="0"/>
                    </a:lnTo>
                    <a:lnTo>
                      <a:pt x="0" y="215900"/>
                    </a:lnTo>
                    <a:lnTo>
                      <a:pt x="3345" y="215900"/>
                    </a:lnTo>
                    <a:lnTo>
                      <a:pt x="2539" y="173989"/>
                    </a:lnTo>
                    <a:lnTo>
                      <a:pt x="2539" y="40639"/>
                    </a:lnTo>
                    <a:lnTo>
                      <a:pt x="3321" y="0"/>
                    </a:lnTo>
                    <a:close/>
                  </a:path>
                  <a:path w="284479" h="215900">
                    <a:moveTo>
                      <a:pt x="283210" y="0"/>
                    </a:moveTo>
                    <a:lnTo>
                      <a:pt x="279888" y="0"/>
                    </a:lnTo>
                    <a:lnTo>
                      <a:pt x="280670" y="40639"/>
                    </a:lnTo>
                    <a:lnTo>
                      <a:pt x="280670" y="173989"/>
                    </a:lnTo>
                    <a:lnTo>
                      <a:pt x="279864" y="215900"/>
                    </a:lnTo>
                    <a:lnTo>
                      <a:pt x="283210" y="215900"/>
                    </a:lnTo>
                    <a:lnTo>
                      <a:pt x="283210" y="173989"/>
                    </a:lnTo>
                    <a:lnTo>
                      <a:pt x="284479" y="107950"/>
                    </a:lnTo>
                    <a:lnTo>
                      <a:pt x="283210" y="40639"/>
                    </a:lnTo>
                    <a:lnTo>
                      <a:pt x="283210" y="0"/>
                    </a:lnTo>
                    <a:close/>
                  </a:path>
                </a:pathLst>
              </a:custGeom>
              <a:solidFill>
                <a:srgbClr val="050505"/>
              </a:solidFill>
            </p:spPr>
            <p:txBody>
              <a:bodyPr wrap="square" lIns="0" tIns="0" rIns="0" bIns="0" rtlCol="0"/>
              <a:lstStyle/>
              <a:p>
                <a:endParaRPr/>
              </a:p>
            </p:txBody>
          </p:sp>
          <p:sp>
            <p:nvSpPr>
              <p:cNvPr id="15" name="object 15"/>
              <p:cNvSpPr/>
              <p:nvPr/>
            </p:nvSpPr>
            <p:spPr>
              <a:xfrm>
                <a:off x="493649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16" name="object 16"/>
              <p:cNvSpPr/>
              <p:nvPr/>
            </p:nvSpPr>
            <p:spPr>
              <a:xfrm>
                <a:off x="494030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7" name="object 17"/>
              <p:cNvSpPr/>
              <p:nvPr/>
            </p:nvSpPr>
            <p:spPr>
              <a:xfrm>
                <a:off x="494411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18" name="object 18"/>
              <p:cNvSpPr/>
              <p:nvPr/>
            </p:nvSpPr>
            <p:spPr>
              <a:xfrm>
                <a:off x="494792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70"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9" name="object 19"/>
              <p:cNvSpPr/>
              <p:nvPr/>
            </p:nvSpPr>
            <p:spPr>
              <a:xfrm>
                <a:off x="495173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20" name="object 20"/>
              <p:cNvSpPr/>
              <p:nvPr/>
            </p:nvSpPr>
            <p:spPr>
              <a:xfrm>
                <a:off x="495554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21" name="object 21"/>
              <p:cNvSpPr/>
              <p:nvPr/>
            </p:nvSpPr>
            <p:spPr>
              <a:xfrm>
                <a:off x="495935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22" name="object 22"/>
              <p:cNvSpPr/>
              <p:nvPr/>
            </p:nvSpPr>
            <p:spPr>
              <a:xfrm>
                <a:off x="496316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23" name="object 23"/>
              <p:cNvSpPr/>
              <p:nvPr/>
            </p:nvSpPr>
            <p:spPr>
              <a:xfrm>
                <a:off x="496570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24" name="object 24"/>
              <p:cNvSpPr/>
              <p:nvPr/>
            </p:nvSpPr>
            <p:spPr>
              <a:xfrm>
                <a:off x="496951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25" name="object 25"/>
              <p:cNvSpPr/>
              <p:nvPr/>
            </p:nvSpPr>
            <p:spPr>
              <a:xfrm>
                <a:off x="497332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26" name="object 26"/>
              <p:cNvSpPr/>
              <p:nvPr/>
            </p:nvSpPr>
            <p:spPr>
              <a:xfrm>
                <a:off x="497713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27" name="object 27"/>
              <p:cNvSpPr/>
              <p:nvPr/>
            </p:nvSpPr>
            <p:spPr>
              <a:xfrm>
                <a:off x="498094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28" name="object 28"/>
              <p:cNvSpPr/>
              <p:nvPr/>
            </p:nvSpPr>
            <p:spPr>
              <a:xfrm>
                <a:off x="498475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29" name="object 29"/>
              <p:cNvSpPr/>
              <p:nvPr/>
            </p:nvSpPr>
            <p:spPr>
              <a:xfrm>
                <a:off x="4988560" y="1125219"/>
                <a:ext cx="173990" cy="215900"/>
              </a:xfrm>
              <a:custGeom>
                <a:avLst/>
                <a:gdLst/>
                <a:ahLst/>
                <a:cxnLst/>
                <a:rect l="l" t="t" r="r" b="b"/>
                <a:pathLst>
                  <a:path w="173989" h="215900">
                    <a:moveTo>
                      <a:pt x="3810" y="0"/>
                    </a:moveTo>
                    <a:lnTo>
                      <a:pt x="0" y="0"/>
                    </a:lnTo>
                    <a:lnTo>
                      <a:pt x="0" y="215900"/>
                    </a:lnTo>
                    <a:lnTo>
                      <a:pt x="3810" y="215900"/>
                    </a:lnTo>
                    <a:lnTo>
                      <a:pt x="3810" y="0"/>
                    </a:lnTo>
                    <a:close/>
                  </a:path>
                  <a:path w="173989"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30" name="object 30"/>
              <p:cNvSpPr/>
              <p:nvPr/>
            </p:nvSpPr>
            <p:spPr>
              <a:xfrm>
                <a:off x="499237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372" y="0"/>
                    </a:lnTo>
                    <a:lnTo>
                      <a:pt x="163372" y="43180"/>
                    </a:lnTo>
                    <a:lnTo>
                      <a:pt x="163804" y="43180"/>
                    </a:lnTo>
                    <a:lnTo>
                      <a:pt x="163804" y="171450"/>
                    </a:lnTo>
                    <a:lnTo>
                      <a:pt x="163360" y="171450"/>
                    </a:lnTo>
                    <a:lnTo>
                      <a:pt x="16336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31" name="object 31"/>
              <p:cNvSpPr/>
              <p:nvPr/>
            </p:nvSpPr>
            <p:spPr>
              <a:xfrm>
                <a:off x="4994910" y="1125219"/>
                <a:ext cx="161290" cy="215900"/>
              </a:xfrm>
              <a:custGeom>
                <a:avLst/>
                <a:gdLst/>
                <a:ahLst/>
                <a:cxnLst/>
                <a:rect l="l" t="t" r="r" b="b"/>
                <a:pathLst>
                  <a:path w="16128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89"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32" name="object 32"/>
              <p:cNvSpPr/>
              <p:nvPr/>
            </p:nvSpPr>
            <p:spPr>
              <a:xfrm>
                <a:off x="499872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33" name="object 33"/>
              <p:cNvSpPr/>
              <p:nvPr/>
            </p:nvSpPr>
            <p:spPr>
              <a:xfrm>
                <a:off x="500253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34" name="object 34"/>
              <p:cNvSpPr/>
              <p:nvPr/>
            </p:nvSpPr>
            <p:spPr>
              <a:xfrm>
                <a:off x="500634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35" name="object 35"/>
              <p:cNvSpPr/>
              <p:nvPr/>
            </p:nvSpPr>
            <p:spPr>
              <a:xfrm>
                <a:off x="501015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36" name="object 36"/>
              <p:cNvSpPr/>
              <p:nvPr/>
            </p:nvSpPr>
            <p:spPr>
              <a:xfrm>
                <a:off x="501396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37" name="object 37"/>
              <p:cNvSpPr/>
              <p:nvPr/>
            </p:nvSpPr>
            <p:spPr>
              <a:xfrm>
                <a:off x="501777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38" name="object 38"/>
              <p:cNvSpPr/>
              <p:nvPr/>
            </p:nvSpPr>
            <p:spPr>
              <a:xfrm>
                <a:off x="5020310" y="1125219"/>
                <a:ext cx="110489" cy="215900"/>
              </a:xfrm>
              <a:custGeom>
                <a:avLst/>
                <a:gdLst/>
                <a:ahLst/>
                <a:cxnLst/>
                <a:rect l="l" t="t" r="r" b="b"/>
                <a:pathLst>
                  <a:path w="110489"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89" h="215900">
                    <a:moveTo>
                      <a:pt x="110490" y="45720"/>
                    </a:moveTo>
                    <a:lnTo>
                      <a:pt x="110020" y="45720"/>
                    </a:lnTo>
                    <a:lnTo>
                      <a:pt x="110020" y="0"/>
                    </a:lnTo>
                    <a:lnTo>
                      <a:pt x="106680" y="0"/>
                    </a:lnTo>
                    <a:lnTo>
                      <a:pt x="106680" y="45720"/>
                    </a:lnTo>
                    <a:lnTo>
                      <a:pt x="106680" y="168910"/>
                    </a:lnTo>
                    <a:lnTo>
                      <a:pt x="106680"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39" name="object 39"/>
              <p:cNvSpPr/>
              <p:nvPr/>
            </p:nvSpPr>
            <p:spPr>
              <a:xfrm>
                <a:off x="502412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40" name="object 40"/>
              <p:cNvSpPr/>
              <p:nvPr/>
            </p:nvSpPr>
            <p:spPr>
              <a:xfrm>
                <a:off x="502793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41" name="object 41"/>
              <p:cNvSpPr/>
              <p:nvPr/>
            </p:nvSpPr>
            <p:spPr>
              <a:xfrm>
                <a:off x="503174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42" name="object 42"/>
              <p:cNvSpPr/>
              <p:nvPr/>
            </p:nvSpPr>
            <p:spPr>
              <a:xfrm>
                <a:off x="503555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43" name="object 43"/>
              <p:cNvSpPr/>
              <p:nvPr/>
            </p:nvSpPr>
            <p:spPr>
              <a:xfrm>
                <a:off x="503936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44" name="object 44"/>
              <p:cNvSpPr/>
              <p:nvPr/>
            </p:nvSpPr>
            <p:spPr>
              <a:xfrm>
                <a:off x="504317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45" name="object 45"/>
              <p:cNvSpPr/>
              <p:nvPr/>
            </p:nvSpPr>
            <p:spPr>
              <a:xfrm>
                <a:off x="5046980" y="1125219"/>
                <a:ext cx="58419" cy="215900"/>
              </a:xfrm>
              <a:custGeom>
                <a:avLst/>
                <a:gdLst/>
                <a:ahLst/>
                <a:cxnLst/>
                <a:rect l="l" t="t" r="r" b="b"/>
                <a:pathLst>
                  <a:path w="58420" h="215900">
                    <a:moveTo>
                      <a:pt x="2540" y="0"/>
                    </a:moveTo>
                    <a:lnTo>
                      <a:pt x="0" y="0"/>
                    </a:lnTo>
                    <a:lnTo>
                      <a:pt x="0" y="215900"/>
                    </a:lnTo>
                    <a:lnTo>
                      <a:pt x="2540" y="215900"/>
                    </a:lnTo>
                    <a:lnTo>
                      <a:pt x="2540" y="0"/>
                    </a:lnTo>
                    <a:close/>
                  </a:path>
                  <a:path w="58420"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46" name="object 46"/>
              <p:cNvSpPr/>
              <p:nvPr/>
            </p:nvSpPr>
            <p:spPr>
              <a:xfrm>
                <a:off x="504952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47" name="object 47"/>
              <p:cNvSpPr/>
              <p:nvPr/>
            </p:nvSpPr>
            <p:spPr>
              <a:xfrm>
                <a:off x="505333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48" name="object 48"/>
              <p:cNvSpPr/>
              <p:nvPr/>
            </p:nvSpPr>
            <p:spPr>
              <a:xfrm>
                <a:off x="505714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49" name="object 49"/>
              <p:cNvSpPr/>
              <p:nvPr/>
            </p:nvSpPr>
            <p:spPr>
              <a:xfrm>
                <a:off x="506095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50" name="object 50"/>
              <p:cNvSpPr/>
              <p:nvPr/>
            </p:nvSpPr>
            <p:spPr>
              <a:xfrm>
                <a:off x="506476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51" name="object 51"/>
              <p:cNvSpPr/>
              <p:nvPr/>
            </p:nvSpPr>
            <p:spPr>
              <a:xfrm>
                <a:off x="506857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52" name="object 52"/>
              <p:cNvSpPr/>
              <p:nvPr/>
            </p:nvSpPr>
            <p:spPr>
              <a:xfrm>
                <a:off x="5072380"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53" name="object 53"/>
            <p:cNvGrpSpPr/>
            <p:nvPr/>
          </p:nvGrpSpPr>
          <p:grpSpPr>
            <a:xfrm>
              <a:off x="8315900" y="1111191"/>
              <a:ext cx="1898014" cy="1538605"/>
              <a:chOff x="6791900" y="1111190"/>
              <a:chExt cx="1898014" cy="1538605"/>
            </a:xfrm>
          </p:grpSpPr>
          <p:sp>
            <p:nvSpPr>
              <p:cNvPr id="54" name="object 54"/>
              <p:cNvSpPr/>
              <p:nvPr/>
            </p:nvSpPr>
            <p:spPr>
              <a:xfrm>
                <a:off x="6804659"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55" name="object 55"/>
              <p:cNvSpPr/>
              <p:nvPr/>
            </p:nvSpPr>
            <p:spPr>
              <a:xfrm>
                <a:off x="6804659"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56" name="object 56"/>
              <p:cNvSpPr/>
              <p:nvPr/>
            </p:nvSpPr>
            <p:spPr>
              <a:xfrm>
                <a:off x="6803390" y="1125219"/>
                <a:ext cx="1871980" cy="215900"/>
              </a:xfrm>
              <a:custGeom>
                <a:avLst/>
                <a:gdLst/>
                <a:ahLst/>
                <a:cxnLst/>
                <a:rect l="l" t="t" r="r" b="b"/>
                <a:pathLst>
                  <a:path w="1871979" h="215900">
                    <a:moveTo>
                      <a:pt x="787400" y="0"/>
                    </a:moveTo>
                    <a:lnTo>
                      <a:pt x="0" y="0"/>
                    </a:lnTo>
                    <a:lnTo>
                      <a:pt x="0" y="214630"/>
                    </a:lnTo>
                    <a:lnTo>
                      <a:pt x="787400" y="214630"/>
                    </a:lnTo>
                    <a:lnTo>
                      <a:pt x="787400" y="0"/>
                    </a:lnTo>
                    <a:close/>
                  </a:path>
                  <a:path w="1871979" h="215900">
                    <a:moveTo>
                      <a:pt x="1085850" y="214630"/>
                    </a:moveTo>
                    <a:lnTo>
                      <a:pt x="787400" y="214630"/>
                    </a:lnTo>
                    <a:lnTo>
                      <a:pt x="787400" y="215900"/>
                    </a:lnTo>
                    <a:lnTo>
                      <a:pt x="1085850" y="215900"/>
                    </a:lnTo>
                    <a:lnTo>
                      <a:pt x="1085850" y="214630"/>
                    </a:lnTo>
                    <a:close/>
                  </a:path>
                  <a:path w="1871979" h="215900">
                    <a:moveTo>
                      <a:pt x="1871980" y="0"/>
                    </a:moveTo>
                    <a:lnTo>
                      <a:pt x="1085850" y="0"/>
                    </a:lnTo>
                    <a:lnTo>
                      <a:pt x="1085850" y="214630"/>
                    </a:lnTo>
                    <a:lnTo>
                      <a:pt x="1871980" y="214630"/>
                    </a:lnTo>
                    <a:lnTo>
                      <a:pt x="1871980" y="0"/>
                    </a:lnTo>
                    <a:close/>
                  </a:path>
                </a:pathLst>
              </a:custGeom>
              <a:solidFill>
                <a:srgbClr val="000000"/>
              </a:solidFill>
            </p:spPr>
            <p:txBody>
              <a:bodyPr wrap="square" lIns="0" tIns="0" rIns="0" bIns="0" rtlCol="0"/>
              <a:lstStyle/>
              <a:p>
                <a:endParaRPr/>
              </a:p>
            </p:txBody>
          </p:sp>
          <p:sp>
            <p:nvSpPr>
              <p:cNvPr id="57" name="object 57"/>
              <p:cNvSpPr/>
              <p:nvPr/>
            </p:nvSpPr>
            <p:spPr>
              <a:xfrm>
                <a:off x="759079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58" name="object 58"/>
              <p:cNvSpPr/>
              <p:nvPr/>
            </p:nvSpPr>
            <p:spPr>
              <a:xfrm>
                <a:off x="759460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215900"/>
                    </a:lnTo>
                    <a:lnTo>
                      <a:pt x="290830" y="215900"/>
                    </a:lnTo>
                    <a:lnTo>
                      <a:pt x="290830" y="0"/>
                    </a:lnTo>
                    <a:close/>
                  </a:path>
                </a:pathLst>
              </a:custGeom>
              <a:solidFill>
                <a:srgbClr val="030303"/>
              </a:solidFill>
            </p:spPr>
            <p:txBody>
              <a:bodyPr wrap="square" lIns="0" tIns="0" rIns="0" bIns="0" rtlCol="0"/>
              <a:lstStyle/>
              <a:p>
                <a:endParaRPr/>
              </a:p>
            </p:txBody>
          </p:sp>
          <p:sp>
            <p:nvSpPr>
              <p:cNvPr id="59" name="object 59"/>
              <p:cNvSpPr/>
              <p:nvPr/>
            </p:nvSpPr>
            <p:spPr>
              <a:xfrm>
                <a:off x="7598410" y="1125219"/>
                <a:ext cx="283210" cy="215900"/>
              </a:xfrm>
              <a:custGeom>
                <a:avLst/>
                <a:gdLst/>
                <a:ahLst/>
                <a:cxnLst/>
                <a:rect l="l" t="t" r="r" b="b"/>
                <a:pathLst>
                  <a:path w="283209" h="215900">
                    <a:moveTo>
                      <a:pt x="2933" y="173990"/>
                    </a:moveTo>
                    <a:lnTo>
                      <a:pt x="2540" y="173990"/>
                    </a:lnTo>
                    <a:lnTo>
                      <a:pt x="2540" y="40640"/>
                    </a:lnTo>
                    <a:lnTo>
                      <a:pt x="2921" y="40640"/>
                    </a:lnTo>
                    <a:lnTo>
                      <a:pt x="2921" y="0"/>
                    </a:lnTo>
                    <a:lnTo>
                      <a:pt x="0" y="0"/>
                    </a:lnTo>
                    <a:lnTo>
                      <a:pt x="0" y="40640"/>
                    </a:lnTo>
                    <a:lnTo>
                      <a:pt x="0" y="173990"/>
                    </a:lnTo>
                    <a:lnTo>
                      <a:pt x="0" y="215900"/>
                    </a:lnTo>
                    <a:lnTo>
                      <a:pt x="2933" y="215900"/>
                    </a:lnTo>
                    <a:lnTo>
                      <a:pt x="2933" y="173990"/>
                    </a:lnTo>
                    <a:close/>
                  </a:path>
                  <a:path w="283209" h="215900">
                    <a:moveTo>
                      <a:pt x="283210" y="0"/>
                    </a:moveTo>
                    <a:lnTo>
                      <a:pt x="280276" y="0"/>
                    </a:lnTo>
                    <a:lnTo>
                      <a:pt x="280276" y="40640"/>
                    </a:lnTo>
                    <a:lnTo>
                      <a:pt x="280670" y="40640"/>
                    </a:lnTo>
                    <a:lnTo>
                      <a:pt x="280670" y="173990"/>
                    </a:lnTo>
                    <a:lnTo>
                      <a:pt x="280263" y="173990"/>
                    </a:lnTo>
                    <a:lnTo>
                      <a:pt x="280263" y="215900"/>
                    </a:lnTo>
                    <a:lnTo>
                      <a:pt x="283210" y="215900"/>
                    </a:lnTo>
                    <a:lnTo>
                      <a:pt x="283210" y="173990"/>
                    </a:lnTo>
                    <a:lnTo>
                      <a:pt x="283210" y="40640"/>
                    </a:lnTo>
                    <a:lnTo>
                      <a:pt x="283210" y="0"/>
                    </a:lnTo>
                    <a:close/>
                  </a:path>
                </a:pathLst>
              </a:custGeom>
              <a:solidFill>
                <a:srgbClr val="050505"/>
              </a:solidFill>
            </p:spPr>
            <p:txBody>
              <a:bodyPr wrap="square" lIns="0" tIns="0" rIns="0" bIns="0" rtlCol="0"/>
              <a:lstStyle/>
              <a:p>
                <a:endParaRPr/>
              </a:p>
            </p:txBody>
          </p:sp>
          <p:sp>
            <p:nvSpPr>
              <p:cNvPr id="60" name="object 60"/>
              <p:cNvSpPr/>
              <p:nvPr/>
            </p:nvSpPr>
            <p:spPr>
              <a:xfrm>
                <a:off x="760095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61" name="object 61"/>
              <p:cNvSpPr/>
              <p:nvPr/>
            </p:nvSpPr>
            <p:spPr>
              <a:xfrm>
                <a:off x="7604760" y="1125219"/>
                <a:ext cx="270510" cy="215900"/>
              </a:xfrm>
              <a:custGeom>
                <a:avLst/>
                <a:gdLst/>
                <a:ahLst/>
                <a:cxnLst/>
                <a:rect l="l" t="t" r="r" b="b"/>
                <a:pathLst>
                  <a:path w="270509"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09"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62" name="object 62"/>
              <p:cNvSpPr/>
              <p:nvPr/>
            </p:nvSpPr>
            <p:spPr>
              <a:xfrm>
                <a:off x="7608570" y="1125219"/>
                <a:ext cx="262890" cy="215900"/>
              </a:xfrm>
              <a:custGeom>
                <a:avLst/>
                <a:gdLst/>
                <a:ahLst/>
                <a:cxnLst/>
                <a:rect l="l" t="t" r="r" b="b"/>
                <a:pathLst>
                  <a:path w="26289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62890"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63" name="object 63"/>
              <p:cNvSpPr/>
              <p:nvPr/>
            </p:nvSpPr>
            <p:spPr>
              <a:xfrm>
                <a:off x="761238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0" y="0"/>
                    </a:lnTo>
                    <a:lnTo>
                      <a:pt x="0" y="41910"/>
                    </a:lnTo>
                    <a:lnTo>
                      <a:pt x="0" y="172720"/>
                    </a:lnTo>
                    <a:lnTo>
                      <a:pt x="0" y="215900"/>
                    </a:lnTo>
                    <a:lnTo>
                      <a:pt x="4216" y="215900"/>
                    </a:lnTo>
                    <a:lnTo>
                      <a:pt x="4216" y="172720"/>
                    </a:lnTo>
                    <a:close/>
                  </a:path>
                  <a:path w="255270" h="215900">
                    <a:moveTo>
                      <a:pt x="255270" y="0"/>
                    </a:moveTo>
                    <a:lnTo>
                      <a:pt x="251053" y="0"/>
                    </a:lnTo>
                    <a:lnTo>
                      <a:pt x="251053" y="41910"/>
                    </a:lnTo>
                    <a:lnTo>
                      <a:pt x="251460" y="41910"/>
                    </a:lnTo>
                    <a:lnTo>
                      <a:pt x="251460" y="172720"/>
                    </a:lnTo>
                    <a:lnTo>
                      <a:pt x="251040" y="172720"/>
                    </a:lnTo>
                    <a:lnTo>
                      <a:pt x="251040" y="215900"/>
                    </a:lnTo>
                    <a:lnTo>
                      <a:pt x="255270" y="215900"/>
                    </a:lnTo>
                    <a:lnTo>
                      <a:pt x="255270" y="172720"/>
                    </a:lnTo>
                    <a:lnTo>
                      <a:pt x="255270" y="41910"/>
                    </a:lnTo>
                    <a:lnTo>
                      <a:pt x="255270" y="0"/>
                    </a:lnTo>
                    <a:close/>
                  </a:path>
                </a:pathLst>
              </a:custGeom>
              <a:solidFill>
                <a:srgbClr val="0D0D0D"/>
              </a:solidFill>
            </p:spPr>
            <p:txBody>
              <a:bodyPr wrap="square" lIns="0" tIns="0" rIns="0" bIns="0" rtlCol="0"/>
              <a:lstStyle/>
              <a:p>
                <a:endParaRPr/>
              </a:p>
            </p:txBody>
          </p:sp>
          <p:sp>
            <p:nvSpPr>
              <p:cNvPr id="64" name="object 64"/>
              <p:cNvSpPr/>
              <p:nvPr/>
            </p:nvSpPr>
            <p:spPr>
              <a:xfrm>
                <a:off x="761619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41910"/>
                    </a:moveTo>
                    <a:lnTo>
                      <a:pt x="247243" y="41910"/>
                    </a:lnTo>
                    <a:lnTo>
                      <a:pt x="247243" y="0"/>
                    </a:lnTo>
                    <a:lnTo>
                      <a:pt x="243840" y="0"/>
                    </a:lnTo>
                    <a:lnTo>
                      <a:pt x="243840" y="41910"/>
                    </a:lnTo>
                    <a:lnTo>
                      <a:pt x="243840" y="172720"/>
                    </a:lnTo>
                    <a:lnTo>
                      <a:pt x="243840" y="215900"/>
                    </a:lnTo>
                    <a:lnTo>
                      <a:pt x="247230" y="215900"/>
                    </a:lnTo>
                    <a:lnTo>
                      <a:pt x="247230" y="172720"/>
                    </a:lnTo>
                    <a:lnTo>
                      <a:pt x="247650" y="172720"/>
                    </a:lnTo>
                    <a:lnTo>
                      <a:pt x="247650" y="41910"/>
                    </a:lnTo>
                    <a:close/>
                  </a:path>
                </a:pathLst>
              </a:custGeom>
              <a:solidFill>
                <a:srgbClr val="0F0F0F"/>
              </a:solidFill>
            </p:spPr>
            <p:txBody>
              <a:bodyPr wrap="square" lIns="0" tIns="0" rIns="0" bIns="0" rtlCol="0"/>
              <a:lstStyle/>
              <a:p>
                <a:endParaRPr/>
              </a:p>
            </p:txBody>
          </p:sp>
          <p:sp>
            <p:nvSpPr>
              <p:cNvPr id="65" name="object 65"/>
              <p:cNvSpPr/>
              <p:nvPr/>
            </p:nvSpPr>
            <p:spPr>
              <a:xfrm>
                <a:off x="762000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66" name="object 66"/>
              <p:cNvSpPr/>
              <p:nvPr/>
            </p:nvSpPr>
            <p:spPr>
              <a:xfrm>
                <a:off x="7623810" y="1125219"/>
                <a:ext cx="232410" cy="215900"/>
              </a:xfrm>
              <a:custGeom>
                <a:avLst/>
                <a:gdLst/>
                <a:ahLst/>
                <a:cxnLst/>
                <a:rect l="l" t="t" r="r" b="b"/>
                <a:pathLst>
                  <a:path w="232409" h="215900">
                    <a:moveTo>
                      <a:pt x="2959" y="172720"/>
                    </a:moveTo>
                    <a:lnTo>
                      <a:pt x="2540" y="172720"/>
                    </a:lnTo>
                    <a:lnTo>
                      <a:pt x="2540" y="41910"/>
                    </a:lnTo>
                    <a:lnTo>
                      <a:pt x="2946" y="41910"/>
                    </a:lnTo>
                    <a:lnTo>
                      <a:pt x="2946" y="0"/>
                    </a:lnTo>
                    <a:lnTo>
                      <a:pt x="0" y="0"/>
                    </a:lnTo>
                    <a:lnTo>
                      <a:pt x="0" y="41910"/>
                    </a:lnTo>
                    <a:lnTo>
                      <a:pt x="0" y="172720"/>
                    </a:lnTo>
                    <a:lnTo>
                      <a:pt x="0" y="215900"/>
                    </a:lnTo>
                    <a:lnTo>
                      <a:pt x="2959" y="215900"/>
                    </a:lnTo>
                    <a:lnTo>
                      <a:pt x="2959" y="172720"/>
                    </a:lnTo>
                    <a:close/>
                  </a:path>
                  <a:path w="232409" h="215900">
                    <a:moveTo>
                      <a:pt x="232410" y="0"/>
                    </a:moveTo>
                    <a:lnTo>
                      <a:pt x="228600" y="0"/>
                    </a:lnTo>
                    <a:lnTo>
                      <a:pt x="228600" y="215900"/>
                    </a:lnTo>
                    <a:lnTo>
                      <a:pt x="232410" y="215900"/>
                    </a:lnTo>
                    <a:lnTo>
                      <a:pt x="232410" y="0"/>
                    </a:lnTo>
                    <a:close/>
                  </a:path>
                </a:pathLst>
              </a:custGeom>
              <a:solidFill>
                <a:srgbClr val="131313"/>
              </a:solidFill>
            </p:spPr>
            <p:txBody>
              <a:bodyPr wrap="square" lIns="0" tIns="0" rIns="0" bIns="0" rtlCol="0"/>
              <a:lstStyle/>
              <a:p>
                <a:endParaRPr/>
              </a:p>
            </p:txBody>
          </p:sp>
          <p:sp>
            <p:nvSpPr>
              <p:cNvPr id="67" name="object 67"/>
              <p:cNvSpPr/>
              <p:nvPr/>
            </p:nvSpPr>
            <p:spPr>
              <a:xfrm>
                <a:off x="7626350" y="1125219"/>
                <a:ext cx="226060" cy="215900"/>
              </a:xfrm>
              <a:custGeom>
                <a:avLst/>
                <a:gdLst/>
                <a:ahLst/>
                <a:cxnLst/>
                <a:rect l="l" t="t" r="r" b="b"/>
                <a:pathLst>
                  <a:path w="226059" h="215900">
                    <a:moveTo>
                      <a:pt x="4241" y="0"/>
                    </a:moveTo>
                    <a:lnTo>
                      <a:pt x="406" y="0"/>
                    </a:lnTo>
                    <a:lnTo>
                      <a:pt x="406" y="41910"/>
                    </a:lnTo>
                    <a:lnTo>
                      <a:pt x="0" y="41910"/>
                    </a:lnTo>
                    <a:lnTo>
                      <a:pt x="0" y="172720"/>
                    </a:lnTo>
                    <a:lnTo>
                      <a:pt x="419" y="172720"/>
                    </a:lnTo>
                    <a:lnTo>
                      <a:pt x="419" y="215900"/>
                    </a:lnTo>
                    <a:lnTo>
                      <a:pt x="4229" y="215900"/>
                    </a:lnTo>
                    <a:lnTo>
                      <a:pt x="4229" y="172720"/>
                    </a:lnTo>
                    <a:lnTo>
                      <a:pt x="3810" y="172720"/>
                    </a:lnTo>
                    <a:lnTo>
                      <a:pt x="3810" y="41910"/>
                    </a:lnTo>
                    <a:lnTo>
                      <a:pt x="4241" y="41910"/>
                    </a:lnTo>
                    <a:lnTo>
                      <a:pt x="4241" y="0"/>
                    </a:lnTo>
                    <a:close/>
                  </a:path>
                  <a:path w="226059" h="215900">
                    <a:moveTo>
                      <a:pt x="226060" y="0"/>
                    </a:moveTo>
                    <a:lnTo>
                      <a:pt x="223075" y="0"/>
                    </a:lnTo>
                    <a:lnTo>
                      <a:pt x="223075" y="41910"/>
                    </a:lnTo>
                    <a:lnTo>
                      <a:pt x="223507" y="41910"/>
                    </a:lnTo>
                    <a:lnTo>
                      <a:pt x="223507" y="172720"/>
                    </a:lnTo>
                    <a:lnTo>
                      <a:pt x="223088" y="172720"/>
                    </a:lnTo>
                    <a:lnTo>
                      <a:pt x="223088" y="215900"/>
                    </a:lnTo>
                    <a:lnTo>
                      <a:pt x="226060" y="215900"/>
                    </a:lnTo>
                    <a:lnTo>
                      <a:pt x="226060" y="172720"/>
                    </a:lnTo>
                    <a:lnTo>
                      <a:pt x="226060" y="41910"/>
                    </a:lnTo>
                    <a:lnTo>
                      <a:pt x="226060" y="0"/>
                    </a:lnTo>
                    <a:close/>
                  </a:path>
                </a:pathLst>
              </a:custGeom>
              <a:solidFill>
                <a:srgbClr val="151515"/>
              </a:solidFill>
            </p:spPr>
            <p:txBody>
              <a:bodyPr wrap="square" lIns="0" tIns="0" rIns="0" bIns="0" rtlCol="0"/>
              <a:lstStyle/>
              <a:p>
                <a:endParaRPr/>
              </a:p>
            </p:txBody>
          </p:sp>
          <p:sp>
            <p:nvSpPr>
              <p:cNvPr id="68" name="object 68"/>
              <p:cNvSpPr/>
              <p:nvPr/>
            </p:nvSpPr>
            <p:spPr>
              <a:xfrm>
                <a:off x="7630160" y="1125219"/>
                <a:ext cx="219710" cy="215900"/>
              </a:xfrm>
              <a:custGeom>
                <a:avLst/>
                <a:gdLst/>
                <a:ahLst/>
                <a:cxnLst/>
                <a:rect l="l" t="t" r="r" b="b"/>
                <a:pathLst>
                  <a:path w="219709"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09"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69" name="object 69"/>
              <p:cNvSpPr/>
              <p:nvPr/>
            </p:nvSpPr>
            <p:spPr>
              <a:xfrm>
                <a:off x="7633970" y="1125219"/>
                <a:ext cx="212090" cy="215900"/>
              </a:xfrm>
              <a:custGeom>
                <a:avLst/>
                <a:gdLst/>
                <a:ahLst/>
                <a:cxnLst/>
                <a:rect l="l" t="t" r="r" b="b"/>
                <a:pathLst>
                  <a:path w="212090"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90"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70" name="object 70"/>
              <p:cNvSpPr/>
              <p:nvPr/>
            </p:nvSpPr>
            <p:spPr>
              <a:xfrm>
                <a:off x="763778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71" name="object 71"/>
              <p:cNvSpPr/>
              <p:nvPr/>
            </p:nvSpPr>
            <p:spPr>
              <a:xfrm>
                <a:off x="764159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72" name="object 72"/>
              <p:cNvSpPr/>
              <p:nvPr/>
            </p:nvSpPr>
            <p:spPr>
              <a:xfrm>
                <a:off x="764540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73" name="object 73"/>
              <p:cNvSpPr/>
              <p:nvPr/>
            </p:nvSpPr>
            <p:spPr>
              <a:xfrm>
                <a:off x="7649210" y="1125219"/>
                <a:ext cx="181610" cy="215900"/>
              </a:xfrm>
              <a:custGeom>
                <a:avLst/>
                <a:gdLst/>
                <a:ahLst/>
                <a:cxnLst/>
                <a:rect l="l" t="t" r="r" b="b"/>
                <a:pathLst>
                  <a:path w="181609" h="215900">
                    <a:moveTo>
                      <a:pt x="3810" y="0"/>
                    </a:moveTo>
                    <a:lnTo>
                      <a:pt x="0" y="0"/>
                    </a:lnTo>
                    <a:lnTo>
                      <a:pt x="0" y="215900"/>
                    </a:lnTo>
                    <a:lnTo>
                      <a:pt x="3810" y="215900"/>
                    </a:lnTo>
                    <a:lnTo>
                      <a:pt x="3810" y="0"/>
                    </a:lnTo>
                    <a:close/>
                  </a:path>
                  <a:path w="181609"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74" name="object 74"/>
              <p:cNvSpPr/>
              <p:nvPr/>
            </p:nvSpPr>
            <p:spPr>
              <a:xfrm>
                <a:off x="7653020" y="1125219"/>
                <a:ext cx="173990" cy="215900"/>
              </a:xfrm>
              <a:custGeom>
                <a:avLst/>
                <a:gdLst/>
                <a:ahLst/>
                <a:cxnLst/>
                <a:rect l="l" t="t" r="r" b="b"/>
                <a:pathLst>
                  <a:path w="173990" h="215900">
                    <a:moveTo>
                      <a:pt x="2971" y="0"/>
                    </a:moveTo>
                    <a:lnTo>
                      <a:pt x="0" y="0"/>
                    </a:lnTo>
                    <a:lnTo>
                      <a:pt x="0" y="43180"/>
                    </a:lnTo>
                    <a:lnTo>
                      <a:pt x="0" y="171450"/>
                    </a:lnTo>
                    <a:lnTo>
                      <a:pt x="0" y="215900"/>
                    </a:lnTo>
                    <a:lnTo>
                      <a:pt x="2971" y="215900"/>
                    </a:lnTo>
                    <a:lnTo>
                      <a:pt x="2971" y="171450"/>
                    </a:lnTo>
                    <a:lnTo>
                      <a:pt x="2540" y="171450"/>
                    </a:lnTo>
                    <a:lnTo>
                      <a:pt x="2540" y="43180"/>
                    </a:lnTo>
                    <a:lnTo>
                      <a:pt x="2971" y="43180"/>
                    </a:lnTo>
                    <a:lnTo>
                      <a:pt x="2971" y="0"/>
                    </a:lnTo>
                    <a:close/>
                  </a:path>
                  <a:path w="173990"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75" name="object 75"/>
              <p:cNvSpPr/>
              <p:nvPr/>
            </p:nvSpPr>
            <p:spPr>
              <a:xfrm>
                <a:off x="7655560" y="1125219"/>
                <a:ext cx="168910" cy="215900"/>
              </a:xfrm>
              <a:custGeom>
                <a:avLst/>
                <a:gdLst/>
                <a:ahLst/>
                <a:cxnLst/>
                <a:rect l="l" t="t" r="r" b="b"/>
                <a:pathLst>
                  <a:path w="168909" h="215900">
                    <a:moveTo>
                      <a:pt x="4279" y="171450"/>
                    </a:moveTo>
                    <a:lnTo>
                      <a:pt x="3835" y="171450"/>
                    </a:lnTo>
                    <a:lnTo>
                      <a:pt x="3835" y="43180"/>
                    </a:lnTo>
                    <a:lnTo>
                      <a:pt x="4267" y="43180"/>
                    </a:lnTo>
                    <a:lnTo>
                      <a:pt x="4267" y="0"/>
                    </a:lnTo>
                    <a:lnTo>
                      <a:pt x="431" y="0"/>
                    </a:lnTo>
                    <a:lnTo>
                      <a:pt x="431" y="43180"/>
                    </a:lnTo>
                    <a:lnTo>
                      <a:pt x="0" y="43180"/>
                    </a:lnTo>
                    <a:lnTo>
                      <a:pt x="0" y="171450"/>
                    </a:lnTo>
                    <a:lnTo>
                      <a:pt x="431" y="171450"/>
                    </a:lnTo>
                    <a:lnTo>
                      <a:pt x="431" y="215900"/>
                    </a:lnTo>
                    <a:lnTo>
                      <a:pt x="4279" y="215900"/>
                    </a:lnTo>
                    <a:lnTo>
                      <a:pt x="4279" y="171450"/>
                    </a:lnTo>
                    <a:close/>
                  </a:path>
                  <a:path w="168909" h="215900">
                    <a:moveTo>
                      <a:pt x="168910" y="43180"/>
                    </a:moveTo>
                    <a:lnTo>
                      <a:pt x="168465" y="43180"/>
                    </a:lnTo>
                    <a:lnTo>
                      <a:pt x="168465" y="0"/>
                    </a:lnTo>
                    <a:lnTo>
                      <a:pt x="164642" y="0"/>
                    </a:lnTo>
                    <a:lnTo>
                      <a:pt x="164642" y="43180"/>
                    </a:lnTo>
                    <a:lnTo>
                      <a:pt x="165074" y="43180"/>
                    </a:lnTo>
                    <a:lnTo>
                      <a:pt x="165074" y="171450"/>
                    </a:lnTo>
                    <a:lnTo>
                      <a:pt x="164630" y="171450"/>
                    </a:lnTo>
                    <a:lnTo>
                      <a:pt x="164630" y="215900"/>
                    </a:lnTo>
                    <a:lnTo>
                      <a:pt x="168465" y="215900"/>
                    </a:lnTo>
                    <a:lnTo>
                      <a:pt x="168465" y="171450"/>
                    </a:lnTo>
                    <a:lnTo>
                      <a:pt x="168910" y="171450"/>
                    </a:lnTo>
                    <a:lnTo>
                      <a:pt x="168910" y="43180"/>
                    </a:lnTo>
                    <a:close/>
                  </a:path>
                </a:pathLst>
              </a:custGeom>
              <a:solidFill>
                <a:srgbClr val="252525"/>
              </a:solidFill>
            </p:spPr>
            <p:txBody>
              <a:bodyPr wrap="square" lIns="0" tIns="0" rIns="0" bIns="0" rtlCol="0"/>
              <a:lstStyle/>
              <a:p>
                <a:endParaRPr/>
              </a:p>
            </p:txBody>
          </p:sp>
          <p:sp>
            <p:nvSpPr>
              <p:cNvPr id="76" name="object 76"/>
              <p:cNvSpPr/>
              <p:nvPr/>
            </p:nvSpPr>
            <p:spPr>
              <a:xfrm>
                <a:off x="7659370" y="1125219"/>
                <a:ext cx="161290" cy="215900"/>
              </a:xfrm>
              <a:custGeom>
                <a:avLst/>
                <a:gdLst/>
                <a:ahLst/>
                <a:cxnLst/>
                <a:rect l="l" t="t" r="r" b="b"/>
                <a:pathLst>
                  <a:path w="16129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90"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77" name="object 77"/>
              <p:cNvSpPr/>
              <p:nvPr/>
            </p:nvSpPr>
            <p:spPr>
              <a:xfrm>
                <a:off x="766318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78" name="object 78"/>
              <p:cNvSpPr/>
              <p:nvPr/>
            </p:nvSpPr>
            <p:spPr>
              <a:xfrm>
                <a:off x="766699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79" name="object 79"/>
              <p:cNvSpPr/>
              <p:nvPr/>
            </p:nvSpPr>
            <p:spPr>
              <a:xfrm>
                <a:off x="767080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80" name="object 80"/>
              <p:cNvSpPr/>
              <p:nvPr/>
            </p:nvSpPr>
            <p:spPr>
              <a:xfrm>
                <a:off x="7674610" y="1125219"/>
                <a:ext cx="130810" cy="215900"/>
              </a:xfrm>
              <a:custGeom>
                <a:avLst/>
                <a:gdLst/>
                <a:ahLst/>
                <a:cxnLst/>
                <a:rect l="l" t="t" r="r" b="b"/>
                <a:pathLst>
                  <a:path w="130809" h="215900">
                    <a:moveTo>
                      <a:pt x="3810" y="0"/>
                    </a:moveTo>
                    <a:lnTo>
                      <a:pt x="0" y="0"/>
                    </a:lnTo>
                    <a:lnTo>
                      <a:pt x="0" y="215900"/>
                    </a:lnTo>
                    <a:lnTo>
                      <a:pt x="3810" y="215900"/>
                    </a:lnTo>
                    <a:lnTo>
                      <a:pt x="3810" y="0"/>
                    </a:lnTo>
                    <a:close/>
                  </a:path>
                  <a:path w="130809"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81" name="object 81"/>
              <p:cNvSpPr/>
              <p:nvPr/>
            </p:nvSpPr>
            <p:spPr>
              <a:xfrm>
                <a:off x="7678420" y="1125219"/>
                <a:ext cx="123189" cy="215900"/>
              </a:xfrm>
              <a:custGeom>
                <a:avLst/>
                <a:gdLst/>
                <a:ahLst/>
                <a:cxnLst/>
                <a:rect l="l" t="t" r="r" b="b"/>
                <a:pathLst>
                  <a:path w="123190" h="215900">
                    <a:moveTo>
                      <a:pt x="3810" y="0"/>
                    </a:moveTo>
                    <a:lnTo>
                      <a:pt x="0" y="0"/>
                    </a:lnTo>
                    <a:lnTo>
                      <a:pt x="0" y="215900"/>
                    </a:lnTo>
                    <a:lnTo>
                      <a:pt x="3810" y="215900"/>
                    </a:lnTo>
                    <a:lnTo>
                      <a:pt x="3810" y="0"/>
                    </a:lnTo>
                    <a:close/>
                  </a:path>
                  <a:path w="123190"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82" name="object 82"/>
              <p:cNvSpPr/>
              <p:nvPr/>
            </p:nvSpPr>
            <p:spPr>
              <a:xfrm>
                <a:off x="768223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83" name="object 83"/>
              <p:cNvSpPr/>
              <p:nvPr/>
            </p:nvSpPr>
            <p:spPr>
              <a:xfrm>
                <a:off x="7684770" y="1125219"/>
                <a:ext cx="110489" cy="215900"/>
              </a:xfrm>
              <a:custGeom>
                <a:avLst/>
                <a:gdLst/>
                <a:ahLst/>
                <a:cxnLst/>
                <a:rect l="l" t="t" r="r" b="b"/>
                <a:pathLst>
                  <a:path w="110490"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90" h="215900">
                    <a:moveTo>
                      <a:pt x="110490" y="45720"/>
                    </a:moveTo>
                    <a:lnTo>
                      <a:pt x="110020" y="45720"/>
                    </a:lnTo>
                    <a:lnTo>
                      <a:pt x="110020" y="0"/>
                    </a:lnTo>
                    <a:lnTo>
                      <a:pt x="106210" y="0"/>
                    </a:lnTo>
                    <a:lnTo>
                      <a:pt x="106210" y="45720"/>
                    </a:lnTo>
                    <a:lnTo>
                      <a:pt x="106680" y="45720"/>
                    </a:lnTo>
                    <a:lnTo>
                      <a:pt x="106680" y="168910"/>
                    </a:lnTo>
                    <a:lnTo>
                      <a:pt x="106197" y="168910"/>
                    </a:lnTo>
                    <a:lnTo>
                      <a:pt x="106197"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84" name="object 84"/>
              <p:cNvSpPr/>
              <p:nvPr/>
            </p:nvSpPr>
            <p:spPr>
              <a:xfrm>
                <a:off x="768858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45720"/>
                    </a:moveTo>
                    <a:lnTo>
                      <a:pt x="102400" y="45720"/>
                    </a:lnTo>
                    <a:lnTo>
                      <a:pt x="102400" y="0"/>
                    </a:lnTo>
                    <a:lnTo>
                      <a:pt x="99060" y="0"/>
                    </a:lnTo>
                    <a:lnTo>
                      <a:pt x="99060" y="45720"/>
                    </a:lnTo>
                    <a:lnTo>
                      <a:pt x="99060" y="168910"/>
                    </a:lnTo>
                    <a:lnTo>
                      <a:pt x="99060" y="215900"/>
                    </a:lnTo>
                    <a:lnTo>
                      <a:pt x="102387" y="215900"/>
                    </a:lnTo>
                    <a:lnTo>
                      <a:pt x="102387" y="168910"/>
                    </a:lnTo>
                    <a:lnTo>
                      <a:pt x="102870" y="168910"/>
                    </a:lnTo>
                    <a:lnTo>
                      <a:pt x="102870" y="45720"/>
                    </a:lnTo>
                    <a:close/>
                  </a:path>
                </a:pathLst>
              </a:custGeom>
              <a:solidFill>
                <a:srgbClr val="373737"/>
              </a:solidFill>
            </p:spPr>
            <p:txBody>
              <a:bodyPr wrap="square" lIns="0" tIns="0" rIns="0" bIns="0" rtlCol="0"/>
              <a:lstStyle/>
              <a:p>
                <a:endParaRPr/>
              </a:p>
            </p:txBody>
          </p:sp>
          <p:sp>
            <p:nvSpPr>
              <p:cNvPr id="85" name="object 85"/>
              <p:cNvSpPr/>
              <p:nvPr/>
            </p:nvSpPr>
            <p:spPr>
              <a:xfrm>
                <a:off x="769239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86" name="object 86"/>
              <p:cNvSpPr/>
              <p:nvPr/>
            </p:nvSpPr>
            <p:spPr>
              <a:xfrm>
                <a:off x="769620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87" name="object 87"/>
              <p:cNvSpPr/>
              <p:nvPr/>
            </p:nvSpPr>
            <p:spPr>
              <a:xfrm>
                <a:off x="7700010" y="1125219"/>
                <a:ext cx="80010" cy="215900"/>
              </a:xfrm>
              <a:custGeom>
                <a:avLst/>
                <a:gdLst/>
                <a:ahLst/>
                <a:cxnLst/>
                <a:rect l="l" t="t" r="r" b="b"/>
                <a:pathLst>
                  <a:path w="80009" h="215900">
                    <a:moveTo>
                      <a:pt x="3810" y="0"/>
                    </a:moveTo>
                    <a:lnTo>
                      <a:pt x="0" y="0"/>
                    </a:lnTo>
                    <a:lnTo>
                      <a:pt x="0" y="215900"/>
                    </a:lnTo>
                    <a:lnTo>
                      <a:pt x="3810" y="215900"/>
                    </a:lnTo>
                    <a:lnTo>
                      <a:pt x="3810" y="0"/>
                    </a:lnTo>
                    <a:close/>
                  </a:path>
                  <a:path w="80009"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88" name="object 88"/>
              <p:cNvSpPr/>
              <p:nvPr/>
            </p:nvSpPr>
            <p:spPr>
              <a:xfrm>
                <a:off x="7703820" y="1125219"/>
                <a:ext cx="72390" cy="215900"/>
              </a:xfrm>
              <a:custGeom>
                <a:avLst/>
                <a:gdLst/>
                <a:ahLst/>
                <a:cxnLst/>
                <a:rect l="l" t="t" r="r" b="b"/>
                <a:pathLst>
                  <a:path w="72390" h="215900">
                    <a:moveTo>
                      <a:pt x="3810" y="0"/>
                    </a:moveTo>
                    <a:lnTo>
                      <a:pt x="0" y="0"/>
                    </a:lnTo>
                    <a:lnTo>
                      <a:pt x="0" y="215900"/>
                    </a:lnTo>
                    <a:lnTo>
                      <a:pt x="3810" y="215900"/>
                    </a:lnTo>
                    <a:lnTo>
                      <a:pt x="3810" y="0"/>
                    </a:lnTo>
                    <a:close/>
                  </a:path>
                  <a:path w="72390"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89" name="object 89"/>
              <p:cNvSpPr/>
              <p:nvPr/>
            </p:nvSpPr>
            <p:spPr>
              <a:xfrm>
                <a:off x="770763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0960" y="0"/>
                    </a:lnTo>
                    <a:lnTo>
                      <a:pt x="60960" y="215900"/>
                    </a:lnTo>
                    <a:lnTo>
                      <a:pt x="64770" y="215900"/>
                    </a:lnTo>
                    <a:lnTo>
                      <a:pt x="64770" y="0"/>
                    </a:lnTo>
                    <a:close/>
                  </a:path>
                </a:pathLst>
              </a:custGeom>
              <a:solidFill>
                <a:srgbClr val="414141"/>
              </a:solidFill>
            </p:spPr>
            <p:txBody>
              <a:bodyPr wrap="square" lIns="0" tIns="0" rIns="0" bIns="0" rtlCol="0"/>
              <a:lstStyle/>
              <a:p>
                <a:endParaRPr/>
              </a:p>
            </p:txBody>
          </p:sp>
          <p:sp>
            <p:nvSpPr>
              <p:cNvPr id="90" name="object 90"/>
              <p:cNvSpPr/>
              <p:nvPr/>
            </p:nvSpPr>
            <p:spPr>
              <a:xfrm>
                <a:off x="7711440" y="1125219"/>
                <a:ext cx="57150" cy="215900"/>
              </a:xfrm>
              <a:custGeom>
                <a:avLst/>
                <a:gdLst/>
                <a:ahLst/>
                <a:cxnLst/>
                <a:rect l="l" t="t" r="r" b="b"/>
                <a:pathLst>
                  <a:path w="57150" h="215900">
                    <a:moveTo>
                      <a:pt x="2540" y="0"/>
                    </a:moveTo>
                    <a:lnTo>
                      <a:pt x="0" y="0"/>
                    </a:lnTo>
                    <a:lnTo>
                      <a:pt x="0" y="215900"/>
                    </a:lnTo>
                    <a:lnTo>
                      <a:pt x="2540" y="215900"/>
                    </a:lnTo>
                    <a:lnTo>
                      <a:pt x="2540" y="0"/>
                    </a:lnTo>
                    <a:close/>
                  </a:path>
                  <a:path w="57150" h="215900">
                    <a:moveTo>
                      <a:pt x="57150" y="0"/>
                    </a:moveTo>
                    <a:lnTo>
                      <a:pt x="54610" y="0"/>
                    </a:lnTo>
                    <a:lnTo>
                      <a:pt x="54610" y="215900"/>
                    </a:lnTo>
                    <a:lnTo>
                      <a:pt x="57150" y="215900"/>
                    </a:lnTo>
                    <a:lnTo>
                      <a:pt x="57150" y="0"/>
                    </a:lnTo>
                    <a:close/>
                  </a:path>
                </a:pathLst>
              </a:custGeom>
              <a:solidFill>
                <a:srgbClr val="434343"/>
              </a:solidFill>
            </p:spPr>
            <p:txBody>
              <a:bodyPr wrap="square" lIns="0" tIns="0" rIns="0" bIns="0" rtlCol="0"/>
              <a:lstStyle/>
              <a:p>
                <a:endParaRPr/>
              </a:p>
            </p:txBody>
          </p:sp>
          <p:sp>
            <p:nvSpPr>
              <p:cNvPr id="91" name="object 91"/>
              <p:cNvSpPr/>
              <p:nvPr/>
            </p:nvSpPr>
            <p:spPr>
              <a:xfrm>
                <a:off x="771398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92" name="object 92"/>
              <p:cNvSpPr/>
              <p:nvPr/>
            </p:nvSpPr>
            <p:spPr>
              <a:xfrm>
                <a:off x="771779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93" name="object 93"/>
              <p:cNvSpPr/>
              <p:nvPr/>
            </p:nvSpPr>
            <p:spPr>
              <a:xfrm>
                <a:off x="772160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94" name="object 94"/>
              <p:cNvSpPr/>
              <p:nvPr/>
            </p:nvSpPr>
            <p:spPr>
              <a:xfrm>
                <a:off x="7725410" y="1125219"/>
                <a:ext cx="29209" cy="215900"/>
              </a:xfrm>
              <a:custGeom>
                <a:avLst/>
                <a:gdLst/>
                <a:ahLst/>
                <a:cxnLst/>
                <a:rect l="l" t="t" r="r" b="b"/>
                <a:pathLst>
                  <a:path w="29209" h="215900">
                    <a:moveTo>
                      <a:pt x="3810" y="0"/>
                    </a:moveTo>
                    <a:lnTo>
                      <a:pt x="0" y="0"/>
                    </a:lnTo>
                    <a:lnTo>
                      <a:pt x="0" y="215900"/>
                    </a:lnTo>
                    <a:lnTo>
                      <a:pt x="3810" y="215900"/>
                    </a:lnTo>
                    <a:lnTo>
                      <a:pt x="3810" y="0"/>
                    </a:lnTo>
                    <a:close/>
                  </a:path>
                  <a:path w="29209"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95" name="object 95"/>
              <p:cNvSpPr/>
              <p:nvPr/>
            </p:nvSpPr>
            <p:spPr>
              <a:xfrm>
                <a:off x="7729220" y="1125219"/>
                <a:ext cx="21590" cy="215900"/>
              </a:xfrm>
              <a:custGeom>
                <a:avLst/>
                <a:gdLst/>
                <a:ahLst/>
                <a:cxnLst/>
                <a:rect l="l" t="t" r="r" b="b"/>
                <a:pathLst>
                  <a:path w="21590" h="215900">
                    <a:moveTo>
                      <a:pt x="3810" y="0"/>
                    </a:moveTo>
                    <a:lnTo>
                      <a:pt x="0" y="0"/>
                    </a:lnTo>
                    <a:lnTo>
                      <a:pt x="0" y="215900"/>
                    </a:lnTo>
                    <a:lnTo>
                      <a:pt x="3810" y="215900"/>
                    </a:lnTo>
                    <a:lnTo>
                      <a:pt x="3810" y="0"/>
                    </a:lnTo>
                    <a:close/>
                  </a:path>
                  <a:path w="21590"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96" name="object 96"/>
              <p:cNvSpPr/>
              <p:nvPr/>
            </p:nvSpPr>
            <p:spPr>
              <a:xfrm>
                <a:off x="773303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97" name="object 97"/>
              <p:cNvSpPr/>
              <p:nvPr/>
            </p:nvSpPr>
            <p:spPr>
              <a:xfrm>
                <a:off x="773683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98" name="object 98"/>
            <p:cNvGrpSpPr/>
            <p:nvPr/>
          </p:nvGrpSpPr>
          <p:grpSpPr>
            <a:xfrm>
              <a:off x="2986980" y="1111191"/>
              <a:ext cx="1898014" cy="1538605"/>
              <a:chOff x="1462980" y="1111190"/>
              <a:chExt cx="1898014" cy="1538605"/>
            </a:xfrm>
          </p:grpSpPr>
          <p:sp>
            <p:nvSpPr>
              <p:cNvPr id="99" name="object 99"/>
              <p:cNvSpPr/>
              <p:nvPr/>
            </p:nvSpPr>
            <p:spPr>
              <a:xfrm>
                <a:off x="1475740"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100" name="object 100"/>
              <p:cNvSpPr/>
              <p:nvPr/>
            </p:nvSpPr>
            <p:spPr>
              <a:xfrm>
                <a:off x="1475740"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101" name="object 101"/>
              <p:cNvSpPr/>
              <p:nvPr/>
            </p:nvSpPr>
            <p:spPr>
              <a:xfrm>
                <a:off x="1691640" y="1628140"/>
                <a:ext cx="1367790" cy="143510"/>
              </a:xfrm>
              <a:custGeom>
                <a:avLst/>
                <a:gdLst/>
                <a:ahLst/>
                <a:cxnLst/>
                <a:rect l="l" t="t" r="r" b="b"/>
                <a:pathLst>
                  <a:path w="1367789" h="143510">
                    <a:moveTo>
                      <a:pt x="1367790" y="0"/>
                    </a:moveTo>
                    <a:lnTo>
                      <a:pt x="0" y="0"/>
                    </a:lnTo>
                    <a:lnTo>
                      <a:pt x="0" y="143510"/>
                    </a:lnTo>
                    <a:lnTo>
                      <a:pt x="683260" y="143510"/>
                    </a:lnTo>
                    <a:lnTo>
                      <a:pt x="1367790" y="143510"/>
                    </a:lnTo>
                    <a:lnTo>
                      <a:pt x="1367790" y="0"/>
                    </a:lnTo>
                    <a:close/>
                  </a:path>
                </a:pathLst>
              </a:custGeom>
              <a:solidFill>
                <a:srgbClr val="FFFFFF"/>
              </a:solidFill>
            </p:spPr>
            <p:txBody>
              <a:bodyPr wrap="square" lIns="0" tIns="0" rIns="0" bIns="0" rtlCol="0"/>
              <a:lstStyle/>
              <a:p>
                <a:endParaRPr/>
              </a:p>
            </p:txBody>
          </p:sp>
          <p:sp>
            <p:nvSpPr>
              <p:cNvPr id="102" name="object 102"/>
              <p:cNvSpPr/>
              <p:nvPr/>
            </p:nvSpPr>
            <p:spPr>
              <a:xfrm>
                <a:off x="1691640" y="1628140"/>
                <a:ext cx="1367790" cy="143510"/>
              </a:xfrm>
              <a:custGeom>
                <a:avLst/>
                <a:gdLst/>
                <a:ahLst/>
                <a:cxnLst/>
                <a:rect l="l" t="t" r="r" b="b"/>
                <a:pathLst>
                  <a:path w="1367789" h="143510">
                    <a:moveTo>
                      <a:pt x="683260" y="143510"/>
                    </a:moveTo>
                    <a:lnTo>
                      <a:pt x="0" y="143510"/>
                    </a:lnTo>
                    <a:lnTo>
                      <a:pt x="0" y="0"/>
                    </a:lnTo>
                    <a:lnTo>
                      <a:pt x="1367790" y="0"/>
                    </a:lnTo>
                    <a:lnTo>
                      <a:pt x="1367790" y="143510"/>
                    </a:lnTo>
                    <a:lnTo>
                      <a:pt x="683260" y="143510"/>
                    </a:lnTo>
                    <a:close/>
                  </a:path>
                </a:pathLst>
              </a:custGeom>
              <a:ln w="25518">
                <a:solidFill>
                  <a:srgbClr val="000000"/>
                </a:solidFill>
              </a:ln>
            </p:spPr>
            <p:txBody>
              <a:bodyPr wrap="square" lIns="0" tIns="0" rIns="0" bIns="0" rtlCol="0"/>
              <a:lstStyle/>
              <a:p>
                <a:endParaRPr/>
              </a:p>
            </p:txBody>
          </p:sp>
          <p:sp>
            <p:nvSpPr>
              <p:cNvPr id="103" name="object 103"/>
              <p:cNvSpPr/>
              <p:nvPr/>
            </p:nvSpPr>
            <p:spPr>
              <a:xfrm>
                <a:off x="1691640" y="1484630"/>
                <a:ext cx="0" cy="1008380"/>
              </a:xfrm>
              <a:custGeom>
                <a:avLst/>
                <a:gdLst/>
                <a:ahLst/>
                <a:cxnLst/>
                <a:rect l="l" t="t" r="r" b="b"/>
                <a:pathLst>
                  <a:path h="1008380">
                    <a:moveTo>
                      <a:pt x="0" y="0"/>
                    </a:moveTo>
                    <a:lnTo>
                      <a:pt x="0" y="1008380"/>
                    </a:lnTo>
                  </a:path>
                </a:pathLst>
              </a:custGeom>
              <a:ln w="9344">
                <a:solidFill>
                  <a:srgbClr val="000000"/>
                </a:solidFill>
              </a:ln>
            </p:spPr>
            <p:txBody>
              <a:bodyPr wrap="square" lIns="0" tIns="0" rIns="0" bIns="0" rtlCol="0"/>
              <a:lstStyle/>
              <a:p>
                <a:endParaRPr/>
              </a:p>
            </p:txBody>
          </p:sp>
          <p:sp>
            <p:nvSpPr>
              <p:cNvPr id="104" name="object 104"/>
              <p:cNvSpPr/>
              <p:nvPr/>
            </p:nvSpPr>
            <p:spPr>
              <a:xfrm>
                <a:off x="1475740" y="1125219"/>
                <a:ext cx="1870710" cy="215900"/>
              </a:xfrm>
              <a:custGeom>
                <a:avLst/>
                <a:gdLst/>
                <a:ahLst/>
                <a:cxnLst/>
                <a:rect l="l" t="t" r="r" b="b"/>
                <a:pathLst>
                  <a:path w="1870710" h="215900">
                    <a:moveTo>
                      <a:pt x="786511" y="0"/>
                    </a:moveTo>
                    <a:lnTo>
                      <a:pt x="0" y="0"/>
                    </a:lnTo>
                    <a:lnTo>
                      <a:pt x="0" y="40640"/>
                    </a:lnTo>
                    <a:lnTo>
                      <a:pt x="0" y="173990"/>
                    </a:lnTo>
                    <a:lnTo>
                      <a:pt x="0" y="214630"/>
                    </a:lnTo>
                    <a:lnTo>
                      <a:pt x="786511" y="214630"/>
                    </a:lnTo>
                    <a:lnTo>
                      <a:pt x="786511" y="173990"/>
                    </a:lnTo>
                    <a:lnTo>
                      <a:pt x="786130" y="173990"/>
                    </a:lnTo>
                    <a:lnTo>
                      <a:pt x="786130" y="40640"/>
                    </a:lnTo>
                    <a:lnTo>
                      <a:pt x="786511" y="40640"/>
                    </a:lnTo>
                    <a:lnTo>
                      <a:pt x="786511" y="0"/>
                    </a:lnTo>
                    <a:close/>
                  </a:path>
                  <a:path w="1870710" h="215900">
                    <a:moveTo>
                      <a:pt x="1084580" y="214630"/>
                    </a:moveTo>
                    <a:lnTo>
                      <a:pt x="786892" y="214630"/>
                    </a:lnTo>
                    <a:lnTo>
                      <a:pt x="786917" y="215900"/>
                    </a:lnTo>
                    <a:lnTo>
                      <a:pt x="1084580" y="215900"/>
                    </a:lnTo>
                    <a:lnTo>
                      <a:pt x="1084580" y="214630"/>
                    </a:lnTo>
                    <a:close/>
                  </a:path>
                  <a:path w="1870710" h="215900">
                    <a:moveTo>
                      <a:pt x="1870710" y="0"/>
                    </a:moveTo>
                    <a:lnTo>
                      <a:pt x="1084580" y="0"/>
                    </a:lnTo>
                    <a:lnTo>
                      <a:pt x="1084580" y="214630"/>
                    </a:lnTo>
                    <a:lnTo>
                      <a:pt x="1870710" y="214630"/>
                    </a:lnTo>
                    <a:lnTo>
                      <a:pt x="1870710" y="0"/>
                    </a:lnTo>
                    <a:close/>
                  </a:path>
                </a:pathLst>
              </a:custGeom>
              <a:solidFill>
                <a:srgbClr val="000000"/>
              </a:solidFill>
            </p:spPr>
            <p:txBody>
              <a:bodyPr wrap="square" lIns="0" tIns="0" rIns="0" bIns="0" rtlCol="0"/>
              <a:lstStyle/>
              <a:p>
                <a:endParaRPr/>
              </a:p>
            </p:txBody>
          </p:sp>
          <p:sp>
            <p:nvSpPr>
              <p:cNvPr id="105" name="object 105"/>
              <p:cNvSpPr/>
              <p:nvPr/>
            </p:nvSpPr>
            <p:spPr>
              <a:xfrm>
                <a:off x="2261870" y="1125219"/>
                <a:ext cx="298450" cy="215900"/>
              </a:xfrm>
              <a:custGeom>
                <a:avLst/>
                <a:gdLst/>
                <a:ahLst/>
                <a:cxnLst/>
                <a:rect l="l" t="t" r="r" b="b"/>
                <a:pathLst>
                  <a:path w="298450" h="215900">
                    <a:moveTo>
                      <a:pt x="3810" y="0"/>
                    </a:moveTo>
                    <a:lnTo>
                      <a:pt x="381" y="0"/>
                    </a:lnTo>
                    <a:lnTo>
                      <a:pt x="381" y="40640"/>
                    </a:lnTo>
                    <a:lnTo>
                      <a:pt x="0" y="40640"/>
                    </a:lnTo>
                    <a:lnTo>
                      <a:pt x="0" y="173990"/>
                    </a:lnTo>
                    <a:lnTo>
                      <a:pt x="393" y="173990"/>
                    </a:lnTo>
                    <a:lnTo>
                      <a:pt x="393" y="215900"/>
                    </a:lnTo>
                    <a:lnTo>
                      <a:pt x="3810" y="215900"/>
                    </a:lnTo>
                    <a:lnTo>
                      <a:pt x="3810" y="173990"/>
                    </a:lnTo>
                    <a:lnTo>
                      <a:pt x="3810" y="4064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06" name="object 106"/>
              <p:cNvSpPr/>
              <p:nvPr/>
            </p:nvSpPr>
            <p:spPr>
              <a:xfrm>
                <a:off x="2265680" y="1125219"/>
                <a:ext cx="290830" cy="215900"/>
              </a:xfrm>
              <a:custGeom>
                <a:avLst/>
                <a:gdLst/>
                <a:ahLst/>
                <a:cxnLst/>
                <a:rect l="l" t="t" r="r" b="b"/>
                <a:pathLst>
                  <a:path w="290830" h="215900">
                    <a:moveTo>
                      <a:pt x="3810" y="0"/>
                    </a:moveTo>
                    <a:lnTo>
                      <a:pt x="0" y="0"/>
                    </a:lnTo>
                    <a:lnTo>
                      <a:pt x="0" y="215900"/>
                    </a:lnTo>
                    <a:lnTo>
                      <a:pt x="3810" y="215900"/>
                    </a:lnTo>
                    <a:lnTo>
                      <a:pt x="3810" y="0"/>
                    </a:lnTo>
                    <a:close/>
                  </a:path>
                  <a:path w="290830"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07" name="object 107"/>
              <p:cNvSpPr/>
              <p:nvPr/>
            </p:nvSpPr>
            <p:spPr>
              <a:xfrm>
                <a:off x="2269490" y="1125219"/>
                <a:ext cx="283845" cy="215900"/>
              </a:xfrm>
              <a:custGeom>
                <a:avLst/>
                <a:gdLst/>
                <a:ahLst/>
                <a:cxnLst/>
                <a:rect l="l" t="t" r="r" b="b"/>
                <a:pathLst>
                  <a:path w="283844" h="215900">
                    <a:moveTo>
                      <a:pt x="3810" y="0"/>
                    </a:moveTo>
                    <a:lnTo>
                      <a:pt x="0" y="0"/>
                    </a:lnTo>
                    <a:lnTo>
                      <a:pt x="0" y="215900"/>
                    </a:lnTo>
                    <a:lnTo>
                      <a:pt x="3810" y="215900"/>
                    </a:lnTo>
                    <a:lnTo>
                      <a:pt x="3810" y="0"/>
                    </a:lnTo>
                    <a:close/>
                  </a:path>
                  <a:path w="283844" h="215900">
                    <a:moveTo>
                      <a:pt x="283845" y="107950"/>
                    </a:moveTo>
                    <a:lnTo>
                      <a:pt x="283832" y="40640"/>
                    </a:lnTo>
                    <a:lnTo>
                      <a:pt x="283210" y="40640"/>
                    </a:lnTo>
                    <a:lnTo>
                      <a:pt x="283210" y="0"/>
                    </a:lnTo>
                    <a:lnTo>
                      <a:pt x="280276" y="0"/>
                    </a:lnTo>
                    <a:lnTo>
                      <a:pt x="280276" y="40640"/>
                    </a:lnTo>
                    <a:lnTo>
                      <a:pt x="280670" y="40640"/>
                    </a:lnTo>
                    <a:lnTo>
                      <a:pt x="280670" y="107950"/>
                    </a:lnTo>
                    <a:lnTo>
                      <a:pt x="280670" y="173990"/>
                    </a:lnTo>
                    <a:lnTo>
                      <a:pt x="280263" y="173990"/>
                    </a:lnTo>
                    <a:lnTo>
                      <a:pt x="280263" y="215900"/>
                    </a:lnTo>
                    <a:lnTo>
                      <a:pt x="283210" y="215900"/>
                    </a:lnTo>
                    <a:lnTo>
                      <a:pt x="283210" y="173990"/>
                    </a:lnTo>
                    <a:lnTo>
                      <a:pt x="283845" y="173990"/>
                    </a:lnTo>
                    <a:lnTo>
                      <a:pt x="283845" y="107950"/>
                    </a:lnTo>
                    <a:close/>
                  </a:path>
                </a:pathLst>
              </a:custGeom>
              <a:solidFill>
                <a:srgbClr val="050505"/>
              </a:solidFill>
            </p:spPr>
            <p:txBody>
              <a:bodyPr wrap="square" lIns="0" tIns="0" rIns="0" bIns="0" rtlCol="0"/>
              <a:lstStyle/>
              <a:p>
                <a:endParaRPr/>
              </a:p>
            </p:txBody>
          </p:sp>
          <p:sp>
            <p:nvSpPr>
              <p:cNvPr id="108" name="object 108"/>
              <p:cNvSpPr/>
              <p:nvPr/>
            </p:nvSpPr>
            <p:spPr>
              <a:xfrm>
                <a:off x="2273300" y="1125219"/>
                <a:ext cx="276860" cy="215900"/>
              </a:xfrm>
              <a:custGeom>
                <a:avLst/>
                <a:gdLst/>
                <a:ahLst/>
                <a:cxnLst/>
                <a:rect l="l" t="t" r="r" b="b"/>
                <a:pathLst>
                  <a:path w="276860" h="215900">
                    <a:moveTo>
                      <a:pt x="2933" y="0"/>
                    </a:moveTo>
                    <a:lnTo>
                      <a:pt x="0" y="0"/>
                    </a:lnTo>
                    <a:lnTo>
                      <a:pt x="0" y="40640"/>
                    </a:lnTo>
                    <a:lnTo>
                      <a:pt x="0" y="173990"/>
                    </a:lnTo>
                    <a:lnTo>
                      <a:pt x="0" y="215900"/>
                    </a:lnTo>
                    <a:lnTo>
                      <a:pt x="2933" y="215900"/>
                    </a:lnTo>
                    <a:lnTo>
                      <a:pt x="2933" y="173990"/>
                    </a:lnTo>
                    <a:lnTo>
                      <a:pt x="2540" y="173990"/>
                    </a:lnTo>
                    <a:lnTo>
                      <a:pt x="2540" y="40640"/>
                    </a:lnTo>
                    <a:lnTo>
                      <a:pt x="2933" y="40640"/>
                    </a:lnTo>
                    <a:lnTo>
                      <a:pt x="2933" y="0"/>
                    </a:lnTo>
                    <a:close/>
                  </a:path>
                  <a:path w="276860" h="215900">
                    <a:moveTo>
                      <a:pt x="276860" y="40640"/>
                    </a:moveTo>
                    <a:lnTo>
                      <a:pt x="276466" y="40640"/>
                    </a:lnTo>
                    <a:lnTo>
                      <a:pt x="276466" y="0"/>
                    </a:lnTo>
                    <a:lnTo>
                      <a:pt x="272643" y="0"/>
                    </a:lnTo>
                    <a:lnTo>
                      <a:pt x="272643" y="40640"/>
                    </a:lnTo>
                    <a:lnTo>
                      <a:pt x="273050" y="40640"/>
                    </a:lnTo>
                    <a:lnTo>
                      <a:pt x="273050" y="173990"/>
                    </a:lnTo>
                    <a:lnTo>
                      <a:pt x="272643" y="173990"/>
                    </a:lnTo>
                    <a:lnTo>
                      <a:pt x="272643" y="215900"/>
                    </a:lnTo>
                    <a:lnTo>
                      <a:pt x="276453" y="215900"/>
                    </a:lnTo>
                    <a:lnTo>
                      <a:pt x="276453" y="173990"/>
                    </a:lnTo>
                    <a:lnTo>
                      <a:pt x="276860" y="173990"/>
                    </a:lnTo>
                    <a:lnTo>
                      <a:pt x="276860" y="40640"/>
                    </a:lnTo>
                    <a:close/>
                  </a:path>
                </a:pathLst>
              </a:custGeom>
              <a:solidFill>
                <a:srgbClr val="070707"/>
              </a:solidFill>
            </p:spPr>
            <p:txBody>
              <a:bodyPr wrap="square" lIns="0" tIns="0" rIns="0" bIns="0" rtlCol="0"/>
              <a:lstStyle/>
              <a:p>
                <a:endParaRPr/>
              </a:p>
            </p:txBody>
          </p:sp>
          <p:sp>
            <p:nvSpPr>
              <p:cNvPr id="109" name="object 109"/>
              <p:cNvSpPr/>
              <p:nvPr/>
            </p:nvSpPr>
            <p:spPr>
              <a:xfrm>
                <a:off x="227584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700" y="0"/>
                    </a:lnTo>
                    <a:lnTo>
                      <a:pt x="266700" y="40640"/>
                    </a:lnTo>
                    <a:lnTo>
                      <a:pt x="266700" y="173990"/>
                    </a:lnTo>
                    <a:lnTo>
                      <a:pt x="266700"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10" name="object 110"/>
              <p:cNvSpPr/>
              <p:nvPr/>
            </p:nvSpPr>
            <p:spPr>
              <a:xfrm>
                <a:off x="227965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0"/>
                    </a:moveTo>
                    <a:lnTo>
                      <a:pt x="259080" y="0"/>
                    </a:lnTo>
                    <a:lnTo>
                      <a:pt x="259080" y="215900"/>
                    </a:lnTo>
                    <a:lnTo>
                      <a:pt x="262890" y="215900"/>
                    </a:lnTo>
                    <a:lnTo>
                      <a:pt x="262890" y="0"/>
                    </a:lnTo>
                    <a:close/>
                  </a:path>
                </a:pathLst>
              </a:custGeom>
              <a:solidFill>
                <a:srgbClr val="0B0B0B"/>
              </a:solidFill>
            </p:spPr>
            <p:txBody>
              <a:bodyPr wrap="square" lIns="0" tIns="0" rIns="0" bIns="0" rtlCol="0"/>
              <a:lstStyle/>
              <a:p>
                <a:endParaRPr/>
              </a:p>
            </p:txBody>
          </p:sp>
          <p:sp>
            <p:nvSpPr>
              <p:cNvPr id="111" name="object 111"/>
              <p:cNvSpPr/>
              <p:nvPr/>
            </p:nvSpPr>
            <p:spPr>
              <a:xfrm>
                <a:off x="2283460" y="1125219"/>
                <a:ext cx="255270" cy="215900"/>
              </a:xfrm>
              <a:custGeom>
                <a:avLst/>
                <a:gdLst/>
                <a:ahLst/>
                <a:cxnLst/>
                <a:rect l="l" t="t" r="r" b="b"/>
                <a:pathLst>
                  <a:path w="25526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69"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12" name="object 112"/>
              <p:cNvSpPr/>
              <p:nvPr/>
            </p:nvSpPr>
            <p:spPr>
              <a:xfrm>
                <a:off x="2287270" y="1125219"/>
                <a:ext cx="247650" cy="215900"/>
              </a:xfrm>
              <a:custGeom>
                <a:avLst/>
                <a:gdLst/>
                <a:ahLst/>
                <a:cxnLst/>
                <a:rect l="l" t="t" r="r" b="b"/>
                <a:pathLst>
                  <a:path w="247650" h="215900">
                    <a:moveTo>
                      <a:pt x="4229" y="172720"/>
                    </a:moveTo>
                    <a:lnTo>
                      <a:pt x="3810" y="172720"/>
                    </a:lnTo>
                    <a:lnTo>
                      <a:pt x="3810" y="41910"/>
                    </a:lnTo>
                    <a:lnTo>
                      <a:pt x="4216" y="41910"/>
                    </a:lnTo>
                    <a:lnTo>
                      <a:pt x="4216" y="0"/>
                    </a:lnTo>
                    <a:lnTo>
                      <a:pt x="393" y="0"/>
                    </a:lnTo>
                    <a:lnTo>
                      <a:pt x="393" y="41910"/>
                    </a:lnTo>
                    <a:lnTo>
                      <a:pt x="0" y="41910"/>
                    </a:lnTo>
                    <a:lnTo>
                      <a:pt x="0" y="172720"/>
                    </a:lnTo>
                    <a:lnTo>
                      <a:pt x="406" y="172720"/>
                    </a:lnTo>
                    <a:lnTo>
                      <a:pt x="406" y="215900"/>
                    </a:lnTo>
                    <a:lnTo>
                      <a:pt x="4229" y="215900"/>
                    </a:lnTo>
                    <a:lnTo>
                      <a:pt x="4229" y="17272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113" name="object 113"/>
              <p:cNvSpPr/>
              <p:nvPr/>
            </p:nvSpPr>
            <p:spPr>
              <a:xfrm>
                <a:off x="2291080" y="1125219"/>
                <a:ext cx="240029" cy="215900"/>
              </a:xfrm>
              <a:custGeom>
                <a:avLst/>
                <a:gdLst/>
                <a:ahLst/>
                <a:cxnLst/>
                <a:rect l="l" t="t" r="r" b="b"/>
                <a:pathLst>
                  <a:path w="240030" h="215900">
                    <a:moveTo>
                      <a:pt x="3810" y="0"/>
                    </a:moveTo>
                    <a:lnTo>
                      <a:pt x="406" y="0"/>
                    </a:lnTo>
                    <a:lnTo>
                      <a:pt x="406" y="41910"/>
                    </a:lnTo>
                    <a:lnTo>
                      <a:pt x="0" y="41910"/>
                    </a:lnTo>
                    <a:lnTo>
                      <a:pt x="0" y="172720"/>
                    </a:lnTo>
                    <a:lnTo>
                      <a:pt x="419" y="172720"/>
                    </a:lnTo>
                    <a:lnTo>
                      <a:pt x="419" y="215900"/>
                    </a:lnTo>
                    <a:lnTo>
                      <a:pt x="3810" y="215900"/>
                    </a:lnTo>
                    <a:lnTo>
                      <a:pt x="3810" y="172720"/>
                    </a:lnTo>
                    <a:lnTo>
                      <a:pt x="3810" y="41910"/>
                    </a:lnTo>
                    <a:lnTo>
                      <a:pt x="3810" y="0"/>
                    </a:lnTo>
                    <a:close/>
                  </a:path>
                  <a:path w="240030"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114" name="object 114"/>
              <p:cNvSpPr/>
              <p:nvPr/>
            </p:nvSpPr>
            <p:spPr>
              <a:xfrm>
                <a:off x="229489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115" name="object 115"/>
              <p:cNvSpPr/>
              <p:nvPr/>
            </p:nvSpPr>
            <p:spPr>
              <a:xfrm>
                <a:off x="229870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116" name="object 116"/>
              <p:cNvSpPr/>
              <p:nvPr/>
            </p:nvSpPr>
            <p:spPr>
              <a:xfrm>
                <a:off x="230124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117" name="object 117"/>
              <p:cNvSpPr/>
              <p:nvPr/>
            </p:nvSpPr>
            <p:spPr>
              <a:xfrm>
                <a:off x="230505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118" name="object 118"/>
              <p:cNvSpPr/>
              <p:nvPr/>
            </p:nvSpPr>
            <p:spPr>
              <a:xfrm>
                <a:off x="2308860" y="1125219"/>
                <a:ext cx="204470" cy="215900"/>
              </a:xfrm>
              <a:custGeom>
                <a:avLst/>
                <a:gdLst/>
                <a:ahLst/>
                <a:cxnLst/>
                <a:rect l="l" t="t" r="r" b="b"/>
                <a:pathLst>
                  <a:path w="204469" h="215900">
                    <a:moveTo>
                      <a:pt x="3810" y="0"/>
                    </a:moveTo>
                    <a:lnTo>
                      <a:pt x="0" y="0"/>
                    </a:lnTo>
                    <a:lnTo>
                      <a:pt x="0" y="215900"/>
                    </a:lnTo>
                    <a:lnTo>
                      <a:pt x="3810" y="215900"/>
                    </a:lnTo>
                    <a:lnTo>
                      <a:pt x="3810" y="0"/>
                    </a:lnTo>
                    <a:close/>
                  </a:path>
                  <a:path w="204469"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119" name="object 119"/>
              <p:cNvSpPr/>
              <p:nvPr/>
            </p:nvSpPr>
            <p:spPr>
              <a:xfrm>
                <a:off x="231267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120" name="object 120"/>
              <p:cNvSpPr/>
              <p:nvPr/>
            </p:nvSpPr>
            <p:spPr>
              <a:xfrm>
                <a:off x="2316480" y="1125219"/>
                <a:ext cx="189230" cy="215900"/>
              </a:xfrm>
              <a:custGeom>
                <a:avLst/>
                <a:gdLst/>
                <a:ahLst/>
                <a:cxnLst/>
                <a:rect l="l" t="t" r="r" b="b"/>
                <a:pathLst>
                  <a:path w="189230" h="215900">
                    <a:moveTo>
                      <a:pt x="3810" y="0"/>
                    </a:moveTo>
                    <a:lnTo>
                      <a:pt x="0" y="0"/>
                    </a:lnTo>
                    <a:lnTo>
                      <a:pt x="0" y="215900"/>
                    </a:lnTo>
                    <a:lnTo>
                      <a:pt x="3810" y="215900"/>
                    </a:lnTo>
                    <a:lnTo>
                      <a:pt x="3810" y="0"/>
                    </a:lnTo>
                    <a:close/>
                  </a:path>
                  <a:path w="189230"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121" name="object 121"/>
              <p:cNvSpPr/>
              <p:nvPr/>
            </p:nvSpPr>
            <p:spPr>
              <a:xfrm>
                <a:off x="232029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8638" y="0"/>
                    </a:lnTo>
                    <a:lnTo>
                      <a:pt x="178638" y="43180"/>
                    </a:lnTo>
                    <a:lnTo>
                      <a:pt x="179070" y="43180"/>
                    </a:lnTo>
                    <a:lnTo>
                      <a:pt x="179070" y="171450"/>
                    </a:lnTo>
                    <a:lnTo>
                      <a:pt x="178625" y="171450"/>
                    </a:lnTo>
                    <a:lnTo>
                      <a:pt x="178625" y="215900"/>
                    </a:lnTo>
                    <a:lnTo>
                      <a:pt x="181610" y="215900"/>
                    </a:lnTo>
                    <a:lnTo>
                      <a:pt x="181610" y="171450"/>
                    </a:lnTo>
                    <a:lnTo>
                      <a:pt x="181610" y="43180"/>
                    </a:lnTo>
                    <a:lnTo>
                      <a:pt x="181610" y="0"/>
                    </a:lnTo>
                    <a:close/>
                  </a:path>
                </a:pathLst>
              </a:custGeom>
              <a:solidFill>
                <a:srgbClr val="212121"/>
              </a:solidFill>
            </p:spPr>
            <p:txBody>
              <a:bodyPr wrap="square" lIns="0" tIns="0" rIns="0" bIns="0" rtlCol="0"/>
              <a:lstStyle/>
              <a:p>
                <a:endParaRPr/>
              </a:p>
            </p:txBody>
          </p:sp>
          <p:sp>
            <p:nvSpPr>
              <p:cNvPr id="122" name="object 122"/>
              <p:cNvSpPr/>
              <p:nvPr/>
            </p:nvSpPr>
            <p:spPr>
              <a:xfrm>
                <a:off x="2324100" y="1125219"/>
                <a:ext cx="175260" cy="215900"/>
              </a:xfrm>
              <a:custGeom>
                <a:avLst/>
                <a:gdLst/>
                <a:ahLst/>
                <a:cxnLst/>
                <a:rect l="l" t="t" r="r" b="b"/>
                <a:pathLst>
                  <a:path w="175260" h="215900">
                    <a:moveTo>
                      <a:pt x="3810" y="0"/>
                    </a:moveTo>
                    <a:lnTo>
                      <a:pt x="0" y="0"/>
                    </a:lnTo>
                    <a:lnTo>
                      <a:pt x="0" y="215900"/>
                    </a:lnTo>
                    <a:lnTo>
                      <a:pt x="3810" y="215900"/>
                    </a:lnTo>
                    <a:lnTo>
                      <a:pt x="3810" y="0"/>
                    </a:lnTo>
                    <a:close/>
                  </a:path>
                  <a:path w="175260" h="215900">
                    <a:moveTo>
                      <a:pt x="175260" y="43180"/>
                    </a:moveTo>
                    <a:lnTo>
                      <a:pt x="174828" y="43180"/>
                    </a:lnTo>
                    <a:lnTo>
                      <a:pt x="174828" y="0"/>
                    </a:lnTo>
                    <a:lnTo>
                      <a:pt x="171005" y="0"/>
                    </a:lnTo>
                    <a:lnTo>
                      <a:pt x="171005" y="43180"/>
                    </a:lnTo>
                    <a:lnTo>
                      <a:pt x="171450" y="43180"/>
                    </a:lnTo>
                    <a:lnTo>
                      <a:pt x="171450" y="171450"/>
                    </a:lnTo>
                    <a:lnTo>
                      <a:pt x="171005" y="171450"/>
                    </a:lnTo>
                    <a:lnTo>
                      <a:pt x="171005" y="215900"/>
                    </a:lnTo>
                    <a:lnTo>
                      <a:pt x="174815" y="215900"/>
                    </a:lnTo>
                    <a:lnTo>
                      <a:pt x="174815" y="171450"/>
                    </a:lnTo>
                    <a:lnTo>
                      <a:pt x="175260" y="171450"/>
                    </a:lnTo>
                    <a:lnTo>
                      <a:pt x="175260" y="43180"/>
                    </a:lnTo>
                    <a:close/>
                  </a:path>
                </a:pathLst>
              </a:custGeom>
              <a:solidFill>
                <a:srgbClr val="232323"/>
              </a:solidFill>
            </p:spPr>
            <p:txBody>
              <a:bodyPr wrap="square" lIns="0" tIns="0" rIns="0" bIns="0" rtlCol="0"/>
              <a:lstStyle/>
              <a:p>
                <a:endParaRPr/>
              </a:p>
            </p:txBody>
          </p:sp>
          <p:sp>
            <p:nvSpPr>
              <p:cNvPr id="123" name="object 123"/>
              <p:cNvSpPr/>
              <p:nvPr/>
            </p:nvSpPr>
            <p:spPr>
              <a:xfrm>
                <a:off x="232791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830" y="0"/>
                    </a:lnTo>
                    <a:lnTo>
                      <a:pt x="163830" y="43180"/>
                    </a:lnTo>
                    <a:lnTo>
                      <a:pt x="163830" y="171450"/>
                    </a:lnTo>
                    <a:lnTo>
                      <a:pt x="16383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124" name="object 124"/>
              <p:cNvSpPr/>
              <p:nvPr/>
            </p:nvSpPr>
            <p:spPr>
              <a:xfrm>
                <a:off x="2330450" y="1125219"/>
                <a:ext cx="161290" cy="215900"/>
              </a:xfrm>
              <a:custGeom>
                <a:avLst/>
                <a:gdLst/>
                <a:ahLst/>
                <a:cxnLst/>
                <a:rect l="l" t="t" r="r" b="b"/>
                <a:pathLst>
                  <a:path w="161289" h="215900">
                    <a:moveTo>
                      <a:pt x="4267" y="170180"/>
                    </a:moveTo>
                    <a:lnTo>
                      <a:pt x="3810" y="170180"/>
                    </a:lnTo>
                    <a:lnTo>
                      <a:pt x="3810" y="44450"/>
                    </a:lnTo>
                    <a:lnTo>
                      <a:pt x="4254" y="44450"/>
                    </a:lnTo>
                    <a:lnTo>
                      <a:pt x="4254" y="0"/>
                    </a:lnTo>
                    <a:lnTo>
                      <a:pt x="444" y="0"/>
                    </a:lnTo>
                    <a:lnTo>
                      <a:pt x="444" y="44450"/>
                    </a:lnTo>
                    <a:lnTo>
                      <a:pt x="0" y="44450"/>
                    </a:lnTo>
                    <a:lnTo>
                      <a:pt x="0" y="170180"/>
                    </a:lnTo>
                    <a:lnTo>
                      <a:pt x="457" y="170180"/>
                    </a:lnTo>
                    <a:lnTo>
                      <a:pt x="457" y="215900"/>
                    </a:lnTo>
                    <a:lnTo>
                      <a:pt x="4267" y="215900"/>
                    </a:lnTo>
                    <a:lnTo>
                      <a:pt x="4267" y="170180"/>
                    </a:lnTo>
                    <a:close/>
                  </a:path>
                  <a:path w="161289" h="215900">
                    <a:moveTo>
                      <a:pt x="161290" y="0"/>
                    </a:moveTo>
                    <a:lnTo>
                      <a:pt x="157480" y="0"/>
                    </a:lnTo>
                    <a:lnTo>
                      <a:pt x="157480" y="215900"/>
                    </a:lnTo>
                    <a:lnTo>
                      <a:pt x="161290" y="215900"/>
                    </a:lnTo>
                    <a:lnTo>
                      <a:pt x="161290" y="0"/>
                    </a:lnTo>
                    <a:close/>
                  </a:path>
                </a:pathLst>
              </a:custGeom>
              <a:solidFill>
                <a:srgbClr val="272727"/>
              </a:solidFill>
            </p:spPr>
            <p:txBody>
              <a:bodyPr wrap="square" lIns="0" tIns="0" rIns="0" bIns="0" rtlCol="0"/>
              <a:lstStyle/>
              <a:p>
                <a:endParaRPr/>
              </a:p>
            </p:txBody>
          </p:sp>
          <p:sp>
            <p:nvSpPr>
              <p:cNvPr id="125" name="object 125"/>
              <p:cNvSpPr/>
              <p:nvPr/>
            </p:nvSpPr>
            <p:spPr>
              <a:xfrm>
                <a:off x="2334260" y="1125219"/>
                <a:ext cx="153670" cy="215900"/>
              </a:xfrm>
              <a:custGeom>
                <a:avLst/>
                <a:gdLst/>
                <a:ahLst/>
                <a:cxnLst/>
                <a:rect l="l" t="t" r="r" b="b"/>
                <a:pathLst>
                  <a:path w="15366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53669"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126" name="object 126"/>
              <p:cNvSpPr/>
              <p:nvPr/>
            </p:nvSpPr>
            <p:spPr>
              <a:xfrm>
                <a:off x="2338070" y="1125219"/>
                <a:ext cx="146050" cy="215900"/>
              </a:xfrm>
              <a:custGeom>
                <a:avLst/>
                <a:gdLst/>
                <a:ahLst/>
                <a:cxnLst/>
                <a:rect l="l" t="t" r="r" b="b"/>
                <a:pathLst>
                  <a:path w="146050" h="215900">
                    <a:moveTo>
                      <a:pt x="4267" y="170180"/>
                    </a:moveTo>
                    <a:lnTo>
                      <a:pt x="3810" y="170180"/>
                    </a:lnTo>
                    <a:lnTo>
                      <a:pt x="3810" y="44450"/>
                    </a:lnTo>
                    <a:lnTo>
                      <a:pt x="4254" y="44450"/>
                    </a:lnTo>
                    <a:lnTo>
                      <a:pt x="4254" y="0"/>
                    </a:lnTo>
                    <a:lnTo>
                      <a:pt x="0" y="0"/>
                    </a:lnTo>
                    <a:lnTo>
                      <a:pt x="0" y="44450"/>
                    </a:lnTo>
                    <a:lnTo>
                      <a:pt x="0" y="170180"/>
                    </a:lnTo>
                    <a:lnTo>
                      <a:pt x="0" y="215900"/>
                    </a:lnTo>
                    <a:lnTo>
                      <a:pt x="4267" y="215900"/>
                    </a:lnTo>
                    <a:lnTo>
                      <a:pt x="4267" y="17018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127" name="object 127"/>
              <p:cNvSpPr/>
              <p:nvPr/>
            </p:nvSpPr>
            <p:spPr>
              <a:xfrm>
                <a:off x="2341880" y="1125219"/>
                <a:ext cx="138430" cy="215900"/>
              </a:xfrm>
              <a:custGeom>
                <a:avLst/>
                <a:gdLst/>
                <a:ahLst/>
                <a:cxnLst/>
                <a:rect l="l" t="t" r="r" b="b"/>
                <a:pathLst>
                  <a:path w="13843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38430"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128" name="object 128"/>
              <p:cNvSpPr/>
              <p:nvPr/>
            </p:nvSpPr>
            <p:spPr>
              <a:xfrm>
                <a:off x="234569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129" name="object 129"/>
              <p:cNvSpPr/>
              <p:nvPr/>
            </p:nvSpPr>
            <p:spPr>
              <a:xfrm>
                <a:off x="234950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20180" y="0"/>
                    </a:lnTo>
                    <a:lnTo>
                      <a:pt x="120180" y="45720"/>
                    </a:lnTo>
                    <a:lnTo>
                      <a:pt x="120650" y="45720"/>
                    </a:lnTo>
                    <a:lnTo>
                      <a:pt x="120650" y="170180"/>
                    </a:lnTo>
                    <a:lnTo>
                      <a:pt x="120167" y="170180"/>
                    </a:lnTo>
                    <a:lnTo>
                      <a:pt x="120167" y="215900"/>
                    </a:lnTo>
                    <a:lnTo>
                      <a:pt x="123190" y="215900"/>
                    </a:lnTo>
                    <a:lnTo>
                      <a:pt x="123190" y="170180"/>
                    </a:lnTo>
                    <a:lnTo>
                      <a:pt x="123190" y="45720"/>
                    </a:lnTo>
                    <a:lnTo>
                      <a:pt x="123190" y="0"/>
                    </a:lnTo>
                    <a:close/>
                  </a:path>
                </a:pathLst>
              </a:custGeom>
              <a:solidFill>
                <a:srgbClr val="313131"/>
              </a:solidFill>
            </p:spPr>
            <p:txBody>
              <a:bodyPr wrap="square" lIns="0" tIns="0" rIns="0" bIns="0" rtlCol="0"/>
              <a:lstStyle/>
              <a:p>
                <a:endParaRPr/>
              </a:p>
            </p:txBody>
          </p:sp>
          <p:sp>
            <p:nvSpPr>
              <p:cNvPr id="130" name="object 130"/>
              <p:cNvSpPr/>
              <p:nvPr/>
            </p:nvSpPr>
            <p:spPr>
              <a:xfrm>
                <a:off x="2353310" y="1125219"/>
                <a:ext cx="116839" cy="215900"/>
              </a:xfrm>
              <a:custGeom>
                <a:avLst/>
                <a:gdLst/>
                <a:ahLst/>
                <a:cxnLst/>
                <a:rect l="l" t="t" r="r" b="b"/>
                <a:pathLst>
                  <a:path w="116839" h="215900">
                    <a:moveTo>
                      <a:pt x="3810" y="0"/>
                    </a:moveTo>
                    <a:lnTo>
                      <a:pt x="0" y="0"/>
                    </a:lnTo>
                    <a:lnTo>
                      <a:pt x="0" y="215900"/>
                    </a:lnTo>
                    <a:lnTo>
                      <a:pt x="3810" y="215900"/>
                    </a:lnTo>
                    <a:lnTo>
                      <a:pt x="3810" y="0"/>
                    </a:lnTo>
                    <a:close/>
                  </a:path>
                  <a:path w="116839" h="215900">
                    <a:moveTo>
                      <a:pt x="116840" y="45720"/>
                    </a:moveTo>
                    <a:lnTo>
                      <a:pt x="116370" y="45720"/>
                    </a:lnTo>
                    <a:lnTo>
                      <a:pt x="116370" y="0"/>
                    </a:lnTo>
                    <a:lnTo>
                      <a:pt x="112560" y="0"/>
                    </a:lnTo>
                    <a:lnTo>
                      <a:pt x="112560" y="45720"/>
                    </a:lnTo>
                    <a:lnTo>
                      <a:pt x="113004" y="45720"/>
                    </a:lnTo>
                    <a:lnTo>
                      <a:pt x="113004" y="170180"/>
                    </a:lnTo>
                    <a:lnTo>
                      <a:pt x="112534" y="170180"/>
                    </a:lnTo>
                    <a:lnTo>
                      <a:pt x="112534" y="215900"/>
                    </a:lnTo>
                    <a:lnTo>
                      <a:pt x="116357" y="215900"/>
                    </a:lnTo>
                    <a:lnTo>
                      <a:pt x="116357" y="170180"/>
                    </a:lnTo>
                    <a:lnTo>
                      <a:pt x="116840" y="170180"/>
                    </a:lnTo>
                    <a:lnTo>
                      <a:pt x="116840" y="45720"/>
                    </a:lnTo>
                    <a:close/>
                  </a:path>
                </a:pathLst>
              </a:custGeom>
              <a:solidFill>
                <a:srgbClr val="333333"/>
              </a:solidFill>
            </p:spPr>
            <p:txBody>
              <a:bodyPr wrap="square" lIns="0" tIns="0" rIns="0" bIns="0" rtlCol="0"/>
              <a:lstStyle/>
              <a:p>
                <a:endParaRPr/>
              </a:p>
            </p:txBody>
          </p:sp>
          <p:sp>
            <p:nvSpPr>
              <p:cNvPr id="131" name="object 131"/>
              <p:cNvSpPr/>
              <p:nvPr/>
            </p:nvSpPr>
            <p:spPr>
              <a:xfrm>
                <a:off x="2357120" y="1125219"/>
                <a:ext cx="109220" cy="215900"/>
              </a:xfrm>
              <a:custGeom>
                <a:avLst/>
                <a:gdLst/>
                <a:ahLst/>
                <a:cxnLst/>
                <a:rect l="l" t="t" r="r" b="b"/>
                <a:pathLst>
                  <a:path w="109219"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09219" h="215900">
                    <a:moveTo>
                      <a:pt x="109220" y="45720"/>
                    </a:moveTo>
                    <a:lnTo>
                      <a:pt x="108750" y="45720"/>
                    </a:lnTo>
                    <a:lnTo>
                      <a:pt x="108750" y="0"/>
                    </a:lnTo>
                    <a:lnTo>
                      <a:pt x="105410" y="0"/>
                    </a:lnTo>
                    <a:lnTo>
                      <a:pt x="105410" y="45720"/>
                    </a:lnTo>
                    <a:lnTo>
                      <a:pt x="105410" y="168910"/>
                    </a:lnTo>
                    <a:lnTo>
                      <a:pt x="105410" y="215900"/>
                    </a:lnTo>
                    <a:lnTo>
                      <a:pt x="108737" y="215900"/>
                    </a:lnTo>
                    <a:lnTo>
                      <a:pt x="108737" y="168910"/>
                    </a:lnTo>
                    <a:lnTo>
                      <a:pt x="109220" y="168910"/>
                    </a:lnTo>
                    <a:lnTo>
                      <a:pt x="109220" y="45720"/>
                    </a:lnTo>
                    <a:close/>
                  </a:path>
                </a:pathLst>
              </a:custGeom>
              <a:solidFill>
                <a:srgbClr val="353535"/>
              </a:solidFill>
            </p:spPr>
            <p:txBody>
              <a:bodyPr wrap="square" lIns="0" tIns="0" rIns="0" bIns="0" rtlCol="0"/>
              <a:lstStyle/>
              <a:p>
                <a:endParaRPr/>
              </a:p>
            </p:txBody>
          </p:sp>
          <p:sp>
            <p:nvSpPr>
              <p:cNvPr id="132" name="object 132"/>
              <p:cNvSpPr/>
              <p:nvPr/>
            </p:nvSpPr>
            <p:spPr>
              <a:xfrm>
                <a:off x="2359660" y="1125219"/>
                <a:ext cx="102870" cy="215900"/>
              </a:xfrm>
              <a:custGeom>
                <a:avLst/>
                <a:gdLst/>
                <a:ahLst/>
                <a:cxnLst/>
                <a:rect l="l" t="t" r="r" b="b"/>
                <a:pathLst>
                  <a:path w="102869" h="215900">
                    <a:moveTo>
                      <a:pt x="4279" y="0"/>
                    </a:moveTo>
                    <a:lnTo>
                      <a:pt x="457" y="0"/>
                    </a:lnTo>
                    <a:lnTo>
                      <a:pt x="457" y="45720"/>
                    </a:lnTo>
                    <a:lnTo>
                      <a:pt x="0" y="45720"/>
                    </a:lnTo>
                    <a:lnTo>
                      <a:pt x="0" y="168910"/>
                    </a:lnTo>
                    <a:lnTo>
                      <a:pt x="469" y="168910"/>
                    </a:lnTo>
                    <a:lnTo>
                      <a:pt x="469" y="215900"/>
                    </a:lnTo>
                    <a:lnTo>
                      <a:pt x="4279" y="215900"/>
                    </a:lnTo>
                    <a:lnTo>
                      <a:pt x="4279" y="168910"/>
                    </a:lnTo>
                    <a:lnTo>
                      <a:pt x="3810" y="168910"/>
                    </a:lnTo>
                    <a:lnTo>
                      <a:pt x="3810" y="45720"/>
                    </a:lnTo>
                    <a:lnTo>
                      <a:pt x="4279" y="45720"/>
                    </a:lnTo>
                    <a:lnTo>
                      <a:pt x="4279" y="0"/>
                    </a:lnTo>
                    <a:close/>
                  </a:path>
                  <a:path w="102869"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133" name="object 133"/>
              <p:cNvSpPr/>
              <p:nvPr/>
            </p:nvSpPr>
            <p:spPr>
              <a:xfrm>
                <a:off x="2363470" y="1125219"/>
                <a:ext cx="95250" cy="215900"/>
              </a:xfrm>
              <a:custGeom>
                <a:avLst/>
                <a:gdLst/>
                <a:ahLst/>
                <a:cxnLst/>
                <a:rect l="l" t="t" r="r" b="b"/>
                <a:pathLst>
                  <a:path w="95250" h="215900">
                    <a:moveTo>
                      <a:pt x="3810" y="0"/>
                    </a:moveTo>
                    <a:lnTo>
                      <a:pt x="469" y="0"/>
                    </a:lnTo>
                    <a:lnTo>
                      <a:pt x="469" y="45720"/>
                    </a:lnTo>
                    <a:lnTo>
                      <a:pt x="0" y="45720"/>
                    </a:lnTo>
                    <a:lnTo>
                      <a:pt x="0" y="168910"/>
                    </a:lnTo>
                    <a:lnTo>
                      <a:pt x="469" y="168910"/>
                    </a:lnTo>
                    <a:lnTo>
                      <a:pt x="469" y="215900"/>
                    </a:lnTo>
                    <a:lnTo>
                      <a:pt x="3810" y="215900"/>
                    </a:lnTo>
                    <a:lnTo>
                      <a:pt x="3810" y="168910"/>
                    </a:lnTo>
                    <a:lnTo>
                      <a:pt x="3810" y="4572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134" name="object 134"/>
              <p:cNvSpPr/>
              <p:nvPr/>
            </p:nvSpPr>
            <p:spPr>
              <a:xfrm>
                <a:off x="2367280" y="1125219"/>
                <a:ext cx="87630" cy="215900"/>
              </a:xfrm>
              <a:custGeom>
                <a:avLst/>
                <a:gdLst/>
                <a:ahLst/>
                <a:cxnLst/>
                <a:rect l="l" t="t" r="r" b="b"/>
                <a:pathLst>
                  <a:path w="87630" h="215900">
                    <a:moveTo>
                      <a:pt x="3810" y="0"/>
                    </a:moveTo>
                    <a:lnTo>
                      <a:pt x="0" y="0"/>
                    </a:lnTo>
                    <a:lnTo>
                      <a:pt x="0" y="215900"/>
                    </a:lnTo>
                    <a:lnTo>
                      <a:pt x="3810" y="215900"/>
                    </a:lnTo>
                    <a:lnTo>
                      <a:pt x="3810" y="0"/>
                    </a:lnTo>
                    <a:close/>
                  </a:path>
                  <a:path w="87630"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135" name="object 135"/>
              <p:cNvSpPr/>
              <p:nvPr/>
            </p:nvSpPr>
            <p:spPr>
              <a:xfrm>
                <a:off x="237109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136" name="object 136"/>
              <p:cNvSpPr/>
              <p:nvPr/>
            </p:nvSpPr>
            <p:spPr>
              <a:xfrm>
                <a:off x="237490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137" name="object 137"/>
              <p:cNvSpPr/>
              <p:nvPr/>
            </p:nvSpPr>
            <p:spPr>
              <a:xfrm>
                <a:off x="2378710" y="1125219"/>
                <a:ext cx="64769" cy="215900"/>
              </a:xfrm>
              <a:custGeom>
                <a:avLst/>
                <a:gdLst/>
                <a:ahLst/>
                <a:cxnLst/>
                <a:rect l="l" t="t" r="r" b="b"/>
                <a:pathLst>
                  <a:path w="64769" h="215900">
                    <a:moveTo>
                      <a:pt x="3810" y="0"/>
                    </a:moveTo>
                    <a:lnTo>
                      <a:pt x="0" y="0"/>
                    </a:lnTo>
                    <a:lnTo>
                      <a:pt x="0" y="215900"/>
                    </a:lnTo>
                    <a:lnTo>
                      <a:pt x="3810" y="215900"/>
                    </a:lnTo>
                    <a:lnTo>
                      <a:pt x="3810" y="0"/>
                    </a:lnTo>
                    <a:close/>
                  </a:path>
                  <a:path w="64769"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138" name="object 138"/>
              <p:cNvSpPr/>
              <p:nvPr/>
            </p:nvSpPr>
            <p:spPr>
              <a:xfrm>
                <a:off x="2382520" y="1125219"/>
                <a:ext cx="58419" cy="215900"/>
              </a:xfrm>
              <a:custGeom>
                <a:avLst/>
                <a:gdLst/>
                <a:ahLst/>
                <a:cxnLst/>
                <a:rect l="l" t="t" r="r" b="b"/>
                <a:pathLst>
                  <a:path w="58419" h="215900">
                    <a:moveTo>
                      <a:pt x="3810" y="0"/>
                    </a:moveTo>
                    <a:lnTo>
                      <a:pt x="0" y="0"/>
                    </a:lnTo>
                    <a:lnTo>
                      <a:pt x="0" y="215900"/>
                    </a:lnTo>
                    <a:lnTo>
                      <a:pt x="3810" y="215900"/>
                    </a:lnTo>
                    <a:lnTo>
                      <a:pt x="3810" y="0"/>
                    </a:lnTo>
                    <a:close/>
                  </a:path>
                  <a:path w="58419"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139" name="object 139"/>
              <p:cNvSpPr/>
              <p:nvPr/>
            </p:nvSpPr>
            <p:spPr>
              <a:xfrm>
                <a:off x="2386330" y="1125219"/>
                <a:ext cx="50800" cy="215900"/>
              </a:xfrm>
              <a:custGeom>
                <a:avLst/>
                <a:gdLst/>
                <a:ahLst/>
                <a:cxnLst/>
                <a:rect l="l" t="t" r="r" b="b"/>
                <a:pathLst>
                  <a:path w="50800" h="215900">
                    <a:moveTo>
                      <a:pt x="2540" y="0"/>
                    </a:moveTo>
                    <a:lnTo>
                      <a:pt x="0" y="0"/>
                    </a:lnTo>
                    <a:lnTo>
                      <a:pt x="0" y="215900"/>
                    </a:lnTo>
                    <a:lnTo>
                      <a:pt x="2540" y="215900"/>
                    </a:lnTo>
                    <a:lnTo>
                      <a:pt x="2540" y="0"/>
                    </a:lnTo>
                    <a:close/>
                  </a:path>
                  <a:path w="50800" h="215900">
                    <a:moveTo>
                      <a:pt x="50800" y="0"/>
                    </a:moveTo>
                    <a:lnTo>
                      <a:pt x="46990" y="0"/>
                    </a:lnTo>
                    <a:lnTo>
                      <a:pt x="46990" y="215900"/>
                    </a:lnTo>
                    <a:lnTo>
                      <a:pt x="50800" y="215900"/>
                    </a:lnTo>
                    <a:lnTo>
                      <a:pt x="50800" y="0"/>
                    </a:lnTo>
                    <a:close/>
                  </a:path>
                </a:pathLst>
              </a:custGeom>
              <a:solidFill>
                <a:srgbClr val="454545"/>
              </a:solidFill>
            </p:spPr>
            <p:txBody>
              <a:bodyPr wrap="square" lIns="0" tIns="0" rIns="0" bIns="0" rtlCol="0"/>
              <a:lstStyle/>
              <a:p>
                <a:endParaRPr/>
              </a:p>
            </p:txBody>
          </p:sp>
          <p:sp>
            <p:nvSpPr>
              <p:cNvPr id="140" name="object 140"/>
              <p:cNvSpPr/>
              <p:nvPr/>
            </p:nvSpPr>
            <p:spPr>
              <a:xfrm>
                <a:off x="238887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141" name="object 141"/>
              <p:cNvSpPr/>
              <p:nvPr/>
            </p:nvSpPr>
            <p:spPr>
              <a:xfrm>
                <a:off x="2392680" y="1125219"/>
                <a:ext cx="36830" cy="215900"/>
              </a:xfrm>
              <a:custGeom>
                <a:avLst/>
                <a:gdLst/>
                <a:ahLst/>
                <a:cxnLst/>
                <a:rect l="l" t="t" r="r" b="b"/>
                <a:pathLst>
                  <a:path w="36830" h="215900">
                    <a:moveTo>
                      <a:pt x="3810" y="0"/>
                    </a:moveTo>
                    <a:lnTo>
                      <a:pt x="0" y="0"/>
                    </a:lnTo>
                    <a:lnTo>
                      <a:pt x="0" y="215900"/>
                    </a:lnTo>
                    <a:lnTo>
                      <a:pt x="3810" y="215900"/>
                    </a:lnTo>
                    <a:lnTo>
                      <a:pt x="3810" y="0"/>
                    </a:lnTo>
                    <a:close/>
                  </a:path>
                  <a:path w="36830"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142" name="object 142"/>
              <p:cNvSpPr/>
              <p:nvPr/>
            </p:nvSpPr>
            <p:spPr>
              <a:xfrm>
                <a:off x="239649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143" name="object 143"/>
              <p:cNvSpPr/>
              <p:nvPr/>
            </p:nvSpPr>
            <p:spPr>
              <a:xfrm>
                <a:off x="240030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144" name="object 144"/>
              <p:cNvSpPr/>
              <p:nvPr/>
            </p:nvSpPr>
            <p:spPr>
              <a:xfrm>
                <a:off x="2404110" y="1125219"/>
                <a:ext cx="13970" cy="215900"/>
              </a:xfrm>
              <a:custGeom>
                <a:avLst/>
                <a:gdLst/>
                <a:ahLst/>
                <a:cxnLst/>
                <a:rect l="l" t="t" r="r" b="b"/>
                <a:pathLst>
                  <a:path w="13969" h="215900">
                    <a:moveTo>
                      <a:pt x="3810" y="0"/>
                    </a:moveTo>
                    <a:lnTo>
                      <a:pt x="0" y="0"/>
                    </a:lnTo>
                    <a:lnTo>
                      <a:pt x="0" y="215900"/>
                    </a:lnTo>
                    <a:lnTo>
                      <a:pt x="3810" y="215900"/>
                    </a:lnTo>
                    <a:lnTo>
                      <a:pt x="3810" y="0"/>
                    </a:lnTo>
                    <a:close/>
                  </a:path>
                  <a:path w="13969"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145" name="object 145"/>
              <p:cNvSpPr/>
              <p:nvPr/>
            </p:nvSpPr>
            <p:spPr>
              <a:xfrm>
                <a:off x="240791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sp>
            <p:nvSpPr>
              <p:cNvPr id="146" name="object 146"/>
              <p:cNvSpPr/>
              <p:nvPr/>
            </p:nvSpPr>
            <p:spPr>
              <a:xfrm>
                <a:off x="1691640" y="1916430"/>
                <a:ext cx="791210" cy="143510"/>
              </a:xfrm>
              <a:custGeom>
                <a:avLst/>
                <a:gdLst/>
                <a:ahLst/>
                <a:cxnLst/>
                <a:rect l="l" t="t" r="r" b="b"/>
                <a:pathLst>
                  <a:path w="791210" h="143510">
                    <a:moveTo>
                      <a:pt x="791210" y="0"/>
                    </a:moveTo>
                    <a:lnTo>
                      <a:pt x="0" y="0"/>
                    </a:lnTo>
                    <a:lnTo>
                      <a:pt x="0" y="143510"/>
                    </a:lnTo>
                    <a:lnTo>
                      <a:pt x="396240" y="143510"/>
                    </a:lnTo>
                    <a:lnTo>
                      <a:pt x="791210" y="143510"/>
                    </a:lnTo>
                    <a:lnTo>
                      <a:pt x="791210" y="0"/>
                    </a:lnTo>
                    <a:close/>
                  </a:path>
                </a:pathLst>
              </a:custGeom>
              <a:solidFill>
                <a:srgbClr val="FFFFFF"/>
              </a:solidFill>
            </p:spPr>
            <p:txBody>
              <a:bodyPr wrap="square" lIns="0" tIns="0" rIns="0" bIns="0" rtlCol="0"/>
              <a:lstStyle/>
              <a:p>
                <a:endParaRPr/>
              </a:p>
            </p:txBody>
          </p:sp>
          <p:sp>
            <p:nvSpPr>
              <p:cNvPr id="147" name="object 147"/>
              <p:cNvSpPr/>
              <p:nvPr/>
            </p:nvSpPr>
            <p:spPr>
              <a:xfrm>
                <a:off x="1691640" y="1916430"/>
                <a:ext cx="791210" cy="143510"/>
              </a:xfrm>
              <a:custGeom>
                <a:avLst/>
                <a:gdLst/>
                <a:ahLst/>
                <a:cxnLst/>
                <a:rect l="l" t="t" r="r" b="b"/>
                <a:pathLst>
                  <a:path w="791210" h="143510">
                    <a:moveTo>
                      <a:pt x="396240" y="143510"/>
                    </a:moveTo>
                    <a:lnTo>
                      <a:pt x="0" y="143510"/>
                    </a:lnTo>
                    <a:lnTo>
                      <a:pt x="0" y="0"/>
                    </a:lnTo>
                    <a:lnTo>
                      <a:pt x="791210" y="0"/>
                    </a:lnTo>
                    <a:lnTo>
                      <a:pt x="791210" y="143510"/>
                    </a:lnTo>
                    <a:lnTo>
                      <a:pt x="396240" y="143510"/>
                    </a:lnTo>
                    <a:close/>
                  </a:path>
                </a:pathLst>
              </a:custGeom>
              <a:ln w="25518">
                <a:solidFill>
                  <a:srgbClr val="000000"/>
                </a:solidFill>
              </a:ln>
            </p:spPr>
            <p:txBody>
              <a:bodyPr wrap="square" lIns="0" tIns="0" rIns="0" bIns="0" rtlCol="0"/>
              <a:lstStyle/>
              <a:p>
                <a:endParaRPr/>
              </a:p>
            </p:txBody>
          </p:sp>
          <p:sp>
            <p:nvSpPr>
              <p:cNvPr id="148" name="object 148"/>
              <p:cNvSpPr/>
              <p:nvPr/>
            </p:nvSpPr>
            <p:spPr>
              <a:xfrm>
                <a:off x="1691640" y="2204720"/>
                <a:ext cx="1223010" cy="143510"/>
              </a:xfrm>
              <a:custGeom>
                <a:avLst/>
                <a:gdLst/>
                <a:ahLst/>
                <a:cxnLst/>
                <a:rect l="l" t="t" r="r" b="b"/>
                <a:pathLst>
                  <a:path w="1223010" h="143510">
                    <a:moveTo>
                      <a:pt x="1223010" y="0"/>
                    </a:moveTo>
                    <a:lnTo>
                      <a:pt x="0" y="0"/>
                    </a:lnTo>
                    <a:lnTo>
                      <a:pt x="0" y="143509"/>
                    </a:lnTo>
                    <a:lnTo>
                      <a:pt x="612140" y="143509"/>
                    </a:lnTo>
                    <a:lnTo>
                      <a:pt x="1223010" y="143509"/>
                    </a:lnTo>
                    <a:lnTo>
                      <a:pt x="1223010" y="0"/>
                    </a:lnTo>
                    <a:close/>
                  </a:path>
                </a:pathLst>
              </a:custGeom>
              <a:solidFill>
                <a:srgbClr val="FFFFFF"/>
              </a:solidFill>
            </p:spPr>
            <p:txBody>
              <a:bodyPr wrap="square" lIns="0" tIns="0" rIns="0" bIns="0" rtlCol="0"/>
              <a:lstStyle/>
              <a:p>
                <a:endParaRPr/>
              </a:p>
            </p:txBody>
          </p:sp>
          <p:sp>
            <p:nvSpPr>
              <p:cNvPr id="149" name="object 149"/>
              <p:cNvSpPr/>
              <p:nvPr/>
            </p:nvSpPr>
            <p:spPr>
              <a:xfrm>
                <a:off x="1691640" y="2204720"/>
                <a:ext cx="1223010" cy="143510"/>
              </a:xfrm>
              <a:custGeom>
                <a:avLst/>
                <a:gdLst/>
                <a:ahLst/>
                <a:cxnLst/>
                <a:rect l="l" t="t" r="r" b="b"/>
                <a:pathLst>
                  <a:path w="1223010" h="143510">
                    <a:moveTo>
                      <a:pt x="612140" y="143509"/>
                    </a:moveTo>
                    <a:lnTo>
                      <a:pt x="0" y="143509"/>
                    </a:lnTo>
                    <a:lnTo>
                      <a:pt x="0" y="0"/>
                    </a:lnTo>
                    <a:lnTo>
                      <a:pt x="1223010" y="0"/>
                    </a:lnTo>
                    <a:lnTo>
                      <a:pt x="1223010" y="143509"/>
                    </a:lnTo>
                    <a:lnTo>
                      <a:pt x="612140" y="143509"/>
                    </a:lnTo>
                    <a:close/>
                  </a:path>
                </a:pathLst>
              </a:custGeom>
              <a:ln w="25518">
                <a:solidFill>
                  <a:srgbClr val="000000"/>
                </a:solidFill>
              </a:ln>
            </p:spPr>
            <p:txBody>
              <a:bodyPr wrap="square" lIns="0" tIns="0" rIns="0" bIns="0" rtlCol="0"/>
              <a:lstStyle/>
              <a:p>
                <a:endParaRPr/>
              </a:p>
            </p:txBody>
          </p:sp>
        </p:grpSp>
        <p:grpSp>
          <p:nvGrpSpPr>
            <p:cNvPr id="150" name="object 150"/>
            <p:cNvGrpSpPr/>
            <p:nvPr/>
          </p:nvGrpSpPr>
          <p:grpSpPr>
            <a:xfrm>
              <a:off x="8747700" y="1471870"/>
              <a:ext cx="1033144" cy="1033144"/>
              <a:chOff x="7223700" y="1471870"/>
              <a:chExt cx="1033144" cy="1033144"/>
            </a:xfrm>
          </p:grpSpPr>
          <p:sp>
            <p:nvSpPr>
              <p:cNvPr id="151" name="object 151"/>
              <p:cNvSpPr/>
              <p:nvPr/>
            </p:nvSpPr>
            <p:spPr>
              <a:xfrm>
                <a:off x="7236459" y="1484629"/>
                <a:ext cx="1007110" cy="1007110"/>
              </a:xfrm>
              <a:custGeom>
                <a:avLst/>
                <a:gdLst/>
                <a:ahLst/>
                <a:cxnLst/>
                <a:rect l="l" t="t" r="r" b="b"/>
                <a:pathLst>
                  <a:path w="1007109" h="1007110">
                    <a:moveTo>
                      <a:pt x="502920" y="0"/>
                    </a:moveTo>
                    <a:lnTo>
                      <a:pt x="453235" y="2236"/>
                    </a:lnTo>
                    <a:lnTo>
                      <a:pt x="405156" y="8822"/>
                    </a:lnTo>
                    <a:lnTo>
                      <a:pt x="358864" y="19570"/>
                    </a:lnTo>
                    <a:lnTo>
                      <a:pt x="314540" y="34295"/>
                    </a:lnTo>
                    <a:lnTo>
                      <a:pt x="272365" y="52811"/>
                    </a:lnTo>
                    <a:lnTo>
                      <a:pt x="232522" y="74931"/>
                    </a:lnTo>
                    <a:lnTo>
                      <a:pt x="195191" y="100469"/>
                    </a:lnTo>
                    <a:lnTo>
                      <a:pt x="160555" y="129240"/>
                    </a:lnTo>
                    <a:lnTo>
                      <a:pt x="128793" y="161057"/>
                    </a:lnTo>
                    <a:lnTo>
                      <a:pt x="100089" y="195734"/>
                    </a:lnTo>
                    <a:lnTo>
                      <a:pt x="74624" y="233085"/>
                    </a:lnTo>
                    <a:lnTo>
                      <a:pt x="52578" y="272924"/>
                    </a:lnTo>
                    <a:lnTo>
                      <a:pt x="34134" y="315064"/>
                    </a:lnTo>
                    <a:lnTo>
                      <a:pt x="19472" y="359320"/>
                    </a:lnTo>
                    <a:lnTo>
                      <a:pt x="8775" y="405505"/>
                    </a:lnTo>
                    <a:lnTo>
                      <a:pt x="2224" y="453434"/>
                    </a:lnTo>
                    <a:lnTo>
                      <a:pt x="0" y="502920"/>
                    </a:lnTo>
                    <a:lnTo>
                      <a:pt x="2224" y="552616"/>
                    </a:lnTo>
                    <a:lnTo>
                      <a:pt x="8775" y="600731"/>
                    </a:lnTo>
                    <a:lnTo>
                      <a:pt x="19472" y="647080"/>
                    </a:lnTo>
                    <a:lnTo>
                      <a:pt x="34134" y="691477"/>
                    </a:lnTo>
                    <a:lnTo>
                      <a:pt x="52578" y="733739"/>
                    </a:lnTo>
                    <a:lnTo>
                      <a:pt x="74624" y="773680"/>
                    </a:lnTo>
                    <a:lnTo>
                      <a:pt x="100089" y="811116"/>
                    </a:lnTo>
                    <a:lnTo>
                      <a:pt x="128793" y="845863"/>
                    </a:lnTo>
                    <a:lnTo>
                      <a:pt x="160555" y="877736"/>
                    </a:lnTo>
                    <a:lnTo>
                      <a:pt x="195191" y="906551"/>
                    </a:lnTo>
                    <a:lnTo>
                      <a:pt x="232522" y="932122"/>
                    </a:lnTo>
                    <a:lnTo>
                      <a:pt x="272365" y="954266"/>
                    </a:lnTo>
                    <a:lnTo>
                      <a:pt x="314540" y="972798"/>
                    </a:lnTo>
                    <a:lnTo>
                      <a:pt x="358864" y="987532"/>
                    </a:lnTo>
                    <a:lnTo>
                      <a:pt x="405156" y="998285"/>
                    </a:lnTo>
                    <a:lnTo>
                      <a:pt x="453235" y="1004873"/>
                    </a:lnTo>
                    <a:lnTo>
                      <a:pt x="502920" y="1007110"/>
                    </a:lnTo>
                    <a:lnTo>
                      <a:pt x="552616" y="1004873"/>
                    </a:lnTo>
                    <a:lnTo>
                      <a:pt x="600731" y="998285"/>
                    </a:lnTo>
                    <a:lnTo>
                      <a:pt x="647080" y="987532"/>
                    </a:lnTo>
                    <a:lnTo>
                      <a:pt x="691477" y="972798"/>
                    </a:lnTo>
                    <a:lnTo>
                      <a:pt x="733739" y="954266"/>
                    </a:lnTo>
                    <a:lnTo>
                      <a:pt x="773680" y="932122"/>
                    </a:lnTo>
                    <a:lnTo>
                      <a:pt x="811116" y="906551"/>
                    </a:lnTo>
                    <a:lnTo>
                      <a:pt x="845863" y="877736"/>
                    </a:lnTo>
                    <a:lnTo>
                      <a:pt x="877736" y="845863"/>
                    </a:lnTo>
                    <a:lnTo>
                      <a:pt x="906551" y="811116"/>
                    </a:lnTo>
                    <a:lnTo>
                      <a:pt x="932122" y="773680"/>
                    </a:lnTo>
                    <a:lnTo>
                      <a:pt x="954266" y="733739"/>
                    </a:lnTo>
                    <a:lnTo>
                      <a:pt x="972798" y="691477"/>
                    </a:lnTo>
                    <a:lnTo>
                      <a:pt x="987532" y="647080"/>
                    </a:lnTo>
                    <a:lnTo>
                      <a:pt x="998285" y="600731"/>
                    </a:lnTo>
                    <a:lnTo>
                      <a:pt x="1004873" y="552616"/>
                    </a:lnTo>
                    <a:lnTo>
                      <a:pt x="1007110" y="502920"/>
                    </a:lnTo>
                    <a:lnTo>
                      <a:pt x="1004873" y="453434"/>
                    </a:lnTo>
                    <a:lnTo>
                      <a:pt x="998285" y="405505"/>
                    </a:lnTo>
                    <a:lnTo>
                      <a:pt x="987532" y="359320"/>
                    </a:lnTo>
                    <a:lnTo>
                      <a:pt x="972798" y="315064"/>
                    </a:lnTo>
                    <a:lnTo>
                      <a:pt x="954266" y="272924"/>
                    </a:lnTo>
                    <a:lnTo>
                      <a:pt x="932122" y="233085"/>
                    </a:lnTo>
                    <a:lnTo>
                      <a:pt x="906551" y="195734"/>
                    </a:lnTo>
                    <a:lnTo>
                      <a:pt x="877736" y="161057"/>
                    </a:lnTo>
                    <a:lnTo>
                      <a:pt x="845863" y="129240"/>
                    </a:lnTo>
                    <a:lnTo>
                      <a:pt x="811116" y="100469"/>
                    </a:lnTo>
                    <a:lnTo>
                      <a:pt x="773680" y="74931"/>
                    </a:lnTo>
                    <a:lnTo>
                      <a:pt x="733739" y="52811"/>
                    </a:lnTo>
                    <a:lnTo>
                      <a:pt x="691477" y="34295"/>
                    </a:lnTo>
                    <a:lnTo>
                      <a:pt x="647080" y="19570"/>
                    </a:lnTo>
                    <a:lnTo>
                      <a:pt x="600731" y="8822"/>
                    </a:lnTo>
                    <a:lnTo>
                      <a:pt x="552616" y="2236"/>
                    </a:lnTo>
                    <a:lnTo>
                      <a:pt x="502920" y="0"/>
                    </a:lnTo>
                    <a:close/>
                  </a:path>
                </a:pathLst>
              </a:custGeom>
              <a:solidFill>
                <a:srgbClr val="FFFFFF"/>
              </a:solidFill>
            </p:spPr>
            <p:txBody>
              <a:bodyPr wrap="square" lIns="0" tIns="0" rIns="0" bIns="0" rtlCol="0"/>
              <a:lstStyle/>
              <a:p>
                <a:endParaRPr/>
              </a:p>
            </p:txBody>
          </p:sp>
          <p:sp>
            <p:nvSpPr>
              <p:cNvPr id="152" name="object 152"/>
              <p:cNvSpPr/>
              <p:nvPr/>
            </p:nvSpPr>
            <p:spPr>
              <a:xfrm>
                <a:off x="7236459" y="1484629"/>
                <a:ext cx="1007110" cy="1007110"/>
              </a:xfrm>
              <a:custGeom>
                <a:avLst/>
                <a:gdLst/>
                <a:ahLst/>
                <a:cxnLst/>
                <a:rect l="l" t="t" r="r" b="b"/>
                <a:pathLst>
                  <a:path w="1007109" h="1007110">
                    <a:moveTo>
                      <a:pt x="502920" y="0"/>
                    </a:moveTo>
                    <a:lnTo>
                      <a:pt x="552616" y="2236"/>
                    </a:lnTo>
                    <a:lnTo>
                      <a:pt x="600731" y="8822"/>
                    </a:lnTo>
                    <a:lnTo>
                      <a:pt x="647080" y="19570"/>
                    </a:lnTo>
                    <a:lnTo>
                      <a:pt x="691477" y="34295"/>
                    </a:lnTo>
                    <a:lnTo>
                      <a:pt x="733739" y="52811"/>
                    </a:lnTo>
                    <a:lnTo>
                      <a:pt x="773680" y="74931"/>
                    </a:lnTo>
                    <a:lnTo>
                      <a:pt x="811116" y="100469"/>
                    </a:lnTo>
                    <a:lnTo>
                      <a:pt x="845863" y="129240"/>
                    </a:lnTo>
                    <a:lnTo>
                      <a:pt x="877736" y="161057"/>
                    </a:lnTo>
                    <a:lnTo>
                      <a:pt x="906551" y="195734"/>
                    </a:lnTo>
                    <a:lnTo>
                      <a:pt x="932122" y="233085"/>
                    </a:lnTo>
                    <a:lnTo>
                      <a:pt x="954266" y="272924"/>
                    </a:lnTo>
                    <a:lnTo>
                      <a:pt x="972798" y="315064"/>
                    </a:lnTo>
                    <a:lnTo>
                      <a:pt x="987532" y="359320"/>
                    </a:lnTo>
                    <a:lnTo>
                      <a:pt x="998285" y="405505"/>
                    </a:lnTo>
                    <a:lnTo>
                      <a:pt x="1004873" y="453434"/>
                    </a:lnTo>
                    <a:lnTo>
                      <a:pt x="1007110" y="502920"/>
                    </a:lnTo>
                    <a:lnTo>
                      <a:pt x="1004873" y="552616"/>
                    </a:lnTo>
                    <a:lnTo>
                      <a:pt x="998285" y="600731"/>
                    </a:lnTo>
                    <a:lnTo>
                      <a:pt x="987532" y="647080"/>
                    </a:lnTo>
                    <a:lnTo>
                      <a:pt x="972798" y="691477"/>
                    </a:lnTo>
                    <a:lnTo>
                      <a:pt x="954266" y="733739"/>
                    </a:lnTo>
                    <a:lnTo>
                      <a:pt x="932122" y="773680"/>
                    </a:lnTo>
                    <a:lnTo>
                      <a:pt x="906551" y="811116"/>
                    </a:lnTo>
                    <a:lnTo>
                      <a:pt x="877736" y="845863"/>
                    </a:lnTo>
                    <a:lnTo>
                      <a:pt x="845863" y="877736"/>
                    </a:lnTo>
                    <a:lnTo>
                      <a:pt x="811116" y="906551"/>
                    </a:lnTo>
                    <a:lnTo>
                      <a:pt x="773680" y="932122"/>
                    </a:lnTo>
                    <a:lnTo>
                      <a:pt x="733739" y="954266"/>
                    </a:lnTo>
                    <a:lnTo>
                      <a:pt x="691477" y="972798"/>
                    </a:lnTo>
                    <a:lnTo>
                      <a:pt x="647080" y="987532"/>
                    </a:lnTo>
                    <a:lnTo>
                      <a:pt x="600731" y="998285"/>
                    </a:lnTo>
                    <a:lnTo>
                      <a:pt x="552616" y="1004873"/>
                    </a:lnTo>
                    <a:lnTo>
                      <a:pt x="502920" y="1007110"/>
                    </a:lnTo>
                    <a:lnTo>
                      <a:pt x="453235" y="1004873"/>
                    </a:lnTo>
                    <a:lnTo>
                      <a:pt x="405156" y="998285"/>
                    </a:lnTo>
                    <a:lnTo>
                      <a:pt x="358864" y="987532"/>
                    </a:lnTo>
                    <a:lnTo>
                      <a:pt x="314540" y="972798"/>
                    </a:lnTo>
                    <a:lnTo>
                      <a:pt x="272365" y="954266"/>
                    </a:lnTo>
                    <a:lnTo>
                      <a:pt x="232522" y="932122"/>
                    </a:lnTo>
                    <a:lnTo>
                      <a:pt x="195191" y="906551"/>
                    </a:lnTo>
                    <a:lnTo>
                      <a:pt x="160555" y="877736"/>
                    </a:lnTo>
                    <a:lnTo>
                      <a:pt x="128793" y="845863"/>
                    </a:lnTo>
                    <a:lnTo>
                      <a:pt x="100089" y="811116"/>
                    </a:lnTo>
                    <a:lnTo>
                      <a:pt x="74624" y="773680"/>
                    </a:lnTo>
                    <a:lnTo>
                      <a:pt x="52578" y="733739"/>
                    </a:lnTo>
                    <a:lnTo>
                      <a:pt x="34134" y="691477"/>
                    </a:lnTo>
                    <a:lnTo>
                      <a:pt x="19472" y="647080"/>
                    </a:lnTo>
                    <a:lnTo>
                      <a:pt x="8775" y="600731"/>
                    </a:lnTo>
                    <a:lnTo>
                      <a:pt x="2224" y="552616"/>
                    </a:lnTo>
                    <a:lnTo>
                      <a:pt x="0" y="502920"/>
                    </a:lnTo>
                    <a:lnTo>
                      <a:pt x="2224" y="453434"/>
                    </a:lnTo>
                    <a:lnTo>
                      <a:pt x="8775" y="405505"/>
                    </a:lnTo>
                    <a:lnTo>
                      <a:pt x="19472" y="359320"/>
                    </a:lnTo>
                    <a:lnTo>
                      <a:pt x="34134" y="315064"/>
                    </a:lnTo>
                    <a:lnTo>
                      <a:pt x="52578" y="272924"/>
                    </a:lnTo>
                    <a:lnTo>
                      <a:pt x="74624" y="233085"/>
                    </a:lnTo>
                    <a:lnTo>
                      <a:pt x="100089" y="195734"/>
                    </a:lnTo>
                    <a:lnTo>
                      <a:pt x="128793" y="161057"/>
                    </a:lnTo>
                    <a:lnTo>
                      <a:pt x="160555" y="129240"/>
                    </a:lnTo>
                    <a:lnTo>
                      <a:pt x="195191" y="100469"/>
                    </a:lnTo>
                    <a:lnTo>
                      <a:pt x="232522" y="74931"/>
                    </a:lnTo>
                    <a:lnTo>
                      <a:pt x="272365" y="52811"/>
                    </a:lnTo>
                    <a:lnTo>
                      <a:pt x="314540" y="34295"/>
                    </a:lnTo>
                    <a:lnTo>
                      <a:pt x="358864" y="19570"/>
                    </a:lnTo>
                    <a:lnTo>
                      <a:pt x="405156" y="8822"/>
                    </a:lnTo>
                    <a:lnTo>
                      <a:pt x="453235" y="2236"/>
                    </a:lnTo>
                    <a:lnTo>
                      <a:pt x="502920" y="0"/>
                    </a:lnTo>
                    <a:close/>
                  </a:path>
                </a:pathLst>
              </a:custGeom>
              <a:ln w="25518">
                <a:solidFill>
                  <a:srgbClr val="000000"/>
                </a:solidFill>
              </a:ln>
            </p:spPr>
            <p:txBody>
              <a:bodyPr wrap="square" lIns="0" tIns="0" rIns="0" bIns="0" rtlCol="0"/>
              <a:lstStyle/>
              <a:p>
                <a:endParaRPr/>
              </a:p>
            </p:txBody>
          </p:sp>
          <p:sp>
            <p:nvSpPr>
              <p:cNvPr id="153" name="object 153"/>
              <p:cNvSpPr/>
              <p:nvPr/>
            </p:nvSpPr>
            <p:spPr>
              <a:xfrm>
                <a:off x="7223696" y="1471878"/>
                <a:ext cx="1033144" cy="1033144"/>
              </a:xfrm>
              <a:custGeom>
                <a:avLst/>
                <a:gdLst/>
                <a:ahLst/>
                <a:cxnLst/>
                <a:rect l="l" t="t" r="r" b="b"/>
                <a:pathLst>
                  <a:path w="1033145" h="1033144">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1033145" h="1033144">
                    <a:moveTo>
                      <a:pt x="1032624" y="1019860"/>
                    </a:moveTo>
                    <a:lnTo>
                      <a:pt x="1028890" y="1010843"/>
                    </a:lnTo>
                    <a:lnTo>
                      <a:pt x="1019873" y="1007110"/>
                    </a:lnTo>
                    <a:lnTo>
                      <a:pt x="1010843" y="1010843"/>
                    </a:lnTo>
                    <a:lnTo>
                      <a:pt x="1007110" y="1019860"/>
                    </a:lnTo>
                    <a:lnTo>
                      <a:pt x="1010843" y="1028890"/>
                    </a:lnTo>
                    <a:lnTo>
                      <a:pt x="1019873" y="1032624"/>
                    </a:lnTo>
                    <a:lnTo>
                      <a:pt x="1028890" y="1028890"/>
                    </a:lnTo>
                    <a:lnTo>
                      <a:pt x="1032624" y="1019860"/>
                    </a:lnTo>
                    <a:close/>
                  </a:path>
                </a:pathLst>
              </a:custGeom>
              <a:solidFill>
                <a:srgbClr val="000000"/>
              </a:solidFill>
            </p:spPr>
            <p:txBody>
              <a:bodyPr wrap="square" lIns="0" tIns="0" rIns="0" bIns="0" rtlCol="0"/>
              <a:lstStyle/>
              <a:p>
                <a:endParaRPr/>
              </a:p>
            </p:txBody>
          </p:sp>
          <p:sp>
            <p:nvSpPr>
              <p:cNvPr id="154" name="object 154"/>
              <p:cNvSpPr/>
              <p:nvPr/>
            </p:nvSpPr>
            <p:spPr>
              <a:xfrm>
                <a:off x="7383779" y="1631949"/>
                <a:ext cx="861060" cy="861060"/>
              </a:xfrm>
              <a:custGeom>
                <a:avLst/>
                <a:gdLst/>
                <a:ahLst/>
                <a:cxnLst/>
                <a:rect l="l" t="t" r="r" b="b"/>
                <a:pathLst>
                  <a:path w="861059" h="861060">
                    <a:moveTo>
                      <a:pt x="0" y="0"/>
                    </a:moveTo>
                    <a:lnTo>
                      <a:pt x="355600" y="356870"/>
                    </a:lnTo>
                  </a:path>
                  <a:path w="861059" h="861060">
                    <a:moveTo>
                      <a:pt x="861060" y="356870"/>
                    </a:moveTo>
                    <a:lnTo>
                      <a:pt x="355600" y="356870"/>
                    </a:lnTo>
                  </a:path>
                  <a:path w="861059" h="861060">
                    <a:moveTo>
                      <a:pt x="355600" y="861060"/>
                    </a:moveTo>
                    <a:lnTo>
                      <a:pt x="355600" y="356870"/>
                    </a:lnTo>
                  </a:path>
                </a:pathLst>
              </a:custGeom>
              <a:ln w="19048">
                <a:solidFill>
                  <a:srgbClr val="000000"/>
                </a:solidFill>
              </a:ln>
            </p:spPr>
            <p:txBody>
              <a:bodyPr wrap="square" lIns="0" tIns="0" rIns="0" bIns="0" rtlCol="0"/>
              <a:lstStyle/>
              <a:p>
                <a:endParaRPr/>
              </a:p>
            </p:txBody>
          </p:sp>
        </p:grpSp>
        <p:sp>
          <p:nvSpPr>
            <p:cNvPr id="155" name="object 155"/>
            <p:cNvSpPr/>
            <p:nvPr/>
          </p:nvSpPr>
          <p:spPr>
            <a:xfrm>
              <a:off x="5664200" y="4796790"/>
              <a:ext cx="1871980" cy="1079500"/>
            </a:xfrm>
            <a:custGeom>
              <a:avLst/>
              <a:gdLst/>
              <a:ahLst/>
              <a:cxnLst/>
              <a:rect l="l" t="t" r="r" b="b"/>
              <a:pathLst>
                <a:path w="1871979" h="1079500">
                  <a:moveTo>
                    <a:pt x="1871979" y="0"/>
                  </a:moveTo>
                  <a:lnTo>
                    <a:pt x="0" y="0"/>
                  </a:lnTo>
                  <a:lnTo>
                    <a:pt x="0" y="1079500"/>
                  </a:lnTo>
                  <a:lnTo>
                    <a:pt x="935989" y="1079500"/>
                  </a:lnTo>
                  <a:lnTo>
                    <a:pt x="1871979" y="1079500"/>
                  </a:lnTo>
                  <a:lnTo>
                    <a:pt x="1871979" y="0"/>
                  </a:lnTo>
                  <a:close/>
                </a:path>
              </a:pathLst>
            </a:custGeom>
            <a:solidFill>
              <a:srgbClr val="FFFFFF"/>
            </a:solidFill>
          </p:spPr>
          <p:txBody>
            <a:bodyPr wrap="square" lIns="0" tIns="0" rIns="0" bIns="0" rtlCol="0"/>
            <a:lstStyle/>
            <a:p>
              <a:endParaRPr/>
            </a:p>
          </p:txBody>
        </p:sp>
        <p:sp>
          <p:nvSpPr>
            <p:cNvPr id="156" name="object 156"/>
            <p:cNvSpPr txBox="1"/>
            <p:nvPr/>
          </p:nvSpPr>
          <p:spPr>
            <a:xfrm>
              <a:off x="5664200" y="4796791"/>
              <a:ext cx="1871980" cy="420628"/>
            </a:xfrm>
            <a:prstGeom prst="rect">
              <a:avLst/>
            </a:prstGeom>
            <a:ln w="25518">
              <a:solidFill>
                <a:srgbClr val="000000"/>
              </a:solidFill>
            </a:ln>
          </p:spPr>
          <p:txBody>
            <a:bodyPr vert="horz" wrap="square" lIns="0" tIns="142240" rIns="0" bIns="0" rtlCol="0">
              <a:spAutoFit/>
            </a:bodyPr>
            <a:lstStyle/>
            <a:p>
              <a:pPr marL="6985" algn="ctr"/>
              <a:r>
                <a:rPr spc="-20" dirty="0">
                  <a:latin typeface="Verdana"/>
                  <a:cs typeface="Verdana"/>
                </a:rPr>
                <a:t>Data</a:t>
              </a:r>
              <a:endParaRPr dirty="0">
                <a:latin typeface="Verdana"/>
                <a:cs typeface="Verdana"/>
              </a:endParaRPr>
            </a:p>
          </p:txBody>
        </p:sp>
        <p:grpSp>
          <p:nvGrpSpPr>
            <p:cNvPr id="159" name="object 159"/>
            <p:cNvGrpSpPr/>
            <p:nvPr/>
          </p:nvGrpSpPr>
          <p:grpSpPr>
            <a:xfrm>
              <a:off x="3926205" y="2626995"/>
              <a:ext cx="5346700" cy="2179320"/>
              <a:chOff x="2402205" y="2626995"/>
              <a:chExt cx="5346700" cy="2179320"/>
            </a:xfrm>
          </p:grpSpPr>
          <p:sp>
            <p:nvSpPr>
              <p:cNvPr id="160" name="object 160"/>
              <p:cNvSpPr/>
              <p:nvPr/>
            </p:nvSpPr>
            <p:spPr>
              <a:xfrm>
                <a:off x="2411730" y="2636520"/>
                <a:ext cx="5327650" cy="2160270"/>
              </a:xfrm>
              <a:custGeom>
                <a:avLst/>
                <a:gdLst/>
                <a:ahLst/>
                <a:cxnLst/>
                <a:rect l="l" t="t" r="r" b="b"/>
                <a:pathLst>
                  <a:path w="5327650" h="2160270">
                    <a:moveTo>
                      <a:pt x="0" y="0"/>
                    </a:moveTo>
                    <a:lnTo>
                      <a:pt x="2664460" y="2160269"/>
                    </a:lnTo>
                  </a:path>
                  <a:path w="5327650" h="2160270">
                    <a:moveTo>
                      <a:pt x="2664460" y="0"/>
                    </a:moveTo>
                    <a:lnTo>
                      <a:pt x="2664460" y="2160269"/>
                    </a:lnTo>
                  </a:path>
                  <a:path w="5327650" h="2160270">
                    <a:moveTo>
                      <a:pt x="5327650" y="0"/>
                    </a:moveTo>
                    <a:lnTo>
                      <a:pt x="2664460" y="2160269"/>
                    </a:lnTo>
                  </a:path>
                </a:pathLst>
              </a:custGeom>
              <a:ln w="19048">
                <a:solidFill>
                  <a:srgbClr val="000000"/>
                </a:solidFill>
              </a:ln>
            </p:spPr>
            <p:txBody>
              <a:bodyPr wrap="square" lIns="0" tIns="0" rIns="0" bIns="0" rtlCol="0"/>
              <a:lstStyle/>
              <a:p>
                <a:endParaRPr/>
              </a:p>
            </p:txBody>
          </p:sp>
          <p:sp>
            <p:nvSpPr>
              <p:cNvPr id="161" name="object 161"/>
              <p:cNvSpPr/>
              <p:nvPr/>
            </p:nvSpPr>
            <p:spPr>
              <a:xfrm>
                <a:off x="2825750" y="3185160"/>
                <a:ext cx="1530350" cy="1252220"/>
              </a:xfrm>
              <a:custGeom>
                <a:avLst/>
                <a:gdLst/>
                <a:ahLst/>
                <a:cxnLst/>
                <a:rect l="l" t="t" r="r" b="b"/>
                <a:pathLst>
                  <a:path w="1530350" h="1252220">
                    <a:moveTo>
                      <a:pt x="0" y="0"/>
                    </a:moveTo>
                    <a:lnTo>
                      <a:pt x="1530350" y="1252220"/>
                    </a:lnTo>
                  </a:path>
                </a:pathLst>
              </a:custGeom>
              <a:ln w="19050">
                <a:solidFill>
                  <a:srgbClr val="000000"/>
                </a:solidFill>
              </a:ln>
            </p:spPr>
            <p:txBody>
              <a:bodyPr wrap="square" lIns="0" tIns="0" rIns="0" bIns="0" rtlCol="0"/>
              <a:lstStyle/>
              <a:p>
                <a:endParaRPr/>
              </a:p>
            </p:txBody>
          </p:sp>
          <p:sp>
            <p:nvSpPr>
              <p:cNvPr id="162" name="object 162"/>
              <p:cNvSpPr/>
              <p:nvPr/>
            </p:nvSpPr>
            <p:spPr>
              <a:xfrm>
                <a:off x="2771140" y="3140710"/>
                <a:ext cx="82550" cy="77470"/>
              </a:xfrm>
              <a:custGeom>
                <a:avLst/>
                <a:gdLst/>
                <a:ahLst/>
                <a:cxnLst/>
                <a:rect l="l" t="t" r="r" b="b"/>
                <a:pathLst>
                  <a:path w="82550" h="77469">
                    <a:moveTo>
                      <a:pt x="0" y="0"/>
                    </a:moveTo>
                    <a:lnTo>
                      <a:pt x="35560" y="77469"/>
                    </a:lnTo>
                    <a:lnTo>
                      <a:pt x="82550" y="19050"/>
                    </a:lnTo>
                    <a:lnTo>
                      <a:pt x="0" y="0"/>
                    </a:lnTo>
                    <a:close/>
                  </a:path>
                </a:pathLst>
              </a:custGeom>
              <a:solidFill>
                <a:srgbClr val="000000"/>
              </a:solidFill>
            </p:spPr>
            <p:txBody>
              <a:bodyPr wrap="square" lIns="0" tIns="0" rIns="0" bIns="0" rtlCol="0"/>
              <a:lstStyle/>
              <a:p>
                <a:endParaRPr/>
              </a:p>
            </p:txBody>
          </p:sp>
          <p:sp>
            <p:nvSpPr>
              <p:cNvPr id="163" name="object 163"/>
              <p:cNvSpPr/>
              <p:nvPr/>
            </p:nvSpPr>
            <p:spPr>
              <a:xfrm>
                <a:off x="5292090" y="3185160"/>
                <a:ext cx="1529080" cy="1252220"/>
              </a:xfrm>
              <a:custGeom>
                <a:avLst/>
                <a:gdLst/>
                <a:ahLst/>
                <a:cxnLst/>
                <a:rect l="l" t="t" r="r" b="b"/>
                <a:pathLst>
                  <a:path w="1529079" h="1252220">
                    <a:moveTo>
                      <a:pt x="1529080" y="0"/>
                    </a:moveTo>
                    <a:lnTo>
                      <a:pt x="0" y="1252220"/>
                    </a:lnTo>
                  </a:path>
                </a:pathLst>
              </a:custGeom>
              <a:ln w="19050">
                <a:solidFill>
                  <a:srgbClr val="000000"/>
                </a:solidFill>
              </a:ln>
            </p:spPr>
            <p:txBody>
              <a:bodyPr wrap="square" lIns="0" tIns="0" rIns="0" bIns="0" rtlCol="0"/>
              <a:lstStyle/>
              <a:p>
                <a:endParaRPr/>
              </a:p>
            </p:txBody>
          </p:sp>
          <p:sp>
            <p:nvSpPr>
              <p:cNvPr id="164" name="object 164"/>
              <p:cNvSpPr/>
              <p:nvPr/>
            </p:nvSpPr>
            <p:spPr>
              <a:xfrm>
                <a:off x="6793229" y="3140710"/>
                <a:ext cx="82550" cy="77470"/>
              </a:xfrm>
              <a:custGeom>
                <a:avLst/>
                <a:gdLst/>
                <a:ahLst/>
                <a:cxnLst/>
                <a:rect l="l" t="t" r="r" b="b"/>
                <a:pathLst>
                  <a:path w="82550" h="77469">
                    <a:moveTo>
                      <a:pt x="82550" y="0"/>
                    </a:moveTo>
                    <a:lnTo>
                      <a:pt x="0" y="19050"/>
                    </a:lnTo>
                    <a:lnTo>
                      <a:pt x="48260" y="77469"/>
                    </a:lnTo>
                    <a:lnTo>
                      <a:pt x="82550" y="0"/>
                    </a:lnTo>
                    <a:close/>
                  </a:path>
                </a:pathLst>
              </a:custGeom>
              <a:solidFill>
                <a:srgbClr val="000000"/>
              </a:solidFill>
            </p:spPr>
            <p:txBody>
              <a:bodyPr wrap="square" lIns="0" tIns="0" rIns="0" bIns="0" rtlCol="0"/>
              <a:lstStyle/>
              <a:p>
                <a:endParaRPr/>
              </a:p>
            </p:txBody>
          </p:sp>
          <p:sp>
            <p:nvSpPr>
              <p:cNvPr id="165" name="object 165"/>
              <p:cNvSpPr/>
              <p:nvPr/>
            </p:nvSpPr>
            <p:spPr>
              <a:xfrm>
                <a:off x="4931410" y="3211830"/>
                <a:ext cx="0" cy="1225550"/>
              </a:xfrm>
              <a:custGeom>
                <a:avLst/>
                <a:gdLst/>
                <a:ahLst/>
                <a:cxnLst/>
                <a:rect l="l" t="t" r="r" b="b"/>
                <a:pathLst>
                  <a:path h="1225550">
                    <a:moveTo>
                      <a:pt x="0" y="0"/>
                    </a:moveTo>
                    <a:lnTo>
                      <a:pt x="0" y="1225550"/>
                    </a:lnTo>
                  </a:path>
                </a:pathLst>
              </a:custGeom>
              <a:ln w="19050">
                <a:solidFill>
                  <a:srgbClr val="000000"/>
                </a:solidFill>
              </a:ln>
            </p:spPr>
            <p:txBody>
              <a:bodyPr wrap="square" lIns="0" tIns="0" rIns="0" bIns="0" rtlCol="0"/>
              <a:lstStyle/>
              <a:p>
                <a:endParaRPr/>
              </a:p>
            </p:txBody>
          </p:sp>
          <p:sp>
            <p:nvSpPr>
              <p:cNvPr id="166" name="object 166"/>
              <p:cNvSpPr/>
              <p:nvPr/>
            </p:nvSpPr>
            <p:spPr>
              <a:xfrm>
                <a:off x="4894580" y="3140710"/>
                <a:ext cx="74930" cy="74930"/>
              </a:xfrm>
              <a:custGeom>
                <a:avLst/>
                <a:gdLst/>
                <a:ahLst/>
                <a:cxnLst/>
                <a:rect l="l" t="t" r="r" b="b"/>
                <a:pathLst>
                  <a:path w="74929" h="74930">
                    <a:moveTo>
                      <a:pt x="36830" y="0"/>
                    </a:moveTo>
                    <a:lnTo>
                      <a:pt x="0" y="74929"/>
                    </a:lnTo>
                    <a:lnTo>
                      <a:pt x="74930" y="74929"/>
                    </a:lnTo>
                    <a:lnTo>
                      <a:pt x="36830" y="0"/>
                    </a:lnTo>
                    <a:close/>
                  </a:path>
                </a:pathLst>
              </a:custGeom>
              <a:solidFill>
                <a:srgbClr val="000000"/>
              </a:solidFill>
            </p:spPr>
            <p:txBody>
              <a:bodyPr wrap="square" lIns="0" tIns="0" rIns="0" bIns="0" rtlCol="0"/>
              <a:lstStyle/>
              <a:p>
                <a:endParaRPr/>
              </a:p>
            </p:txBody>
          </p:sp>
        </p:grpSp>
      </p:grpSp>
      <p:sp>
        <p:nvSpPr>
          <p:cNvPr id="167" name="object 167"/>
          <p:cNvSpPr txBox="1"/>
          <p:nvPr/>
        </p:nvSpPr>
        <p:spPr>
          <a:xfrm>
            <a:off x="2764156" y="2813050"/>
            <a:ext cx="893444" cy="289823"/>
          </a:xfrm>
          <a:prstGeom prst="rect">
            <a:avLst/>
          </a:prstGeom>
        </p:spPr>
        <p:txBody>
          <a:bodyPr vert="horz" wrap="square" lIns="0" tIns="12700" rIns="0" bIns="0" rtlCol="0">
            <a:spAutoFit/>
          </a:bodyPr>
          <a:lstStyle/>
          <a:p>
            <a:pPr marL="12700">
              <a:spcBef>
                <a:spcPts val="100"/>
              </a:spcBef>
            </a:pPr>
            <a:r>
              <a:rPr lang="en-CA" spc="-10" dirty="0">
                <a:latin typeface="Verdana"/>
                <a:cs typeface="Verdana"/>
              </a:rPr>
              <a:t>Update</a:t>
            </a:r>
            <a:endParaRPr dirty="0">
              <a:latin typeface="Verdana"/>
              <a:cs typeface="Verdana"/>
            </a:endParaRPr>
          </a:p>
        </p:txBody>
      </p:sp>
      <p:sp>
        <p:nvSpPr>
          <p:cNvPr id="168" name="object 168"/>
          <p:cNvSpPr txBox="1"/>
          <p:nvPr/>
        </p:nvSpPr>
        <p:spPr>
          <a:xfrm>
            <a:off x="5126356" y="2813050"/>
            <a:ext cx="893444" cy="289823"/>
          </a:xfrm>
          <a:prstGeom prst="rect">
            <a:avLst/>
          </a:prstGeom>
        </p:spPr>
        <p:txBody>
          <a:bodyPr vert="horz" wrap="square" lIns="0" tIns="12700" rIns="0" bIns="0" rtlCol="0">
            <a:spAutoFit/>
          </a:bodyPr>
          <a:lstStyle/>
          <a:p>
            <a:pPr marL="12700">
              <a:spcBef>
                <a:spcPts val="100"/>
              </a:spcBef>
            </a:pPr>
            <a:r>
              <a:rPr lang="en-CA" spc="-10" dirty="0">
                <a:latin typeface="Verdana"/>
                <a:cs typeface="Verdana"/>
              </a:rPr>
              <a:t>Update</a:t>
            </a:r>
            <a:endParaRPr lang="en-CA" dirty="0">
              <a:latin typeface="Verdana"/>
              <a:cs typeface="Verdana"/>
            </a:endParaRPr>
          </a:p>
        </p:txBody>
      </p:sp>
      <p:sp>
        <p:nvSpPr>
          <p:cNvPr id="169" name="object 169"/>
          <p:cNvSpPr txBox="1"/>
          <p:nvPr/>
        </p:nvSpPr>
        <p:spPr>
          <a:xfrm>
            <a:off x="8587102" y="2829823"/>
            <a:ext cx="914402" cy="289823"/>
          </a:xfrm>
          <a:prstGeom prst="rect">
            <a:avLst/>
          </a:prstGeom>
        </p:spPr>
        <p:txBody>
          <a:bodyPr vert="horz" wrap="square" lIns="0" tIns="12700" rIns="0" bIns="0" rtlCol="0">
            <a:spAutoFit/>
          </a:bodyPr>
          <a:lstStyle/>
          <a:p>
            <a:pPr marL="12700">
              <a:spcBef>
                <a:spcPts val="100"/>
              </a:spcBef>
            </a:pPr>
            <a:r>
              <a:rPr lang="en-CA" spc="-10" dirty="0">
                <a:latin typeface="Verdana"/>
                <a:cs typeface="Verdana"/>
              </a:rPr>
              <a:t>Update</a:t>
            </a:r>
            <a:endParaRPr lang="en-CA" dirty="0">
              <a:latin typeface="Verdana"/>
              <a:cs typeface="Verdana"/>
            </a:endParaRPr>
          </a:p>
        </p:txBody>
      </p:sp>
      <p:sp>
        <p:nvSpPr>
          <p:cNvPr id="170" name="object 170"/>
          <p:cNvSpPr txBox="1"/>
          <p:nvPr/>
        </p:nvSpPr>
        <p:spPr>
          <a:xfrm>
            <a:off x="3810000" y="4596255"/>
            <a:ext cx="990600" cy="821700"/>
          </a:xfrm>
          <a:prstGeom prst="rect">
            <a:avLst/>
          </a:prstGeom>
        </p:spPr>
        <p:txBody>
          <a:bodyPr vert="horz" wrap="square" lIns="0" tIns="12700" rIns="0" bIns="0" rtlCol="0">
            <a:spAutoFit/>
          </a:bodyPr>
          <a:lstStyle/>
          <a:p>
            <a:pPr marL="12700" marR="5080" indent="5080">
              <a:lnSpc>
                <a:spcPct val="157400"/>
              </a:lnSpc>
              <a:spcBef>
                <a:spcPts val="100"/>
              </a:spcBef>
            </a:pPr>
            <a:r>
              <a:rPr lang="en-CA" spc="-10" dirty="0">
                <a:latin typeface="Verdana"/>
                <a:cs typeface="Verdana"/>
              </a:rPr>
              <a:t>Modify Update</a:t>
            </a:r>
            <a:endParaRPr lang="en-CA" dirty="0">
              <a:latin typeface="Verdana"/>
              <a:cs typeface="Verdana"/>
            </a:endParaRPr>
          </a:p>
        </p:txBody>
      </p:sp>
      <p:sp>
        <p:nvSpPr>
          <p:cNvPr id="173" name="object 157">
            <a:extLst>
              <a:ext uri="{FF2B5EF4-FFF2-40B4-BE49-F238E27FC236}">
                <a16:creationId xmlns:a16="http://schemas.microsoft.com/office/drawing/2014/main" id="{3F18DBA6-2965-41B5-BBE0-B7BBBA048B39}"/>
              </a:ext>
            </a:extLst>
          </p:cNvPr>
          <p:cNvSpPr txBox="1">
            <a:spLocks/>
          </p:cNvSpPr>
          <p:nvPr/>
        </p:nvSpPr>
        <p:spPr>
          <a:xfrm>
            <a:off x="4346953" y="609600"/>
            <a:ext cx="3497579" cy="26212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CA" sz="1800" i="1" dirty="0">
                <a:solidFill>
                  <a:srgbClr val="000000"/>
                </a:solidFill>
                <a:latin typeface="Verdana"/>
                <a:cs typeface="Verdana"/>
              </a:rPr>
              <a:t>Views</a:t>
            </a:r>
            <a:r>
              <a:rPr lang="en-CA" sz="1800" i="1" spc="-60" dirty="0">
                <a:solidFill>
                  <a:srgbClr val="000000"/>
                </a:solidFill>
                <a:latin typeface="Verdana"/>
                <a:cs typeface="Verdana"/>
              </a:rPr>
              <a:t> </a:t>
            </a:r>
            <a:r>
              <a:rPr lang="en-CA" sz="1800" i="1" dirty="0">
                <a:solidFill>
                  <a:srgbClr val="000000"/>
                </a:solidFill>
                <a:latin typeface="Verdana"/>
                <a:cs typeface="Verdana"/>
              </a:rPr>
              <a:t>(i.e.,</a:t>
            </a:r>
            <a:r>
              <a:rPr lang="en-CA" sz="1800" i="1" spc="-50" dirty="0">
                <a:solidFill>
                  <a:srgbClr val="000000"/>
                </a:solidFill>
                <a:latin typeface="Verdana"/>
                <a:cs typeface="Verdana"/>
              </a:rPr>
              <a:t> </a:t>
            </a:r>
            <a:r>
              <a:rPr lang="en-CA" sz="1800" i="1" dirty="0">
                <a:solidFill>
                  <a:srgbClr val="000000"/>
                </a:solidFill>
                <a:latin typeface="Verdana"/>
                <a:cs typeface="Verdana"/>
              </a:rPr>
              <a:t>observers,</a:t>
            </a:r>
            <a:r>
              <a:rPr lang="en-CA" sz="1800" i="1" spc="-40" dirty="0">
                <a:solidFill>
                  <a:srgbClr val="000000"/>
                </a:solidFill>
                <a:latin typeface="Verdana"/>
                <a:cs typeface="Verdana"/>
              </a:rPr>
              <a:t> </a:t>
            </a:r>
            <a:r>
              <a:rPr lang="en-CA" sz="1800" i="1" spc="-10" dirty="0">
                <a:solidFill>
                  <a:srgbClr val="000000"/>
                </a:solidFill>
                <a:latin typeface="Verdana"/>
                <a:cs typeface="Verdana"/>
              </a:rPr>
              <a:t>clients)</a:t>
            </a:r>
            <a:endParaRPr lang="en-CA" sz="1800" dirty="0">
              <a:latin typeface="Verdana"/>
              <a:cs typeface="Verdana"/>
            </a:endParaRPr>
          </a:p>
        </p:txBody>
      </p:sp>
      <p:sp>
        <p:nvSpPr>
          <p:cNvPr id="176" name="object 158">
            <a:extLst>
              <a:ext uri="{FF2B5EF4-FFF2-40B4-BE49-F238E27FC236}">
                <a16:creationId xmlns:a16="http://schemas.microsoft.com/office/drawing/2014/main" id="{61EC1590-9E10-60A7-61C3-31CF424A74BF}"/>
              </a:ext>
            </a:extLst>
          </p:cNvPr>
          <p:cNvSpPr txBox="1"/>
          <p:nvPr/>
        </p:nvSpPr>
        <p:spPr>
          <a:xfrm>
            <a:off x="4467602" y="5948680"/>
            <a:ext cx="3256279" cy="299720"/>
          </a:xfrm>
          <a:prstGeom prst="rect">
            <a:avLst/>
          </a:prstGeom>
        </p:spPr>
        <p:txBody>
          <a:bodyPr vert="horz" wrap="square" lIns="0" tIns="12700" rIns="0" bIns="0" rtlCol="0">
            <a:spAutoFit/>
          </a:bodyPr>
          <a:lstStyle/>
          <a:p>
            <a:pPr marL="12700">
              <a:spcBef>
                <a:spcPts val="100"/>
              </a:spcBef>
            </a:pPr>
            <a:r>
              <a:rPr lang="en-CA" i="1" dirty="0">
                <a:latin typeface="Verdana"/>
                <a:cs typeface="Verdana"/>
              </a:rPr>
              <a:t>Model </a:t>
            </a:r>
            <a:r>
              <a:rPr i="1" dirty="0">
                <a:latin typeface="Verdana"/>
                <a:cs typeface="Verdana"/>
              </a:rPr>
              <a:t>(i.e.,</a:t>
            </a:r>
            <a:r>
              <a:rPr i="1" spc="-40" dirty="0">
                <a:latin typeface="Verdana"/>
                <a:cs typeface="Verdana"/>
              </a:rPr>
              <a:t> </a:t>
            </a:r>
            <a:r>
              <a:rPr i="1" dirty="0">
                <a:latin typeface="Verdana"/>
                <a:cs typeface="Verdana"/>
              </a:rPr>
              <a:t>subject,</a:t>
            </a:r>
            <a:r>
              <a:rPr i="1" spc="-45" dirty="0">
                <a:latin typeface="Verdana"/>
                <a:cs typeface="Verdana"/>
              </a:rPr>
              <a:t> </a:t>
            </a:r>
            <a:r>
              <a:rPr i="1" spc="-10" dirty="0">
                <a:latin typeface="Verdana"/>
                <a:cs typeface="Verdana"/>
              </a:rPr>
              <a:t>server)</a:t>
            </a:r>
            <a:endParaRPr dirty="0">
              <a:latin typeface="Verdana"/>
              <a:cs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 name="object 163"/>
          <p:cNvSpPr txBox="1"/>
          <p:nvPr/>
        </p:nvSpPr>
        <p:spPr>
          <a:xfrm>
            <a:off x="4618038" y="3505200"/>
            <a:ext cx="3105843" cy="1159292"/>
          </a:xfrm>
          <a:prstGeom prst="rect">
            <a:avLst/>
          </a:prstGeom>
        </p:spPr>
        <p:txBody>
          <a:bodyPr vert="horz" wrap="square" lIns="0" tIns="12700" rIns="0" bIns="0" rtlCol="0">
            <a:spAutoFit/>
          </a:bodyPr>
          <a:lstStyle/>
          <a:p>
            <a:pPr marL="1647189">
              <a:spcBef>
                <a:spcPts val="100"/>
              </a:spcBef>
            </a:pPr>
            <a:r>
              <a:rPr lang="en-CA" spc="-10" dirty="0">
                <a:latin typeface="Verdana"/>
                <a:cs typeface="Verdana"/>
              </a:rPr>
              <a:t>Request</a:t>
            </a:r>
            <a:endParaRPr dirty="0">
              <a:latin typeface="Verdana"/>
              <a:cs typeface="Verdana"/>
            </a:endParaRPr>
          </a:p>
          <a:p>
            <a:pPr>
              <a:lnSpc>
                <a:spcPct val="100000"/>
              </a:lnSpc>
            </a:pPr>
            <a:endParaRPr dirty="0">
              <a:latin typeface="Verdana"/>
              <a:cs typeface="Verdana"/>
            </a:endParaRPr>
          </a:p>
          <a:p>
            <a:pPr>
              <a:spcBef>
                <a:spcPts val="260"/>
              </a:spcBef>
            </a:pPr>
            <a:endParaRPr dirty="0">
              <a:latin typeface="Verdana"/>
              <a:cs typeface="Verdana"/>
            </a:endParaRPr>
          </a:p>
          <a:p>
            <a:pPr marL="12700">
              <a:spcBef>
                <a:spcPts val="5"/>
              </a:spcBef>
              <a:tabLst>
                <a:tab pos="2078355" algn="l"/>
              </a:tabLst>
            </a:pPr>
            <a:r>
              <a:rPr lang="en-CA" spc="-10" dirty="0">
                <a:latin typeface="Verdana"/>
                <a:cs typeface="Verdana"/>
              </a:rPr>
              <a:t>Request</a:t>
            </a:r>
            <a:r>
              <a:rPr dirty="0">
                <a:latin typeface="Verdana"/>
                <a:cs typeface="Verdana"/>
              </a:rPr>
              <a:t>	</a:t>
            </a:r>
            <a:r>
              <a:rPr lang="en-CA" spc="-10" dirty="0">
                <a:latin typeface="Verdana"/>
                <a:cs typeface="Verdana"/>
              </a:rPr>
              <a:t>Request</a:t>
            </a:r>
            <a:endParaRPr dirty="0">
              <a:latin typeface="Verdana"/>
              <a:cs typeface="Verdana"/>
            </a:endParaRPr>
          </a:p>
        </p:txBody>
      </p:sp>
      <p:sp>
        <p:nvSpPr>
          <p:cNvPr id="164" name="object 164"/>
          <p:cNvSpPr txBox="1"/>
          <p:nvPr/>
        </p:nvSpPr>
        <p:spPr>
          <a:xfrm>
            <a:off x="3696970" y="4572000"/>
            <a:ext cx="1179830" cy="1282210"/>
          </a:xfrm>
          <a:prstGeom prst="rect">
            <a:avLst/>
          </a:prstGeom>
        </p:spPr>
        <p:txBody>
          <a:bodyPr vert="horz" wrap="square" lIns="0" tIns="12700" rIns="0" bIns="0" rtlCol="0">
            <a:spAutoFit/>
          </a:bodyPr>
          <a:lstStyle/>
          <a:p>
            <a:pPr marL="12700" marR="5080" indent="41910" algn="just">
              <a:lnSpc>
                <a:spcPct val="157400"/>
              </a:lnSpc>
              <a:spcBef>
                <a:spcPts val="100"/>
              </a:spcBef>
            </a:pPr>
            <a:r>
              <a:rPr lang="en-CA" spc="-10" dirty="0">
                <a:latin typeface="Verdana"/>
                <a:cs typeface="Verdana"/>
              </a:rPr>
              <a:t>Modify</a:t>
            </a:r>
          </a:p>
          <a:p>
            <a:pPr marL="12700" marR="5080" indent="41910" algn="just">
              <a:lnSpc>
                <a:spcPct val="157400"/>
              </a:lnSpc>
              <a:spcBef>
                <a:spcPts val="100"/>
              </a:spcBef>
            </a:pPr>
            <a:r>
              <a:rPr lang="en-CA" spc="-10" dirty="0">
                <a:latin typeface="Verdana"/>
                <a:cs typeface="Verdana"/>
              </a:rPr>
              <a:t>Update</a:t>
            </a:r>
          </a:p>
          <a:p>
            <a:pPr marL="12700" marR="5080" indent="41910" algn="just">
              <a:lnSpc>
                <a:spcPct val="157400"/>
              </a:lnSpc>
              <a:spcBef>
                <a:spcPts val="100"/>
              </a:spcBef>
            </a:pPr>
            <a:r>
              <a:rPr lang="en-CA" spc="-10" dirty="0">
                <a:latin typeface="Verdana"/>
                <a:cs typeface="Verdana"/>
              </a:rPr>
              <a:t>Request</a:t>
            </a:r>
            <a:endParaRPr dirty="0">
              <a:latin typeface="Verdana"/>
              <a:cs typeface="Verdana"/>
            </a:endParaRPr>
          </a:p>
        </p:txBody>
      </p:sp>
      <p:grpSp>
        <p:nvGrpSpPr>
          <p:cNvPr id="170" name="Group 169">
            <a:extLst>
              <a:ext uri="{FF2B5EF4-FFF2-40B4-BE49-F238E27FC236}">
                <a16:creationId xmlns:a16="http://schemas.microsoft.com/office/drawing/2014/main" id="{84E98FD0-CBBF-1C09-A435-840E020DE540}"/>
              </a:ext>
            </a:extLst>
          </p:cNvPr>
          <p:cNvGrpSpPr/>
          <p:nvPr/>
        </p:nvGrpSpPr>
        <p:grpSpPr>
          <a:xfrm>
            <a:off x="2482533" y="1111191"/>
            <a:ext cx="7226934" cy="4765099"/>
            <a:chOff x="2986980" y="1111191"/>
            <a:chExt cx="7226934" cy="4765099"/>
          </a:xfrm>
        </p:grpSpPr>
        <p:grpSp>
          <p:nvGrpSpPr>
            <p:cNvPr id="5" name="object 5"/>
            <p:cNvGrpSpPr/>
            <p:nvPr/>
          </p:nvGrpSpPr>
          <p:grpSpPr>
            <a:xfrm>
              <a:off x="5651441" y="1111191"/>
              <a:ext cx="1898014" cy="1538605"/>
              <a:chOff x="4127441" y="1111190"/>
              <a:chExt cx="1898014" cy="1538605"/>
            </a:xfrm>
          </p:grpSpPr>
          <p:sp>
            <p:nvSpPr>
              <p:cNvPr id="6" name="object 6"/>
              <p:cNvSpPr/>
              <p:nvPr/>
            </p:nvSpPr>
            <p:spPr>
              <a:xfrm>
                <a:off x="4140200" y="1123950"/>
                <a:ext cx="1871980" cy="1512570"/>
              </a:xfrm>
              <a:custGeom>
                <a:avLst/>
                <a:gdLst/>
                <a:ahLst/>
                <a:cxnLst/>
                <a:rect l="l" t="t" r="r" b="b"/>
                <a:pathLst>
                  <a:path w="1871979" h="1512570">
                    <a:moveTo>
                      <a:pt x="1871979" y="0"/>
                    </a:moveTo>
                    <a:lnTo>
                      <a:pt x="0" y="0"/>
                    </a:lnTo>
                    <a:lnTo>
                      <a:pt x="0" y="1512570"/>
                    </a:lnTo>
                    <a:lnTo>
                      <a:pt x="935989" y="1512570"/>
                    </a:lnTo>
                    <a:lnTo>
                      <a:pt x="1871979" y="1512570"/>
                    </a:lnTo>
                    <a:lnTo>
                      <a:pt x="1871979" y="0"/>
                    </a:lnTo>
                    <a:close/>
                  </a:path>
                </a:pathLst>
              </a:custGeom>
              <a:solidFill>
                <a:srgbClr val="FFFFFF"/>
              </a:solidFill>
            </p:spPr>
            <p:txBody>
              <a:bodyPr wrap="square" lIns="0" tIns="0" rIns="0" bIns="0" rtlCol="0"/>
              <a:lstStyle/>
              <a:p>
                <a:endParaRPr/>
              </a:p>
            </p:txBody>
          </p:sp>
          <p:sp>
            <p:nvSpPr>
              <p:cNvPr id="7" name="object 7"/>
              <p:cNvSpPr/>
              <p:nvPr/>
            </p:nvSpPr>
            <p:spPr>
              <a:xfrm>
                <a:off x="4140200" y="1123950"/>
                <a:ext cx="1871980" cy="1512570"/>
              </a:xfrm>
              <a:custGeom>
                <a:avLst/>
                <a:gdLst/>
                <a:ahLst/>
                <a:cxnLst/>
                <a:rect l="l" t="t" r="r" b="b"/>
                <a:pathLst>
                  <a:path w="1871979" h="1512570">
                    <a:moveTo>
                      <a:pt x="935989" y="1512570"/>
                    </a:moveTo>
                    <a:lnTo>
                      <a:pt x="0" y="1512570"/>
                    </a:lnTo>
                    <a:lnTo>
                      <a:pt x="0" y="0"/>
                    </a:lnTo>
                    <a:lnTo>
                      <a:pt x="1871979" y="0"/>
                    </a:lnTo>
                    <a:lnTo>
                      <a:pt x="1871979" y="1512570"/>
                    </a:lnTo>
                    <a:lnTo>
                      <a:pt x="935989" y="1512570"/>
                    </a:lnTo>
                    <a:close/>
                  </a:path>
                </a:pathLst>
              </a:custGeom>
              <a:ln w="25518">
                <a:solidFill>
                  <a:srgbClr val="000000"/>
                </a:solidFill>
              </a:ln>
            </p:spPr>
            <p:txBody>
              <a:bodyPr wrap="square" lIns="0" tIns="0" rIns="0" bIns="0" rtlCol="0"/>
              <a:lstStyle/>
              <a:p>
                <a:endParaRPr/>
              </a:p>
            </p:txBody>
          </p:sp>
          <p:sp>
            <p:nvSpPr>
              <p:cNvPr id="8" name="object 8"/>
              <p:cNvSpPr/>
              <p:nvPr/>
            </p:nvSpPr>
            <p:spPr>
              <a:xfrm>
                <a:off x="4356100" y="1555750"/>
                <a:ext cx="1438910" cy="863600"/>
              </a:xfrm>
              <a:custGeom>
                <a:avLst/>
                <a:gdLst/>
                <a:ahLst/>
                <a:cxnLst/>
                <a:rect l="l" t="t" r="r" b="b"/>
                <a:pathLst>
                  <a:path w="1438910" h="863600">
                    <a:moveTo>
                      <a:pt x="1438910" y="0"/>
                    </a:moveTo>
                    <a:lnTo>
                      <a:pt x="0" y="0"/>
                    </a:lnTo>
                    <a:lnTo>
                      <a:pt x="0" y="863600"/>
                    </a:lnTo>
                    <a:lnTo>
                      <a:pt x="720089" y="863600"/>
                    </a:lnTo>
                    <a:lnTo>
                      <a:pt x="1438910" y="863600"/>
                    </a:lnTo>
                    <a:lnTo>
                      <a:pt x="1438910" y="0"/>
                    </a:lnTo>
                    <a:close/>
                  </a:path>
                </a:pathLst>
              </a:custGeom>
              <a:solidFill>
                <a:srgbClr val="FFFFFF"/>
              </a:solidFill>
            </p:spPr>
            <p:txBody>
              <a:bodyPr wrap="square" lIns="0" tIns="0" rIns="0" bIns="0" rtlCol="0"/>
              <a:lstStyle/>
              <a:p>
                <a:endParaRPr/>
              </a:p>
            </p:txBody>
          </p:sp>
          <p:sp>
            <p:nvSpPr>
              <p:cNvPr id="9" name="object 9"/>
              <p:cNvSpPr/>
              <p:nvPr/>
            </p:nvSpPr>
            <p:spPr>
              <a:xfrm>
                <a:off x="4356100" y="1555750"/>
                <a:ext cx="1438910" cy="863600"/>
              </a:xfrm>
              <a:custGeom>
                <a:avLst/>
                <a:gdLst/>
                <a:ahLst/>
                <a:cxnLst/>
                <a:rect l="l" t="t" r="r" b="b"/>
                <a:pathLst>
                  <a:path w="1438910" h="863600">
                    <a:moveTo>
                      <a:pt x="720089" y="863600"/>
                    </a:moveTo>
                    <a:lnTo>
                      <a:pt x="0" y="863600"/>
                    </a:lnTo>
                    <a:lnTo>
                      <a:pt x="0" y="0"/>
                    </a:lnTo>
                    <a:lnTo>
                      <a:pt x="1438910" y="0"/>
                    </a:lnTo>
                    <a:lnTo>
                      <a:pt x="1438910" y="863600"/>
                    </a:lnTo>
                    <a:lnTo>
                      <a:pt x="720089" y="863600"/>
                    </a:lnTo>
                    <a:close/>
                  </a:path>
                </a:pathLst>
              </a:custGeom>
              <a:ln w="25518">
                <a:solidFill>
                  <a:srgbClr val="000000"/>
                </a:solidFill>
              </a:ln>
            </p:spPr>
            <p:txBody>
              <a:bodyPr wrap="square" lIns="0" tIns="0" rIns="0" bIns="0" rtlCol="0"/>
              <a:lstStyle/>
              <a:p>
                <a:endParaRPr/>
              </a:p>
            </p:txBody>
          </p:sp>
          <p:sp>
            <p:nvSpPr>
              <p:cNvPr id="10" name="object 10"/>
              <p:cNvSpPr/>
              <p:nvPr/>
            </p:nvSpPr>
            <p:spPr>
              <a:xfrm>
                <a:off x="4356100" y="1557020"/>
                <a:ext cx="1440180" cy="863600"/>
              </a:xfrm>
              <a:custGeom>
                <a:avLst/>
                <a:gdLst/>
                <a:ahLst/>
                <a:cxnLst/>
                <a:rect l="l" t="t" r="r" b="b"/>
                <a:pathLst>
                  <a:path w="1440179" h="863600">
                    <a:moveTo>
                      <a:pt x="0" y="215900"/>
                    </a:moveTo>
                    <a:lnTo>
                      <a:pt x="1440179" y="215900"/>
                    </a:lnTo>
                  </a:path>
                  <a:path w="1440179" h="863600">
                    <a:moveTo>
                      <a:pt x="0" y="431800"/>
                    </a:moveTo>
                    <a:lnTo>
                      <a:pt x="1440179" y="431800"/>
                    </a:lnTo>
                  </a:path>
                  <a:path w="1440179" h="863600">
                    <a:moveTo>
                      <a:pt x="0" y="647700"/>
                    </a:moveTo>
                    <a:lnTo>
                      <a:pt x="1440179" y="647700"/>
                    </a:lnTo>
                  </a:path>
                  <a:path w="1440179" h="863600">
                    <a:moveTo>
                      <a:pt x="359410" y="0"/>
                    </a:moveTo>
                    <a:lnTo>
                      <a:pt x="359410" y="863600"/>
                    </a:lnTo>
                  </a:path>
                  <a:path w="1440179" h="863600">
                    <a:moveTo>
                      <a:pt x="720089" y="0"/>
                    </a:moveTo>
                    <a:lnTo>
                      <a:pt x="720089" y="863600"/>
                    </a:lnTo>
                  </a:path>
                  <a:path w="1440179" h="863600">
                    <a:moveTo>
                      <a:pt x="1079500" y="0"/>
                    </a:moveTo>
                    <a:lnTo>
                      <a:pt x="1079500" y="863600"/>
                    </a:lnTo>
                  </a:path>
                </a:pathLst>
              </a:custGeom>
              <a:ln w="9344">
                <a:solidFill>
                  <a:srgbClr val="000000"/>
                </a:solidFill>
              </a:ln>
            </p:spPr>
            <p:txBody>
              <a:bodyPr wrap="square" lIns="0" tIns="0" rIns="0" bIns="0" rtlCol="0"/>
              <a:lstStyle/>
              <a:p>
                <a:endParaRPr/>
              </a:p>
            </p:txBody>
          </p:sp>
          <p:sp>
            <p:nvSpPr>
              <p:cNvPr id="11" name="object 11"/>
              <p:cNvSpPr/>
              <p:nvPr/>
            </p:nvSpPr>
            <p:spPr>
              <a:xfrm>
                <a:off x="4140200" y="1125219"/>
                <a:ext cx="1871980" cy="215900"/>
              </a:xfrm>
              <a:custGeom>
                <a:avLst/>
                <a:gdLst/>
                <a:ahLst/>
                <a:cxnLst/>
                <a:rect l="l" t="t" r="r" b="b"/>
                <a:pathLst>
                  <a:path w="1871979" h="215900">
                    <a:moveTo>
                      <a:pt x="786130" y="0"/>
                    </a:moveTo>
                    <a:lnTo>
                      <a:pt x="0" y="0"/>
                    </a:lnTo>
                    <a:lnTo>
                      <a:pt x="0" y="214630"/>
                    </a:lnTo>
                    <a:lnTo>
                      <a:pt x="786130" y="214630"/>
                    </a:lnTo>
                    <a:lnTo>
                      <a:pt x="786130" y="0"/>
                    </a:lnTo>
                    <a:close/>
                  </a:path>
                  <a:path w="1871979" h="215900">
                    <a:moveTo>
                      <a:pt x="1084580" y="214630"/>
                    </a:moveTo>
                    <a:lnTo>
                      <a:pt x="786130" y="214630"/>
                    </a:lnTo>
                    <a:lnTo>
                      <a:pt x="786130" y="215900"/>
                    </a:lnTo>
                    <a:lnTo>
                      <a:pt x="1084580" y="215900"/>
                    </a:lnTo>
                    <a:lnTo>
                      <a:pt x="1084580" y="214630"/>
                    </a:lnTo>
                    <a:close/>
                  </a:path>
                  <a:path w="1871979" h="215900">
                    <a:moveTo>
                      <a:pt x="1871980" y="0"/>
                    </a:moveTo>
                    <a:lnTo>
                      <a:pt x="1084580" y="0"/>
                    </a:lnTo>
                    <a:lnTo>
                      <a:pt x="1084580" y="214630"/>
                    </a:lnTo>
                    <a:lnTo>
                      <a:pt x="1871980" y="214630"/>
                    </a:lnTo>
                    <a:lnTo>
                      <a:pt x="1871980" y="0"/>
                    </a:lnTo>
                    <a:close/>
                  </a:path>
                </a:pathLst>
              </a:custGeom>
              <a:solidFill>
                <a:srgbClr val="000000"/>
              </a:solidFill>
            </p:spPr>
            <p:txBody>
              <a:bodyPr wrap="square" lIns="0" tIns="0" rIns="0" bIns="0" rtlCol="0"/>
              <a:lstStyle/>
              <a:p>
                <a:endParaRPr/>
              </a:p>
            </p:txBody>
          </p:sp>
          <p:sp>
            <p:nvSpPr>
              <p:cNvPr id="12" name="object 12"/>
              <p:cNvSpPr/>
              <p:nvPr/>
            </p:nvSpPr>
            <p:spPr>
              <a:xfrm>
                <a:off x="492633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3" name="object 13"/>
              <p:cNvSpPr/>
              <p:nvPr/>
            </p:nvSpPr>
            <p:spPr>
              <a:xfrm>
                <a:off x="493014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4" name="object 14"/>
              <p:cNvSpPr/>
              <p:nvPr/>
            </p:nvSpPr>
            <p:spPr>
              <a:xfrm>
                <a:off x="4933950" y="1125220"/>
                <a:ext cx="284480" cy="215900"/>
              </a:xfrm>
              <a:custGeom>
                <a:avLst/>
                <a:gdLst/>
                <a:ahLst/>
                <a:cxnLst/>
                <a:rect l="l" t="t" r="r" b="b"/>
                <a:pathLst>
                  <a:path w="284479" h="215900">
                    <a:moveTo>
                      <a:pt x="3321" y="0"/>
                    </a:moveTo>
                    <a:lnTo>
                      <a:pt x="0" y="0"/>
                    </a:lnTo>
                    <a:lnTo>
                      <a:pt x="0" y="215900"/>
                    </a:lnTo>
                    <a:lnTo>
                      <a:pt x="3345" y="215900"/>
                    </a:lnTo>
                    <a:lnTo>
                      <a:pt x="2539" y="173989"/>
                    </a:lnTo>
                    <a:lnTo>
                      <a:pt x="2539" y="40639"/>
                    </a:lnTo>
                    <a:lnTo>
                      <a:pt x="3321" y="0"/>
                    </a:lnTo>
                    <a:close/>
                  </a:path>
                  <a:path w="284479" h="215900">
                    <a:moveTo>
                      <a:pt x="283210" y="0"/>
                    </a:moveTo>
                    <a:lnTo>
                      <a:pt x="279888" y="0"/>
                    </a:lnTo>
                    <a:lnTo>
                      <a:pt x="280670" y="40639"/>
                    </a:lnTo>
                    <a:lnTo>
                      <a:pt x="280670" y="173989"/>
                    </a:lnTo>
                    <a:lnTo>
                      <a:pt x="279864" y="215900"/>
                    </a:lnTo>
                    <a:lnTo>
                      <a:pt x="283210" y="215900"/>
                    </a:lnTo>
                    <a:lnTo>
                      <a:pt x="283210" y="173989"/>
                    </a:lnTo>
                    <a:lnTo>
                      <a:pt x="284479" y="107950"/>
                    </a:lnTo>
                    <a:lnTo>
                      <a:pt x="283210" y="40639"/>
                    </a:lnTo>
                    <a:lnTo>
                      <a:pt x="283210" y="0"/>
                    </a:lnTo>
                    <a:close/>
                  </a:path>
                </a:pathLst>
              </a:custGeom>
              <a:solidFill>
                <a:srgbClr val="050505"/>
              </a:solidFill>
            </p:spPr>
            <p:txBody>
              <a:bodyPr wrap="square" lIns="0" tIns="0" rIns="0" bIns="0" rtlCol="0"/>
              <a:lstStyle/>
              <a:p>
                <a:endParaRPr/>
              </a:p>
            </p:txBody>
          </p:sp>
          <p:sp>
            <p:nvSpPr>
              <p:cNvPr id="15" name="object 15"/>
              <p:cNvSpPr/>
              <p:nvPr/>
            </p:nvSpPr>
            <p:spPr>
              <a:xfrm>
                <a:off x="493649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16" name="object 16"/>
              <p:cNvSpPr/>
              <p:nvPr/>
            </p:nvSpPr>
            <p:spPr>
              <a:xfrm>
                <a:off x="494030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7" name="object 17"/>
              <p:cNvSpPr/>
              <p:nvPr/>
            </p:nvSpPr>
            <p:spPr>
              <a:xfrm>
                <a:off x="494411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18" name="object 18"/>
              <p:cNvSpPr/>
              <p:nvPr/>
            </p:nvSpPr>
            <p:spPr>
              <a:xfrm>
                <a:off x="494792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70"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9" name="object 19"/>
              <p:cNvSpPr/>
              <p:nvPr/>
            </p:nvSpPr>
            <p:spPr>
              <a:xfrm>
                <a:off x="495173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20" name="object 20"/>
              <p:cNvSpPr/>
              <p:nvPr/>
            </p:nvSpPr>
            <p:spPr>
              <a:xfrm>
                <a:off x="495554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21" name="object 21"/>
              <p:cNvSpPr/>
              <p:nvPr/>
            </p:nvSpPr>
            <p:spPr>
              <a:xfrm>
                <a:off x="495935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22" name="object 22"/>
              <p:cNvSpPr/>
              <p:nvPr/>
            </p:nvSpPr>
            <p:spPr>
              <a:xfrm>
                <a:off x="496316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23" name="object 23"/>
              <p:cNvSpPr/>
              <p:nvPr/>
            </p:nvSpPr>
            <p:spPr>
              <a:xfrm>
                <a:off x="496570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24" name="object 24"/>
              <p:cNvSpPr/>
              <p:nvPr/>
            </p:nvSpPr>
            <p:spPr>
              <a:xfrm>
                <a:off x="496951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25" name="object 25"/>
              <p:cNvSpPr/>
              <p:nvPr/>
            </p:nvSpPr>
            <p:spPr>
              <a:xfrm>
                <a:off x="497332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26" name="object 26"/>
              <p:cNvSpPr/>
              <p:nvPr/>
            </p:nvSpPr>
            <p:spPr>
              <a:xfrm>
                <a:off x="497713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27" name="object 27"/>
              <p:cNvSpPr/>
              <p:nvPr/>
            </p:nvSpPr>
            <p:spPr>
              <a:xfrm>
                <a:off x="498094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28" name="object 28"/>
              <p:cNvSpPr/>
              <p:nvPr/>
            </p:nvSpPr>
            <p:spPr>
              <a:xfrm>
                <a:off x="498475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29" name="object 29"/>
              <p:cNvSpPr/>
              <p:nvPr/>
            </p:nvSpPr>
            <p:spPr>
              <a:xfrm>
                <a:off x="4988560" y="1125219"/>
                <a:ext cx="173990" cy="215900"/>
              </a:xfrm>
              <a:custGeom>
                <a:avLst/>
                <a:gdLst/>
                <a:ahLst/>
                <a:cxnLst/>
                <a:rect l="l" t="t" r="r" b="b"/>
                <a:pathLst>
                  <a:path w="173989" h="215900">
                    <a:moveTo>
                      <a:pt x="3810" y="0"/>
                    </a:moveTo>
                    <a:lnTo>
                      <a:pt x="0" y="0"/>
                    </a:lnTo>
                    <a:lnTo>
                      <a:pt x="0" y="215900"/>
                    </a:lnTo>
                    <a:lnTo>
                      <a:pt x="3810" y="215900"/>
                    </a:lnTo>
                    <a:lnTo>
                      <a:pt x="3810" y="0"/>
                    </a:lnTo>
                    <a:close/>
                  </a:path>
                  <a:path w="173989"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30" name="object 30"/>
              <p:cNvSpPr/>
              <p:nvPr/>
            </p:nvSpPr>
            <p:spPr>
              <a:xfrm>
                <a:off x="499237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372" y="0"/>
                    </a:lnTo>
                    <a:lnTo>
                      <a:pt x="163372" y="43180"/>
                    </a:lnTo>
                    <a:lnTo>
                      <a:pt x="163804" y="43180"/>
                    </a:lnTo>
                    <a:lnTo>
                      <a:pt x="163804" y="171450"/>
                    </a:lnTo>
                    <a:lnTo>
                      <a:pt x="163360" y="171450"/>
                    </a:lnTo>
                    <a:lnTo>
                      <a:pt x="16336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31" name="object 31"/>
              <p:cNvSpPr/>
              <p:nvPr/>
            </p:nvSpPr>
            <p:spPr>
              <a:xfrm>
                <a:off x="4994910" y="1125219"/>
                <a:ext cx="161290" cy="215900"/>
              </a:xfrm>
              <a:custGeom>
                <a:avLst/>
                <a:gdLst/>
                <a:ahLst/>
                <a:cxnLst/>
                <a:rect l="l" t="t" r="r" b="b"/>
                <a:pathLst>
                  <a:path w="16128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89"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32" name="object 32"/>
              <p:cNvSpPr/>
              <p:nvPr/>
            </p:nvSpPr>
            <p:spPr>
              <a:xfrm>
                <a:off x="499872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33" name="object 33"/>
              <p:cNvSpPr/>
              <p:nvPr/>
            </p:nvSpPr>
            <p:spPr>
              <a:xfrm>
                <a:off x="500253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34" name="object 34"/>
              <p:cNvSpPr/>
              <p:nvPr/>
            </p:nvSpPr>
            <p:spPr>
              <a:xfrm>
                <a:off x="500634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35" name="object 35"/>
              <p:cNvSpPr/>
              <p:nvPr/>
            </p:nvSpPr>
            <p:spPr>
              <a:xfrm>
                <a:off x="501015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36" name="object 36"/>
              <p:cNvSpPr/>
              <p:nvPr/>
            </p:nvSpPr>
            <p:spPr>
              <a:xfrm>
                <a:off x="501396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37" name="object 37"/>
              <p:cNvSpPr/>
              <p:nvPr/>
            </p:nvSpPr>
            <p:spPr>
              <a:xfrm>
                <a:off x="501777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38" name="object 38"/>
              <p:cNvSpPr/>
              <p:nvPr/>
            </p:nvSpPr>
            <p:spPr>
              <a:xfrm>
                <a:off x="5020310" y="1125219"/>
                <a:ext cx="110489" cy="215900"/>
              </a:xfrm>
              <a:custGeom>
                <a:avLst/>
                <a:gdLst/>
                <a:ahLst/>
                <a:cxnLst/>
                <a:rect l="l" t="t" r="r" b="b"/>
                <a:pathLst>
                  <a:path w="110489"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89" h="215900">
                    <a:moveTo>
                      <a:pt x="110490" y="45720"/>
                    </a:moveTo>
                    <a:lnTo>
                      <a:pt x="110020" y="45720"/>
                    </a:lnTo>
                    <a:lnTo>
                      <a:pt x="110020" y="0"/>
                    </a:lnTo>
                    <a:lnTo>
                      <a:pt x="106680" y="0"/>
                    </a:lnTo>
                    <a:lnTo>
                      <a:pt x="106680" y="45720"/>
                    </a:lnTo>
                    <a:lnTo>
                      <a:pt x="106680" y="168910"/>
                    </a:lnTo>
                    <a:lnTo>
                      <a:pt x="106680"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39" name="object 39"/>
              <p:cNvSpPr/>
              <p:nvPr/>
            </p:nvSpPr>
            <p:spPr>
              <a:xfrm>
                <a:off x="502412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40" name="object 40"/>
              <p:cNvSpPr/>
              <p:nvPr/>
            </p:nvSpPr>
            <p:spPr>
              <a:xfrm>
                <a:off x="502793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41" name="object 41"/>
              <p:cNvSpPr/>
              <p:nvPr/>
            </p:nvSpPr>
            <p:spPr>
              <a:xfrm>
                <a:off x="503174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42" name="object 42"/>
              <p:cNvSpPr/>
              <p:nvPr/>
            </p:nvSpPr>
            <p:spPr>
              <a:xfrm>
                <a:off x="503555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43" name="object 43"/>
              <p:cNvSpPr/>
              <p:nvPr/>
            </p:nvSpPr>
            <p:spPr>
              <a:xfrm>
                <a:off x="503936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44" name="object 44"/>
              <p:cNvSpPr/>
              <p:nvPr/>
            </p:nvSpPr>
            <p:spPr>
              <a:xfrm>
                <a:off x="504317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45" name="object 45"/>
              <p:cNvSpPr/>
              <p:nvPr/>
            </p:nvSpPr>
            <p:spPr>
              <a:xfrm>
                <a:off x="5046980" y="1125219"/>
                <a:ext cx="58419" cy="215900"/>
              </a:xfrm>
              <a:custGeom>
                <a:avLst/>
                <a:gdLst/>
                <a:ahLst/>
                <a:cxnLst/>
                <a:rect l="l" t="t" r="r" b="b"/>
                <a:pathLst>
                  <a:path w="58420" h="215900">
                    <a:moveTo>
                      <a:pt x="2540" y="0"/>
                    </a:moveTo>
                    <a:lnTo>
                      <a:pt x="0" y="0"/>
                    </a:lnTo>
                    <a:lnTo>
                      <a:pt x="0" y="215900"/>
                    </a:lnTo>
                    <a:lnTo>
                      <a:pt x="2540" y="215900"/>
                    </a:lnTo>
                    <a:lnTo>
                      <a:pt x="2540" y="0"/>
                    </a:lnTo>
                    <a:close/>
                  </a:path>
                  <a:path w="58420"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46" name="object 46"/>
              <p:cNvSpPr/>
              <p:nvPr/>
            </p:nvSpPr>
            <p:spPr>
              <a:xfrm>
                <a:off x="504952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47" name="object 47"/>
              <p:cNvSpPr/>
              <p:nvPr/>
            </p:nvSpPr>
            <p:spPr>
              <a:xfrm>
                <a:off x="505333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48" name="object 48"/>
              <p:cNvSpPr/>
              <p:nvPr/>
            </p:nvSpPr>
            <p:spPr>
              <a:xfrm>
                <a:off x="505714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49" name="object 49"/>
              <p:cNvSpPr/>
              <p:nvPr/>
            </p:nvSpPr>
            <p:spPr>
              <a:xfrm>
                <a:off x="506095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50" name="object 50"/>
              <p:cNvSpPr/>
              <p:nvPr/>
            </p:nvSpPr>
            <p:spPr>
              <a:xfrm>
                <a:off x="506476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51" name="object 51"/>
              <p:cNvSpPr/>
              <p:nvPr/>
            </p:nvSpPr>
            <p:spPr>
              <a:xfrm>
                <a:off x="506857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52" name="object 52"/>
              <p:cNvSpPr/>
              <p:nvPr/>
            </p:nvSpPr>
            <p:spPr>
              <a:xfrm>
                <a:off x="5072380"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53" name="object 53"/>
            <p:cNvGrpSpPr/>
            <p:nvPr/>
          </p:nvGrpSpPr>
          <p:grpSpPr>
            <a:xfrm>
              <a:off x="8315900" y="1111191"/>
              <a:ext cx="1898014" cy="1538605"/>
              <a:chOff x="6791900" y="1111190"/>
              <a:chExt cx="1898014" cy="1538605"/>
            </a:xfrm>
          </p:grpSpPr>
          <p:sp>
            <p:nvSpPr>
              <p:cNvPr id="54" name="object 54"/>
              <p:cNvSpPr/>
              <p:nvPr/>
            </p:nvSpPr>
            <p:spPr>
              <a:xfrm>
                <a:off x="6804659"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55" name="object 55"/>
              <p:cNvSpPr/>
              <p:nvPr/>
            </p:nvSpPr>
            <p:spPr>
              <a:xfrm>
                <a:off x="6804659"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56" name="object 56"/>
              <p:cNvSpPr/>
              <p:nvPr/>
            </p:nvSpPr>
            <p:spPr>
              <a:xfrm>
                <a:off x="6803390" y="1125219"/>
                <a:ext cx="1871980" cy="215900"/>
              </a:xfrm>
              <a:custGeom>
                <a:avLst/>
                <a:gdLst/>
                <a:ahLst/>
                <a:cxnLst/>
                <a:rect l="l" t="t" r="r" b="b"/>
                <a:pathLst>
                  <a:path w="1871979" h="215900">
                    <a:moveTo>
                      <a:pt x="787400" y="0"/>
                    </a:moveTo>
                    <a:lnTo>
                      <a:pt x="0" y="0"/>
                    </a:lnTo>
                    <a:lnTo>
                      <a:pt x="0" y="214630"/>
                    </a:lnTo>
                    <a:lnTo>
                      <a:pt x="787400" y="214630"/>
                    </a:lnTo>
                    <a:lnTo>
                      <a:pt x="787400" y="0"/>
                    </a:lnTo>
                    <a:close/>
                  </a:path>
                  <a:path w="1871979" h="215900">
                    <a:moveTo>
                      <a:pt x="1085850" y="214630"/>
                    </a:moveTo>
                    <a:lnTo>
                      <a:pt x="787400" y="214630"/>
                    </a:lnTo>
                    <a:lnTo>
                      <a:pt x="787400" y="215900"/>
                    </a:lnTo>
                    <a:lnTo>
                      <a:pt x="1085850" y="215900"/>
                    </a:lnTo>
                    <a:lnTo>
                      <a:pt x="1085850" y="214630"/>
                    </a:lnTo>
                    <a:close/>
                  </a:path>
                  <a:path w="1871979" h="215900">
                    <a:moveTo>
                      <a:pt x="1871980" y="0"/>
                    </a:moveTo>
                    <a:lnTo>
                      <a:pt x="1085850" y="0"/>
                    </a:lnTo>
                    <a:lnTo>
                      <a:pt x="1085850" y="214630"/>
                    </a:lnTo>
                    <a:lnTo>
                      <a:pt x="1871980" y="214630"/>
                    </a:lnTo>
                    <a:lnTo>
                      <a:pt x="1871980" y="0"/>
                    </a:lnTo>
                    <a:close/>
                  </a:path>
                </a:pathLst>
              </a:custGeom>
              <a:solidFill>
                <a:srgbClr val="000000"/>
              </a:solidFill>
            </p:spPr>
            <p:txBody>
              <a:bodyPr wrap="square" lIns="0" tIns="0" rIns="0" bIns="0" rtlCol="0"/>
              <a:lstStyle/>
              <a:p>
                <a:endParaRPr/>
              </a:p>
            </p:txBody>
          </p:sp>
          <p:sp>
            <p:nvSpPr>
              <p:cNvPr id="57" name="object 57"/>
              <p:cNvSpPr/>
              <p:nvPr/>
            </p:nvSpPr>
            <p:spPr>
              <a:xfrm>
                <a:off x="7590790" y="1125219"/>
                <a:ext cx="298450" cy="215900"/>
              </a:xfrm>
              <a:custGeom>
                <a:avLst/>
                <a:gdLst/>
                <a:ahLst/>
                <a:cxnLst/>
                <a:rect l="l" t="t" r="r" b="b"/>
                <a:pathLst>
                  <a:path w="298450" h="215900">
                    <a:moveTo>
                      <a:pt x="3810" y="0"/>
                    </a:moveTo>
                    <a:lnTo>
                      <a:pt x="0" y="0"/>
                    </a:lnTo>
                    <a:lnTo>
                      <a:pt x="0" y="215900"/>
                    </a:lnTo>
                    <a:lnTo>
                      <a:pt x="3810" y="21590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58" name="object 58"/>
              <p:cNvSpPr/>
              <p:nvPr/>
            </p:nvSpPr>
            <p:spPr>
              <a:xfrm>
                <a:off x="7594600" y="1125219"/>
                <a:ext cx="290830" cy="215900"/>
              </a:xfrm>
              <a:custGeom>
                <a:avLst/>
                <a:gdLst/>
                <a:ahLst/>
                <a:cxnLst/>
                <a:rect l="l" t="t" r="r" b="b"/>
                <a:pathLst>
                  <a:path w="290829" h="215900">
                    <a:moveTo>
                      <a:pt x="3810" y="0"/>
                    </a:moveTo>
                    <a:lnTo>
                      <a:pt x="0" y="0"/>
                    </a:lnTo>
                    <a:lnTo>
                      <a:pt x="0" y="215900"/>
                    </a:lnTo>
                    <a:lnTo>
                      <a:pt x="3810" y="215900"/>
                    </a:lnTo>
                    <a:lnTo>
                      <a:pt x="3810" y="0"/>
                    </a:lnTo>
                    <a:close/>
                  </a:path>
                  <a:path w="290829" h="215900">
                    <a:moveTo>
                      <a:pt x="290830" y="0"/>
                    </a:moveTo>
                    <a:lnTo>
                      <a:pt x="287020" y="0"/>
                    </a:lnTo>
                    <a:lnTo>
                      <a:pt x="287020" y="215900"/>
                    </a:lnTo>
                    <a:lnTo>
                      <a:pt x="290830" y="215900"/>
                    </a:lnTo>
                    <a:lnTo>
                      <a:pt x="290830" y="0"/>
                    </a:lnTo>
                    <a:close/>
                  </a:path>
                </a:pathLst>
              </a:custGeom>
              <a:solidFill>
                <a:srgbClr val="030303"/>
              </a:solidFill>
            </p:spPr>
            <p:txBody>
              <a:bodyPr wrap="square" lIns="0" tIns="0" rIns="0" bIns="0" rtlCol="0"/>
              <a:lstStyle/>
              <a:p>
                <a:endParaRPr/>
              </a:p>
            </p:txBody>
          </p:sp>
          <p:sp>
            <p:nvSpPr>
              <p:cNvPr id="59" name="object 59"/>
              <p:cNvSpPr/>
              <p:nvPr/>
            </p:nvSpPr>
            <p:spPr>
              <a:xfrm>
                <a:off x="7598410" y="1125219"/>
                <a:ext cx="283210" cy="215900"/>
              </a:xfrm>
              <a:custGeom>
                <a:avLst/>
                <a:gdLst/>
                <a:ahLst/>
                <a:cxnLst/>
                <a:rect l="l" t="t" r="r" b="b"/>
                <a:pathLst>
                  <a:path w="283209" h="215900">
                    <a:moveTo>
                      <a:pt x="2933" y="173990"/>
                    </a:moveTo>
                    <a:lnTo>
                      <a:pt x="2540" y="173990"/>
                    </a:lnTo>
                    <a:lnTo>
                      <a:pt x="2540" y="40640"/>
                    </a:lnTo>
                    <a:lnTo>
                      <a:pt x="2921" y="40640"/>
                    </a:lnTo>
                    <a:lnTo>
                      <a:pt x="2921" y="0"/>
                    </a:lnTo>
                    <a:lnTo>
                      <a:pt x="0" y="0"/>
                    </a:lnTo>
                    <a:lnTo>
                      <a:pt x="0" y="40640"/>
                    </a:lnTo>
                    <a:lnTo>
                      <a:pt x="0" y="173990"/>
                    </a:lnTo>
                    <a:lnTo>
                      <a:pt x="0" y="215900"/>
                    </a:lnTo>
                    <a:lnTo>
                      <a:pt x="2933" y="215900"/>
                    </a:lnTo>
                    <a:lnTo>
                      <a:pt x="2933" y="173990"/>
                    </a:lnTo>
                    <a:close/>
                  </a:path>
                  <a:path w="283209" h="215900">
                    <a:moveTo>
                      <a:pt x="283210" y="0"/>
                    </a:moveTo>
                    <a:lnTo>
                      <a:pt x="280276" y="0"/>
                    </a:lnTo>
                    <a:lnTo>
                      <a:pt x="280276" y="40640"/>
                    </a:lnTo>
                    <a:lnTo>
                      <a:pt x="280670" y="40640"/>
                    </a:lnTo>
                    <a:lnTo>
                      <a:pt x="280670" y="173990"/>
                    </a:lnTo>
                    <a:lnTo>
                      <a:pt x="280263" y="173990"/>
                    </a:lnTo>
                    <a:lnTo>
                      <a:pt x="280263" y="215900"/>
                    </a:lnTo>
                    <a:lnTo>
                      <a:pt x="283210" y="215900"/>
                    </a:lnTo>
                    <a:lnTo>
                      <a:pt x="283210" y="173990"/>
                    </a:lnTo>
                    <a:lnTo>
                      <a:pt x="283210" y="40640"/>
                    </a:lnTo>
                    <a:lnTo>
                      <a:pt x="283210" y="0"/>
                    </a:lnTo>
                    <a:close/>
                  </a:path>
                </a:pathLst>
              </a:custGeom>
              <a:solidFill>
                <a:srgbClr val="050505"/>
              </a:solidFill>
            </p:spPr>
            <p:txBody>
              <a:bodyPr wrap="square" lIns="0" tIns="0" rIns="0" bIns="0" rtlCol="0"/>
              <a:lstStyle/>
              <a:p>
                <a:endParaRPr/>
              </a:p>
            </p:txBody>
          </p:sp>
          <p:sp>
            <p:nvSpPr>
              <p:cNvPr id="60" name="object 60"/>
              <p:cNvSpPr/>
              <p:nvPr/>
            </p:nvSpPr>
            <p:spPr>
              <a:xfrm>
                <a:off x="7600950" y="1125219"/>
                <a:ext cx="278130" cy="215900"/>
              </a:xfrm>
              <a:custGeom>
                <a:avLst/>
                <a:gdLst/>
                <a:ahLst/>
                <a:cxnLst/>
                <a:rect l="l" t="t" r="r" b="b"/>
                <a:pathLst>
                  <a:path w="278129" h="215900">
                    <a:moveTo>
                      <a:pt x="4203" y="0"/>
                    </a:moveTo>
                    <a:lnTo>
                      <a:pt x="381" y="0"/>
                    </a:lnTo>
                    <a:lnTo>
                      <a:pt x="381" y="40640"/>
                    </a:lnTo>
                    <a:lnTo>
                      <a:pt x="0" y="40640"/>
                    </a:lnTo>
                    <a:lnTo>
                      <a:pt x="0" y="173990"/>
                    </a:lnTo>
                    <a:lnTo>
                      <a:pt x="393" y="173990"/>
                    </a:lnTo>
                    <a:lnTo>
                      <a:pt x="393" y="215900"/>
                    </a:lnTo>
                    <a:lnTo>
                      <a:pt x="4203" y="215900"/>
                    </a:lnTo>
                    <a:lnTo>
                      <a:pt x="4203" y="173990"/>
                    </a:lnTo>
                    <a:lnTo>
                      <a:pt x="3810" y="173990"/>
                    </a:lnTo>
                    <a:lnTo>
                      <a:pt x="3810" y="40640"/>
                    </a:lnTo>
                    <a:lnTo>
                      <a:pt x="4203" y="40640"/>
                    </a:lnTo>
                    <a:lnTo>
                      <a:pt x="4203" y="0"/>
                    </a:lnTo>
                    <a:close/>
                  </a:path>
                  <a:path w="278129" h="215900">
                    <a:moveTo>
                      <a:pt x="278130" y="40640"/>
                    </a:moveTo>
                    <a:lnTo>
                      <a:pt x="277736" y="40640"/>
                    </a:lnTo>
                    <a:lnTo>
                      <a:pt x="277736" y="0"/>
                    </a:lnTo>
                    <a:lnTo>
                      <a:pt x="273913" y="0"/>
                    </a:lnTo>
                    <a:lnTo>
                      <a:pt x="273913" y="40640"/>
                    </a:lnTo>
                    <a:lnTo>
                      <a:pt x="274320" y="40640"/>
                    </a:lnTo>
                    <a:lnTo>
                      <a:pt x="274320" y="173990"/>
                    </a:lnTo>
                    <a:lnTo>
                      <a:pt x="273913" y="173990"/>
                    </a:lnTo>
                    <a:lnTo>
                      <a:pt x="273913" y="215900"/>
                    </a:lnTo>
                    <a:lnTo>
                      <a:pt x="277723" y="215900"/>
                    </a:lnTo>
                    <a:lnTo>
                      <a:pt x="277723" y="173990"/>
                    </a:lnTo>
                    <a:lnTo>
                      <a:pt x="278130" y="173990"/>
                    </a:lnTo>
                    <a:lnTo>
                      <a:pt x="278130" y="40640"/>
                    </a:lnTo>
                    <a:close/>
                  </a:path>
                </a:pathLst>
              </a:custGeom>
              <a:solidFill>
                <a:srgbClr val="070707"/>
              </a:solidFill>
            </p:spPr>
            <p:txBody>
              <a:bodyPr wrap="square" lIns="0" tIns="0" rIns="0" bIns="0" rtlCol="0"/>
              <a:lstStyle/>
              <a:p>
                <a:endParaRPr/>
              </a:p>
            </p:txBody>
          </p:sp>
          <p:sp>
            <p:nvSpPr>
              <p:cNvPr id="61" name="object 61"/>
              <p:cNvSpPr/>
              <p:nvPr/>
            </p:nvSpPr>
            <p:spPr>
              <a:xfrm>
                <a:off x="7604760" y="1125219"/>
                <a:ext cx="270510" cy="215900"/>
              </a:xfrm>
              <a:custGeom>
                <a:avLst/>
                <a:gdLst/>
                <a:ahLst/>
                <a:cxnLst/>
                <a:rect l="l" t="t" r="r" b="b"/>
                <a:pathLst>
                  <a:path w="270509"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09" h="215900">
                    <a:moveTo>
                      <a:pt x="270510" y="40640"/>
                    </a:moveTo>
                    <a:lnTo>
                      <a:pt x="270103" y="40640"/>
                    </a:lnTo>
                    <a:lnTo>
                      <a:pt x="270103" y="0"/>
                    </a:lnTo>
                    <a:lnTo>
                      <a:pt x="266280" y="0"/>
                    </a:lnTo>
                    <a:lnTo>
                      <a:pt x="266280" y="40640"/>
                    </a:lnTo>
                    <a:lnTo>
                      <a:pt x="266674" y="40640"/>
                    </a:lnTo>
                    <a:lnTo>
                      <a:pt x="266674" y="173990"/>
                    </a:lnTo>
                    <a:lnTo>
                      <a:pt x="266268" y="173990"/>
                    </a:lnTo>
                    <a:lnTo>
                      <a:pt x="266268"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62" name="object 62"/>
              <p:cNvSpPr/>
              <p:nvPr/>
            </p:nvSpPr>
            <p:spPr>
              <a:xfrm>
                <a:off x="7608570" y="1125219"/>
                <a:ext cx="262890" cy="215900"/>
              </a:xfrm>
              <a:custGeom>
                <a:avLst/>
                <a:gdLst/>
                <a:ahLst/>
                <a:cxnLst/>
                <a:rect l="l" t="t" r="r" b="b"/>
                <a:pathLst>
                  <a:path w="26289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62890" h="215900">
                    <a:moveTo>
                      <a:pt x="262890" y="41910"/>
                    </a:moveTo>
                    <a:lnTo>
                      <a:pt x="262483" y="41910"/>
                    </a:lnTo>
                    <a:lnTo>
                      <a:pt x="262483" y="0"/>
                    </a:lnTo>
                    <a:lnTo>
                      <a:pt x="259080" y="0"/>
                    </a:lnTo>
                    <a:lnTo>
                      <a:pt x="259080" y="41910"/>
                    </a:lnTo>
                    <a:lnTo>
                      <a:pt x="259080" y="172720"/>
                    </a:lnTo>
                    <a:lnTo>
                      <a:pt x="259080" y="215900"/>
                    </a:lnTo>
                    <a:lnTo>
                      <a:pt x="262470" y="215900"/>
                    </a:lnTo>
                    <a:lnTo>
                      <a:pt x="262470" y="172720"/>
                    </a:lnTo>
                    <a:lnTo>
                      <a:pt x="262890" y="172720"/>
                    </a:lnTo>
                    <a:lnTo>
                      <a:pt x="262890" y="41910"/>
                    </a:lnTo>
                    <a:close/>
                  </a:path>
                </a:pathLst>
              </a:custGeom>
              <a:solidFill>
                <a:srgbClr val="0B0B0B"/>
              </a:solidFill>
            </p:spPr>
            <p:txBody>
              <a:bodyPr wrap="square" lIns="0" tIns="0" rIns="0" bIns="0" rtlCol="0"/>
              <a:lstStyle/>
              <a:p>
                <a:endParaRPr/>
              </a:p>
            </p:txBody>
          </p:sp>
          <p:sp>
            <p:nvSpPr>
              <p:cNvPr id="63" name="object 63"/>
              <p:cNvSpPr/>
              <p:nvPr/>
            </p:nvSpPr>
            <p:spPr>
              <a:xfrm>
                <a:off x="7612380" y="1125219"/>
                <a:ext cx="255270" cy="215900"/>
              </a:xfrm>
              <a:custGeom>
                <a:avLst/>
                <a:gdLst/>
                <a:ahLst/>
                <a:cxnLst/>
                <a:rect l="l" t="t" r="r" b="b"/>
                <a:pathLst>
                  <a:path w="255270" h="215900">
                    <a:moveTo>
                      <a:pt x="4216" y="172720"/>
                    </a:moveTo>
                    <a:lnTo>
                      <a:pt x="3810" y="172720"/>
                    </a:lnTo>
                    <a:lnTo>
                      <a:pt x="3810" y="41910"/>
                    </a:lnTo>
                    <a:lnTo>
                      <a:pt x="4203" y="41910"/>
                    </a:lnTo>
                    <a:lnTo>
                      <a:pt x="4203" y="0"/>
                    </a:lnTo>
                    <a:lnTo>
                      <a:pt x="0" y="0"/>
                    </a:lnTo>
                    <a:lnTo>
                      <a:pt x="0" y="41910"/>
                    </a:lnTo>
                    <a:lnTo>
                      <a:pt x="0" y="172720"/>
                    </a:lnTo>
                    <a:lnTo>
                      <a:pt x="0" y="215900"/>
                    </a:lnTo>
                    <a:lnTo>
                      <a:pt x="4216" y="215900"/>
                    </a:lnTo>
                    <a:lnTo>
                      <a:pt x="4216" y="172720"/>
                    </a:lnTo>
                    <a:close/>
                  </a:path>
                  <a:path w="255270" h="215900">
                    <a:moveTo>
                      <a:pt x="255270" y="0"/>
                    </a:moveTo>
                    <a:lnTo>
                      <a:pt x="251053" y="0"/>
                    </a:lnTo>
                    <a:lnTo>
                      <a:pt x="251053" y="41910"/>
                    </a:lnTo>
                    <a:lnTo>
                      <a:pt x="251460" y="41910"/>
                    </a:lnTo>
                    <a:lnTo>
                      <a:pt x="251460" y="172720"/>
                    </a:lnTo>
                    <a:lnTo>
                      <a:pt x="251040" y="172720"/>
                    </a:lnTo>
                    <a:lnTo>
                      <a:pt x="251040" y="215900"/>
                    </a:lnTo>
                    <a:lnTo>
                      <a:pt x="255270" y="215900"/>
                    </a:lnTo>
                    <a:lnTo>
                      <a:pt x="255270" y="172720"/>
                    </a:lnTo>
                    <a:lnTo>
                      <a:pt x="255270" y="41910"/>
                    </a:lnTo>
                    <a:lnTo>
                      <a:pt x="255270" y="0"/>
                    </a:lnTo>
                    <a:close/>
                  </a:path>
                </a:pathLst>
              </a:custGeom>
              <a:solidFill>
                <a:srgbClr val="0D0D0D"/>
              </a:solidFill>
            </p:spPr>
            <p:txBody>
              <a:bodyPr wrap="square" lIns="0" tIns="0" rIns="0" bIns="0" rtlCol="0"/>
              <a:lstStyle/>
              <a:p>
                <a:endParaRPr/>
              </a:p>
            </p:txBody>
          </p:sp>
          <p:sp>
            <p:nvSpPr>
              <p:cNvPr id="64" name="object 64"/>
              <p:cNvSpPr/>
              <p:nvPr/>
            </p:nvSpPr>
            <p:spPr>
              <a:xfrm>
                <a:off x="7616190" y="1125219"/>
                <a:ext cx="247650" cy="215900"/>
              </a:xfrm>
              <a:custGeom>
                <a:avLst/>
                <a:gdLst/>
                <a:ahLst/>
                <a:cxnLst/>
                <a:rect l="l" t="t" r="r" b="b"/>
                <a:pathLst>
                  <a:path w="247650" h="215900">
                    <a:moveTo>
                      <a:pt x="3810" y="0"/>
                    </a:moveTo>
                    <a:lnTo>
                      <a:pt x="393" y="0"/>
                    </a:lnTo>
                    <a:lnTo>
                      <a:pt x="393" y="41910"/>
                    </a:lnTo>
                    <a:lnTo>
                      <a:pt x="0" y="41910"/>
                    </a:lnTo>
                    <a:lnTo>
                      <a:pt x="0" y="172720"/>
                    </a:lnTo>
                    <a:lnTo>
                      <a:pt x="406" y="172720"/>
                    </a:lnTo>
                    <a:lnTo>
                      <a:pt x="406" y="215900"/>
                    </a:lnTo>
                    <a:lnTo>
                      <a:pt x="3810" y="215900"/>
                    </a:lnTo>
                    <a:lnTo>
                      <a:pt x="3810" y="172720"/>
                    </a:lnTo>
                    <a:lnTo>
                      <a:pt x="3810" y="41910"/>
                    </a:lnTo>
                    <a:lnTo>
                      <a:pt x="3810" y="0"/>
                    </a:lnTo>
                    <a:close/>
                  </a:path>
                  <a:path w="247650" h="215900">
                    <a:moveTo>
                      <a:pt x="247650" y="41910"/>
                    </a:moveTo>
                    <a:lnTo>
                      <a:pt x="247243" y="41910"/>
                    </a:lnTo>
                    <a:lnTo>
                      <a:pt x="247243" y="0"/>
                    </a:lnTo>
                    <a:lnTo>
                      <a:pt x="243840" y="0"/>
                    </a:lnTo>
                    <a:lnTo>
                      <a:pt x="243840" y="41910"/>
                    </a:lnTo>
                    <a:lnTo>
                      <a:pt x="243840" y="172720"/>
                    </a:lnTo>
                    <a:lnTo>
                      <a:pt x="243840" y="215900"/>
                    </a:lnTo>
                    <a:lnTo>
                      <a:pt x="247230" y="215900"/>
                    </a:lnTo>
                    <a:lnTo>
                      <a:pt x="247230" y="172720"/>
                    </a:lnTo>
                    <a:lnTo>
                      <a:pt x="247650" y="172720"/>
                    </a:lnTo>
                    <a:lnTo>
                      <a:pt x="247650" y="41910"/>
                    </a:lnTo>
                    <a:close/>
                  </a:path>
                </a:pathLst>
              </a:custGeom>
              <a:solidFill>
                <a:srgbClr val="0F0F0F"/>
              </a:solidFill>
            </p:spPr>
            <p:txBody>
              <a:bodyPr wrap="square" lIns="0" tIns="0" rIns="0" bIns="0" rtlCol="0"/>
              <a:lstStyle/>
              <a:p>
                <a:endParaRPr/>
              </a:p>
            </p:txBody>
          </p:sp>
          <p:sp>
            <p:nvSpPr>
              <p:cNvPr id="65" name="object 65"/>
              <p:cNvSpPr/>
              <p:nvPr/>
            </p:nvSpPr>
            <p:spPr>
              <a:xfrm>
                <a:off x="7620000" y="1125219"/>
                <a:ext cx="240029" cy="215900"/>
              </a:xfrm>
              <a:custGeom>
                <a:avLst/>
                <a:gdLst/>
                <a:ahLst/>
                <a:cxnLst/>
                <a:rect l="l" t="t" r="r" b="b"/>
                <a:pathLst>
                  <a:path w="240029" h="215900">
                    <a:moveTo>
                      <a:pt x="3810" y="0"/>
                    </a:moveTo>
                    <a:lnTo>
                      <a:pt x="0" y="0"/>
                    </a:lnTo>
                    <a:lnTo>
                      <a:pt x="0" y="215900"/>
                    </a:lnTo>
                    <a:lnTo>
                      <a:pt x="3810" y="215900"/>
                    </a:lnTo>
                    <a:lnTo>
                      <a:pt x="3810" y="0"/>
                    </a:lnTo>
                    <a:close/>
                  </a:path>
                  <a:path w="240029"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66" name="object 66"/>
              <p:cNvSpPr/>
              <p:nvPr/>
            </p:nvSpPr>
            <p:spPr>
              <a:xfrm>
                <a:off x="7623810" y="1125219"/>
                <a:ext cx="232410" cy="215900"/>
              </a:xfrm>
              <a:custGeom>
                <a:avLst/>
                <a:gdLst/>
                <a:ahLst/>
                <a:cxnLst/>
                <a:rect l="l" t="t" r="r" b="b"/>
                <a:pathLst>
                  <a:path w="232409" h="215900">
                    <a:moveTo>
                      <a:pt x="2959" y="172720"/>
                    </a:moveTo>
                    <a:lnTo>
                      <a:pt x="2540" y="172720"/>
                    </a:lnTo>
                    <a:lnTo>
                      <a:pt x="2540" y="41910"/>
                    </a:lnTo>
                    <a:lnTo>
                      <a:pt x="2946" y="41910"/>
                    </a:lnTo>
                    <a:lnTo>
                      <a:pt x="2946" y="0"/>
                    </a:lnTo>
                    <a:lnTo>
                      <a:pt x="0" y="0"/>
                    </a:lnTo>
                    <a:lnTo>
                      <a:pt x="0" y="41910"/>
                    </a:lnTo>
                    <a:lnTo>
                      <a:pt x="0" y="172720"/>
                    </a:lnTo>
                    <a:lnTo>
                      <a:pt x="0" y="215900"/>
                    </a:lnTo>
                    <a:lnTo>
                      <a:pt x="2959" y="215900"/>
                    </a:lnTo>
                    <a:lnTo>
                      <a:pt x="2959" y="172720"/>
                    </a:lnTo>
                    <a:close/>
                  </a:path>
                  <a:path w="232409" h="215900">
                    <a:moveTo>
                      <a:pt x="232410" y="0"/>
                    </a:moveTo>
                    <a:lnTo>
                      <a:pt x="228600" y="0"/>
                    </a:lnTo>
                    <a:lnTo>
                      <a:pt x="228600" y="215900"/>
                    </a:lnTo>
                    <a:lnTo>
                      <a:pt x="232410" y="215900"/>
                    </a:lnTo>
                    <a:lnTo>
                      <a:pt x="232410" y="0"/>
                    </a:lnTo>
                    <a:close/>
                  </a:path>
                </a:pathLst>
              </a:custGeom>
              <a:solidFill>
                <a:srgbClr val="131313"/>
              </a:solidFill>
            </p:spPr>
            <p:txBody>
              <a:bodyPr wrap="square" lIns="0" tIns="0" rIns="0" bIns="0" rtlCol="0"/>
              <a:lstStyle/>
              <a:p>
                <a:endParaRPr/>
              </a:p>
            </p:txBody>
          </p:sp>
          <p:sp>
            <p:nvSpPr>
              <p:cNvPr id="67" name="object 67"/>
              <p:cNvSpPr/>
              <p:nvPr/>
            </p:nvSpPr>
            <p:spPr>
              <a:xfrm>
                <a:off x="7626350" y="1125219"/>
                <a:ext cx="226060" cy="215900"/>
              </a:xfrm>
              <a:custGeom>
                <a:avLst/>
                <a:gdLst/>
                <a:ahLst/>
                <a:cxnLst/>
                <a:rect l="l" t="t" r="r" b="b"/>
                <a:pathLst>
                  <a:path w="226059" h="215900">
                    <a:moveTo>
                      <a:pt x="4241" y="0"/>
                    </a:moveTo>
                    <a:lnTo>
                      <a:pt x="406" y="0"/>
                    </a:lnTo>
                    <a:lnTo>
                      <a:pt x="406" y="41910"/>
                    </a:lnTo>
                    <a:lnTo>
                      <a:pt x="0" y="41910"/>
                    </a:lnTo>
                    <a:lnTo>
                      <a:pt x="0" y="172720"/>
                    </a:lnTo>
                    <a:lnTo>
                      <a:pt x="419" y="172720"/>
                    </a:lnTo>
                    <a:lnTo>
                      <a:pt x="419" y="215900"/>
                    </a:lnTo>
                    <a:lnTo>
                      <a:pt x="4229" y="215900"/>
                    </a:lnTo>
                    <a:lnTo>
                      <a:pt x="4229" y="172720"/>
                    </a:lnTo>
                    <a:lnTo>
                      <a:pt x="3810" y="172720"/>
                    </a:lnTo>
                    <a:lnTo>
                      <a:pt x="3810" y="41910"/>
                    </a:lnTo>
                    <a:lnTo>
                      <a:pt x="4241" y="41910"/>
                    </a:lnTo>
                    <a:lnTo>
                      <a:pt x="4241" y="0"/>
                    </a:lnTo>
                    <a:close/>
                  </a:path>
                  <a:path w="226059" h="215900">
                    <a:moveTo>
                      <a:pt x="226060" y="0"/>
                    </a:moveTo>
                    <a:lnTo>
                      <a:pt x="223075" y="0"/>
                    </a:lnTo>
                    <a:lnTo>
                      <a:pt x="223075" y="41910"/>
                    </a:lnTo>
                    <a:lnTo>
                      <a:pt x="223507" y="41910"/>
                    </a:lnTo>
                    <a:lnTo>
                      <a:pt x="223507" y="172720"/>
                    </a:lnTo>
                    <a:lnTo>
                      <a:pt x="223088" y="172720"/>
                    </a:lnTo>
                    <a:lnTo>
                      <a:pt x="223088" y="215900"/>
                    </a:lnTo>
                    <a:lnTo>
                      <a:pt x="226060" y="215900"/>
                    </a:lnTo>
                    <a:lnTo>
                      <a:pt x="226060" y="172720"/>
                    </a:lnTo>
                    <a:lnTo>
                      <a:pt x="226060" y="41910"/>
                    </a:lnTo>
                    <a:lnTo>
                      <a:pt x="226060" y="0"/>
                    </a:lnTo>
                    <a:close/>
                  </a:path>
                </a:pathLst>
              </a:custGeom>
              <a:solidFill>
                <a:srgbClr val="151515"/>
              </a:solidFill>
            </p:spPr>
            <p:txBody>
              <a:bodyPr wrap="square" lIns="0" tIns="0" rIns="0" bIns="0" rtlCol="0"/>
              <a:lstStyle/>
              <a:p>
                <a:endParaRPr/>
              </a:p>
            </p:txBody>
          </p:sp>
          <p:sp>
            <p:nvSpPr>
              <p:cNvPr id="68" name="object 68"/>
              <p:cNvSpPr/>
              <p:nvPr/>
            </p:nvSpPr>
            <p:spPr>
              <a:xfrm>
                <a:off x="7630160" y="1125219"/>
                <a:ext cx="219710" cy="215900"/>
              </a:xfrm>
              <a:custGeom>
                <a:avLst/>
                <a:gdLst/>
                <a:ahLst/>
                <a:cxnLst/>
                <a:rect l="l" t="t" r="r" b="b"/>
                <a:pathLst>
                  <a:path w="219709"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09"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69" name="object 69"/>
              <p:cNvSpPr/>
              <p:nvPr/>
            </p:nvSpPr>
            <p:spPr>
              <a:xfrm>
                <a:off x="7633970" y="1125219"/>
                <a:ext cx="212090" cy="215900"/>
              </a:xfrm>
              <a:custGeom>
                <a:avLst/>
                <a:gdLst/>
                <a:ahLst/>
                <a:cxnLst/>
                <a:rect l="l" t="t" r="r" b="b"/>
                <a:pathLst>
                  <a:path w="212090"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90"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70" name="object 70"/>
              <p:cNvSpPr/>
              <p:nvPr/>
            </p:nvSpPr>
            <p:spPr>
              <a:xfrm>
                <a:off x="7637780" y="1125219"/>
                <a:ext cx="204470" cy="215900"/>
              </a:xfrm>
              <a:custGeom>
                <a:avLst/>
                <a:gdLst/>
                <a:ahLst/>
                <a:cxnLst/>
                <a:rect l="l" t="t" r="r" b="b"/>
                <a:pathLst>
                  <a:path w="204470" h="215900">
                    <a:moveTo>
                      <a:pt x="3810" y="0"/>
                    </a:moveTo>
                    <a:lnTo>
                      <a:pt x="0" y="0"/>
                    </a:lnTo>
                    <a:lnTo>
                      <a:pt x="0" y="215900"/>
                    </a:lnTo>
                    <a:lnTo>
                      <a:pt x="3810" y="215900"/>
                    </a:lnTo>
                    <a:lnTo>
                      <a:pt x="3810" y="0"/>
                    </a:lnTo>
                    <a:close/>
                  </a:path>
                  <a:path w="204470"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71" name="object 71"/>
              <p:cNvSpPr/>
              <p:nvPr/>
            </p:nvSpPr>
            <p:spPr>
              <a:xfrm>
                <a:off x="764159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72" name="object 72"/>
              <p:cNvSpPr/>
              <p:nvPr/>
            </p:nvSpPr>
            <p:spPr>
              <a:xfrm>
                <a:off x="7645400" y="1125219"/>
                <a:ext cx="189230" cy="215900"/>
              </a:xfrm>
              <a:custGeom>
                <a:avLst/>
                <a:gdLst/>
                <a:ahLst/>
                <a:cxnLst/>
                <a:rect l="l" t="t" r="r" b="b"/>
                <a:pathLst>
                  <a:path w="189229" h="215900">
                    <a:moveTo>
                      <a:pt x="3810" y="0"/>
                    </a:moveTo>
                    <a:lnTo>
                      <a:pt x="0" y="0"/>
                    </a:lnTo>
                    <a:lnTo>
                      <a:pt x="0" y="215900"/>
                    </a:lnTo>
                    <a:lnTo>
                      <a:pt x="3810" y="215900"/>
                    </a:lnTo>
                    <a:lnTo>
                      <a:pt x="3810" y="0"/>
                    </a:lnTo>
                    <a:close/>
                  </a:path>
                  <a:path w="189229"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73" name="object 73"/>
              <p:cNvSpPr/>
              <p:nvPr/>
            </p:nvSpPr>
            <p:spPr>
              <a:xfrm>
                <a:off x="7649210" y="1125219"/>
                <a:ext cx="181610" cy="215900"/>
              </a:xfrm>
              <a:custGeom>
                <a:avLst/>
                <a:gdLst/>
                <a:ahLst/>
                <a:cxnLst/>
                <a:rect l="l" t="t" r="r" b="b"/>
                <a:pathLst>
                  <a:path w="181609" h="215900">
                    <a:moveTo>
                      <a:pt x="3810" y="0"/>
                    </a:moveTo>
                    <a:lnTo>
                      <a:pt x="0" y="0"/>
                    </a:lnTo>
                    <a:lnTo>
                      <a:pt x="0" y="215900"/>
                    </a:lnTo>
                    <a:lnTo>
                      <a:pt x="3810" y="215900"/>
                    </a:lnTo>
                    <a:lnTo>
                      <a:pt x="3810" y="0"/>
                    </a:lnTo>
                    <a:close/>
                  </a:path>
                  <a:path w="181609" h="215900">
                    <a:moveTo>
                      <a:pt x="181610" y="0"/>
                    </a:moveTo>
                    <a:lnTo>
                      <a:pt x="177800" y="0"/>
                    </a:lnTo>
                    <a:lnTo>
                      <a:pt x="177800" y="215900"/>
                    </a:lnTo>
                    <a:lnTo>
                      <a:pt x="181610" y="215900"/>
                    </a:lnTo>
                    <a:lnTo>
                      <a:pt x="181610" y="0"/>
                    </a:lnTo>
                    <a:close/>
                  </a:path>
                </a:pathLst>
              </a:custGeom>
              <a:solidFill>
                <a:srgbClr val="212121"/>
              </a:solidFill>
            </p:spPr>
            <p:txBody>
              <a:bodyPr wrap="square" lIns="0" tIns="0" rIns="0" bIns="0" rtlCol="0"/>
              <a:lstStyle/>
              <a:p>
                <a:endParaRPr/>
              </a:p>
            </p:txBody>
          </p:sp>
          <p:sp>
            <p:nvSpPr>
              <p:cNvPr id="74" name="object 74"/>
              <p:cNvSpPr/>
              <p:nvPr/>
            </p:nvSpPr>
            <p:spPr>
              <a:xfrm>
                <a:off x="7653020" y="1125219"/>
                <a:ext cx="173990" cy="215900"/>
              </a:xfrm>
              <a:custGeom>
                <a:avLst/>
                <a:gdLst/>
                <a:ahLst/>
                <a:cxnLst/>
                <a:rect l="l" t="t" r="r" b="b"/>
                <a:pathLst>
                  <a:path w="173990" h="215900">
                    <a:moveTo>
                      <a:pt x="2971" y="0"/>
                    </a:moveTo>
                    <a:lnTo>
                      <a:pt x="0" y="0"/>
                    </a:lnTo>
                    <a:lnTo>
                      <a:pt x="0" y="43180"/>
                    </a:lnTo>
                    <a:lnTo>
                      <a:pt x="0" y="171450"/>
                    </a:lnTo>
                    <a:lnTo>
                      <a:pt x="0" y="215900"/>
                    </a:lnTo>
                    <a:lnTo>
                      <a:pt x="2971" y="215900"/>
                    </a:lnTo>
                    <a:lnTo>
                      <a:pt x="2971" y="171450"/>
                    </a:lnTo>
                    <a:lnTo>
                      <a:pt x="2540" y="171450"/>
                    </a:lnTo>
                    <a:lnTo>
                      <a:pt x="2540" y="43180"/>
                    </a:lnTo>
                    <a:lnTo>
                      <a:pt x="2971" y="43180"/>
                    </a:lnTo>
                    <a:lnTo>
                      <a:pt x="2971" y="0"/>
                    </a:lnTo>
                    <a:close/>
                  </a:path>
                  <a:path w="173990" h="215900">
                    <a:moveTo>
                      <a:pt x="173990" y="0"/>
                    </a:moveTo>
                    <a:lnTo>
                      <a:pt x="171005" y="0"/>
                    </a:lnTo>
                    <a:lnTo>
                      <a:pt x="171005" y="43180"/>
                    </a:lnTo>
                    <a:lnTo>
                      <a:pt x="171450" y="43180"/>
                    </a:lnTo>
                    <a:lnTo>
                      <a:pt x="171450" y="171450"/>
                    </a:lnTo>
                    <a:lnTo>
                      <a:pt x="171005" y="171450"/>
                    </a:lnTo>
                    <a:lnTo>
                      <a:pt x="171005" y="215900"/>
                    </a:lnTo>
                    <a:lnTo>
                      <a:pt x="173990" y="215900"/>
                    </a:lnTo>
                    <a:lnTo>
                      <a:pt x="173990" y="171450"/>
                    </a:lnTo>
                    <a:lnTo>
                      <a:pt x="173990" y="43180"/>
                    </a:lnTo>
                    <a:lnTo>
                      <a:pt x="173990" y="0"/>
                    </a:lnTo>
                    <a:close/>
                  </a:path>
                </a:pathLst>
              </a:custGeom>
              <a:solidFill>
                <a:srgbClr val="232323"/>
              </a:solidFill>
            </p:spPr>
            <p:txBody>
              <a:bodyPr wrap="square" lIns="0" tIns="0" rIns="0" bIns="0" rtlCol="0"/>
              <a:lstStyle/>
              <a:p>
                <a:endParaRPr/>
              </a:p>
            </p:txBody>
          </p:sp>
          <p:sp>
            <p:nvSpPr>
              <p:cNvPr id="75" name="object 75"/>
              <p:cNvSpPr/>
              <p:nvPr/>
            </p:nvSpPr>
            <p:spPr>
              <a:xfrm>
                <a:off x="7655560" y="1125219"/>
                <a:ext cx="168910" cy="215900"/>
              </a:xfrm>
              <a:custGeom>
                <a:avLst/>
                <a:gdLst/>
                <a:ahLst/>
                <a:cxnLst/>
                <a:rect l="l" t="t" r="r" b="b"/>
                <a:pathLst>
                  <a:path w="168909" h="215900">
                    <a:moveTo>
                      <a:pt x="4279" y="171450"/>
                    </a:moveTo>
                    <a:lnTo>
                      <a:pt x="3835" y="171450"/>
                    </a:lnTo>
                    <a:lnTo>
                      <a:pt x="3835" y="43180"/>
                    </a:lnTo>
                    <a:lnTo>
                      <a:pt x="4267" y="43180"/>
                    </a:lnTo>
                    <a:lnTo>
                      <a:pt x="4267" y="0"/>
                    </a:lnTo>
                    <a:lnTo>
                      <a:pt x="431" y="0"/>
                    </a:lnTo>
                    <a:lnTo>
                      <a:pt x="431" y="43180"/>
                    </a:lnTo>
                    <a:lnTo>
                      <a:pt x="0" y="43180"/>
                    </a:lnTo>
                    <a:lnTo>
                      <a:pt x="0" y="171450"/>
                    </a:lnTo>
                    <a:lnTo>
                      <a:pt x="431" y="171450"/>
                    </a:lnTo>
                    <a:lnTo>
                      <a:pt x="431" y="215900"/>
                    </a:lnTo>
                    <a:lnTo>
                      <a:pt x="4279" y="215900"/>
                    </a:lnTo>
                    <a:lnTo>
                      <a:pt x="4279" y="171450"/>
                    </a:lnTo>
                    <a:close/>
                  </a:path>
                  <a:path w="168909" h="215900">
                    <a:moveTo>
                      <a:pt x="168910" y="43180"/>
                    </a:moveTo>
                    <a:lnTo>
                      <a:pt x="168465" y="43180"/>
                    </a:lnTo>
                    <a:lnTo>
                      <a:pt x="168465" y="0"/>
                    </a:lnTo>
                    <a:lnTo>
                      <a:pt x="164642" y="0"/>
                    </a:lnTo>
                    <a:lnTo>
                      <a:pt x="164642" y="43180"/>
                    </a:lnTo>
                    <a:lnTo>
                      <a:pt x="165074" y="43180"/>
                    </a:lnTo>
                    <a:lnTo>
                      <a:pt x="165074" y="171450"/>
                    </a:lnTo>
                    <a:lnTo>
                      <a:pt x="164630" y="171450"/>
                    </a:lnTo>
                    <a:lnTo>
                      <a:pt x="164630" y="215900"/>
                    </a:lnTo>
                    <a:lnTo>
                      <a:pt x="168465" y="215900"/>
                    </a:lnTo>
                    <a:lnTo>
                      <a:pt x="168465" y="171450"/>
                    </a:lnTo>
                    <a:lnTo>
                      <a:pt x="168910" y="171450"/>
                    </a:lnTo>
                    <a:lnTo>
                      <a:pt x="168910" y="43180"/>
                    </a:lnTo>
                    <a:close/>
                  </a:path>
                </a:pathLst>
              </a:custGeom>
              <a:solidFill>
                <a:srgbClr val="252525"/>
              </a:solidFill>
            </p:spPr>
            <p:txBody>
              <a:bodyPr wrap="square" lIns="0" tIns="0" rIns="0" bIns="0" rtlCol="0"/>
              <a:lstStyle/>
              <a:p>
                <a:endParaRPr/>
              </a:p>
            </p:txBody>
          </p:sp>
          <p:sp>
            <p:nvSpPr>
              <p:cNvPr id="76" name="object 76"/>
              <p:cNvSpPr/>
              <p:nvPr/>
            </p:nvSpPr>
            <p:spPr>
              <a:xfrm>
                <a:off x="7659370" y="1125219"/>
                <a:ext cx="161290" cy="215900"/>
              </a:xfrm>
              <a:custGeom>
                <a:avLst/>
                <a:gdLst/>
                <a:ahLst/>
                <a:cxnLst/>
                <a:rect l="l" t="t" r="r" b="b"/>
                <a:pathLst>
                  <a:path w="16129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61290" h="215900">
                    <a:moveTo>
                      <a:pt x="161290" y="44450"/>
                    </a:moveTo>
                    <a:lnTo>
                      <a:pt x="160845" y="44450"/>
                    </a:lnTo>
                    <a:lnTo>
                      <a:pt x="160845" y="0"/>
                    </a:lnTo>
                    <a:lnTo>
                      <a:pt x="157480" y="0"/>
                    </a:lnTo>
                    <a:lnTo>
                      <a:pt x="157480" y="44450"/>
                    </a:lnTo>
                    <a:lnTo>
                      <a:pt x="157480" y="170180"/>
                    </a:lnTo>
                    <a:lnTo>
                      <a:pt x="157480" y="215900"/>
                    </a:lnTo>
                    <a:lnTo>
                      <a:pt x="160832" y="215900"/>
                    </a:lnTo>
                    <a:lnTo>
                      <a:pt x="160832" y="170180"/>
                    </a:lnTo>
                    <a:lnTo>
                      <a:pt x="161290" y="170180"/>
                    </a:lnTo>
                    <a:lnTo>
                      <a:pt x="161290" y="44450"/>
                    </a:lnTo>
                    <a:close/>
                  </a:path>
                </a:pathLst>
              </a:custGeom>
              <a:solidFill>
                <a:srgbClr val="272727"/>
              </a:solidFill>
            </p:spPr>
            <p:txBody>
              <a:bodyPr wrap="square" lIns="0" tIns="0" rIns="0" bIns="0" rtlCol="0"/>
              <a:lstStyle/>
              <a:p>
                <a:endParaRPr/>
              </a:p>
            </p:txBody>
          </p:sp>
          <p:sp>
            <p:nvSpPr>
              <p:cNvPr id="77" name="object 77"/>
              <p:cNvSpPr/>
              <p:nvPr/>
            </p:nvSpPr>
            <p:spPr>
              <a:xfrm>
                <a:off x="7663180" y="1125219"/>
                <a:ext cx="153670" cy="215900"/>
              </a:xfrm>
              <a:custGeom>
                <a:avLst/>
                <a:gdLst/>
                <a:ahLst/>
                <a:cxnLst/>
                <a:rect l="l" t="t" r="r" b="b"/>
                <a:pathLst>
                  <a:path w="153670" h="215900">
                    <a:moveTo>
                      <a:pt x="3810" y="0"/>
                    </a:moveTo>
                    <a:lnTo>
                      <a:pt x="0" y="0"/>
                    </a:lnTo>
                    <a:lnTo>
                      <a:pt x="0" y="215900"/>
                    </a:lnTo>
                    <a:lnTo>
                      <a:pt x="3810" y="215900"/>
                    </a:lnTo>
                    <a:lnTo>
                      <a:pt x="3810" y="0"/>
                    </a:lnTo>
                    <a:close/>
                  </a:path>
                  <a:path w="153670"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78" name="object 78"/>
              <p:cNvSpPr/>
              <p:nvPr/>
            </p:nvSpPr>
            <p:spPr>
              <a:xfrm>
                <a:off x="7666990" y="1125219"/>
                <a:ext cx="146050" cy="215900"/>
              </a:xfrm>
              <a:custGeom>
                <a:avLst/>
                <a:gdLst/>
                <a:ahLst/>
                <a:cxnLst/>
                <a:rect l="l" t="t" r="r" b="b"/>
                <a:pathLst>
                  <a:path w="146050" h="215900">
                    <a:moveTo>
                      <a:pt x="3810" y="0"/>
                    </a:moveTo>
                    <a:lnTo>
                      <a:pt x="0" y="0"/>
                    </a:lnTo>
                    <a:lnTo>
                      <a:pt x="0" y="215900"/>
                    </a:lnTo>
                    <a:lnTo>
                      <a:pt x="3810" y="215900"/>
                    </a:lnTo>
                    <a:lnTo>
                      <a:pt x="3810" y="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79" name="object 79"/>
              <p:cNvSpPr/>
              <p:nvPr/>
            </p:nvSpPr>
            <p:spPr>
              <a:xfrm>
                <a:off x="7670800" y="1125219"/>
                <a:ext cx="138430" cy="215900"/>
              </a:xfrm>
              <a:custGeom>
                <a:avLst/>
                <a:gdLst/>
                <a:ahLst/>
                <a:cxnLst/>
                <a:rect l="l" t="t" r="r" b="b"/>
                <a:pathLst>
                  <a:path w="138429" h="215900">
                    <a:moveTo>
                      <a:pt x="3810" y="0"/>
                    </a:moveTo>
                    <a:lnTo>
                      <a:pt x="0" y="0"/>
                    </a:lnTo>
                    <a:lnTo>
                      <a:pt x="0" y="215900"/>
                    </a:lnTo>
                    <a:lnTo>
                      <a:pt x="3810" y="215900"/>
                    </a:lnTo>
                    <a:lnTo>
                      <a:pt x="3810" y="0"/>
                    </a:lnTo>
                    <a:close/>
                  </a:path>
                  <a:path w="138429"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80" name="object 80"/>
              <p:cNvSpPr/>
              <p:nvPr/>
            </p:nvSpPr>
            <p:spPr>
              <a:xfrm>
                <a:off x="7674610" y="1125219"/>
                <a:ext cx="130810" cy="215900"/>
              </a:xfrm>
              <a:custGeom>
                <a:avLst/>
                <a:gdLst/>
                <a:ahLst/>
                <a:cxnLst/>
                <a:rect l="l" t="t" r="r" b="b"/>
                <a:pathLst>
                  <a:path w="130809" h="215900">
                    <a:moveTo>
                      <a:pt x="3810" y="0"/>
                    </a:moveTo>
                    <a:lnTo>
                      <a:pt x="0" y="0"/>
                    </a:lnTo>
                    <a:lnTo>
                      <a:pt x="0" y="215900"/>
                    </a:lnTo>
                    <a:lnTo>
                      <a:pt x="3810" y="215900"/>
                    </a:lnTo>
                    <a:lnTo>
                      <a:pt x="3810" y="0"/>
                    </a:lnTo>
                    <a:close/>
                  </a:path>
                  <a:path w="130809"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81" name="object 81"/>
              <p:cNvSpPr/>
              <p:nvPr/>
            </p:nvSpPr>
            <p:spPr>
              <a:xfrm>
                <a:off x="7678420" y="1125219"/>
                <a:ext cx="123189" cy="215900"/>
              </a:xfrm>
              <a:custGeom>
                <a:avLst/>
                <a:gdLst/>
                <a:ahLst/>
                <a:cxnLst/>
                <a:rect l="l" t="t" r="r" b="b"/>
                <a:pathLst>
                  <a:path w="123190" h="215900">
                    <a:moveTo>
                      <a:pt x="3810" y="0"/>
                    </a:moveTo>
                    <a:lnTo>
                      <a:pt x="0" y="0"/>
                    </a:lnTo>
                    <a:lnTo>
                      <a:pt x="0" y="215900"/>
                    </a:lnTo>
                    <a:lnTo>
                      <a:pt x="3810" y="215900"/>
                    </a:lnTo>
                    <a:lnTo>
                      <a:pt x="3810" y="0"/>
                    </a:lnTo>
                    <a:close/>
                  </a:path>
                  <a:path w="123190" h="215900">
                    <a:moveTo>
                      <a:pt x="123190" y="0"/>
                    </a:moveTo>
                    <a:lnTo>
                      <a:pt x="119380" y="0"/>
                    </a:lnTo>
                    <a:lnTo>
                      <a:pt x="119380" y="215900"/>
                    </a:lnTo>
                    <a:lnTo>
                      <a:pt x="123190" y="215900"/>
                    </a:lnTo>
                    <a:lnTo>
                      <a:pt x="123190" y="0"/>
                    </a:lnTo>
                    <a:close/>
                  </a:path>
                </a:pathLst>
              </a:custGeom>
              <a:solidFill>
                <a:srgbClr val="313131"/>
              </a:solidFill>
            </p:spPr>
            <p:txBody>
              <a:bodyPr wrap="square" lIns="0" tIns="0" rIns="0" bIns="0" rtlCol="0"/>
              <a:lstStyle/>
              <a:p>
                <a:endParaRPr/>
              </a:p>
            </p:txBody>
          </p:sp>
          <p:sp>
            <p:nvSpPr>
              <p:cNvPr id="82" name="object 82"/>
              <p:cNvSpPr/>
              <p:nvPr/>
            </p:nvSpPr>
            <p:spPr>
              <a:xfrm>
                <a:off x="7682230" y="1125219"/>
                <a:ext cx="115570" cy="215900"/>
              </a:xfrm>
              <a:custGeom>
                <a:avLst/>
                <a:gdLst/>
                <a:ahLst/>
                <a:cxnLst/>
                <a:rect l="l" t="t" r="r" b="b"/>
                <a:pathLst>
                  <a:path w="115570"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15570" h="215900">
                    <a:moveTo>
                      <a:pt x="115570" y="0"/>
                    </a:moveTo>
                    <a:lnTo>
                      <a:pt x="112560" y="0"/>
                    </a:lnTo>
                    <a:lnTo>
                      <a:pt x="112560" y="45720"/>
                    </a:lnTo>
                    <a:lnTo>
                      <a:pt x="113030" y="45720"/>
                    </a:lnTo>
                    <a:lnTo>
                      <a:pt x="113030" y="168910"/>
                    </a:lnTo>
                    <a:lnTo>
                      <a:pt x="112547" y="168910"/>
                    </a:lnTo>
                    <a:lnTo>
                      <a:pt x="112547" y="215900"/>
                    </a:lnTo>
                    <a:lnTo>
                      <a:pt x="115570" y="215900"/>
                    </a:lnTo>
                    <a:lnTo>
                      <a:pt x="115570" y="168910"/>
                    </a:lnTo>
                    <a:lnTo>
                      <a:pt x="115570" y="45720"/>
                    </a:lnTo>
                    <a:lnTo>
                      <a:pt x="115570" y="0"/>
                    </a:lnTo>
                    <a:close/>
                  </a:path>
                </a:pathLst>
              </a:custGeom>
              <a:solidFill>
                <a:srgbClr val="333333"/>
              </a:solidFill>
            </p:spPr>
            <p:txBody>
              <a:bodyPr wrap="square" lIns="0" tIns="0" rIns="0" bIns="0" rtlCol="0"/>
              <a:lstStyle/>
              <a:p>
                <a:endParaRPr/>
              </a:p>
            </p:txBody>
          </p:sp>
          <p:sp>
            <p:nvSpPr>
              <p:cNvPr id="83" name="object 83"/>
              <p:cNvSpPr/>
              <p:nvPr/>
            </p:nvSpPr>
            <p:spPr>
              <a:xfrm>
                <a:off x="7684770" y="1125219"/>
                <a:ext cx="110489" cy="215900"/>
              </a:xfrm>
              <a:custGeom>
                <a:avLst/>
                <a:gdLst/>
                <a:ahLst/>
                <a:cxnLst/>
                <a:rect l="l" t="t" r="r" b="b"/>
                <a:pathLst>
                  <a:path w="110490" h="215900">
                    <a:moveTo>
                      <a:pt x="4279" y="168910"/>
                    </a:moveTo>
                    <a:lnTo>
                      <a:pt x="3810" y="168910"/>
                    </a:lnTo>
                    <a:lnTo>
                      <a:pt x="3810" y="45720"/>
                    </a:lnTo>
                    <a:lnTo>
                      <a:pt x="4267" y="45720"/>
                    </a:lnTo>
                    <a:lnTo>
                      <a:pt x="4267" y="0"/>
                    </a:lnTo>
                    <a:lnTo>
                      <a:pt x="457" y="0"/>
                    </a:lnTo>
                    <a:lnTo>
                      <a:pt x="457" y="45720"/>
                    </a:lnTo>
                    <a:lnTo>
                      <a:pt x="0" y="45720"/>
                    </a:lnTo>
                    <a:lnTo>
                      <a:pt x="0" y="168910"/>
                    </a:lnTo>
                    <a:lnTo>
                      <a:pt x="469" y="168910"/>
                    </a:lnTo>
                    <a:lnTo>
                      <a:pt x="469" y="215900"/>
                    </a:lnTo>
                    <a:lnTo>
                      <a:pt x="4279" y="215900"/>
                    </a:lnTo>
                    <a:lnTo>
                      <a:pt x="4279" y="168910"/>
                    </a:lnTo>
                    <a:close/>
                  </a:path>
                  <a:path w="110490" h="215900">
                    <a:moveTo>
                      <a:pt x="110490" y="45720"/>
                    </a:moveTo>
                    <a:lnTo>
                      <a:pt x="110020" y="45720"/>
                    </a:lnTo>
                    <a:lnTo>
                      <a:pt x="110020" y="0"/>
                    </a:lnTo>
                    <a:lnTo>
                      <a:pt x="106210" y="0"/>
                    </a:lnTo>
                    <a:lnTo>
                      <a:pt x="106210" y="45720"/>
                    </a:lnTo>
                    <a:lnTo>
                      <a:pt x="106680" y="45720"/>
                    </a:lnTo>
                    <a:lnTo>
                      <a:pt x="106680" y="168910"/>
                    </a:lnTo>
                    <a:lnTo>
                      <a:pt x="106197" y="168910"/>
                    </a:lnTo>
                    <a:lnTo>
                      <a:pt x="106197" y="215900"/>
                    </a:lnTo>
                    <a:lnTo>
                      <a:pt x="110007" y="215900"/>
                    </a:lnTo>
                    <a:lnTo>
                      <a:pt x="110007" y="168910"/>
                    </a:lnTo>
                    <a:lnTo>
                      <a:pt x="110490" y="168910"/>
                    </a:lnTo>
                    <a:lnTo>
                      <a:pt x="110490" y="45720"/>
                    </a:lnTo>
                    <a:close/>
                  </a:path>
                </a:pathLst>
              </a:custGeom>
              <a:solidFill>
                <a:srgbClr val="353535"/>
              </a:solidFill>
            </p:spPr>
            <p:txBody>
              <a:bodyPr wrap="square" lIns="0" tIns="0" rIns="0" bIns="0" rtlCol="0"/>
              <a:lstStyle/>
              <a:p>
                <a:endParaRPr/>
              </a:p>
            </p:txBody>
          </p:sp>
          <p:sp>
            <p:nvSpPr>
              <p:cNvPr id="84" name="object 84"/>
              <p:cNvSpPr/>
              <p:nvPr/>
            </p:nvSpPr>
            <p:spPr>
              <a:xfrm>
                <a:off x="7688580" y="1125219"/>
                <a:ext cx="102870" cy="215900"/>
              </a:xfrm>
              <a:custGeom>
                <a:avLst/>
                <a:gdLst/>
                <a:ahLst/>
                <a:cxnLst/>
                <a:rect l="l" t="t" r="r" b="b"/>
                <a:pathLst>
                  <a:path w="102870" h="215900">
                    <a:moveTo>
                      <a:pt x="3810" y="0"/>
                    </a:moveTo>
                    <a:lnTo>
                      <a:pt x="457" y="0"/>
                    </a:lnTo>
                    <a:lnTo>
                      <a:pt x="457" y="45720"/>
                    </a:lnTo>
                    <a:lnTo>
                      <a:pt x="0" y="45720"/>
                    </a:lnTo>
                    <a:lnTo>
                      <a:pt x="0" y="168910"/>
                    </a:lnTo>
                    <a:lnTo>
                      <a:pt x="469" y="168910"/>
                    </a:lnTo>
                    <a:lnTo>
                      <a:pt x="469" y="215900"/>
                    </a:lnTo>
                    <a:lnTo>
                      <a:pt x="3810" y="215900"/>
                    </a:lnTo>
                    <a:lnTo>
                      <a:pt x="3810" y="168910"/>
                    </a:lnTo>
                    <a:lnTo>
                      <a:pt x="3810" y="45720"/>
                    </a:lnTo>
                    <a:lnTo>
                      <a:pt x="3810" y="0"/>
                    </a:lnTo>
                    <a:close/>
                  </a:path>
                  <a:path w="102870" h="215900">
                    <a:moveTo>
                      <a:pt x="102870" y="45720"/>
                    </a:moveTo>
                    <a:lnTo>
                      <a:pt x="102400" y="45720"/>
                    </a:lnTo>
                    <a:lnTo>
                      <a:pt x="102400" y="0"/>
                    </a:lnTo>
                    <a:lnTo>
                      <a:pt x="99060" y="0"/>
                    </a:lnTo>
                    <a:lnTo>
                      <a:pt x="99060" y="45720"/>
                    </a:lnTo>
                    <a:lnTo>
                      <a:pt x="99060" y="168910"/>
                    </a:lnTo>
                    <a:lnTo>
                      <a:pt x="99060" y="215900"/>
                    </a:lnTo>
                    <a:lnTo>
                      <a:pt x="102387" y="215900"/>
                    </a:lnTo>
                    <a:lnTo>
                      <a:pt x="102387" y="168910"/>
                    </a:lnTo>
                    <a:lnTo>
                      <a:pt x="102870" y="168910"/>
                    </a:lnTo>
                    <a:lnTo>
                      <a:pt x="102870" y="45720"/>
                    </a:lnTo>
                    <a:close/>
                  </a:path>
                </a:pathLst>
              </a:custGeom>
              <a:solidFill>
                <a:srgbClr val="373737"/>
              </a:solidFill>
            </p:spPr>
            <p:txBody>
              <a:bodyPr wrap="square" lIns="0" tIns="0" rIns="0" bIns="0" rtlCol="0"/>
              <a:lstStyle/>
              <a:p>
                <a:endParaRPr/>
              </a:p>
            </p:txBody>
          </p:sp>
          <p:sp>
            <p:nvSpPr>
              <p:cNvPr id="85" name="object 85"/>
              <p:cNvSpPr/>
              <p:nvPr/>
            </p:nvSpPr>
            <p:spPr>
              <a:xfrm>
                <a:off x="7692390" y="1125219"/>
                <a:ext cx="95250" cy="215900"/>
              </a:xfrm>
              <a:custGeom>
                <a:avLst/>
                <a:gdLst/>
                <a:ahLst/>
                <a:cxnLst/>
                <a:rect l="l" t="t" r="r" b="b"/>
                <a:pathLst>
                  <a:path w="95250" h="215900">
                    <a:moveTo>
                      <a:pt x="3810" y="0"/>
                    </a:moveTo>
                    <a:lnTo>
                      <a:pt x="0" y="0"/>
                    </a:lnTo>
                    <a:lnTo>
                      <a:pt x="0" y="215900"/>
                    </a:lnTo>
                    <a:lnTo>
                      <a:pt x="3810" y="21590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86" name="object 86"/>
              <p:cNvSpPr/>
              <p:nvPr/>
            </p:nvSpPr>
            <p:spPr>
              <a:xfrm>
                <a:off x="7696200" y="1125219"/>
                <a:ext cx="87630" cy="215900"/>
              </a:xfrm>
              <a:custGeom>
                <a:avLst/>
                <a:gdLst/>
                <a:ahLst/>
                <a:cxnLst/>
                <a:rect l="l" t="t" r="r" b="b"/>
                <a:pathLst>
                  <a:path w="87629" h="215900">
                    <a:moveTo>
                      <a:pt x="3810" y="0"/>
                    </a:moveTo>
                    <a:lnTo>
                      <a:pt x="0" y="0"/>
                    </a:lnTo>
                    <a:lnTo>
                      <a:pt x="0" y="215900"/>
                    </a:lnTo>
                    <a:lnTo>
                      <a:pt x="3810" y="215900"/>
                    </a:lnTo>
                    <a:lnTo>
                      <a:pt x="3810" y="0"/>
                    </a:lnTo>
                    <a:close/>
                  </a:path>
                  <a:path w="87629"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87" name="object 87"/>
              <p:cNvSpPr/>
              <p:nvPr/>
            </p:nvSpPr>
            <p:spPr>
              <a:xfrm>
                <a:off x="7700010" y="1125219"/>
                <a:ext cx="80010" cy="215900"/>
              </a:xfrm>
              <a:custGeom>
                <a:avLst/>
                <a:gdLst/>
                <a:ahLst/>
                <a:cxnLst/>
                <a:rect l="l" t="t" r="r" b="b"/>
                <a:pathLst>
                  <a:path w="80009" h="215900">
                    <a:moveTo>
                      <a:pt x="3810" y="0"/>
                    </a:moveTo>
                    <a:lnTo>
                      <a:pt x="0" y="0"/>
                    </a:lnTo>
                    <a:lnTo>
                      <a:pt x="0" y="215900"/>
                    </a:lnTo>
                    <a:lnTo>
                      <a:pt x="3810" y="215900"/>
                    </a:lnTo>
                    <a:lnTo>
                      <a:pt x="3810" y="0"/>
                    </a:lnTo>
                    <a:close/>
                  </a:path>
                  <a:path w="80009"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88" name="object 88"/>
              <p:cNvSpPr/>
              <p:nvPr/>
            </p:nvSpPr>
            <p:spPr>
              <a:xfrm>
                <a:off x="7703820" y="1125219"/>
                <a:ext cx="72390" cy="215900"/>
              </a:xfrm>
              <a:custGeom>
                <a:avLst/>
                <a:gdLst/>
                <a:ahLst/>
                <a:cxnLst/>
                <a:rect l="l" t="t" r="r" b="b"/>
                <a:pathLst>
                  <a:path w="72390" h="215900">
                    <a:moveTo>
                      <a:pt x="3810" y="0"/>
                    </a:moveTo>
                    <a:lnTo>
                      <a:pt x="0" y="0"/>
                    </a:lnTo>
                    <a:lnTo>
                      <a:pt x="0" y="215900"/>
                    </a:lnTo>
                    <a:lnTo>
                      <a:pt x="3810" y="215900"/>
                    </a:lnTo>
                    <a:lnTo>
                      <a:pt x="3810" y="0"/>
                    </a:lnTo>
                    <a:close/>
                  </a:path>
                  <a:path w="72390"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89" name="object 89"/>
              <p:cNvSpPr/>
              <p:nvPr/>
            </p:nvSpPr>
            <p:spPr>
              <a:xfrm>
                <a:off x="7707630" y="1125219"/>
                <a:ext cx="64769" cy="215900"/>
              </a:xfrm>
              <a:custGeom>
                <a:avLst/>
                <a:gdLst/>
                <a:ahLst/>
                <a:cxnLst/>
                <a:rect l="l" t="t" r="r" b="b"/>
                <a:pathLst>
                  <a:path w="64770" h="215900">
                    <a:moveTo>
                      <a:pt x="3810" y="0"/>
                    </a:moveTo>
                    <a:lnTo>
                      <a:pt x="0" y="0"/>
                    </a:lnTo>
                    <a:lnTo>
                      <a:pt x="0" y="215900"/>
                    </a:lnTo>
                    <a:lnTo>
                      <a:pt x="3810" y="215900"/>
                    </a:lnTo>
                    <a:lnTo>
                      <a:pt x="3810" y="0"/>
                    </a:lnTo>
                    <a:close/>
                  </a:path>
                  <a:path w="64770" h="215900">
                    <a:moveTo>
                      <a:pt x="64770" y="0"/>
                    </a:moveTo>
                    <a:lnTo>
                      <a:pt x="60960" y="0"/>
                    </a:lnTo>
                    <a:lnTo>
                      <a:pt x="60960" y="215900"/>
                    </a:lnTo>
                    <a:lnTo>
                      <a:pt x="64770" y="215900"/>
                    </a:lnTo>
                    <a:lnTo>
                      <a:pt x="64770" y="0"/>
                    </a:lnTo>
                    <a:close/>
                  </a:path>
                </a:pathLst>
              </a:custGeom>
              <a:solidFill>
                <a:srgbClr val="414141"/>
              </a:solidFill>
            </p:spPr>
            <p:txBody>
              <a:bodyPr wrap="square" lIns="0" tIns="0" rIns="0" bIns="0" rtlCol="0"/>
              <a:lstStyle/>
              <a:p>
                <a:endParaRPr/>
              </a:p>
            </p:txBody>
          </p:sp>
          <p:sp>
            <p:nvSpPr>
              <p:cNvPr id="90" name="object 90"/>
              <p:cNvSpPr/>
              <p:nvPr/>
            </p:nvSpPr>
            <p:spPr>
              <a:xfrm>
                <a:off x="7711440" y="1125219"/>
                <a:ext cx="57150" cy="215900"/>
              </a:xfrm>
              <a:custGeom>
                <a:avLst/>
                <a:gdLst/>
                <a:ahLst/>
                <a:cxnLst/>
                <a:rect l="l" t="t" r="r" b="b"/>
                <a:pathLst>
                  <a:path w="57150" h="215900">
                    <a:moveTo>
                      <a:pt x="2540" y="0"/>
                    </a:moveTo>
                    <a:lnTo>
                      <a:pt x="0" y="0"/>
                    </a:lnTo>
                    <a:lnTo>
                      <a:pt x="0" y="215900"/>
                    </a:lnTo>
                    <a:lnTo>
                      <a:pt x="2540" y="215900"/>
                    </a:lnTo>
                    <a:lnTo>
                      <a:pt x="2540" y="0"/>
                    </a:lnTo>
                    <a:close/>
                  </a:path>
                  <a:path w="57150" h="215900">
                    <a:moveTo>
                      <a:pt x="57150" y="0"/>
                    </a:moveTo>
                    <a:lnTo>
                      <a:pt x="54610" y="0"/>
                    </a:lnTo>
                    <a:lnTo>
                      <a:pt x="54610" y="215900"/>
                    </a:lnTo>
                    <a:lnTo>
                      <a:pt x="57150" y="215900"/>
                    </a:lnTo>
                    <a:lnTo>
                      <a:pt x="57150" y="0"/>
                    </a:lnTo>
                    <a:close/>
                  </a:path>
                </a:pathLst>
              </a:custGeom>
              <a:solidFill>
                <a:srgbClr val="434343"/>
              </a:solidFill>
            </p:spPr>
            <p:txBody>
              <a:bodyPr wrap="square" lIns="0" tIns="0" rIns="0" bIns="0" rtlCol="0"/>
              <a:lstStyle/>
              <a:p>
                <a:endParaRPr/>
              </a:p>
            </p:txBody>
          </p:sp>
          <p:sp>
            <p:nvSpPr>
              <p:cNvPr id="91" name="object 91"/>
              <p:cNvSpPr/>
              <p:nvPr/>
            </p:nvSpPr>
            <p:spPr>
              <a:xfrm>
                <a:off x="7713980" y="1125219"/>
                <a:ext cx="52069" cy="215900"/>
              </a:xfrm>
              <a:custGeom>
                <a:avLst/>
                <a:gdLst/>
                <a:ahLst/>
                <a:cxnLst/>
                <a:rect l="l" t="t" r="r" b="b"/>
                <a:pathLst>
                  <a:path w="52070" h="215900">
                    <a:moveTo>
                      <a:pt x="3810" y="0"/>
                    </a:moveTo>
                    <a:lnTo>
                      <a:pt x="0" y="0"/>
                    </a:lnTo>
                    <a:lnTo>
                      <a:pt x="0" y="215900"/>
                    </a:lnTo>
                    <a:lnTo>
                      <a:pt x="3810" y="215900"/>
                    </a:lnTo>
                    <a:lnTo>
                      <a:pt x="3810" y="0"/>
                    </a:lnTo>
                    <a:close/>
                  </a:path>
                  <a:path w="52070" h="215900">
                    <a:moveTo>
                      <a:pt x="52070" y="0"/>
                    </a:moveTo>
                    <a:lnTo>
                      <a:pt x="48260" y="0"/>
                    </a:lnTo>
                    <a:lnTo>
                      <a:pt x="48260" y="215900"/>
                    </a:lnTo>
                    <a:lnTo>
                      <a:pt x="52070" y="215900"/>
                    </a:lnTo>
                    <a:lnTo>
                      <a:pt x="52070" y="0"/>
                    </a:lnTo>
                    <a:close/>
                  </a:path>
                </a:pathLst>
              </a:custGeom>
              <a:solidFill>
                <a:srgbClr val="454545"/>
              </a:solidFill>
            </p:spPr>
            <p:txBody>
              <a:bodyPr wrap="square" lIns="0" tIns="0" rIns="0" bIns="0" rtlCol="0"/>
              <a:lstStyle/>
              <a:p>
                <a:endParaRPr/>
              </a:p>
            </p:txBody>
          </p:sp>
          <p:sp>
            <p:nvSpPr>
              <p:cNvPr id="92" name="object 92"/>
              <p:cNvSpPr/>
              <p:nvPr/>
            </p:nvSpPr>
            <p:spPr>
              <a:xfrm>
                <a:off x="771779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93" name="object 93"/>
              <p:cNvSpPr/>
              <p:nvPr/>
            </p:nvSpPr>
            <p:spPr>
              <a:xfrm>
                <a:off x="7721600" y="1125219"/>
                <a:ext cx="36830" cy="215900"/>
              </a:xfrm>
              <a:custGeom>
                <a:avLst/>
                <a:gdLst/>
                <a:ahLst/>
                <a:cxnLst/>
                <a:rect l="l" t="t" r="r" b="b"/>
                <a:pathLst>
                  <a:path w="36829" h="215900">
                    <a:moveTo>
                      <a:pt x="3810" y="0"/>
                    </a:moveTo>
                    <a:lnTo>
                      <a:pt x="0" y="0"/>
                    </a:lnTo>
                    <a:lnTo>
                      <a:pt x="0" y="215900"/>
                    </a:lnTo>
                    <a:lnTo>
                      <a:pt x="3810" y="215900"/>
                    </a:lnTo>
                    <a:lnTo>
                      <a:pt x="3810" y="0"/>
                    </a:lnTo>
                    <a:close/>
                  </a:path>
                  <a:path w="36829"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94" name="object 94"/>
              <p:cNvSpPr/>
              <p:nvPr/>
            </p:nvSpPr>
            <p:spPr>
              <a:xfrm>
                <a:off x="7725410" y="1125219"/>
                <a:ext cx="29209" cy="215900"/>
              </a:xfrm>
              <a:custGeom>
                <a:avLst/>
                <a:gdLst/>
                <a:ahLst/>
                <a:cxnLst/>
                <a:rect l="l" t="t" r="r" b="b"/>
                <a:pathLst>
                  <a:path w="29209" h="215900">
                    <a:moveTo>
                      <a:pt x="3810" y="0"/>
                    </a:moveTo>
                    <a:lnTo>
                      <a:pt x="0" y="0"/>
                    </a:lnTo>
                    <a:lnTo>
                      <a:pt x="0" y="215900"/>
                    </a:lnTo>
                    <a:lnTo>
                      <a:pt x="3810" y="215900"/>
                    </a:lnTo>
                    <a:lnTo>
                      <a:pt x="3810" y="0"/>
                    </a:lnTo>
                    <a:close/>
                  </a:path>
                  <a:path w="29209"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95" name="object 95"/>
              <p:cNvSpPr/>
              <p:nvPr/>
            </p:nvSpPr>
            <p:spPr>
              <a:xfrm>
                <a:off x="7729220" y="1125219"/>
                <a:ext cx="21590" cy="215900"/>
              </a:xfrm>
              <a:custGeom>
                <a:avLst/>
                <a:gdLst/>
                <a:ahLst/>
                <a:cxnLst/>
                <a:rect l="l" t="t" r="r" b="b"/>
                <a:pathLst>
                  <a:path w="21590" h="215900">
                    <a:moveTo>
                      <a:pt x="3810" y="0"/>
                    </a:moveTo>
                    <a:lnTo>
                      <a:pt x="0" y="0"/>
                    </a:lnTo>
                    <a:lnTo>
                      <a:pt x="0" y="215900"/>
                    </a:lnTo>
                    <a:lnTo>
                      <a:pt x="3810" y="215900"/>
                    </a:lnTo>
                    <a:lnTo>
                      <a:pt x="3810" y="0"/>
                    </a:lnTo>
                    <a:close/>
                  </a:path>
                  <a:path w="21590"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96" name="object 96"/>
              <p:cNvSpPr/>
              <p:nvPr/>
            </p:nvSpPr>
            <p:spPr>
              <a:xfrm>
                <a:off x="7733030" y="1125219"/>
                <a:ext cx="13970" cy="215900"/>
              </a:xfrm>
              <a:custGeom>
                <a:avLst/>
                <a:gdLst/>
                <a:ahLst/>
                <a:cxnLst/>
                <a:rect l="l" t="t" r="r" b="b"/>
                <a:pathLst>
                  <a:path w="13970" h="215900">
                    <a:moveTo>
                      <a:pt x="3810" y="0"/>
                    </a:moveTo>
                    <a:lnTo>
                      <a:pt x="0" y="0"/>
                    </a:lnTo>
                    <a:lnTo>
                      <a:pt x="0" y="215900"/>
                    </a:lnTo>
                    <a:lnTo>
                      <a:pt x="3810" y="215900"/>
                    </a:lnTo>
                    <a:lnTo>
                      <a:pt x="3810" y="0"/>
                    </a:lnTo>
                    <a:close/>
                  </a:path>
                  <a:path w="13970"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97" name="object 97"/>
              <p:cNvSpPr/>
              <p:nvPr/>
            </p:nvSpPr>
            <p:spPr>
              <a:xfrm>
                <a:off x="773683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grpSp>
        <p:grpSp>
          <p:nvGrpSpPr>
            <p:cNvPr id="98" name="object 98"/>
            <p:cNvGrpSpPr/>
            <p:nvPr/>
          </p:nvGrpSpPr>
          <p:grpSpPr>
            <a:xfrm>
              <a:off x="2986980" y="1111191"/>
              <a:ext cx="1898014" cy="1538605"/>
              <a:chOff x="1462980" y="1111190"/>
              <a:chExt cx="1898014" cy="1538605"/>
            </a:xfrm>
          </p:grpSpPr>
          <p:sp>
            <p:nvSpPr>
              <p:cNvPr id="99" name="object 99"/>
              <p:cNvSpPr/>
              <p:nvPr/>
            </p:nvSpPr>
            <p:spPr>
              <a:xfrm>
                <a:off x="1475740" y="1123950"/>
                <a:ext cx="1871980" cy="1512570"/>
              </a:xfrm>
              <a:custGeom>
                <a:avLst/>
                <a:gdLst/>
                <a:ahLst/>
                <a:cxnLst/>
                <a:rect l="l" t="t" r="r" b="b"/>
                <a:pathLst>
                  <a:path w="1871979" h="1512570">
                    <a:moveTo>
                      <a:pt x="1871980" y="0"/>
                    </a:moveTo>
                    <a:lnTo>
                      <a:pt x="0" y="0"/>
                    </a:lnTo>
                    <a:lnTo>
                      <a:pt x="0" y="1512570"/>
                    </a:lnTo>
                    <a:lnTo>
                      <a:pt x="935990" y="1512570"/>
                    </a:lnTo>
                    <a:lnTo>
                      <a:pt x="1871980" y="1512570"/>
                    </a:lnTo>
                    <a:lnTo>
                      <a:pt x="1871980" y="0"/>
                    </a:lnTo>
                    <a:close/>
                  </a:path>
                </a:pathLst>
              </a:custGeom>
              <a:solidFill>
                <a:srgbClr val="FFFFFF"/>
              </a:solidFill>
            </p:spPr>
            <p:txBody>
              <a:bodyPr wrap="square" lIns="0" tIns="0" rIns="0" bIns="0" rtlCol="0"/>
              <a:lstStyle/>
              <a:p>
                <a:endParaRPr/>
              </a:p>
            </p:txBody>
          </p:sp>
          <p:sp>
            <p:nvSpPr>
              <p:cNvPr id="100" name="object 100"/>
              <p:cNvSpPr/>
              <p:nvPr/>
            </p:nvSpPr>
            <p:spPr>
              <a:xfrm>
                <a:off x="1475740" y="1123950"/>
                <a:ext cx="1871980" cy="1512570"/>
              </a:xfrm>
              <a:custGeom>
                <a:avLst/>
                <a:gdLst/>
                <a:ahLst/>
                <a:cxnLst/>
                <a:rect l="l" t="t" r="r" b="b"/>
                <a:pathLst>
                  <a:path w="1871979" h="1512570">
                    <a:moveTo>
                      <a:pt x="935990" y="1512570"/>
                    </a:moveTo>
                    <a:lnTo>
                      <a:pt x="0" y="1512570"/>
                    </a:lnTo>
                    <a:lnTo>
                      <a:pt x="0" y="0"/>
                    </a:lnTo>
                    <a:lnTo>
                      <a:pt x="1871980" y="0"/>
                    </a:lnTo>
                    <a:lnTo>
                      <a:pt x="1871980" y="1512570"/>
                    </a:lnTo>
                    <a:lnTo>
                      <a:pt x="935990" y="1512570"/>
                    </a:lnTo>
                    <a:close/>
                  </a:path>
                </a:pathLst>
              </a:custGeom>
              <a:ln w="25518">
                <a:solidFill>
                  <a:srgbClr val="000000"/>
                </a:solidFill>
              </a:ln>
            </p:spPr>
            <p:txBody>
              <a:bodyPr wrap="square" lIns="0" tIns="0" rIns="0" bIns="0" rtlCol="0"/>
              <a:lstStyle/>
              <a:p>
                <a:endParaRPr/>
              </a:p>
            </p:txBody>
          </p:sp>
          <p:sp>
            <p:nvSpPr>
              <p:cNvPr id="101" name="object 101"/>
              <p:cNvSpPr/>
              <p:nvPr/>
            </p:nvSpPr>
            <p:spPr>
              <a:xfrm>
                <a:off x="1691640" y="1628140"/>
                <a:ext cx="1367790" cy="143510"/>
              </a:xfrm>
              <a:custGeom>
                <a:avLst/>
                <a:gdLst/>
                <a:ahLst/>
                <a:cxnLst/>
                <a:rect l="l" t="t" r="r" b="b"/>
                <a:pathLst>
                  <a:path w="1367789" h="143510">
                    <a:moveTo>
                      <a:pt x="1367790" y="0"/>
                    </a:moveTo>
                    <a:lnTo>
                      <a:pt x="0" y="0"/>
                    </a:lnTo>
                    <a:lnTo>
                      <a:pt x="0" y="143510"/>
                    </a:lnTo>
                    <a:lnTo>
                      <a:pt x="683260" y="143510"/>
                    </a:lnTo>
                    <a:lnTo>
                      <a:pt x="1367790" y="143510"/>
                    </a:lnTo>
                    <a:lnTo>
                      <a:pt x="1367790" y="0"/>
                    </a:lnTo>
                    <a:close/>
                  </a:path>
                </a:pathLst>
              </a:custGeom>
              <a:solidFill>
                <a:srgbClr val="FFFFFF"/>
              </a:solidFill>
            </p:spPr>
            <p:txBody>
              <a:bodyPr wrap="square" lIns="0" tIns="0" rIns="0" bIns="0" rtlCol="0"/>
              <a:lstStyle/>
              <a:p>
                <a:endParaRPr/>
              </a:p>
            </p:txBody>
          </p:sp>
          <p:sp>
            <p:nvSpPr>
              <p:cNvPr id="102" name="object 102"/>
              <p:cNvSpPr/>
              <p:nvPr/>
            </p:nvSpPr>
            <p:spPr>
              <a:xfrm>
                <a:off x="1691640" y="1628140"/>
                <a:ext cx="1367790" cy="143510"/>
              </a:xfrm>
              <a:custGeom>
                <a:avLst/>
                <a:gdLst/>
                <a:ahLst/>
                <a:cxnLst/>
                <a:rect l="l" t="t" r="r" b="b"/>
                <a:pathLst>
                  <a:path w="1367789" h="143510">
                    <a:moveTo>
                      <a:pt x="683260" y="143510"/>
                    </a:moveTo>
                    <a:lnTo>
                      <a:pt x="0" y="143510"/>
                    </a:lnTo>
                    <a:lnTo>
                      <a:pt x="0" y="0"/>
                    </a:lnTo>
                    <a:lnTo>
                      <a:pt x="1367790" y="0"/>
                    </a:lnTo>
                    <a:lnTo>
                      <a:pt x="1367790" y="143510"/>
                    </a:lnTo>
                    <a:lnTo>
                      <a:pt x="683260" y="143510"/>
                    </a:lnTo>
                    <a:close/>
                  </a:path>
                </a:pathLst>
              </a:custGeom>
              <a:ln w="25518">
                <a:solidFill>
                  <a:srgbClr val="000000"/>
                </a:solidFill>
              </a:ln>
            </p:spPr>
            <p:txBody>
              <a:bodyPr wrap="square" lIns="0" tIns="0" rIns="0" bIns="0" rtlCol="0"/>
              <a:lstStyle/>
              <a:p>
                <a:endParaRPr/>
              </a:p>
            </p:txBody>
          </p:sp>
          <p:sp>
            <p:nvSpPr>
              <p:cNvPr id="103" name="object 103"/>
              <p:cNvSpPr/>
              <p:nvPr/>
            </p:nvSpPr>
            <p:spPr>
              <a:xfrm>
                <a:off x="1691640" y="1484630"/>
                <a:ext cx="0" cy="1008380"/>
              </a:xfrm>
              <a:custGeom>
                <a:avLst/>
                <a:gdLst/>
                <a:ahLst/>
                <a:cxnLst/>
                <a:rect l="l" t="t" r="r" b="b"/>
                <a:pathLst>
                  <a:path h="1008380">
                    <a:moveTo>
                      <a:pt x="0" y="0"/>
                    </a:moveTo>
                    <a:lnTo>
                      <a:pt x="0" y="1008380"/>
                    </a:lnTo>
                  </a:path>
                </a:pathLst>
              </a:custGeom>
              <a:ln w="9344">
                <a:solidFill>
                  <a:srgbClr val="000000"/>
                </a:solidFill>
              </a:ln>
            </p:spPr>
            <p:txBody>
              <a:bodyPr wrap="square" lIns="0" tIns="0" rIns="0" bIns="0" rtlCol="0"/>
              <a:lstStyle/>
              <a:p>
                <a:endParaRPr/>
              </a:p>
            </p:txBody>
          </p:sp>
          <p:sp>
            <p:nvSpPr>
              <p:cNvPr id="104" name="object 104"/>
              <p:cNvSpPr/>
              <p:nvPr/>
            </p:nvSpPr>
            <p:spPr>
              <a:xfrm>
                <a:off x="1475740" y="1125219"/>
                <a:ext cx="1870710" cy="215900"/>
              </a:xfrm>
              <a:custGeom>
                <a:avLst/>
                <a:gdLst/>
                <a:ahLst/>
                <a:cxnLst/>
                <a:rect l="l" t="t" r="r" b="b"/>
                <a:pathLst>
                  <a:path w="1870710" h="215900">
                    <a:moveTo>
                      <a:pt x="786511" y="0"/>
                    </a:moveTo>
                    <a:lnTo>
                      <a:pt x="0" y="0"/>
                    </a:lnTo>
                    <a:lnTo>
                      <a:pt x="0" y="40640"/>
                    </a:lnTo>
                    <a:lnTo>
                      <a:pt x="0" y="173990"/>
                    </a:lnTo>
                    <a:lnTo>
                      <a:pt x="0" y="214630"/>
                    </a:lnTo>
                    <a:lnTo>
                      <a:pt x="786511" y="214630"/>
                    </a:lnTo>
                    <a:lnTo>
                      <a:pt x="786511" y="173990"/>
                    </a:lnTo>
                    <a:lnTo>
                      <a:pt x="786130" y="173990"/>
                    </a:lnTo>
                    <a:lnTo>
                      <a:pt x="786130" y="40640"/>
                    </a:lnTo>
                    <a:lnTo>
                      <a:pt x="786511" y="40640"/>
                    </a:lnTo>
                    <a:lnTo>
                      <a:pt x="786511" y="0"/>
                    </a:lnTo>
                    <a:close/>
                  </a:path>
                  <a:path w="1870710" h="215900">
                    <a:moveTo>
                      <a:pt x="1084580" y="214630"/>
                    </a:moveTo>
                    <a:lnTo>
                      <a:pt x="786892" y="214630"/>
                    </a:lnTo>
                    <a:lnTo>
                      <a:pt x="786917" y="215900"/>
                    </a:lnTo>
                    <a:lnTo>
                      <a:pt x="1084580" y="215900"/>
                    </a:lnTo>
                    <a:lnTo>
                      <a:pt x="1084580" y="214630"/>
                    </a:lnTo>
                    <a:close/>
                  </a:path>
                  <a:path w="1870710" h="215900">
                    <a:moveTo>
                      <a:pt x="1870710" y="0"/>
                    </a:moveTo>
                    <a:lnTo>
                      <a:pt x="1084580" y="0"/>
                    </a:lnTo>
                    <a:lnTo>
                      <a:pt x="1084580" y="214630"/>
                    </a:lnTo>
                    <a:lnTo>
                      <a:pt x="1870710" y="214630"/>
                    </a:lnTo>
                    <a:lnTo>
                      <a:pt x="1870710" y="0"/>
                    </a:lnTo>
                    <a:close/>
                  </a:path>
                </a:pathLst>
              </a:custGeom>
              <a:solidFill>
                <a:srgbClr val="000000"/>
              </a:solidFill>
            </p:spPr>
            <p:txBody>
              <a:bodyPr wrap="square" lIns="0" tIns="0" rIns="0" bIns="0" rtlCol="0"/>
              <a:lstStyle/>
              <a:p>
                <a:endParaRPr/>
              </a:p>
            </p:txBody>
          </p:sp>
          <p:sp>
            <p:nvSpPr>
              <p:cNvPr id="105" name="object 105"/>
              <p:cNvSpPr/>
              <p:nvPr/>
            </p:nvSpPr>
            <p:spPr>
              <a:xfrm>
                <a:off x="2261870" y="1125219"/>
                <a:ext cx="298450" cy="215900"/>
              </a:xfrm>
              <a:custGeom>
                <a:avLst/>
                <a:gdLst/>
                <a:ahLst/>
                <a:cxnLst/>
                <a:rect l="l" t="t" r="r" b="b"/>
                <a:pathLst>
                  <a:path w="298450" h="215900">
                    <a:moveTo>
                      <a:pt x="3810" y="0"/>
                    </a:moveTo>
                    <a:lnTo>
                      <a:pt x="381" y="0"/>
                    </a:lnTo>
                    <a:lnTo>
                      <a:pt x="381" y="40640"/>
                    </a:lnTo>
                    <a:lnTo>
                      <a:pt x="0" y="40640"/>
                    </a:lnTo>
                    <a:lnTo>
                      <a:pt x="0" y="173990"/>
                    </a:lnTo>
                    <a:lnTo>
                      <a:pt x="393" y="173990"/>
                    </a:lnTo>
                    <a:lnTo>
                      <a:pt x="393" y="215900"/>
                    </a:lnTo>
                    <a:lnTo>
                      <a:pt x="3810" y="215900"/>
                    </a:lnTo>
                    <a:lnTo>
                      <a:pt x="3810" y="173990"/>
                    </a:lnTo>
                    <a:lnTo>
                      <a:pt x="3810" y="40640"/>
                    </a:lnTo>
                    <a:lnTo>
                      <a:pt x="3810" y="0"/>
                    </a:lnTo>
                    <a:close/>
                  </a:path>
                  <a:path w="298450" h="215900">
                    <a:moveTo>
                      <a:pt x="298450" y="0"/>
                    </a:moveTo>
                    <a:lnTo>
                      <a:pt x="294640" y="0"/>
                    </a:lnTo>
                    <a:lnTo>
                      <a:pt x="294640" y="215900"/>
                    </a:lnTo>
                    <a:lnTo>
                      <a:pt x="298450" y="215900"/>
                    </a:lnTo>
                    <a:lnTo>
                      <a:pt x="298450" y="0"/>
                    </a:lnTo>
                    <a:close/>
                  </a:path>
                </a:pathLst>
              </a:custGeom>
              <a:solidFill>
                <a:srgbClr val="010101"/>
              </a:solidFill>
            </p:spPr>
            <p:txBody>
              <a:bodyPr wrap="square" lIns="0" tIns="0" rIns="0" bIns="0" rtlCol="0"/>
              <a:lstStyle/>
              <a:p>
                <a:endParaRPr/>
              </a:p>
            </p:txBody>
          </p:sp>
          <p:sp>
            <p:nvSpPr>
              <p:cNvPr id="106" name="object 106"/>
              <p:cNvSpPr/>
              <p:nvPr/>
            </p:nvSpPr>
            <p:spPr>
              <a:xfrm>
                <a:off x="2265680" y="1125219"/>
                <a:ext cx="290830" cy="215900"/>
              </a:xfrm>
              <a:custGeom>
                <a:avLst/>
                <a:gdLst/>
                <a:ahLst/>
                <a:cxnLst/>
                <a:rect l="l" t="t" r="r" b="b"/>
                <a:pathLst>
                  <a:path w="290830" h="215900">
                    <a:moveTo>
                      <a:pt x="3810" y="0"/>
                    </a:moveTo>
                    <a:lnTo>
                      <a:pt x="0" y="0"/>
                    </a:lnTo>
                    <a:lnTo>
                      <a:pt x="0" y="215900"/>
                    </a:lnTo>
                    <a:lnTo>
                      <a:pt x="3810" y="215900"/>
                    </a:lnTo>
                    <a:lnTo>
                      <a:pt x="3810" y="0"/>
                    </a:lnTo>
                    <a:close/>
                  </a:path>
                  <a:path w="290830" h="215900">
                    <a:moveTo>
                      <a:pt x="290830" y="0"/>
                    </a:moveTo>
                    <a:lnTo>
                      <a:pt x="287020" y="0"/>
                    </a:lnTo>
                    <a:lnTo>
                      <a:pt x="287020" y="40640"/>
                    </a:lnTo>
                    <a:lnTo>
                      <a:pt x="287642" y="40640"/>
                    </a:lnTo>
                    <a:lnTo>
                      <a:pt x="287642" y="107950"/>
                    </a:lnTo>
                    <a:lnTo>
                      <a:pt x="287655" y="173990"/>
                    </a:lnTo>
                    <a:lnTo>
                      <a:pt x="287020" y="173990"/>
                    </a:lnTo>
                    <a:lnTo>
                      <a:pt x="287020" y="215900"/>
                    </a:lnTo>
                    <a:lnTo>
                      <a:pt x="290830" y="215900"/>
                    </a:lnTo>
                    <a:lnTo>
                      <a:pt x="290830" y="173990"/>
                    </a:lnTo>
                    <a:lnTo>
                      <a:pt x="290830" y="107950"/>
                    </a:lnTo>
                    <a:lnTo>
                      <a:pt x="290830" y="40640"/>
                    </a:lnTo>
                    <a:lnTo>
                      <a:pt x="290830" y="0"/>
                    </a:lnTo>
                    <a:close/>
                  </a:path>
                </a:pathLst>
              </a:custGeom>
              <a:solidFill>
                <a:srgbClr val="030303"/>
              </a:solidFill>
            </p:spPr>
            <p:txBody>
              <a:bodyPr wrap="square" lIns="0" tIns="0" rIns="0" bIns="0" rtlCol="0"/>
              <a:lstStyle/>
              <a:p>
                <a:endParaRPr/>
              </a:p>
            </p:txBody>
          </p:sp>
          <p:sp>
            <p:nvSpPr>
              <p:cNvPr id="107" name="object 107"/>
              <p:cNvSpPr/>
              <p:nvPr/>
            </p:nvSpPr>
            <p:spPr>
              <a:xfrm>
                <a:off x="2269490" y="1125219"/>
                <a:ext cx="283845" cy="215900"/>
              </a:xfrm>
              <a:custGeom>
                <a:avLst/>
                <a:gdLst/>
                <a:ahLst/>
                <a:cxnLst/>
                <a:rect l="l" t="t" r="r" b="b"/>
                <a:pathLst>
                  <a:path w="283844" h="215900">
                    <a:moveTo>
                      <a:pt x="3810" y="0"/>
                    </a:moveTo>
                    <a:lnTo>
                      <a:pt x="0" y="0"/>
                    </a:lnTo>
                    <a:lnTo>
                      <a:pt x="0" y="215900"/>
                    </a:lnTo>
                    <a:lnTo>
                      <a:pt x="3810" y="215900"/>
                    </a:lnTo>
                    <a:lnTo>
                      <a:pt x="3810" y="0"/>
                    </a:lnTo>
                    <a:close/>
                  </a:path>
                  <a:path w="283844" h="215900">
                    <a:moveTo>
                      <a:pt x="283845" y="107950"/>
                    </a:moveTo>
                    <a:lnTo>
                      <a:pt x="283832" y="40640"/>
                    </a:lnTo>
                    <a:lnTo>
                      <a:pt x="283210" y="40640"/>
                    </a:lnTo>
                    <a:lnTo>
                      <a:pt x="283210" y="0"/>
                    </a:lnTo>
                    <a:lnTo>
                      <a:pt x="280276" y="0"/>
                    </a:lnTo>
                    <a:lnTo>
                      <a:pt x="280276" y="40640"/>
                    </a:lnTo>
                    <a:lnTo>
                      <a:pt x="280670" y="40640"/>
                    </a:lnTo>
                    <a:lnTo>
                      <a:pt x="280670" y="107950"/>
                    </a:lnTo>
                    <a:lnTo>
                      <a:pt x="280670" y="173990"/>
                    </a:lnTo>
                    <a:lnTo>
                      <a:pt x="280263" y="173990"/>
                    </a:lnTo>
                    <a:lnTo>
                      <a:pt x="280263" y="215900"/>
                    </a:lnTo>
                    <a:lnTo>
                      <a:pt x="283210" y="215900"/>
                    </a:lnTo>
                    <a:lnTo>
                      <a:pt x="283210" y="173990"/>
                    </a:lnTo>
                    <a:lnTo>
                      <a:pt x="283845" y="173990"/>
                    </a:lnTo>
                    <a:lnTo>
                      <a:pt x="283845" y="107950"/>
                    </a:lnTo>
                    <a:close/>
                  </a:path>
                </a:pathLst>
              </a:custGeom>
              <a:solidFill>
                <a:srgbClr val="050505"/>
              </a:solidFill>
            </p:spPr>
            <p:txBody>
              <a:bodyPr wrap="square" lIns="0" tIns="0" rIns="0" bIns="0" rtlCol="0"/>
              <a:lstStyle/>
              <a:p>
                <a:endParaRPr/>
              </a:p>
            </p:txBody>
          </p:sp>
          <p:sp>
            <p:nvSpPr>
              <p:cNvPr id="108" name="object 108"/>
              <p:cNvSpPr/>
              <p:nvPr/>
            </p:nvSpPr>
            <p:spPr>
              <a:xfrm>
                <a:off x="2273300" y="1125219"/>
                <a:ext cx="276860" cy="215900"/>
              </a:xfrm>
              <a:custGeom>
                <a:avLst/>
                <a:gdLst/>
                <a:ahLst/>
                <a:cxnLst/>
                <a:rect l="l" t="t" r="r" b="b"/>
                <a:pathLst>
                  <a:path w="276860" h="215900">
                    <a:moveTo>
                      <a:pt x="2933" y="0"/>
                    </a:moveTo>
                    <a:lnTo>
                      <a:pt x="0" y="0"/>
                    </a:lnTo>
                    <a:lnTo>
                      <a:pt x="0" y="40640"/>
                    </a:lnTo>
                    <a:lnTo>
                      <a:pt x="0" y="173990"/>
                    </a:lnTo>
                    <a:lnTo>
                      <a:pt x="0" y="215900"/>
                    </a:lnTo>
                    <a:lnTo>
                      <a:pt x="2933" y="215900"/>
                    </a:lnTo>
                    <a:lnTo>
                      <a:pt x="2933" y="173990"/>
                    </a:lnTo>
                    <a:lnTo>
                      <a:pt x="2540" y="173990"/>
                    </a:lnTo>
                    <a:lnTo>
                      <a:pt x="2540" y="40640"/>
                    </a:lnTo>
                    <a:lnTo>
                      <a:pt x="2933" y="40640"/>
                    </a:lnTo>
                    <a:lnTo>
                      <a:pt x="2933" y="0"/>
                    </a:lnTo>
                    <a:close/>
                  </a:path>
                  <a:path w="276860" h="215900">
                    <a:moveTo>
                      <a:pt x="276860" y="40640"/>
                    </a:moveTo>
                    <a:lnTo>
                      <a:pt x="276466" y="40640"/>
                    </a:lnTo>
                    <a:lnTo>
                      <a:pt x="276466" y="0"/>
                    </a:lnTo>
                    <a:lnTo>
                      <a:pt x="272643" y="0"/>
                    </a:lnTo>
                    <a:lnTo>
                      <a:pt x="272643" y="40640"/>
                    </a:lnTo>
                    <a:lnTo>
                      <a:pt x="273050" y="40640"/>
                    </a:lnTo>
                    <a:lnTo>
                      <a:pt x="273050" y="173990"/>
                    </a:lnTo>
                    <a:lnTo>
                      <a:pt x="272643" y="173990"/>
                    </a:lnTo>
                    <a:lnTo>
                      <a:pt x="272643" y="215900"/>
                    </a:lnTo>
                    <a:lnTo>
                      <a:pt x="276453" y="215900"/>
                    </a:lnTo>
                    <a:lnTo>
                      <a:pt x="276453" y="173990"/>
                    </a:lnTo>
                    <a:lnTo>
                      <a:pt x="276860" y="173990"/>
                    </a:lnTo>
                    <a:lnTo>
                      <a:pt x="276860" y="40640"/>
                    </a:lnTo>
                    <a:close/>
                  </a:path>
                </a:pathLst>
              </a:custGeom>
              <a:solidFill>
                <a:srgbClr val="070707"/>
              </a:solidFill>
            </p:spPr>
            <p:txBody>
              <a:bodyPr wrap="square" lIns="0" tIns="0" rIns="0" bIns="0" rtlCol="0"/>
              <a:lstStyle/>
              <a:p>
                <a:endParaRPr/>
              </a:p>
            </p:txBody>
          </p:sp>
          <p:sp>
            <p:nvSpPr>
              <p:cNvPr id="109" name="object 109"/>
              <p:cNvSpPr/>
              <p:nvPr/>
            </p:nvSpPr>
            <p:spPr>
              <a:xfrm>
                <a:off x="2275840" y="1125219"/>
                <a:ext cx="270510" cy="215900"/>
              </a:xfrm>
              <a:custGeom>
                <a:avLst/>
                <a:gdLst/>
                <a:ahLst/>
                <a:cxnLst/>
                <a:rect l="l" t="t" r="r" b="b"/>
                <a:pathLst>
                  <a:path w="270510" h="215900">
                    <a:moveTo>
                      <a:pt x="4229" y="173990"/>
                    </a:moveTo>
                    <a:lnTo>
                      <a:pt x="3822" y="173990"/>
                    </a:lnTo>
                    <a:lnTo>
                      <a:pt x="3822" y="40640"/>
                    </a:lnTo>
                    <a:lnTo>
                      <a:pt x="4216" y="40640"/>
                    </a:lnTo>
                    <a:lnTo>
                      <a:pt x="4216" y="0"/>
                    </a:lnTo>
                    <a:lnTo>
                      <a:pt x="393" y="0"/>
                    </a:lnTo>
                    <a:lnTo>
                      <a:pt x="393" y="40640"/>
                    </a:lnTo>
                    <a:lnTo>
                      <a:pt x="0" y="40640"/>
                    </a:lnTo>
                    <a:lnTo>
                      <a:pt x="0" y="173990"/>
                    </a:lnTo>
                    <a:lnTo>
                      <a:pt x="393" y="173990"/>
                    </a:lnTo>
                    <a:lnTo>
                      <a:pt x="393" y="215900"/>
                    </a:lnTo>
                    <a:lnTo>
                      <a:pt x="4229" y="215900"/>
                    </a:lnTo>
                    <a:lnTo>
                      <a:pt x="4229" y="173990"/>
                    </a:lnTo>
                    <a:close/>
                  </a:path>
                  <a:path w="270510" h="215900">
                    <a:moveTo>
                      <a:pt x="270510" y="40640"/>
                    </a:moveTo>
                    <a:lnTo>
                      <a:pt x="270103" y="40640"/>
                    </a:lnTo>
                    <a:lnTo>
                      <a:pt x="270103" y="0"/>
                    </a:lnTo>
                    <a:lnTo>
                      <a:pt x="266700" y="0"/>
                    </a:lnTo>
                    <a:lnTo>
                      <a:pt x="266700" y="40640"/>
                    </a:lnTo>
                    <a:lnTo>
                      <a:pt x="266700" y="173990"/>
                    </a:lnTo>
                    <a:lnTo>
                      <a:pt x="266700" y="215900"/>
                    </a:lnTo>
                    <a:lnTo>
                      <a:pt x="270103" y="215900"/>
                    </a:lnTo>
                    <a:lnTo>
                      <a:pt x="270103" y="173990"/>
                    </a:lnTo>
                    <a:lnTo>
                      <a:pt x="270510" y="173990"/>
                    </a:lnTo>
                    <a:lnTo>
                      <a:pt x="270510" y="40640"/>
                    </a:lnTo>
                    <a:close/>
                  </a:path>
                </a:pathLst>
              </a:custGeom>
              <a:solidFill>
                <a:srgbClr val="090909"/>
              </a:solidFill>
            </p:spPr>
            <p:txBody>
              <a:bodyPr wrap="square" lIns="0" tIns="0" rIns="0" bIns="0" rtlCol="0"/>
              <a:lstStyle/>
              <a:p>
                <a:endParaRPr/>
              </a:p>
            </p:txBody>
          </p:sp>
          <p:sp>
            <p:nvSpPr>
              <p:cNvPr id="110" name="object 110"/>
              <p:cNvSpPr/>
              <p:nvPr/>
            </p:nvSpPr>
            <p:spPr>
              <a:xfrm>
                <a:off x="2279650" y="1125219"/>
                <a:ext cx="262890" cy="215900"/>
              </a:xfrm>
              <a:custGeom>
                <a:avLst/>
                <a:gdLst/>
                <a:ahLst/>
                <a:cxnLst/>
                <a:rect l="l" t="t" r="r" b="b"/>
                <a:pathLst>
                  <a:path w="26288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62889" h="215900">
                    <a:moveTo>
                      <a:pt x="262890" y="0"/>
                    </a:moveTo>
                    <a:lnTo>
                      <a:pt x="259080" y="0"/>
                    </a:lnTo>
                    <a:lnTo>
                      <a:pt x="259080" y="215900"/>
                    </a:lnTo>
                    <a:lnTo>
                      <a:pt x="262890" y="215900"/>
                    </a:lnTo>
                    <a:lnTo>
                      <a:pt x="262890" y="0"/>
                    </a:lnTo>
                    <a:close/>
                  </a:path>
                </a:pathLst>
              </a:custGeom>
              <a:solidFill>
                <a:srgbClr val="0B0B0B"/>
              </a:solidFill>
            </p:spPr>
            <p:txBody>
              <a:bodyPr wrap="square" lIns="0" tIns="0" rIns="0" bIns="0" rtlCol="0"/>
              <a:lstStyle/>
              <a:p>
                <a:endParaRPr/>
              </a:p>
            </p:txBody>
          </p:sp>
          <p:sp>
            <p:nvSpPr>
              <p:cNvPr id="111" name="object 111"/>
              <p:cNvSpPr/>
              <p:nvPr/>
            </p:nvSpPr>
            <p:spPr>
              <a:xfrm>
                <a:off x="2283460" y="1125219"/>
                <a:ext cx="255270" cy="215900"/>
              </a:xfrm>
              <a:custGeom>
                <a:avLst/>
                <a:gdLst/>
                <a:ahLst/>
                <a:cxnLst/>
                <a:rect l="l" t="t" r="r" b="b"/>
                <a:pathLst>
                  <a:path w="255269" h="215900">
                    <a:moveTo>
                      <a:pt x="4216" y="172720"/>
                    </a:moveTo>
                    <a:lnTo>
                      <a:pt x="3810" y="172720"/>
                    </a:lnTo>
                    <a:lnTo>
                      <a:pt x="3810" y="41910"/>
                    </a:lnTo>
                    <a:lnTo>
                      <a:pt x="4203" y="41910"/>
                    </a:lnTo>
                    <a:lnTo>
                      <a:pt x="4203" y="0"/>
                    </a:lnTo>
                    <a:lnTo>
                      <a:pt x="393" y="0"/>
                    </a:lnTo>
                    <a:lnTo>
                      <a:pt x="393" y="41910"/>
                    </a:lnTo>
                    <a:lnTo>
                      <a:pt x="0" y="41910"/>
                    </a:lnTo>
                    <a:lnTo>
                      <a:pt x="0" y="172720"/>
                    </a:lnTo>
                    <a:lnTo>
                      <a:pt x="406" y="172720"/>
                    </a:lnTo>
                    <a:lnTo>
                      <a:pt x="406" y="215900"/>
                    </a:lnTo>
                    <a:lnTo>
                      <a:pt x="4216" y="215900"/>
                    </a:lnTo>
                    <a:lnTo>
                      <a:pt x="4216" y="172720"/>
                    </a:lnTo>
                    <a:close/>
                  </a:path>
                  <a:path w="255269" h="215900">
                    <a:moveTo>
                      <a:pt x="255270" y="0"/>
                    </a:moveTo>
                    <a:lnTo>
                      <a:pt x="251460" y="0"/>
                    </a:lnTo>
                    <a:lnTo>
                      <a:pt x="251460" y="215900"/>
                    </a:lnTo>
                    <a:lnTo>
                      <a:pt x="255270" y="215900"/>
                    </a:lnTo>
                    <a:lnTo>
                      <a:pt x="255270" y="0"/>
                    </a:lnTo>
                    <a:close/>
                  </a:path>
                </a:pathLst>
              </a:custGeom>
              <a:solidFill>
                <a:srgbClr val="0D0D0D"/>
              </a:solidFill>
            </p:spPr>
            <p:txBody>
              <a:bodyPr wrap="square" lIns="0" tIns="0" rIns="0" bIns="0" rtlCol="0"/>
              <a:lstStyle/>
              <a:p>
                <a:endParaRPr/>
              </a:p>
            </p:txBody>
          </p:sp>
          <p:sp>
            <p:nvSpPr>
              <p:cNvPr id="112" name="object 112"/>
              <p:cNvSpPr/>
              <p:nvPr/>
            </p:nvSpPr>
            <p:spPr>
              <a:xfrm>
                <a:off x="2287270" y="1125219"/>
                <a:ext cx="247650" cy="215900"/>
              </a:xfrm>
              <a:custGeom>
                <a:avLst/>
                <a:gdLst/>
                <a:ahLst/>
                <a:cxnLst/>
                <a:rect l="l" t="t" r="r" b="b"/>
                <a:pathLst>
                  <a:path w="247650" h="215900">
                    <a:moveTo>
                      <a:pt x="4229" y="172720"/>
                    </a:moveTo>
                    <a:lnTo>
                      <a:pt x="3810" y="172720"/>
                    </a:lnTo>
                    <a:lnTo>
                      <a:pt x="3810" y="41910"/>
                    </a:lnTo>
                    <a:lnTo>
                      <a:pt x="4216" y="41910"/>
                    </a:lnTo>
                    <a:lnTo>
                      <a:pt x="4216" y="0"/>
                    </a:lnTo>
                    <a:lnTo>
                      <a:pt x="393" y="0"/>
                    </a:lnTo>
                    <a:lnTo>
                      <a:pt x="393" y="41910"/>
                    </a:lnTo>
                    <a:lnTo>
                      <a:pt x="0" y="41910"/>
                    </a:lnTo>
                    <a:lnTo>
                      <a:pt x="0" y="172720"/>
                    </a:lnTo>
                    <a:lnTo>
                      <a:pt x="406" y="172720"/>
                    </a:lnTo>
                    <a:lnTo>
                      <a:pt x="406" y="215900"/>
                    </a:lnTo>
                    <a:lnTo>
                      <a:pt x="4229" y="215900"/>
                    </a:lnTo>
                    <a:lnTo>
                      <a:pt x="4229" y="172720"/>
                    </a:lnTo>
                    <a:close/>
                  </a:path>
                  <a:path w="247650" h="215900">
                    <a:moveTo>
                      <a:pt x="247650" y="0"/>
                    </a:moveTo>
                    <a:lnTo>
                      <a:pt x="243840" y="0"/>
                    </a:lnTo>
                    <a:lnTo>
                      <a:pt x="243840" y="215900"/>
                    </a:lnTo>
                    <a:lnTo>
                      <a:pt x="247650" y="215900"/>
                    </a:lnTo>
                    <a:lnTo>
                      <a:pt x="247650" y="0"/>
                    </a:lnTo>
                    <a:close/>
                  </a:path>
                </a:pathLst>
              </a:custGeom>
              <a:solidFill>
                <a:srgbClr val="0F0F0F"/>
              </a:solidFill>
            </p:spPr>
            <p:txBody>
              <a:bodyPr wrap="square" lIns="0" tIns="0" rIns="0" bIns="0" rtlCol="0"/>
              <a:lstStyle/>
              <a:p>
                <a:endParaRPr/>
              </a:p>
            </p:txBody>
          </p:sp>
          <p:sp>
            <p:nvSpPr>
              <p:cNvPr id="113" name="object 113"/>
              <p:cNvSpPr/>
              <p:nvPr/>
            </p:nvSpPr>
            <p:spPr>
              <a:xfrm>
                <a:off x="2291080" y="1125219"/>
                <a:ext cx="240029" cy="215900"/>
              </a:xfrm>
              <a:custGeom>
                <a:avLst/>
                <a:gdLst/>
                <a:ahLst/>
                <a:cxnLst/>
                <a:rect l="l" t="t" r="r" b="b"/>
                <a:pathLst>
                  <a:path w="240030" h="215900">
                    <a:moveTo>
                      <a:pt x="3810" y="0"/>
                    </a:moveTo>
                    <a:lnTo>
                      <a:pt x="406" y="0"/>
                    </a:lnTo>
                    <a:lnTo>
                      <a:pt x="406" y="41910"/>
                    </a:lnTo>
                    <a:lnTo>
                      <a:pt x="0" y="41910"/>
                    </a:lnTo>
                    <a:lnTo>
                      <a:pt x="0" y="172720"/>
                    </a:lnTo>
                    <a:lnTo>
                      <a:pt x="419" y="172720"/>
                    </a:lnTo>
                    <a:lnTo>
                      <a:pt x="419" y="215900"/>
                    </a:lnTo>
                    <a:lnTo>
                      <a:pt x="3810" y="215900"/>
                    </a:lnTo>
                    <a:lnTo>
                      <a:pt x="3810" y="172720"/>
                    </a:lnTo>
                    <a:lnTo>
                      <a:pt x="3810" y="41910"/>
                    </a:lnTo>
                    <a:lnTo>
                      <a:pt x="3810" y="0"/>
                    </a:lnTo>
                    <a:close/>
                  </a:path>
                  <a:path w="240030" h="215900">
                    <a:moveTo>
                      <a:pt x="240030" y="0"/>
                    </a:moveTo>
                    <a:lnTo>
                      <a:pt x="236220" y="0"/>
                    </a:lnTo>
                    <a:lnTo>
                      <a:pt x="236220" y="215900"/>
                    </a:lnTo>
                    <a:lnTo>
                      <a:pt x="240030" y="215900"/>
                    </a:lnTo>
                    <a:lnTo>
                      <a:pt x="240030" y="0"/>
                    </a:lnTo>
                    <a:close/>
                  </a:path>
                </a:pathLst>
              </a:custGeom>
              <a:solidFill>
                <a:srgbClr val="111111"/>
              </a:solidFill>
            </p:spPr>
            <p:txBody>
              <a:bodyPr wrap="square" lIns="0" tIns="0" rIns="0" bIns="0" rtlCol="0"/>
              <a:lstStyle/>
              <a:p>
                <a:endParaRPr/>
              </a:p>
            </p:txBody>
          </p:sp>
          <p:sp>
            <p:nvSpPr>
              <p:cNvPr id="114" name="object 114"/>
              <p:cNvSpPr/>
              <p:nvPr/>
            </p:nvSpPr>
            <p:spPr>
              <a:xfrm>
                <a:off x="2294890" y="1125219"/>
                <a:ext cx="232410" cy="215900"/>
              </a:xfrm>
              <a:custGeom>
                <a:avLst/>
                <a:gdLst/>
                <a:ahLst/>
                <a:cxnLst/>
                <a:rect l="l" t="t" r="r" b="b"/>
                <a:pathLst>
                  <a:path w="232410" h="215900">
                    <a:moveTo>
                      <a:pt x="3810" y="0"/>
                    </a:moveTo>
                    <a:lnTo>
                      <a:pt x="0" y="0"/>
                    </a:lnTo>
                    <a:lnTo>
                      <a:pt x="0" y="215900"/>
                    </a:lnTo>
                    <a:lnTo>
                      <a:pt x="3810" y="215900"/>
                    </a:lnTo>
                    <a:lnTo>
                      <a:pt x="3810" y="0"/>
                    </a:lnTo>
                    <a:close/>
                  </a:path>
                  <a:path w="232410" h="215900">
                    <a:moveTo>
                      <a:pt x="232410" y="0"/>
                    </a:moveTo>
                    <a:lnTo>
                      <a:pt x="229450" y="0"/>
                    </a:lnTo>
                    <a:lnTo>
                      <a:pt x="229450" y="41910"/>
                    </a:lnTo>
                    <a:lnTo>
                      <a:pt x="229870" y="41910"/>
                    </a:lnTo>
                    <a:lnTo>
                      <a:pt x="229870" y="172720"/>
                    </a:lnTo>
                    <a:lnTo>
                      <a:pt x="229438" y="172720"/>
                    </a:lnTo>
                    <a:lnTo>
                      <a:pt x="229438" y="215900"/>
                    </a:lnTo>
                    <a:lnTo>
                      <a:pt x="232410" y="215900"/>
                    </a:lnTo>
                    <a:lnTo>
                      <a:pt x="232410" y="172720"/>
                    </a:lnTo>
                    <a:lnTo>
                      <a:pt x="232410" y="41910"/>
                    </a:lnTo>
                    <a:lnTo>
                      <a:pt x="232410" y="0"/>
                    </a:lnTo>
                    <a:close/>
                  </a:path>
                </a:pathLst>
              </a:custGeom>
              <a:solidFill>
                <a:srgbClr val="131313"/>
              </a:solidFill>
            </p:spPr>
            <p:txBody>
              <a:bodyPr wrap="square" lIns="0" tIns="0" rIns="0" bIns="0" rtlCol="0"/>
              <a:lstStyle/>
              <a:p>
                <a:endParaRPr/>
              </a:p>
            </p:txBody>
          </p:sp>
          <p:sp>
            <p:nvSpPr>
              <p:cNvPr id="115" name="object 115"/>
              <p:cNvSpPr/>
              <p:nvPr/>
            </p:nvSpPr>
            <p:spPr>
              <a:xfrm>
                <a:off x="2298700" y="1125219"/>
                <a:ext cx="226060" cy="215900"/>
              </a:xfrm>
              <a:custGeom>
                <a:avLst/>
                <a:gdLst/>
                <a:ahLst/>
                <a:cxnLst/>
                <a:rect l="l" t="t" r="r" b="b"/>
                <a:pathLst>
                  <a:path w="226060" h="215900">
                    <a:moveTo>
                      <a:pt x="2971" y="0"/>
                    </a:moveTo>
                    <a:lnTo>
                      <a:pt x="0" y="0"/>
                    </a:lnTo>
                    <a:lnTo>
                      <a:pt x="0" y="41910"/>
                    </a:lnTo>
                    <a:lnTo>
                      <a:pt x="0" y="172720"/>
                    </a:lnTo>
                    <a:lnTo>
                      <a:pt x="0" y="215900"/>
                    </a:lnTo>
                    <a:lnTo>
                      <a:pt x="2959" y="215900"/>
                    </a:lnTo>
                    <a:lnTo>
                      <a:pt x="2959" y="172720"/>
                    </a:lnTo>
                    <a:lnTo>
                      <a:pt x="2540" y="172720"/>
                    </a:lnTo>
                    <a:lnTo>
                      <a:pt x="2540" y="41910"/>
                    </a:lnTo>
                    <a:lnTo>
                      <a:pt x="2971" y="41910"/>
                    </a:lnTo>
                    <a:lnTo>
                      <a:pt x="2971" y="0"/>
                    </a:lnTo>
                    <a:close/>
                  </a:path>
                  <a:path w="226060" h="215900">
                    <a:moveTo>
                      <a:pt x="226060" y="41910"/>
                    </a:moveTo>
                    <a:lnTo>
                      <a:pt x="225640" y="41910"/>
                    </a:lnTo>
                    <a:lnTo>
                      <a:pt x="225640" y="0"/>
                    </a:lnTo>
                    <a:lnTo>
                      <a:pt x="221805" y="0"/>
                    </a:lnTo>
                    <a:lnTo>
                      <a:pt x="221805" y="41910"/>
                    </a:lnTo>
                    <a:lnTo>
                      <a:pt x="222237" y="41910"/>
                    </a:lnTo>
                    <a:lnTo>
                      <a:pt x="222237" y="172720"/>
                    </a:lnTo>
                    <a:lnTo>
                      <a:pt x="221818" y="172720"/>
                    </a:lnTo>
                    <a:lnTo>
                      <a:pt x="221818" y="215900"/>
                    </a:lnTo>
                    <a:lnTo>
                      <a:pt x="225628" y="215900"/>
                    </a:lnTo>
                    <a:lnTo>
                      <a:pt x="225628" y="172720"/>
                    </a:lnTo>
                    <a:lnTo>
                      <a:pt x="226060" y="172720"/>
                    </a:lnTo>
                    <a:lnTo>
                      <a:pt x="226060" y="41910"/>
                    </a:lnTo>
                    <a:close/>
                  </a:path>
                </a:pathLst>
              </a:custGeom>
              <a:solidFill>
                <a:srgbClr val="151515"/>
              </a:solidFill>
            </p:spPr>
            <p:txBody>
              <a:bodyPr wrap="square" lIns="0" tIns="0" rIns="0" bIns="0" rtlCol="0"/>
              <a:lstStyle/>
              <a:p>
                <a:endParaRPr/>
              </a:p>
            </p:txBody>
          </p:sp>
          <p:sp>
            <p:nvSpPr>
              <p:cNvPr id="116" name="object 116"/>
              <p:cNvSpPr/>
              <p:nvPr/>
            </p:nvSpPr>
            <p:spPr>
              <a:xfrm>
                <a:off x="2301240" y="1125219"/>
                <a:ext cx="219710" cy="215900"/>
              </a:xfrm>
              <a:custGeom>
                <a:avLst/>
                <a:gdLst/>
                <a:ahLst/>
                <a:cxnLst/>
                <a:rect l="l" t="t" r="r" b="b"/>
                <a:pathLst>
                  <a:path w="219710" h="215900">
                    <a:moveTo>
                      <a:pt x="4241" y="172720"/>
                    </a:moveTo>
                    <a:lnTo>
                      <a:pt x="3810" y="172720"/>
                    </a:lnTo>
                    <a:lnTo>
                      <a:pt x="3810" y="43180"/>
                    </a:lnTo>
                    <a:lnTo>
                      <a:pt x="4229" y="43180"/>
                    </a:lnTo>
                    <a:lnTo>
                      <a:pt x="4229" y="0"/>
                    </a:lnTo>
                    <a:lnTo>
                      <a:pt x="419" y="0"/>
                    </a:lnTo>
                    <a:lnTo>
                      <a:pt x="419" y="43180"/>
                    </a:lnTo>
                    <a:lnTo>
                      <a:pt x="0" y="43180"/>
                    </a:lnTo>
                    <a:lnTo>
                      <a:pt x="0" y="172720"/>
                    </a:lnTo>
                    <a:lnTo>
                      <a:pt x="419" y="172720"/>
                    </a:lnTo>
                    <a:lnTo>
                      <a:pt x="419" y="215900"/>
                    </a:lnTo>
                    <a:lnTo>
                      <a:pt x="4241" y="215900"/>
                    </a:lnTo>
                    <a:lnTo>
                      <a:pt x="4241" y="172720"/>
                    </a:lnTo>
                    <a:close/>
                  </a:path>
                  <a:path w="219710" h="215900">
                    <a:moveTo>
                      <a:pt x="219710" y="43180"/>
                    </a:moveTo>
                    <a:lnTo>
                      <a:pt x="219278" y="43180"/>
                    </a:lnTo>
                    <a:lnTo>
                      <a:pt x="219278" y="0"/>
                    </a:lnTo>
                    <a:lnTo>
                      <a:pt x="215468" y="0"/>
                    </a:lnTo>
                    <a:lnTo>
                      <a:pt x="215468" y="43180"/>
                    </a:lnTo>
                    <a:lnTo>
                      <a:pt x="215900" y="43180"/>
                    </a:lnTo>
                    <a:lnTo>
                      <a:pt x="215900" y="172720"/>
                    </a:lnTo>
                    <a:lnTo>
                      <a:pt x="215468" y="172720"/>
                    </a:lnTo>
                    <a:lnTo>
                      <a:pt x="215468" y="215900"/>
                    </a:lnTo>
                    <a:lnTo>
                      <a:pt x="219278" y="215900"/>
                    </a:lnTo>
                    <a:lnTo>
                      <a:pt x="219278" y="172720"/>
                    </a:lnTo>
                    <a:lnTo>
                      <a:pt x="219710" y="172720"/>
                    </a:lnTo>
                    <a:lnTo>
                      <a:pt x="219710" y="43180"/>
                    </a:lnTo>
                    <a:close/>
                  </a:path>
                </a:pathLst>
              </a:custGeom>
              <a:solidFill>
                <a:srgbClr val="171717"/>
              </a:solidFill>
            </p:spPr>
            <p:txBody>
              <a:bodyPr wrap="square" lIns="0" tIns="0" rIns="0" bIns="0" rtlCol="0"/>
              <a:lstStyle/>
              <a:p>
                <a:endParaRPr/>
              </a:p>
            </p:txBody>
          </p:sp>
          <p:sp>
            <p:nvSpPr>
              <p:cNvPr id="117" name="object 117"/>
              <p:cNvSpPr/>
              <p:nvPr/>
            </p:nvSpPr>
            <p:spPr>
              <a:xfrm>
                <a:off x="2305050" y="1125219"/>
                <a:ext cx="212090" cy="215900"/>
              </a:xfrm>
              <a:custGeom>
                <a:avLst/>
                <a:gdLst/>
                <a:ahLst/>
                <a:cxnLst/>
                <a:rect l="l" t="t" r="r" b="b"/>
                <a:pathLst>
                  <a:path w="212089" h="215900">
                    <a:moveTo>
                      <a:pt x="3810" y="0"/>
                    </a:moveTo>
                    <a:lnTo>
                      <a:pt x="419" y="0"/>
                    </a:lnTo>
                    <a:lnTo>
                      <a:pt x="419" y="43180"/>
                    </a:lnTo>
                    <a:lnTo>
                      <a:pt x="0" y="43180"/>
                    </a:lnTo>
                    <a:lnTo>
                      <a:pt x="0" y="172720"/>
                    </a:lnTo>
                    <a:lnTo>
                      <a:pt x="431" y="172720"/>
                    </a:lnTo>
                    <a:lnTo>
                      <a:pt x="431" y="215900"/>
                    </a:lnTo>
                    <a:lnTo>
                      <a:pt x="3810" y="215900"/>
                    </a:lnTo>
                    <a:lnTo>
                      <a:pt x="3810" y="172720"/>
                    </a:lnTo>
                    <a:lnTo>
                      <a:pt x="3810" y="43180"/>
                    </a:lnTo>
                    <a:lnTo>
                      <a:pt x="3810" y="0"/>
                    </a:lnTo>
                    <a:close/>
                  </a:path>
                  <a:path w="212089" h="215900">
                    <a:moveTo>
                      <a:pt x="212090" y="43180"/>
                    </a:moveTo>
                    <a:lnTo>
                      <a:pt x="211658" y="43180"/>
                    </a:lnTo>
                    <a:lnTo>
                      <a:pt x="211658" y="0"/>
                    </a:lnTo>
                    <a:lnTo>
                      <a:pt x="208280" y="0"/>
                    </a:lnTo>
                    <a:lnTo>
                      <a:pt x="208280" y="43180"/>
                    </a:lnTo>
                    <a:lnTo>
                      <a:pt x="208280" y="172720"/>
                    </a:lnTo>
                    <a:lnTo>
                      <a:pt x="208280" y="215900"/>
                    </a:lnTo>
                    <a:lnTo>
                      <a:pt x="211658" y="215900"/>
                    </a:lnTo>
                    <a:lnTo>
                      <a:pt x="211658" y="172720"/>
                    </a:lnTo>
                    <a:lnTo>
                      <a:pt x="212090" y="172720"/>
                    </a:lnTo>
                    <a:lnTo>
                      <a:pt x="212090" y="43180"/>
                    </a:lnTo>
                    <a:close/>
                  </a:path>
                </a:pathLst>
              </a:custGeom>
              <a:solidFill>
                <a:srgbClr val="191919"/>
              </a:solidFill>
            </p:spPr>
            <p:txBody>
              <a:bodyPr wrap="square" lIns="0" tIns="0" rIns="0" bIns="0" rtlCol="0"/>
              <a:lstStyle/>
              <a:p>
                <a:endParaRPr/>
              </a:p>
            </p:txBody>
          </p:sp>
          <p:sp>
            <p:nvSpPr>
              <p:cNvPr id="118" name="object 118"/>
              <p:cNvSpPr/>
              <p:nvPr/>
            </p:nvSpPr>
            <p:spPr>
              <a:xfrm>
                <a:off x="2308860" y="1125219"/>
                <a:ext cx="204470" cy="215900"/>
              </a:xfrm>
              <a:custGeom>
                <a:avLst/>
                <a:gdLst/>
                <a:ahLst/>
                <a:cxnLst/>
                <a:rect l="l" t="t" r="r" b="b"/>
                <a:pathLst>
                  <a:path w="204469" h="215900">
                    <a:moveTo>
                      <a:pt x="3810" y="0"/>
                    </a:moveTo>
                    <a:lnTo>
                      <a:pt x="0" y="0"/>
                    </a:lnTo>
                    <a:lnTo>
                      <a:pt x="0" y="215900"/>
                    </a:lnTo>
                    <a:lnTo>
                      <a:pt x="3810" y="215900"/>
                    </a:lnTo>
                    <a:lnTo>
                      <a:pt x="3810" y="0"/>
                    </a:lnTo>
                    <a:close/>
                  </a:path>
                  <a:path w="204469" h="215900">
                    <a:moveTo>
                      <a:pt x="204470" y="0"/>
                    </a:moveTo>
                    <a:lnTo>
                      <a:pt x="200660" y="0"/>
                    </a:lnTo>
                    <a:lnTo>
                      <a:pt x="200660" y="215900"/>
                    </a:lnTo>
                    <a:lnTo>
                      <a:pt x="204470" y="215900"/>
                    </a:lnTo>
                    <a:lnTo>
                      <a:pt x="204470" y="0"/>
                    </a:lnTo>
                    <a:close/>
                  </a:path>
                </a:pathLst>
              </a:custGeom>
              <a:solidFill>
                <a:srgbClr val="1B1B1B"/>
              </a:solidFill>
            </p:spPr>
            <p:txBody>
              <a:bodyPr wrap="square" lIns="0" tIns="0" rIns="0" bIns="0" rtlCol="0"/>
              <a:lstStyle/>
              <a:p>
                <a:endParaRPr/>
              </a:p>
            </p:txBody>
          </p:sp>
          <p:sp>
            <p:nvSpPr>
              <p:cNvPr id="119" name="object 119"/>
              <p:cNvSpPr/>
              <p:nvPr/>
            </p:nvSpPr>
            <p:spPr>
              <a:xfrm>
                <a:off x="2312670" y="1125219"/>
                <a:ext cx="196850" cy="215900"/>
              </a:xfrm>
              <a:custGeom>
                <a:avLst/>
                <a:gdLst/>
                <a:ahLst/>
                <a:cxnLst/>
                <a:rect l="l" t="t" r="r" b="b"/>
                <a:pathLst>
                  <a:path w="196850" h="215900">
                    <a:moveTo>
                      <a:pt x="3810" y="0"/>
                    </a:moveTo>
                    <a:lnTo>
                      <a:pt x="0" y="0"/>
                    </a:lnTo>
                    <a:lnTo>
                      <a:pt x="0" y="215900"/>
                    </a:lnTo>
                    <a:lnTo>
                      <a:pt x="3810" y="215900"/>
                    </a:lnTo>
                    <a:lnTo>
                      <a:pt x="3810" y="0"/>
                    </a:lnTo>
                    <a:close/>
                  </a:path>
                  <a:path w="196850" h="215900">
                    <a:moveTo>
                      <a:pt x="196850" y="0"/>
                    </a:moveTo>
                    <a:lnTo>
                      <a:pt x="193040" y="0"/>
                    </a:lnTo>
                    <a:lnTo>
                      <a:pt x="193040" y="215900"/>
                    </a:lnTo>
                    <a:lnTo>
                      <a:pt x="196850" y="215900"/>
                    </a:lnTo>
                    <a:lnTo>
                      <a:pt x="196850" y="0"/>
                    </a:lnTo>
                    <a:close/>
                  </a:path>
                </a:pathLst>
              </a:custGeom>
              <a:solidFill>
                <a:srgbClr val="1D1D1D"/>
              </a:solidFill>
            </p:spPr>
            <p:txBody>
              <a:bodyPr wrap="square" lIns="0" tIns="0" rIns="0" bIns="0" rtlCol="0"/>
              <a:lstStyle/>
              <a:p>
                <a:endParaRPr/>
              </a:p>
            </p:txBody>
          </p:sp>
          <p:sp>
            <p:nvSpPr>
              <p:cNvPr id="120" name="object 120"/>
              <p:cNvSpPr/>
              <p:nvPr/>
            </p:nvSpPr>
            <p:spPr>
              <a:xfrm>
                <a:off x="2316480" y="1125219"/>
                <a:ext cx="189230" cy="215900"/>
              </a:xfrm>
              <a:custGeom>
                <a:avLst/>
                <a:gdLst/>
                <a:ahLst/>
                <a:cxnLst/>
                <a:rect l="l" t="t" r="r" b="b"/>
                <a:pathLst>
                  <a:path w="189230" h="215900">
                    <a:moveTo>
                      <a:pt x="3810" y="0"/>
                    </a:moveTo>
                    <a:lnTo>
                      <a:pt x="0" y="0"/>
                    </a:lnTo>
                    <a:lnTo>
                      <a:pt x="0" y="215900"/>
                    </a:lnTo>
                    <a:lnTo>
                      <a:pt x="3810" y="215900"/>
                    </a:lnTo>
                    <a:lnTo>
                      <a:pt x="3810" y="0"/>
                    </a:lnTo>
                    <a:close/>
                  </a:path>
                  <a:path w="189230" h="215900">
                    <a:moveTo>
                      <a:pt x="189230" y="0"/>
                    </a:moveTo>
                    <a:lnTo>
                      <a:pt x="185420" y="0"/>
                    </a:lnTo>
                    <a:lnTo>
                      <a:pt x="185420" y="215900"/>
                    </a:lnTo>
                    <a:lnTo>
                      <a:pt x="189230" y="215900"/>
                    </a:lnTo>
                    <a:lnTo>
                      <a:pt x="189230" y="0"/>
                    </a:lnTo>
                    <a:close/>
                  </a:path>
                </a:pathLst>
              </a:custGeom>
              <a:solidFill>
                <a:srgbClr val="1F1F1F"/>
              </a:solidFill>
            </p:spPr>
            <p:txBody>
              <a:bodyPr wrap="square" lIns="0" tIns="0" rIns="0" bIns="0" rtlCol="0"/>
              <a:lstStyle/>
              <a:p>
                <a:endParaRPr/>
              </a:p>
            </p:txBody>
          </p:sp>
          <p:sp>
            <p:nvSpPr>
              <p:cNvPr id="121" name="object 121"/>
              <p:cNvSpPr/>
              <p:nvPr/>
            </p:nvSpPr>
            <p:spPr>
              <a:xfrm>
                <a:off x="2320290" y="1125219"/>
                <a:ext cx="181610" cy="215900"/>
              </a:xfrm>
              <a:custGeom>
                <a:avLst/>
                <a:gdLst/>
                <a:ahLst/>
                <a:cxnLst/>
                <a:rect l="l" t="t" r="r" b="b"/>
                <a:pathLst>
                  <a:path w="181610" h="215900">
                    <a:moveTo>
                      <a:pt x="3810" y="0"/>
                    </a:moveTo>
                    <a:lnTo>
                      <a:pt x="0" y="0"/>
                    </a:lnTo>
                    <a:lnTo>
                      <a:pt x="0" y="215900"/>
                    </a:lnTo>
                    <a:lnTo>
                      <a:pt x="3810" y="215900"/>
                    </a:lnTo>
                    <a:lnTo>
                      <a:pt x="3810" y="0"/>
                    </a:lnTo>
                    <a:close/>
                  </a:path>
                  <a:path w="181610" h="215900">
                    <a:moveTo>
                      <a:pt x="181610" y="0"/>
                    </a:moveTo>
                    <a:lnTo>
                      <a:pt x="178638" y="0"/>
                    </a:lnTo>
                    <a:lnTo>
                      <a:pt x="178638" y="43180"/>
                    </a:lnTo>
                    <a:lnTo>
                      <a:pt x="179070" y="43180"/>
                    </a:lnTo>
                    <a:lnTo>
                      <a:pt x="179070" y="171450"/>
                    </a:lnTo>
                    <a:lnTo>
                      <a:pt x="178625" y="171450"/>
                    </a:lnTo>
                    <a:lnTo>
                      <a:pt x="178625" y="215900"/>
                    </a:lnTo>
                    <a:lnTo>
                      <a:pt x="181610" y="215900"/>
                    </a:lnTo>
                    <a:lnTo>
                      <a:pt x="181610" y="171450"/>
                    </a:lnTo>
                    <a:lnTo>
                      <a:pt x="181610" y="43180"/>
                    </a:lnTo>
                    <a:lnTo>
                      <a:pt x="181610" y="0"/>
                    </a:lnTo>
                    <a:close/>
                  </a:path>
                </a:pathLst>
              </a:custGeom>
              <a:solidFill>
                <a:srgbClr val="212121"/>
              </a:solidFill>
            </p:spPr>
            <p:txBody>
              <a:bodyPr wrap="square" lIns="0" tIns="0" rIns="0" bIns="0" rtlCol="0"/>
              <a:lstStyle/>
              <a:p>
                <a:endParaRPr/>
              </a:p>
            </p:txBody>
          </p:sp>
          <p:sp>
            <p:nvSpPr>
              <p:cNvPr id="122" name="object 122"/>
              <p:cNvSpPr/>
              <p:nvPr/>
            </p:nvSpPr>
            <p:spPr>
              <a:xfrm>
                <a:off x="2324100" y="1125219"/>
                <a:ext cx="175260" cy="215900"/>
              </a:xfrm>
              <a:custGeom>
                <a:avLst/>
                <a:gdLst/>
                <a:ahLst/>
                <a:cxnLst/>
                <a:rect l="l" t="t" r="r" b="b"/>
                <a:pathLst>
                  <a:path w="175260" h="215900">
                    <a:moveTo>
                      <a:pt x="3810" y="0"/>
                    </a:moveTo>
                    <a:lnTo>
                      <a:pt x="0" y="0"/>
                    </a:lnTo>
                    <a:lnTo>
                      <a:pt x="0" y="215900"/>
                    </a:lnTo>
                    <a:lnTo>
                      <a:pt x="3810" y="215900"/>
                    </a:lnTo>
                    <a:lnTo>
                      <a:pt x="3810" y="0"/>
                    </a:lnTo>
                    <a:close/>
                  </a:path>
                  <a:path w="175260" h="215900">
                    <a:moveTo>
                      <a:pt x="175260" y="43180"/>
                    </a:moveTo>
                    <a:lnTo>
                      <a:pt x="174828" y="43180"/>
                    </a:lnTo>
                    <a:lnTo>
                      <a:pt x="174828" y="0"/>
                    </a:lnTo>
                    <a:lnTo>
                      <a:pt x="171005" y="0"/>
                    </a:lnTo>
                    <a:lnTo>
                      <a:pt x="171005" y="43180"/>
                    </a:lnTo>
                    <a:lnTo>
                      <a:pt x="171450" y="43180"/>
                    </a:lnTo>
                    <a:lnTo>
                      <a:pt x="171450" y="171450"/>
                    </a:lnTo>
                    <a:lnTo>
                      <a:pt x="171005" y="171450"/>
                    </a:lnTo>
                    <a:lnTo>
                      <a:pt x="171005" y="215900"/>
                    </a:lnTo>
                    <a:lnTo>
                      <a:pt x="174815" y="215900"/>
                    </a:lnTo>
                    <a:lnTo>
                      <a:pt x="174815" y="171450"/>
                    </a:lnTo>
                    <a:lnTo>
                      <a:pt x="175260" y="171450"/>
                    </a:lnTo>
                    <a:lnTo>
                      <a:pt x="175260" y="43180"/>
                    </a:lnTo>
                    <a:close/>
                  </a:path>
                </a:pathLst>
              </a:custGeom>
              <a:solidFill>
                <a:srgbClr val="232323"/>
              </a:solidFill>
            </p:spPr>
            <p:txBody>
              <a:bodyPr wrap="square" lIns="0" tIns="0" rIns="0" bIns="0" rtlCol="0"/>
              <a:lstStyle/>
              <a:p>
                <a:endParaRPr/>
              </a:p>
            </p:txBody>
          </p:sp>
          <p:sp>
            <p:nvSpPr>
              <p:cNvPr id="123" name="object 123"/>
              <p:cNvSpPr/>
              <p:nvPr/>
            </p:nvSpPr>
            <p:spPr>
              <a:xfrm>
                <a:off x="2327910" y="1125219"/>
                <a:ext cx="167640" cy="215900"/>
              </a:xfrm>
              <a:custGeom>
                <a:avLst/>
                <a:gdLst/>
                <a:ahLst/>
                <a:cxnLst/>
                <a:rect l="l" t="t" r="r" b="b"/>
                <a:pathLst>
                  <a:path w="167639" h="215900">
                    <a:moveTo>
                      <a:pt x="3009" y="171450"/>
                    </a:moveTo>
                    <a:lnTo>
                      <a:pt x="2565" y="171450"/>
                    </a:lnTo>
                    <a:lnTo>
                      <a:pt x="2565" y="43180"/>
                    </a:lnTo>
                    <a:lnTo>
                      <a:pt x="2997" y="43180"/>
                    </a:lnTo>
                    <a:lnTo>
                      <a:pt x="2997" y="0"/>
                    </a:lnTo>
                    <a:lnTo>
                      <a:pt x="0" y="0"/>
                    </a:lnTo>
                    <a:lnTo>
                      <a:pt x="0" y="43180"/>
                    </a:lnTo>
                    <a:lnTo>
                      <a:pt x="0" y="171450"/>
                    </a:lnTo>
                    <a:lnTo>
                      <a:pt x="0" y="215900"/>
                    </a:lnTo>
                    <a:lnTo>
                      <a:pt x="3009" y="215900"/>
                    </a:lnTo>
                    <a:lnTo>
                      <a:pt x="3009" y="171450"/>
                    </a:lnTo>
                    <a:close/>
                  </a:path>
                  <a:path w="167639" h="215900">
                    <a:moveTo>
                      <a:pt x="167640" y="43180"/>
                    </a:moveTo>
                    <a:lnTo>
                      <a:pt x="167195" y="43180"/>
                    </a:lnTo>
                    <a:lnTo>
                      <a:pt x="167195" y="0"/>
                    </a:lnTo>
                    <a:lnTo>
                      <a:pt x="163830" y="0"/>
                    </a:lnTo>
                    <a:lnTo>
                      <a:pt x="163830" y="43180"/>
                    </a:lnTo>
                    <a:lnTo>
                      <a:pt x="163830" y="171450"/>
                    </a:lnTo>
                    <a:lnTo>
                      <a:pt x="163830" y="215900"/>
                    </a:lnTo>
                    <a:lnTo>
                      <a:pt x="167195" y="215900"/>
                    </a:lnTo>
                    <a:lnTo>
                      <a:pt x="167195" y="171450"/>
                    </a:lnTo>
                    <a:lnTo>
                      <a:pt x="167640" y="171450"/>
                    </a:lnTo>
                    <a:lnTo>
                      <a:pt x="167640" y="43180"/>
                    </a:lnTo>
                    <a:close/>
                  </a:path>
                </a:pathLst>
              </a:custGeom>
              <a:solidFill>
                <a:srgbClr val="252525"/>
              </a:solidFill>
            </p:spPr>
            <p:txBody>
              <a:bodyPr wrap="square" lIns="0" tIns="0" rIns="0" bIns="0" rtlCol="0"/>
              <a:lstStyle/>
              <a:p>
                <a:endParaRPr/>
              </a:p>
            </p:txBody>
          </p:sp>
          <p:sp>
            <p:nvSpPr>
              <p:cNvPr id="124" name="object 124"/>
              <p:cNvSpPr/>
              <p:nvPr/>
            </p:nvSpPr>
            <p:spPr>
              <a:xfrm>
                <a:off x="2330450" y="1125219"/>
                <a:ext cx="161290" cy="215900"/>
              </a:xfrm>
              <a:custGeom>
                <a:avLst/>
                <a:gdLst/>
                <a:ahLst/>
                <a:cxnLst/>
                <a:rect l="l" t="t" r="r" b="b"/>
                <a:pathLst>
                  <a:path w="161289" h="215900">
                    <a:moveTo>
                      <a:pt x="4267" y="170180"/>
                    </a:moveTo>
                    <a:lnTo>
                      <a:pt x="3810" y="170180"/>
                    </a:lnTo>
                    <a:lnTo>
                      <a:pt x="3810" y="44450"/>
                    </a:lnTo>
                    <a:lnTo>
                      <a:pt x="4254" y="44450"/>
                    </a:lnTo>
                    <a:lnTo>
                      <a:pt x="4254" y="0"/>
                    </a:lnTo>
                    <a:lnTo>
                      <a:pt x="444" y="0"/>
                    </a:lnTo>
                    <a:lnTo>
                      <a:pt x="444" y="44450"/>
                    </a:lnTo>
                    <a:lnTo>
                      <a:pt x="0" y="44450"/>
                    </a:lnTo>
                    <a:lnTo>
                      <a:pt x="0" y="170180"/>
                    </a:lnTo>
                    <a:lnTo>
                      <a:pt x="457" y="170180"/>
                    </a:lnTo>
                    <a:lnTo>
                      <a:pt x="457" y="215900"/>
                    </a:lnTo>
                    <a:lnTo>
                      <a:pt x="4267" y="215900"/>
                    </a:lnTo>
                    <a:lnTo>
                      <a:pt x="4267" y="170180"/>
                    </a:lnTo>
                    <a:close/>
                  </a:path>
                  <a:path w="161289" h="215900">
                    <a:moveTo>
                      <a:pt x="161290" y="0"/>
                    </a:moveTo>
                    <a:lnTo>
                      <a:pt x="157480" y="0"/>
                    </a:lnTo>
                    <a:lnTo>
                      <a:pt x="157480" y="215900"/>
                    </a:lnTo>
                    <a:lnTo>
                      <a:pt x="161290" y="215900"/>
                    </a:lnTo>
                    <a:lnTo>
                      <a:pt x="161290" y="0"/>
                    </a:lnTo>
                    <a:close/>
                  </a:path>
                </a:pathLst>
              </a:custGeom>
              <a:solidFill>
                <a:srgbClr val="272727"/>
              </a:solidFill>
            </p:spPr>
            <p:txBody>
              <a:bodyPr wrap="square" lIns="0" tIns="0" rIns="0" bIns="0" rtlCol="0"/>
              <a:lstStyle/>
              <a:p>
                <a:endParaRPr/>
              </a:p>
            </p:txBody>
          </p:sp>
          <p:sp>
            <p:nvSpPr>
              <p:cNvPr id="125" name="object 125"/>
              <p:cNvSpPr/>
              <p:nvPr/>
            </p:nvSpPr>
            <p:spPr>
              <a:xfrm>
                <a:off x="2334260" y="1125219"/>
                <a:ext cx="153670" cy="215900"/>
              </a:xfrm>
              <a:custGeom>
                <a:avLst/>
                <a:gdLst/>
                <a:ahLst/>
                <a:cxnLst/>
                <a:rect l="l" t="t" r="r" b="b"/>
                <a:pathLst>
                  <a:path w="153669"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53669" h="215900">
                    <a:moveTo>
                      <a:pt x="153670" y="0"/>
                    </a:moveTo>
                    <a:lnTo>
                      <a:pt x="149860" y="0"/>
                    </a:lnTo>
                    <a:lnTo>
                      <a:pt x="149860" y="215900"/>
                    </a:lnTo>
                    <a:lnTo>
                      <a:pt x="153670" y="215900"/>
                    </a:lnTo>
                    <a:lnTo>
                      <a:pt x="153670" y="0"/>
                    </a:lnTo>
                    <a:close/>
                  </a:path>
                </a:pathLst>
              </a:custGeom>
              <a:solidFill>
                <a:srgbClr val="292929"/>
              </a:solidFill>
            </p:spPr>
            <p:txBody>
              <a:bodyPr wrap="square" lIns="0" tIns="0" rIns="0" bIns="0" rtlCol="0"/>
              <a:lstStyle/>
              <a:p>
                <a:endParaRPr/>
              </a:p>
            </p:txBody>
          </p:sp>
          <p:sp>
            <p:nvSpPr>
              <p:cNvPr id="126" name="object 126"/>
              <p:cNvSpPr/>
              <p:nvPr/>
            </p:nvSpPr>
            <p:spPr>
              <a:xfrm>
                <a:off x="2338070" y="1125219"/>
                <a:ext cx="146050" cy="215900"/>
              </a:xfrm>
              <a:custGeom>
                <a:avLst/>
                <a:gdLst/>
                <a:ahLst/>
                <a:cxnLst/>
                <a:rect l="l" t="t" r="r" b="b"/>
                <a:pathLst>
                  <a:path w="146050" h="215900">
                    <a:moveTo>
                      <a:pt x="4267" y="170180"/>
                    </a:moveTo>
                    <a:lnTo>
                      <a:pt x="3810" y="170180"/>
                    </a:lnTo>
                    <a:lnTo>
                      <a:pt x="3810" y="44450"/>
                    </a:lnTo>
                    <a:lnTo>
                      <a:pt x="4254" y="44450"/>
                    </a:lnTo>
                    <a:lnTo>
                      <a:pt x="4254" y="0"/>
                    </a:lnTo>
                    <a:lnTo>
                      <a:pt x="0" y="0"/>
                    </a:lnTo>
                    <a:lnTo>
                      <a:pt x="0" y="44450"/>
                    </a:lnTo>
                    <a:lnTo>
                      <a:pt x="0" y="170180"/>
                    </a:lnTo>
                    <a:lnTo>
                      <a:pt x="0" y="215900"/>
                    </a:lnTo>
                    <a:lnTo>
                      <a:pt x="4267" y="215900"/>
                    </a:lnTo>
                    <a:lnTo>
                      <a:pt x="4267" y="170180"/>
                    </a:lnTo>
                    <a:close/>
                  </a:path>
                  <a:path w="146050" h="215900">
                    <a:moveTo>
                      <a:pt x="146050" y="0"/>
                    </a:moveTo>
                    <a:lnTo>
                      <a:pt x="142240" y="0"/>
                    </a:lnTo>
                    <a:lnTo>
                      <a:pt x="142240" y="215900"/>
                    </a:lnTo>
                    <a:lnTo>
                      <a:pt x="146050" y="215900"/>
                    </a:lnTo>
                    <a:lnTo>
                      <a:pt x="146050" y="0"/>
                    </a:lnTo>
                    <a:close/>
                  </a:path>
                </a:pathLst>
              </a:custGeom>
              <a:solidFill>
                <a:srgbClr val="2B2B2B"/>
              </a:solidFill>
            </p:spPr>
            <p:txBody>
              <a:bodyPr wrap="square" lIns="0" tIns="0" rIns="0" bIns="0" rtlCol="0"/>
              <a:lstStyle/>
              <a:p>
                <a:endParaRPr/>
              </a:p>
            </p:txBody>
          </p:sp>
          <p:sp>
            <p:nvSpPr>
              <p:cNvPr id="127" name="object 127"/>
              <p:cNvSpPr/>
              <p:nvPr/>
            </p:nvSpPr>
            <p:spPr>
              <a:xfrm>
                <a:off x="2341880" y="1125219"/>
                <a:ext cx="138430" cy="215900"/>
              </a:xfrm>
              <a:custGeom>
                <a:avLst/>
                <a:gdLst/>
                <a:ahLst/>
                <a:cxnLst/>
                <a:rect l="l" t="t" r="r" b="b"/>
                <a:pathLst>
                  <a:path w="138430" h="215900">
                    <a:moveTo>
                      <a:pt x="3810" y="0"/>
                    </a:moveTo>
                    <a:lnTo>
                      <a:pt x="444" y="0"/>
                    </a:lnTo>
                    <a:lnTo>
                      <a:pt x="444" y="44450"/>
                    </a:lnTo>
                    <a:lnTo>
                      <a:pt x="0" y="44450"/>
                    </a:lnTo>
                    <a:lnTo>
                      <a:pt x="0" y="170180"/>
                    </a:lnTo>
                    <a:lnTo>
                      <a:pt x="457" y="170180"/>
                    </a:lnTo>
                    <a:lnTo>
                      <a:pt x="457" y="215900"/>
                    </a:lnTo>
                    <a:lnTo>
                      <a:pt x="3810" y="215900"/>
                    </a:lnTo>
                    <a:lnTo>
                      <a:pt x="3810" y="170180"/>
                    </a:lnTo>
                    <a:lnTo>
                      <a:pt x="3810" y="44450"/>
                    </a:lnTo>
                    <a:lnTo>
                      <a:pt x="3810" y="0"/>
                    </a:lnTo>
                    <a:close/>
                  </a:path>
                  <a:path w="138430" h="215900">
                    <a:moveTo>
                      <a:pt x="138430" y="0"/>
                    </a:moveTo>
                    <a:lnTo>
                      <a:pt x="134620" y="0"/>
                    </a:lnTo>
                    <a:lnTo>
                      <a:pt x="134620" y="215900"/>
                    </a:lnTo>
                    <a:lnTo>
                      <a:pt x="138430" y="215900"/>
                    </a:lnTo>
                    <a:lnTo>
                      <a:pt x="138430" y="0"/>
                    </a:lnTo>
                    <a:close/>
                  </a:path>
                </a:pathLst>
              </a:custGeom>
              <a:solidFill>
                <a:srgbClr val="2D2D2D"/>
              </a:solidFill>
            </p:spPr>
            <p:txBody>
              <a:bodyPr wrap="square" lIns="0" tIns="0" rIns="0" bIns="0" rtlCol="0"/>
              <a:lstStyle/>
              <a:p>
                <a:endParaRPr/>
              </a:p>
            </p:txBody>
          </p:sp>
          <p:sp>
            <p:nvSpPr>
              <p:cNvPr id="128" name="object 128"/>
              <p:cNvSpPr/>
              <p:nvPr/>
            </p:nvSpPr>
            <p:spPr>
              <a:xfrm>
                <a:off x="2345690" y="1125219"/>
                <a:ext cx="130810" cy="215900"/>
              </a:xfrm>
              <a:custGeom>
                <a:avLst/>
                <a:gdLst/>
                <a:ahLst/>
                <a:cxnLst/>
                <a:rect l="l" t="t" r="r" b="b"/>
                <a:pathLst>
                  <a:path w="130810" h="215900">
                    <a:moveTo>
                      <a:pt x="3810" y="0"/>
                    </a:moveTo>
                    <a:lnTo>
                      <a:pt x="0" y="0"/>
                    </a:lnTo>
                    <a:lnTo>
                      <a:pt x="0" y="215900"/>
                    </a:lnTo>
                    <a:lnTo>
                      <a:pt x="3810" y="215900"/>
                    </a:lnTo>
                    <a:lnTo>
                      <a:pt x="3810" y="0"/>
                    </a:lnTo>
                    <a:close/>
                  </a:path>
                  <a:path w="130810" h="215900">
                    <a:moveTo>
                      <a:pt x="130810" y="0"/>
                    </a:moveTo>
                    <a:lnTo>
                      <a:pt x="127000" y="0"/>
                    </a:lnTo>
                    <a:lnTo>
                      <a:pt x="127000" y="215900"/>
                    </a:lnTo>
                    <a:lnTo>
                      <a:pt x="130810" y="215900"/>
                    </a:lnTo>
                    <a:lnTo>
                      <a:pt x="130810" y="0"/>
                    </a:lnTo>
                    <a:close/>
                  </a:path>
                </a:pathLst>
              </a:custGeom>
              <a:solidFill>
                <a:srgbClr val="2F2F2F"/>
              </a:solidFill>
            </p:spPr>
            <p:txBody>
              <a:bodyPr wrap="square" lIns="0" tIns="0" rIns="0" bIns="0" rtlCol="0"/>
              <a:lstStyle/>
              <a:p>
                <a:endParaRPr/>
              </a:p>
            </p:txBody>
          </p:sp>
          <p:sp>
            <p:nvSpPr>
              <p:cNvPr id="129" name="object 129"/>
              <p:cNvSpPr/>
              <p:nvPr/>
            </p:nvSpPr>
            <p:spPr>
              <a:xfrm>
                <a:off x="2349500" y="1125219"/>
                <a:ext cx="123189" cy="215900"/>
              </a:xfrm>
              <a:custGeom>
                <a:avLst/>
                <a:gdLst/>
                <a:ahLst/>
                <a:cxnLst/>
                <a:rect l="l" t="t" r="r" b="b"/>
                <a:pathLst>
                  <a:path w="123189" h="215900">
                    <a:moveTo>
                      <a:pt x="3810" y="0"/>
                    </a:moveTo>
                    <a:lnTo>
                      <a:pt x="0" y="0"/>
                    </a:lnTo>
                    <a:lnTo>
                      <a:pt x="0" y="215900"/>
                    </a:lnTo>
                    <a:lnTo>
                      <a:pt x="3810" y="215900"/>
                    </a:lnTo>
                    <a:lnTo>
                      <a:pt x="3810" y="0"/>
                    </a:lnTo>
                    <a:close/>
                  </a:path>
                  <a:path w="123189" h="215900">
                    <a:moveTo>
                      <a:pt x="123190" y="0"/>
                    </a:moveTo>
                    <a:lnTo>
                      <a:pt x="120180" y="0"/>
                    </a:lnTo>
                    <a:lnTo>
                      <a:pt x="120180" y="45720"/>
                    </a:lnTo>
                    <a:lnTo>
                      <a:pt x="120650" y="45720"/>
                    </a:lnTo>
                    <a:lnTo>
                      <a:pt x="120650" y="170180"/>
                    </a:lnTo>
                    <a:lnTo>
                      <a:pt x="120167" y="170180"/>
                    </a:lnTo>
                    <a:lnTo>
                      <a:pt x="120167" y="215900"/>
                    </a:lnTo>
                    <a:lnTo>
                      <a:pt x="123190" y="215900"/>
                    </a:lnTo>
                    <a:lnTo>
                      <a:pt x="123190" y="170180"/>
                    </a:lnTo>
                    <a:lnTo>
                      <a:pt x="123190" y="45720"/>
                    </a:lnTo>
                    <a:lnTo>
                      <a:pt x="123190" y="0"/>
                    </a:lnTo>
                    <a:close/>
                  </a:path>
                </a:pathLst>
              </a:custGeom>
              <a:solidFill>
                <a:srgbClr val="313131"/>
              </a:solidFill>
            </p:spPr>
            <p:txBody>
              <a:bodyPr wrap="square" lIns="0" tIns="0" rIns="0" bIns="0" rtlCol="0"/>
              <a:lstStyle/>
              <a:p>
                <a:endParaRPr/>
              </a:p>
            </p:txBody>
          </p:sp>
          <p:sp>
            <p:nvSpPr>
              <p:cNvPr id="130" name="object 130"/>
              <p:cNvSpPr/>
              <p:nvPr/>
            </p:nvSpPr>
            <p:spPr>
              <a:xfrm>
                <a:off x="2353310" y="1125219"/>
                <a:ext cx="116839" cy="215900"/>
              </a:xfrm>
              <a:custGeom>
                <a:avLst/>
                <a:gdLst/>
                <a:ahLst/>
                <a:cxnLst/>
                <a:rect l="l" t="t" r="r" b="b"/>
                <a:pathLst>
                  <a:path w="116839" h="215900">
                    <a:moveTo>
                      <a:pt x="3810" y="0"/>
                    </a:moveTo>
                    <a:lnTo>
                      <a:pt x="0" y="0"/>
                    </a:lnTo>
                    <a:lnTo>
                      <a:pt x="0" y="215900"/>
                    </a:lnTo>
                    <a:lnTo>
                      <a:pt x="3810" y="215900"/>
                    </a:lnTo>
                    <a:lnTo>
                      <a:pt x="3810" y="0"/>
                    </a:lnTo>
                    <a:close/>
                  </a:path>
                  <a:path w="116839" h="215900">
                    <a:moveTo>
                      <a:pt x="116840" y="45720"/>
                    </a:moveTo>
                    <a:lnTo>
                      <a:pt x="116370" y="45720"/>
                    </a:lnTo>
                    <a:lnTo>
                      <a:pt x="116370" y="0"/>
                    </a:lnTo>
                    <a:lnTo>
                      <a:pt x="112560" y="0"/>
                    </a:lnTo>
                    <a:lnTo>
                      <a:pt x="112560" y="45720"/>
                    </a:lnTo>
                    <a:lnTo>
                      <a:pt x="113004" y="45720"/>
                    </a:lnTo>
                    <a:lnTo>
                      <a:pt x="113004" y="170180"/>
                    </a:lnTo>
                    <a:lnTo>
                      <a:pt x="112534" y="170180"/>
                    </a:lnTo>
                    <a:lnTo>
                      <a:pt x="112534" y="215900"/>
                    </a:lnTo>
                    <a:lnTo>
                      <a:pt x="116357" y="215900"/>
                    </a:lnTo>
                    <a:lnTo>
                      <a:pt x="116357" y="170180"/>
                    </a:lnTo>
                    <a:lnTo>
                      <a:pt x="116840" y="170180"/>
                    </a:lnTo>
                    <a:lnTo>
                      <a:pt x="116840" y="45720"/>
                    </a:lnTo>
                    <a:close/>
                  </a:path>
                </a:pathLst>
              </a:custGeom>
              <a:solidFill>
                <a:srgbClr val="333333"/>
              </a:solidFill>
            </p:spPr>
            <p:txBody>
              <a:bodyPr wrap="square" lIns="0" tIns="0" rIns="0" bIns="0" rtlCol="0"/>
              <a:lstStyle/>
              <a:p>
                <a:endParaRPr/>
              </a:p>
            </p:txBody>
          </p:sp>
          <p:sp>
            <p:nvSpPr>
              <p:cNvPr id="131" name="object 131"/>
              <p:cNvSpPr/>
              <p:nvPr/>
            </p:nvSpPr>
            <p:spPr>
              <a:xfrm>
                <a:off x="2357120" y="1125219"/>
                <a:ext cx="109220" cy="215900"/>
              </a:xfrm>
              <a:custGeom>
                <a:avLst/>
                <a:gdLst/>
                <a:ahLst/>
                <a:cxnLst/>
                <a:rect l="l" t="t" r="r" b="b"/>
                <a:pathLst>
                  <a:path w="109219" h="215900">
                    <a:moveTo>
                      <a:pt x="3009" y="168910"/>
                    </a:moveTo>
                    <a:lnTo>
                      <a:pt x="2540" y="168910"/>
                    </a:lnTo>
                    <a:lnTo>
                      <a:pt x="2540" y="45720"/>
                    </a:lnTo>
                    <a:lnTo>
                      <a:pt x="2997" y="45720"/>
                    </a:lnTo>
                    <a:lnTo>
                      <a:pt x="2997" y="0"/>
                    </a:lnTo>
                    <a:lnTo>
                      <a:pt x="0" y="0"/>
                    </a:lnTo>
                    <a:lnTo>
                      <a:pt x="0" y="45720"/>
                    </a:lnTo>
                    <a:lnTo>
                      <a:pt x="0" y="168910"/>
                    </a:lnTo>
                    <a:lnTo>
                      <a:pt x="0" y="215900"/>
                    </a:lnTo>
                    <a:lnTo>
                      <a:pt x="3009" y="215900"/>
                    </a:lnTo>
                    <a:lnTo>
                      <a:pt x="3009" y="168910"/>
                    </a:lnTo>
                    <a:close/>
                  </a:path>
                  <a:path w="109219" h="215900">
                    <a:moveTo>
                      <a:pt x="109220" y="45720"/>
                    </a:moveTo>
                    <a:lnTo>
                      <a:pt x="108750" y="45720"/>
                    </a:lnTo>
                    <a:lnTo>
                      <a:pt x="108750" y="0"/>
                    </a:lnTo>
                    <a:lnTo>
                      <a:pt x="105410" y="0"/>
                    </a:lnTo>
                    <a:lnTo>
                      <a:pt x="105410" y="45720"/>
                    </a:lnTo>
                    <a:lnTo>
                      <a:pt x="105410" y="168910"/>
                    </a:lnTo>
                    <a:lnTo>
                      <a:pt x="105410" y="215900"/>
                    </a:lnTo>
                    <a:lnTo>
                      <a:pt x="108737" y="215900"/>
                    </a:lnTo>
                    <a:lnTo>
                      <a:pt x="108737" y="168910"/>
                    </a:lnTo>
                    <a:lnTo>
                      <a:pt x="109220" y="168910"/>
                    </a:lnTo>
                    <a:lnTo>
                      <a:pt x="109220" y="45720"/>
                    </a:lnTo>
                    <a:close/>
                  </a:path>
                </a:pathLst>
              </a:custGeom>
              <a:solidFill>
                <a:srgbClr val="353535"/>
              </a:solidFill>
            </p:spPr>
            <p:txBody>
              <a:bodyPr wrap="square" lIns="0" tIns="0" rIns="0" bIns="0" rtlCol="0"/>
              <a:lstStyle/>
              <a:p>
                <a:endParaRPr/>
              </a:p>
            </p:txBody>
          </p:sp>
          <p:sp>
            <p:nvSpPr>
              <p:cNvPr id="132" name="object 132"/>
              <p:cNvSpPr/>
              <p:nvPr/>
            </p:nvSpPr>
            <p:spPr>
              <a:xfrm>
                <a:off x="2359660" y="1125219"/>
                <a:ext cx="102870" cy="215900"/>
              </a:xfrm>
              <a:custGeom>
                <a:avLst/>
                <a:gdLst/>
                <a:ahLst/>
                <a:cxnLst/>
                <a:rect l="l" t="t" r="r" b="b"/>
                <a:pathLst>
                  <a:path w="102869" h="215900">
                    <a:moveTo>
                      <a:pt x="4279" y="0"/>
                    </a:moveTo>
                    <a:lnTo>
                      <a:pt x="457" y="0"/>
                    </a:lnTo>
                    <a:lnTo>
                      <a:pt x="457" y="45720"/>
                    </a:lnTo>
                    <a:lnTo>
                      <a:pt x="0" y="45720"/>
                    </a:lnTo>
                    <a:lnTo>
                      <a:pt x="0" y="168910"/>
                    </a:lnTo>
                    <a:lnTo>
                      <a:pt x="469" y="168910"/>
                    </a:lnTo>
                    <a:lnTo>
                      <a:pt x="469" y="215900"/>
                    </a:lnTo>
                    <a:lnTo>
                      <a:pt x="4279" y="215900"/>
                    </a:lnTo>
                    <a:lnTo>
                      <a:pt x="4279" y="168910"/>
                    </a:lnTo>
                    <a:lnTo>
                      <a:pt x="3810" y="168910"/>
                    </a:lnTo>
                    <a:lnTo>
                      <a:pt x="3810" y="45720"/>
                    </a:lnTo>
                    <a:lnTo>
                      <a:pt x="4279" y="45720"/>
                    </a:lnTo>
                    <a:lnTo>
                      <a:pt x="4279" y="0"/>
                    </a:lnTo>
                    <a:close/>
                  </a:path>
                  <a:path w="102869" h="215900">
                    <a:moveTo>
                      <a:pt x="102870" y="0"/>
                    </a:moveTo>
                    <a:lnTo>
                      <a:pt x="99060" y="0"/>
                    </a:lnTo>
                    <a:lnTo>
                      <a:pt x="99060" y="215900"/>
                    </a:lnTo>
                    <a:lnTo>
                      <a:pt x="102870" y="215900"/>
                    </a:lnTo>
                    <a:lnTo>
                      <a:pt x="102870" y="0"/>
                    </a:lnTo>
                    <a:close/>
                  </a:path>
                </a:pathLst>
              </a:custGeom>
              <a:solidFill>
                <a:srgbClr val="373737"/>
              </a:solidFill>
            </p:spPr>
            <p:txBody>
              <a:bodyPr wrap="square" lIns="0" tIns="0" rIns="0" bIns="0" rtlCol="0"/>
              <a:lstStyle/>
              <a:p>
                <a:endParaRPr/>
              </a:p>
            </p:txBody>
          </p:sp>
          <p:sp>
            <p:nvSpPr>
              <p:cNvPr id="133" name="object 133"/>
              <p:cNvSpPr/>
              <p:nvPr/>
            </p:nvSpPr>
            <p:spPr>
              <a:xfrm>
                <a:off x="2363470" y="1125219"/>
                <a:ext cx="95250" cy="215900"/>
              </a:xfrm>
              <a:custGeom>
                <a:avLst/>
                <a:gdLst/>
                <a:ahLst/>
                <a:cxnLst/>
                <a:rect l="l" t="t" r="r" b="b"/>
                <a:pathLst>
                  <a:path w="95250" h="215900">
                    <a:moveTo>
                      <a:pt x="3810" y="0"/>
                    </a:moveTo>
                    <a:lnTo>
                      <a:pt x="469" y="0"/>
                    </a:lnTo>
                    <a:lnTo>
                      <a:pt x="469" y="45720"/>
                    </a:lnTo>
                    <a:lnTo>
                      <a:pt x="0" y="45720"/>
                    </a:lnTo>
                    <a:lnTo>
                      <a:pt x="0" y="168910"/>
                    </a:lnTo>
                    <a:lnTo>
                      <a:pt x="469" y="168910"/>
                    </a:lnTo>
                    <a:lnTo>
                      <a:pt x="469" y="215900"/>
                    </a:lnTo>
                    <a:lnTo>
                      <a:pt x="3810" y="215900"/>
                    </a:lnTo>
                    <a:lnTo>
                      <a:pt x="3810" y="168910"/>
                    </a:lnTo>
                    <a:lnTo>
                      <a:pt x="3810" y="45720"/>
                    </a:lnTo>
                    <a:lnTo>
                      <a:pt x="3810" y="0"/>
                    </a:lnTo>
                    <a:close/>
                  </a:path>
                  <a:path w="95250" h="215900">
                    <a:moveTo>
                      <a:pt x="95250" y="0"/>
                    </a:moveTo>
                    <a:lnTo>
                      <a:pt x="91440" y="0"/>
                    </a:lnTo>
                    <a:lnTo>
                      <a:pt x="91440" y="215900"/>
                    </a:lnTo>
                    <a:lnTo>
                      <a:pt x="95250" y="215900"/>
                    </a:lnTo>
                    <a:lnTo>
                      <a:pt x="95250" y="0"/>
                    </a:lnTo>
                    <a:close/>
                  </a:path>
                </a:pathLst>
              </a:custGeom>
              <a:solidFill>
                <a:srgbClr val="393939"/>
              </a:solidFill>
            </p:spPr>
            <p:txBody>
              <a:bodyPr wrap="square" lIns="0" tIns="0" rIns="0" bIns="0" rtlCol="0"/>
              <a:lstStyle/>
              <a:p>
                <a:endParaRPr/>
              </a:p>
            </p:txBody>
          </p:sp>
          <p:sp>
            <p:nvSpPr>
              <p:cNvPr id="134" name="object 134"/>
              <p:cNvSpPr/>
              <p:nvPr/>
            </p:nvSpPr>
            <p:spPr>
              <a:xfrm>
                <a:off x="2367280" y="1125219"/>
                <a:ext cx="87630" cy="215900"/>
              </a:xfrm>
              <a:custGeom>
                <a:avLst/>
                <a:gdLst/>
                <a:ahLst/>
                <a:cxnLst/>
                <a:rect l="l" t="t" r="r" b="b"/>
                <a:pathLst>
                  <a:path w="87630" h="215900">
                    <a:moveTo>
                      <a:pt x="3810" y="0"/>
                    </a:moveTo>
                    <a:lnTo>
                      <a:pt x="0" y="0"/>
                    </a:lnTo>
                    <a:lnTo>
                      <a:pt x="0" y="215900"/>
                    </a:lnTo>
                    <a:lnTo>
                      <a:pt x="3810" y="215900"/>
                    </a:lnTo>
                    <a:lnTo>
                      <a:pt x="3810" y="0"/>
                    </a:lnTo>
                    <a:close/>
                  </a:path>
                  <a:path w="87630" h="215900">
                    <a:moveTo>
                      <a:pt x="87630" y="0"/>
                    </a:moveTo>
                    <a:lnTo>
                      <a:pt x="83820" y="0"/>
                    </a:lnTo>
                    <a:lnTo>
                      <a:pt x="83820" y="215900"/>
                    </a:lnTo>
                    <a:lnTo>
                      <a:pt x="87630" y="215900"/>
                    </a:lnTo>
                    <a:lnTo>
                      <a:pt x="87630" y="0"/>
                    </a:lnTo>
                    <a:close/>
                  </a:path>
                </a:pathLst>
              </a:custGeom>
              <a:solidFill>
                <a:srgbClr val="3B3B3B"/>
              </a:solidFill>
            </p:spPr>
            <p:txBody>
              <a:bodyPr wrap="square" lIns="0" tIns="0" rIns="0" bIns="0" rtlCol="0"/>
              <a:lstStyle/>
              <a:p>
                <a:endParaRPr/>
              </a:p>
            </p:txBody>
          </p:sp>
          <p:sp>
            <p:nvSpPr>
              <p:cNvPr id="135" name="object 135"/>
              <p:cNvSpPr/>
              <p:nvPr/>
            </p:nvSpPr>
            <p:spPr>
              <a:xfrm>
                <a:off x="2371090" y="1125219"/>
                <a:ext cx="80010" cy="215900"/>
              </a:xfrm>
              <a:custGeom>
                <a:avLst/>
                <a:gdLst/>
                <a:ahLst/>
                <a:cxnLst/>
                <a:rect l="l" t="t" r="r" b="b"/>
                <a:pathLst>
                  <a:path w="80010" h="215900">
                    <a:moveTo>
                      <a:pt x="3810" y="0"/>
                    </a:moveTo>
                    <a:lnTo>
                      <a:pt x="0" y="0"/>
                    </a:lnTo>
                    <a:lnTo>
                      <a:pt x="0" y="215900"/>
                    </a:lnTo>
                    <a:lnTo>
                      <a:pt x="3810" y="215900"/>
                    </a:lnTo>
                    <a:lnTo>
                      <a:pt x="3810" y="0"/>
                    </a:lnTo>
                    <a:close/>
                  </a:path>
                  <a:path w="80010" h="215900">
                    <a:moveTo>
                      <a:pt x="80010" y="0"/>
                    </a:moveTo>
                    <a:lnTo>
                      <a:pt x="76200" y="0"/>
                    </a:lnTo>
                    <a:lnTo>
                      <a:pt x="76200" y="215900"/>
                    </a:lnTo>
                    <a:lnTo>
                      <a:pt x="80010" y="215900"/>
                    </a:lnTo>
                    <a:lnTo>
                      <a:pt x="80010" y="0"/>
                    </a:lnTo>
                    <a:close/>
                  </a:path>
                </a:pathLst>
              </a:custGeom>
              <a:solidFill>
                <a:srgbClr val="3D3D3D"/>
              </a:solidFill>
            </p:spPr>
            <p:txBody>
              <a:bodyPr wrap="square" lIns="0" tIns="0" rIns="0" bIns="0" rtlCol="0"/>
              <a:lstStyle/>
              <a:p>
                <a:endParaRPr/>
              </a:p>
            </p:txBody>
          </p:sp>
          <p:sp>
            <p:nvSpPr>
              <p:cNvPr id="136" name="object 136"/>
              <p:cNvSpPr/>
              <p:nvPr/>
            </p:nvSpPr>
            <p:spPr>
              <a:xfrm>
                <a:off x="2374900" y="1125219"/>
                <a:ext cx="72390" cy="215900"/>
              </a:xfrm>
              <a:custGeom>
                <a:avLst/>
                <a:gdLst/>
                <a:ahLst/>
                <a:cxnLst/>
                <a:rect l="l" t="t" r="r" b="b"/>
                <a:pathLst>
                  <a:path w="72389" h="215900">
                    <a:moveTo>
                      <a:pt x="3810" y="0"/>
                    </a:moveTo>
                    <a:lnTo>
                      <a:pt x="0" y="0"/>
                    </a:lnTo>
                    <a:lnTo>
                      <a:pt x="0" y="215900"/>
                    </a:lnTo>
                    <a:lnTo>
                      <a:pt x="3810" y="215900"/>
                    </a:lnTo>
                    <a:lnTo>
                      <a:pt x="3810" y="0"/>
                    </a:lnTo>
                    <a:close/>
                  </a:path>
                  <a:path w="72389" h="215900">
                    <a:moveTo>
                      <a:pt x="72390" y="0"/>
                    </a:moveTo>
                    <a:lnTo>
                      <a:pt x="68580" y="0"/>
                    </a:lnTo>
                    <a:lnTo>
                      <a:pt x="68580" y="215900"/>
                    </a:lnTo>
                    <a:lnTo>
                      <a:pt x="72390" y="215900"/>
                    </a:lnTo>
                    <a:lnTo>
                      <a:pt x="72390" y="0"/>
                    </a:lnTo>
                    <a:close/>
                  </a:path>
                </a:pathLst>
              </a:custGeom>
              <a:solidFill>
                <a:srgbClr val="3F3F3F"/>
              </a:solidFill>
            </p:spPr>
            <p:txBody>
              <a:bodyPr wrap="square" lIns="0" tIns="0" rIns="0" bIns="0" rtlCol="0"/>
              <a:lstStyle/>
              <a:p>
                <a:endParaRPr/>
              </a:p>
            </p:txBody>
          </p:sp>
          <p:sp>
            <p:nvSpPr>
              <p:cNvPr id="137" name="object 137"/>
              <p:cNvSpPr/>
              <p:nvPr/>
            </p:nvSpPr>
            <p:spPr>
              <a:xfrm>
                <a:off x="2378710" y="1125219"/>
                <a:ext cx="64769" cy="215900"/>
              </a:xfrm>
              <a:custGeom>
                <a:avLst/>
                <a:gdLst/>
                <a:ahLst/>
                <a:cxnLst/>
                <a:rect l="l" t="t" r="r" b="b"/>
                <a:pathLst>
                  <a:path w="64769" h="215900">
                    <a:moveTo>
                      <a:pt x="3810" y="0"/>
                    </a:moveTo>
                    <a:lnTo>
                      <a:pt x="0" y="0"/>
                    </a:lnTo>
                    <a:lnTo>
                      <a:pt x="0" y="215900"/>
                    </a:lnTo>
                    <a:lnTo>
                      <a:pt x="3810" y="215900"/>
                    </a:lnTo>
                    <a:lnTo>
                      <a:pt x="3810" y="0"/>
                    </a:lnTo>
                    <a:close/>
                  </a:path>
                  <a:path w="64769" h="215900">
                    <a:moveTo>
                      <a:pt x="64770" y="0"/>
                    </a:moveTo>
                    <a:lnTo>
                      <a:pt x="62230" y="0"/>
                    </a:lnTo>
                    <a:lnTo>
                      <a:pt x="62230" y="215900"/>
                    </a:lnTo>
                    <a:lnTo>
                      <a:pt x="64770" y="215900"/>
                    </a:lnTo>
                    <a:lnTo>
                      <a:pt x="64770" y="0"/>
                    </a:lnTo>
                    <a:close/>
                  </a:path>
                </a:pathLst>
              </a:custGeom>
              <a:solidFill>
                <a:srgbClr val="414141"/>
              </a:solidFill>
            </p:spPr>
            <p:txBody>
              <a:bodyPr wrap="square" lIns="0" tIns="0" rIns="0" bIns="0" rtlCol="0"/>
              <a:lstStyle/>
              <a:p>
                <a:endParaRPr/>
              </a:p>
            </p:txBody>
          </p:sp>
          <p:sp>
            <p:nvSpPr>
              <p:cNvPr id="138" name="object 138"/>
              <p:cNvSpPr/>
              <p:nvPr/>
            </p:nvSpPr>
            <p:spPr>
              <a:xfrm>
                <a:off x="2382520" y="1125219"/>
                <a:ext cx="58419" cy="215900"/>
              </a:xfrm>
              <a:custGeom>
                <a:avLst/>
                <a:gdLst/>
                <a:ahLst/>
                <a:cxnLst/>
                <a:rect l="l" t="t" r="r" b="b"/>
                <a:pathLst>
                  <a:path w="58419" h="215900">
                    <a:moveTo>
                      <a:pt x="3810" y="0"/>
                    </a:moveTo>
                    <a:lnTo>
                      <a:pt x="0" y="0"/>
                    </a:lnTo>
                    <a:lnTo>
                      <a:pt x="0" y="215900"/>
                    </a:lnTo>
                    <a:lnTo>
                      <a:pt x="3810" y="215900"/>
                    </a:lnTo>
                    <a:lnTo>
                      <a:pt x="3810" y="0"/>
                    </a:lnTo>
                    <a:close/>
                  </a:path>
                  <a:path w="58419" h="215900">
                    <a:moveTo>
                      <a:pt x="58420" y="0"/>
                    </a:moveTo>
                    <a:lnTo>
                      <a:pt x="54610" y="0"/>
                    </a:lnTo>
                    <a:lnTo>
                      <a:pt x="54610" y="215900"/>
                    </a:lnTo>
                    <a:lnTo>
                      <a:pt x="58420" y="215900"/>
                    </a:lnTo>
                    <a:lnTo>
                      <a:pt x="58420" y="0"/>
                    </a:lnTo>
                    <a:close/>
                  </a:path>
                </a:pathLst>
              </a:custGeom>
              <a:solidFill>
                <a:srgbClr val="434343"/>
              </a:solidFill>
            </p:spPr>
            <p:txBody>
              <a:bodyPr wrap="square" lIns="0" tIns="0" rIns="0" bIns="0" rtlCol="0"/>
              <a:lstStyle/>
              <a:p>
                <a:endParaRPr/>
              </a:p>
            </p:txBody>
          </p:sp>
          <p:sp>
            <p:nvSpPr>
              <p:cNvPr id="139" name="object 139"/>
              <p:cNvSpPr/>
              <p:nvPr/>
            </p:nvSpPr>
            <p:spPr>
              <a:xfrm>
                <a:off x="2386330" y="1125219"/>
                <a:ext cx="50800" cy="215900"/>
              </a:xfrm>
              <a:custGeom>
                <a:avLst/>
                <a:gdLst/>
                <a:ahLst/>
                <a:cxnLst/>
                <a:rect l="l" t="t" r="r" b="b"/>
                <a:pathLst>
                  <a:path w="50800" h="215900">
                    <a:moveTo>
                      <a:pt x="2540" y="0"/>
                    </a:moveTo>
                    <a:lnTo>
                      <a:pt x="0" y="0"/>
                    </a:lnTo>
                    <a:lnTo>
                      <a:pt x="0" y="215900"/>
                    </a:lnTo>
                    <a:lnTo>
                      <a:pt x="2540" y="215900"/>
                    </a:lnTo>
                    <a:lnTo>
                      <a:pt x="2540" y="0"/>
                    </a:lnTo>
                    <a:close/>
                  </a:path>
                  <a:path w="50800" h="215900">
                    <a:moveTo>
                      <a:pt x="50800" y="0"/>
                    </a:moveTo>
                    <a:lnTo>
                      <a:pt x="46990" y="0"/>
                    </a:lnTo>
                    <a:lnTo>
                      <a:pt x="46990" y="215900"/>
                    </a:lnTo>
                    <a:lnTo>
                      <a:pt x="50800" y="215900"/>
                    </a:lnTo>
                    <a:lnTo>
                      <a:pt x="50800" y="0"/>
                    </a:lnTo>
                    <a:close/>
                  </a:path>
                </a:pathLst>
              </a:custGeom>
              <a:solidFill>
                <a:srgbClr val="454545"/>
              </a:solidFill>
            </p:spPr>
            <p:txBody>
              <a:bodyPr wrap="square" lIns="0" tIns="0" rIns="0" bIns="0" rtlCol="0"/>
              <a:lstStyle/>
              <a:p>
                <a:endParaRPr/>
              </a:p>
            </p:txBody>
          </p:sp>
          <p:sp>
            <p:nvSpPr>
              <p:cNvPr id="140" name="object 140"/>
              <p:cNvSpPr/>
              <p:nvPr/>
            </p:nvSpPr>
            <p:spPr>
              <a:xfrm>
                <a:off x="2388870" y="1125219"/>
                <a:ext cx="44450" cy="215900"/>
              </a:xfrm>
              <a:custGeom>
                <a:avLst/>
                <a:gdLst/>
                <a:ahLst/>
                <a:cxnLst/>
                <a:rect l="l" t="t" r="r" b="b"/>
                <a:pathLst>
                  <a:path w="44450" h="215900">
                    <a:moveTo>
                      <a:pt x="3810" y="0"/>
                    </a:moveTo>
                    <a:lnTo>
                      <a:pt x="0" y="0"/>
                    </a:lnTo>
                    <a:lnTo>
                      <a:pt x="0" y="215900"/>
                    </a:lnTo>
                    <a:lnTo>
                      <a:pt x="3810" y="215900"/>
                    </a:lnTo>
                    <a:lnTo>
                      <a:pt x="3810" y="0"/>
                    </a:lnTo>
                    <a:close/>
                  </a:path>
                  <a:path w="44450" h="215900">
                    <a:moveTo>
                      <a:pt x="44450" y="0"/>
                    </a:moveTo>
                    <a:lnTo>
                      <a:pt x="40640" y="0"/>
                    </a:lnTo>
                    <a:lnTo>
                      <a:pt x="40640" y="215900"/>
                    </a:lnTo>
                    <a:lnTo>
                      <a:pt x="44450" y="215900"/>
                    </a:lnTo>
                    <a:lnTo>
                      <a:pt x="44450" y="0"/>
                    </a:lnTo>
                    <a:close/>
                  </a:path>
                </a:pathLst>
              </a:custGeom>
              <a:solidFill>
                <a:srgbClr val="474747"/>
              </a:solidFill>
            </p:spPr>
            <p:txBody>
              <a:bodyPr wrap="square" lIns="0" tIns="0" rIns="0" bIns="0" rtlCol="0"/>
              <a:lstStyle/>
              <a:p>
                <a:endParaRPr/>
              </a:p>
            </p:txBody>
          </p:sp>
          <p:sp>
            <p:nvSpPr>
              <p:cNvPr id="141" name="object 141"/>
              <p:cNvSpPr/>
              <p:nvPr/>
            </p:nvSpPr>
            <p:spPr>
              <a:xfrm>
                <a:off x="2392680" y="1125219"/>
                <a:ext cx="36830" cy="215900"/>
              </a:xfrm>
              <a:custGeom>
                <a:avLst/>
                <a:gdLst/>
                <a:ahLst/>
                <a:cxnLst/>
                <a:rect l="l" t="t" r="r" b="b"/>
                <a:pathLst>
                  <a:path w="36830" h="215900">
                    <a:moveTo>
                      <a:pt x="3810" y="0"/>
                    </a:moveTo>
                    <a:lnTo>
                      <a:pt x="0" y="0"/>
                    </a:lnTo>
                    <a:lnTo>
                      <a:pt x="0" y="215900"/>
                    </a:lnTo>
                    <a:lnTo>
                      <a:pt x="3810" y="215900"/>
                    </a:lnTo>
                    <a:lnTo>
                      <a:pt x="3810" y="0"/>
                    </a:lnTo>
                    <a:close/>
                  </a:path>
                  <a:path w="36830" h="215900">
                    <a:moveTo>
                      <a:pt x="36830" y="0"/>
                    </a:moveTo>
                    <a:lnTo>
                      <a:pt x="33020" y="0"/>
                    </a:lnTo>
                    <a:lnTo>
                      <a:pt x="33020" y="215900"/>
                    </a:lnTo>
                    <a:lnTo>
                      <a:pt x="36830" y="215900"/>
                    </a:lnTo>
                    <a:lnTo>
                      <a:pt x="36830" y="0"/>
                    </a:lnTo>
                    <a:close/>
                  </a:path>
                </a:pathLst>
              </a:custGeom>
              <a:solidFill>
                <a:srgbClr val="494949"/>
              </a:solidFill>
            </p:spPr>
            <p:txBody>
              <a:bodyPr wrap="square" lIns="0" tIns="0" rIns="0" bIns="0" rtlCol="0"/>
              <a:lstStyle/>
              <a:p>
                <a:endParaRPr/>
              </a:p>
            </p:txBody>
          </p:sp>
          <p:sp>
            <p:nvSpPr>
              <p:cNvPr id="142" name="object 142"/>
              <p:cNvSpPr/>
              <p:nvPr/>
            </p:nvSpPr>
            <p:spPr>
              <a:xfrm>
                <a:off x="2396490" y="1125219"/>
                <a:ext cx="29209" cy="215900"/>
              </a:xfrm>
              <a:custGeom>
                <a:avLst/>
                <a:gdLst/>
                <a:ahLst/>
                <a:cxnLst/>
                <a:rect l="l" t="t" r="r" b="b"/>
                <a:pathLst>
                  <a:path w="29210" h="215900">
                    <a:moveTo>
                      <a:pt x="3810" y="0"/>
                    </a:moveTo>
                    <a:lnTo>
                      <a:pt x="0" y="0"/>
                    </a:lnTo>
                    <a:lnTo>
                      <a:pt x="0" y="215900"/>
                    </a:lnTo>
                    <a:lnTo>
                      <a:pt x="3810" y="215900"/>
                    </a:lnTo>
                    <a:lnTo>
                      <a:pt x="3810" y="0"/>
                    </a:lnTo>
                    <a:close/>
                  </a:path>
                  <a:path w="29210" h="215900">
                    <a:moveTo>
                      <a:pt x="29210" y="0"/>
                    </a:moveTo>
                    <a:lnTo>
                      <a:pt x="25400" y="0"/>
                    </a:lnTo>
                    <a:lnTo>
                      <a:pt x="25400" y="215900"/>
                    </a:lnTo>
                    <a:lnTo>
                      <a:pt x="29210" y="215900"/>
                    </a:lnTo>
                    <a:lnTo>
                      <a:pt x="29210" y="0"/>
                    </a:lnTo>
                    <a:close/>
                  </a:path>
                </a:pathLst>
              </a:custGeom>
              <a:solidFill>
                <a:srgbClr val="4B4B4B"/>
              </a:solidFill>
            </p:spPr>
            <p:txBody>
              <a:bodyPr wrap="square" lIns="0" tIns="0" rIns="0" bIns="0" rtlCol="0"/>
              <a:lstStyle/>
              <a:p>
                <a:endParaRPr/>
              </a:p>
            </p:txBody>
          </p:sp>
          <p:sp>
            <p:nvSpPr>
              <p:cNvPr id="143" name="object 143"/>
              <p:cNvSpPr/>
              <p:nvPr/>
            </p:nvSpPr>
            <p:spPr>
              <a:xfrm>
                <a:off x="2400300" y="1125219"/>
                <a:ext cx="21590" cy="215900"/>
              </a:xfrm>
              <a:custGeom>
                <a:avLst/>
                <a:gdLst/>
                <a:ahLst/>
                <a:cxnLst/>
                <a:rect l="l" t="t" r="r" b="b"/>
                <a:pathLst>
                  <a:path w="21589" h="215900">
                    <a:moveTo>
                      <a:pt x="3810" y="0"/>
                    </a:moveTo>
                    <a:lnTo>
                      <a:pt x="0" y="0"/>
                    </a:lnTo>
                    <a:lnTo>
                      <a:pt x="0" y="215900"/>
                    </a:lnTo>
                    <a:lnTo>
                      <a:pt x="3810" y="215900"/>
                    </a:lnTo>
                    <a:lnTo>
                      <a:pt x="3810" y="0"/>
                    </a:lnTo>
                    <a:close/>
                  </a:path>
                  <a:path w="21589" h="215900">
                    <a:moveTo>
                      <a:pt x="21590" y="0"/>
                    </a:moveTo>
                    <a:lnTo>
                      <a:pt x="17780" y="0"/>
                    </a:lnTo>
                    <a:lnTo>
                      <a:pt x="17780" y="215900"/>
                    </a:lnTo>
                    <a:lnTo>
                      <a:pt x="21590" y="215900"/>
                    </a:lnTo>
                    <a:lnTo>
                      <a:pt x="21590" y="0"/>
                    </a:lnTo>
                    <a:close/>
                  </a:path>
                </a:pathLst>
              </a:custGeom>
              <a:solidFill>
                <a:srgbClr val="4D4D4D"/>
              </a:solidFill>
            </p:spPr>
            <p:txBody>
              <a:bodyPr wrap="square" lIns="0" tIns="0" rIns="0" bIns="0" rtlCol="0"/>
              <a:lstStyle/>
              <a:p>
                <a:endParaRPr/>
              </a:p>
            </p:txBody>
          </p:sp>
          <p:sp>
            <p:nvSpPr>
              <p:cNvPr id="144" name="object 144"/>
              <p:cNvSpPr/>
              <p:nvPr/>
            </p:nvSpPr>
            <p:spPr>
              <a:xfrm>
                <a:off x="2404110" y="1125219"/>
                <a:ext cx="13970" cy="215900"/>
              </a:xfrm>
              <a:custGeom>
                <a:avLst/>
                <a:gdLst/>
                <a:ahLst/>
                <a:cxnLst/>
                <a:rect l="l" t="t" r="r" b="b"/>
                <a:pathLst>
                  <a:path w="13969" h="215900">
                    <a:moveTo>
                      <a:pt x="3810" y="0"/>
                    </a:moveTo>
                    <a:lnTo>
                      <a:pt x="0" y="0"/>
                    </a:lnTo>
                    <a:lnTo>
                      <a:pt x="0" y="215900"/>
                    </a:lnTo>
                    <a:lnTo>
                      <a:pt x="3810" y="215900"/>
                    </a:lnTo>
                    <a:lnTo>
                      <a:pt x="3810" y="0"/>
                    </a:lnTo>
                    <a:close/>
                  </a:path>
                  <a:path w="13969" h="215900">
                    <a:moveTo>
                      <a:pt x="13970" y="0"/>
                    </a:moveTo>
                    <a:lnTo>
                      <a:pt x="10160" y="0"/>
                    </a:lnTo>
                    <a:lnTo>
                      <a:pt x="10160" y="215900"/>
                    </a:lnTo>
                    <a:lnTo>
                      <a:pt x="13970" y="215900"/>
                    </a:lnTo>
                    <a:lnTo>
                      <a:pt x="13970" y="0"/>
                    </a:lnTo>
                    <a:close/>
                  </a:path>
                </a:pathLst>
              </a:custGeom>
              <a:solidFill>
                <a:srgbClr val="4F4F4F"/>
              </a:solidFill>
            </p:spPr>
            <p:txBody>
              <a:bodyPr wrap="square" lIns="0" tIns="0" rIns="0" bIns="0" rtlCol="0"/>
              <a:lstStyle/>
              <a:p>
                <a:endParaRPr/>
              </a:p>
            </p:txBody>
          </p:sp>
          <p:sp>
            <p:nvSpPr>
              <p:cNvPr id="145" name="object 145"/>
              <p:cNvSpPr/>
              <p:nvPr/>
            </p:nvSpPr>
            <p:spPr>
              <a:xfrm>
                <a:off x="2407919" y="1125220"/>
                <a:ext cx="6350" cy="215900"/>
              </a:xfrm>
              <a:custGeom>
                <a:avLst/>
                <a:gdLst/>
                <a:ahLst/>
                <a:cxnLst/>
                <a:rect l="l" t="t" r="r" b="b"/>
                <a:pathLst>
                  <a:path w="6350" h="215900">
                    <a:moveTo>
                      <a:pt x="6350" y="0"/>
                    </a:moveTo>
                    <a:lnTo>
                      <a:pt x="0" y="0"/>
                    </a:lnTo>
                    <a:lnTo>
                      <a:pt x="0" y="215900"/>
                    </a:lnTo>
                    <a:lnTo>
                      <a:pt x="6350" y="215900"/>
                    </a:lnTo>
                    <a:lnTo>
                      <a:pt x="6350" y="0"/>
                    </a:lnTo>
                    <a:close/>
                  </a:path>
                </a:pathLst>
              </a:custGeom>
              <a:solidFill>
                <a:srgbClr val="545454"/>
              </a:solidFill>
            </p:spPr>
            <p:txBody>
              <a:bodyPr wrap="square" lIns="0" tIns="0" rIns="0" bIns="0" rtlCol="0"/>
              <a:lstStyle/>
              <a:p>
                <a:endParaRPr/>
              </a:p>
            </p:txBody>
          </p:sp>
          <p:sp>
            <p:nvSpPr>
              <p:cNvPr id="146" name="object 146"/>
              <p:cNvSpPr/>
              <p:nvPr/>
            </p:nvSpPr>
            <p:spPr>
              <a:xfrm>
                <a:off x="1691640" y="1916430"/>
                <a:ext cx="791210" cy="143510"/>
              </a:xfrm>
              <a:custGeom>
                <a:avLst/>
                <a:gdLst/>
                <a:ahLst/>
                <a:cxnLst/>
                <a:rect l="l" t="t" r="r" b="b"/>
                <a:pathLst>
                  <a:path w="791210" h="143510">
                    <a:moveTo>
                      <a:pt x="791210" y="0"/>
                    </a:moveTo>
                    <a:lnTo>
                      <a:pt x="0" y="0"/>
                    </a:lnTo>
                    <a:lnTo>
                      <a:pt x="0" y="143510"/>
                    </a:lnTo>
                    <a:lnTo>
                      <a:pt x="396240" y="143510"/>
                    </a:lnTo>
                    <a:lnTo>
                      <a:pt x="791210" y="143510"/>
                    </a:lnTo>
                    <a:lnTo>
                      <a:pt x="791210" y="0"/>
                    </a:lnTo>
                    <a:close/>
                  </a:path>
                </a:pathLst>
              </a:custGeom>
              <a:solidFill>
                <a:srgbClr val="FFFFFF"/>
              </a:solidFill>
            </p:spPr>
            <p:txBody>
              <a:bodyPr wrap="square" lIns="0" tIns="0" rIns="0" bIns="0" rtlCol="0"/>
              <a:lstStyle/>
              <a:p>
                <a:endParaRPr/>
              </a:p>
            </p:txBody>
          </p:sp>
          <p:sp>
            <p:nvSpPr>
              <p:cNvPr id="147" name="object 147"/>
              <p:cNvSpPr/>
              <p:nvPr/>
            </p:nvSpPr>
            <p:spPr>
              <a:xfrm>
                <a:off x="1691640" y="1916430"/>
                <a:ext cx="791210" cy="143510"/>
              </a:xfrm>
              <a:custGeom>
                <a:avLst/>
                <a:gdLst/>
                <a:ahLst/>
                <a:cxnLst/>
                <a:rect l="l" t="t" r="r" b="b"/>
                <a:pathLst>
                  <a:path w="791210" h="143510">
                    <a:moveTo>
                      <a:pt x="396240" y="143510"/>
                    </a:moveTo>
                    <a:lnTo>
                      <a:pt x="0" y="143510"/>
                    </a:lnTo>
                    <a:lnTo>
                      <a:pt x="0" y="0"/>
                    </a:lnTo>
                    <a:lnTo>
                      <a:pt x="791210" y="0"/>
                    </a:lnTo>
                    <a:lnTo>
                      <a:pt x="791210" y="143510"/>
                    </a:lnTo>
                    <a:lnTo>
                      <a:pt x="396240" y="143510"/>
                    </a:lnTo>
                    <a:close/>
                  </a:path>
                </a:pathLst>
              </a:custGeom>
              <a:ln w="25518">
                <a:solidFill>
                  <a:srgbClr val="000000"/>
                </a:solidFill>
              </a:ln>
            </p:spPr>
            <p:txBody>
              <a:bodyPr wrap="square" lIns="0" tIns="0" rIns="0" bIns="0" rtlCol="0"/>
              <a:lstStyle/>
              <a:p>
                <a:endParaRPr/>
              </a:p>
            </p:txBody>
          </p:sp>
          <p:sp>
            <p:nvSpPr>
              <p:cNvPr id="148" name="object 148"/>
              <p:cNvSpPr/>
              <p:nvPr/>
            </p:nvSpPr>
            <p:spPr>
              <a:xfrm>
                <a:off x="1691640" y="2204720"/>
                <a:ext cx="1223010" cy="143510"/>
              </a:xfrm>
              <a:custGeom>
                <a:avLst/>
                <a:gdLst/>
                <a:ahLst/>
                <a:cxnLst/>
                <a:rect l="l" t="t" r="r" b="b"/>
                <a:pathLst>
                  <a:path w="1223010" h="143510">
                    <a:moveTo>
                      <a:pt x="1223010" y="0"/>
                    </a:moveTo>
                    <a:lnTo>
                      <a:pt x="0" y="0"/>
                    </a:lnTo>
                    <a:lnTo>
                      <a:pt x="0" y="143509"/>
                    </a:lnTo>
                    <a:lnTo>
                      <a:pt x="612140" y="143509"/>
                    </a:lnTo>
                    <a:lnTo>
                      <a:pt x="1223010" y="143509"/>
                    </a:lnTo>
                    <a:lnTo>
                      <a:pt x="1223010" y="0"/>
                    </a:lnTo>
                    <a:close/>
                  </a:path>
                </a:pathLst>
              </a:custGeom>
              <a:solidFill>
                <a:srgbClr val="FFFFFF"/>
              </a:solidFill>
            </p:spPr>
            <p:txBody>
              <a:bodyPr wrap="square" lIns="0" tIns="0" rIns="0" bIns="0" rtlCol="0"/>
              <a:lstStyle/>
              <a:p>
                <a:endParaRPr/>
              </a:p>
            </p:txBody>
          </p:sp>
          <p:sp>
            <p:nvSpPr>
              <p:cNvPr id="149" name="object 149"/>
              <p:cNvSpPr/>
              <p:nvPr/>
            </p:nvSpPr>
            <p:spPr>
              <a:xfrm>
                <a:off x="1691640" y="2204720"/>
                <a:ext cx="1223010" cy="143510"/>
              </a:xfrm>
              <a:custGeom>
                <a:avLst/>
                <a:gdLst/>
                <a:ahLst/>
                <a:cxnLst/>
                <a:rect l="l" t="t" r="r" b="b"/>
                <a:pathLst>
                  <a:path w="1223010" h="143510">
                    <a:moveTo>
                      <a:pt x="612140" y="143509"/>
                    </a:moveTo>
                    <a:lnTo>
                      <a:pt x="0" y="143509"/>
                    </a:lnTo>
                    <a:lnTo>
                      <a:pt x="0" y="0"/>
                    </a:lnTo>
                    <a:lnTo>
                      <a:pt x="1223010" y="0"/>
                    </a:lnTo>
                    <a:lnTo>
                      <a:pt x="1223010" y="143509"/>
                    </a:lnTo>
                    <a:lnTo>
                      <a:pt x="612140" y="143509"/>
                    </a:lnTo>
                    <a:close/>
                  </a:path>
                </a:pathLst>
              </a:custGeom>
              <a:ln w="25518">
                <a:solidFill>
                  <a:srgbClr val="000000"/>
                </a:solidFill>
              </a:ln>
            </p:spPr>
            <p:txBody>
              <a:bodyPr wrap="square" lIns="0" tIns="0" rIns="0" bIns="0" rtlCol="0"/>
              <a:lstStyle/>
              <a:p>
                <a:endParaRPr/>
              </a:p>
            </p:txBody>
          </p:sp>
        </p:grpSp>
        <p:grpSp>
          <p:nvGrpSpPr>
            <p:cNvPr id="150" name="object 150"/>
            <p:cNvGrpSpPr/>
            <p:nvPr/>
          </p:nvGrpSpPr>
          <p:grpSpPr>
            <a:xfrm>
              <a:off x="8747700" y="1471870"/>
              <a:ext cx="1033144" cy="1033144"/>
              <a:chOff x="7223700" y="1471870"/>
              <a:chExt cx="1033144" cy="1033144"/>
            </a:xfrm>
          </p:grpSpPr>
          <p:sp>
            <p:nvSpPr>
              <p:cNvPr id="151" name="object 151"/>
              <p:cNvSpPr/>
              <p:nvPr/>
            </p:nvSpPr>
            <p:spPr>
              <a:xfrm>
                <a:off x="7236459" y="1484629"/>
                <a:ext cx="1007110" cy="1007110"/>
              </a:xfrm>
              <a:custGeom>
                <a:avLst/>
                <a:gdLst/>
                <a:ahLst/>
                <a:cxnLst/>
                <a:rect l="l" t="t" r="r" b="b"/>
                <a:pathLst>
                  <a:path w="1007109" h="1007110">
                    <a:moveTo>
                      <a:pt x="502920" y="0"/>
                    </a:moveTo>
                    <a:lnTo>
                      <a:pt x="453235" y="2236"/>
                    </a:lnTo>
                    <a:lnTo>
                      <a:pt x="405156" y="8822"/>
                    </a:lnTo>
                    <a:lnTo>
                      <a:pt x="358864" y="19570"/>
                    </a:lnTo>
                    <a:lnTo>
                      <a:pt x="314540" y="34295"/>
                    </a:lnTo>
                    <a:lnTo>
                      <a:pt x="272365" y="52811"/>
                    </a:lnTo>
                    <a:lnTo>
                      <a:pt x="232522" y="74931"/>
                    </a:lnTo>
                    <a:lnTo>
                      <a:pt x="195191" y="100469"/>
                    </a:lnTo>
                    <a:lnTo>
                      <a:pt x="160555" y="129240"/>
                    </a:lnTo>
                    <a:lnTo>
                      <a:pt x="128793" y="161057"/>
                    </a:lnTo>
                    <a:lnTo>
                      <a:pt x="100089" y="195734"/>
                    </a:lnTo>
                    <a:lnTo>
                      <a:pt x="74624" y="233085"/>
                    </a:lnTo>
                    <a:lnTo>
                      <a:pt x="52578" y="272924"/>
                    </a:lnTo>
                    <a:lnTo>
                      <a:pt x="34134" y="315064"/>
                    </a:lnTo>
                    <a:lnTo>
                      <a:pt x="19472" y="359320"/>
                    </a:lnTo>
                    <a:lnTo>
                      <a:pt x="8775" y="405505"/>
                    </a:lnTo>
                    <a:lnTo>
                      <a:pt x="2224" y="453434"/>
                    </a:lnTo>
                    <a:lnTo>
                      <a:pt x="0" y="502920"/>
                    </a:lnTo>
                    <a:lnTo>
                      <a:pt x="2224" y="552616"/>
                    </a:lnTo>
                    <a:lnTo>
                      <a:pt x="8775" y="600731"/>
                    </a:lnTo>
                    <a:lnTo>
                      <a:pt x="19472" y="647080"/>
                    </a:lnTo>
                    <a:lnTo>
                      <a:pt x="34134" y="691477"/>
                    </a:lnTo>
                    <a:lnTo>
                      <a:pt x="52578" y="733739"/>
                    </a:lnTo>
                    <a:lnTo>
                      <a:pt x="74624" y="773680"/>
                    </a:lnTo>
                    <a:lnTo>
                      <a:pt x="100089" y="811116"/>
                    </a:lnTo>
                    <a:lnTo>
                      <a:pt x="128793" y="845863"/>
                    </a:lnTo>
                    <a:lnTo>
                      <a:pt x="160555" y="877736"/>
                    </a:lnTo>
                    <a:lnTo>
                      <a:pt x="195191" y="906551"/>
                    </a:lnTo>
                    <a:lnTo>
                      <a:pt x="232522" y="932122"/>
                    </a:lnTo>
                    <a:lnTo>
                      <a:pt x="272365" y="954266"/>
                    </a:lnTo>
                    <a:lnTo>
                      <a:pt x="314540" y="972798"/>
                    </a:lnTo>
                    <a:lnTo>
                      <a:pt x="358864" y="987532"/>
                    </a:lnTo>
                    <a:lnTo>
                      <a:pt x="405156" y="998285"/>
                    </a:lnTo>
                    <a:lnTo>
                      <a:pt x="453235" y="1004873"/>
                    </a:lnTo>
                    <a:lnTo>
                      <a:pt x="502920" y="1007110"/>
                    </a:lnTo>
                    <a:lnTo>
                      <a:pt x="552616" y="1004873"/>
                    </a:lnTo>
                    <a:lnTo>
                      <a:pt x="600731" y="998285"/>
                    </a:lnTo>
                    <a:lnTo>
                      <a:pt x="647080" y="987532"/>
                    </a:lnTo>
                    <a:lnTo>
                      <a:pt x="691477" y="972798"/>
                    </a:lnTo>
                    <a:lnTo>
                      <a:pt x="733739" y="954266"/>
                    </a:lnTo>
                    <a:lnTo>
                      <a:pt x="773680" y="932122"/>
                    </a:lnTo>
                    <a:lnTo>
                      <a:pt x="811116" y="906551"/>
                    </a:lnTo>
                    <a:lnTo>
                      <a:pt x="845863" y="877736"/>
                    </a:lnTo>
                    <a:lnTo>
                      <a:pt x="877736" y="845863"/>
                    </a:lnTo>
                    <a:lnTo>
                      <a:pt x="906551" y="811116"/>
                    </a:lnTo>
                    <a:lnTo>
                      <a:pt x="932122" y="773680"/>
                    </a:lnTo>
                    <a:lnTo>
                      <a:pt x="954266" y="733739"/>
                    </a:lnTo>
                    <a:lnTo>
                      <a:pt x="972798" y="691477"/>
                    </a:lnTo>
                    <a:lnTo>
                      <a:pt x="987532" y="647080"/>
                    </a:lnTo>
                    <a:lnTo>
                      <a:pt x="998285" y="600731"/>
                    </a:lnTo>
                    <a:lnTo>
                      <a:pt x="1004873" y="552616"/>
                    </a:lnTo>
                    <a:lnTo>
                      <a:pt x="1007110" y="502920"/>
                    </a:lnTo>
                    <a:lnTo>
                      <a:pt x="1004873" y="453434"/>
                    </a:lnTo>
                    <a:lnTo>
                      <a:pt x="998285" y="405505"/>
                    </a:lnTo>
                    <a:lnTo>
                      <a:pt x="987532" y="359320"/>
                    </a:lnTo>
                    <a:lnTo>
                      <a:pt x="972798" y="315064"/>
                    </a:lnTo>
                    <a:lnTo>
                      <a:pt x="954266" y="272924"/>
                    </a:lnTo>
                    <a:lnTo>
                      <a:pt x="932122" y="233085"/>
                    </a:lnTo>
                    <a:lnTo>
                      <a:pt x="906551" y="195734"/>
                    </a:lnTo>
                    <a:lnTo>
                      <a:pt x="877736" y="161057"/>
                    </a:lnTo>
                    <a:lnTo>
                      <a:pt x="845863" y="129240"/>
                    </a:lnTo>
                    <a:lnTo>
                      <a:pt x="811116" y="100469"/>
                    </a:lnTo>
                    <a:lnTo>
                      <a:pt x="773680" y="74931"/>
                    </a:lnTo>
                    <a:lnTo>
                      <a:pt x="733739" y="52811"/>
                    </a:lnTo>
                    <a:lnTo>
                      <a:pt x="691477" y="34295"/>
                    </a:lnTo>
                    <a:lnTo>
                      <a:pt x="647080" y="19570"/>
                    </a:lnTo>
                    <a:lnTo>
                      <a:pt x="600731" y="8822"/>
                    </a:lnTo>
                    <a:lnTo>
                      <a:pt x="552616" y="2236"/>
                    </a:lnTo>
                    <a:lnTo>
                      <a:pt x="502920" y="0"/>
                    </a:lnTo>
                    <a:close/>
                  </a:path>
                </a:pathLst>
              </a:custGeom>
              <a:solidFill>
                <a:srgbClr val="FFFFFF"/>
              </a:solidFill>
            </p:spPr>
            <p:txBody>
              <a:bodyPr wrap="square" lIns="0" tIns="0" rIns="0" bIns="0" rtlCol="0"/>
              <a:lstStyle/>
              <a:p>
                <a:endParaRPr/>
              </a:p>
            </p:txBody>
          </p:sp>
          <p:sp>
            <p:nvSpPr>
              <p:cNvPr id="152" name="object 152"/>
              <p:cNvSpPr/>
              <p:nvPr/>
            </p:nvSpPr>
            <p:spPr>
              <a:xfrm>
                <a:off x="7236459" y="1484629"/>
                <a:ext cx="1007110" cy="1007110"/>
              </a:xfrm>
              <a:custGeom>
                <a:avLst/>
                <a:gdLst/>
                <a:ahLst/>
                <a:cxnLst/>
                <a:rect l="l" t="t" r="r" b="b"/>
                <a:pathLst>
                  <a:path w="1007109" h="1007110">
                    <a:moveTo>
                      <a:pt x="502920" y="0"/>
                    </a:moveTo>
                    <a:lnTo>
                      <a:pt x="552616" y="2236"/>
                    </a:lnTo>
                    <a:lnTo>
                      <a:pt x="600731" y="8822"/>
                    </a:lnTo>
                    <a:lnTo>
                      <a:pt x="647080" y="19570"/>
                    </a:lnTo>
                    <a:lnTo>
                      <a:pt x="691477" y="34295"/>
                    </a:lnTo>
                    <a:lnTo>
                      <a:pt x="733739" y="52811"/>
                    </a:lnTo>
                    <a:lnTo>
                      <a:pt x="773680" y="74931"/>
                    </a:lnTo>
                    <a:lnTo>
                      <a:pt x="811116" y="100469"/>
                    </a:lnTo>
                    <a:lnTo>
                      <a:pt x="845863" y="129240"/>
                    </a:lnTo>
                    <a:lnTo>
                      <a:pt x="877736" y="161057"/>
                    </a:lnTo>
                    <a:lnTo>
                      <a:pt x="906551" y="195734"/>
                    </a:lnTo>
                    <a:lnTo>
                      <a:pt x="932122" y="233085"/>
                    </a:lnTo>
                    <a:lnTo>
                      <a:pt x="954266" y="272924"/>
                    </a:lnTo>
                    <a:lnTo>
                      <a:pt x="972798" y="315064"/>
                    </a:lnTo>
                    <a:lnTo>
                      <a:pt x="987532" y="359320"/>
                    </a:lnTo>
                    <a:lnTo>
                      <a:pt x="998285" y="405505"/>
                    </a:lnTo>
                    <a:lnTo>
                      <a:pt x="1004873" y="453434"/>
                    </a:lnTo>
                    <a:lnTo>
                      <a:pt x="1007110" y="502920"/>
                    </a:lnTo>
                    <a:lnTo>
                      <a:pt x="1004873" y="552616"/>
                    </a:lnTo>
                    <a:lnTo>
                      <a:pt x="998285" y="600731"/>
                    </a:lnTo>
                    <a:lnTo>
                      <a:pt x="987532" y="647080"/>
                    </a:lnTo>
                    <a:lnTo>
                      <a:pt x="972798" y="691477"/>
                    </a:lnTo>
                    <a:lnTo>
                      <a:pt x="954266" y="733739"/>
                    </a:lnTo>
                    <a:lnTo>
                      <a:pt x="932122" y="773680"/>
                    </a:lnTo>
                    <a:lnTo>
                      <a:pt x="906551" y="811116"/>
                    </a:lnTo>
                    <a:lnTo>
                      <a:pt x="877736" y="845863"/>
                    </a:lnTo>
                    <a:lnTo>
                      <a:pt x="845863" y="877736"/>
                    </a:lnTo>
                    <a:lnTo>
                      <a:pt x="811116" y="906551"/>
                    </a:lnTo>
                    <a:lnTo>
                      <a:pt x="773680" y="932122"/>
                    </a:lnTo>
                    <a:lnTo>
                      <a:pt x="733739" y="954266"/>
                    </a:lnTo>
                    <a:lnTo>
                      <a:pt x="691477" y="972798"/>
                    </a:lnTo>
                    <a:lnTo>
                      <a:pt x="647080" y="987532"/>
                    </a:lnTo>
                    <a:lnTo>
                      <a:pt x="600731" y="998285"/>
                    </a:lnTo>
                    <a:lnTo>
                      <a:pt x="552616" y="1004873"/>
                    </a:lnTo>
                    <a:lnTo>
                      <a:pt x="502920" y="1007110"/>
                    </a:lnTo>
                    <a:lnTo>
                      <a:pt x="453235" y="1004873"/>
                    </a:lnTo>
                    <a:lnTo>
                      <a:pt x="405156" y="998285"/>
                    </a:lnTo>
                    <a:lnTo>
                      <a:pt x="358864" y="987532"/>
                    </a:lnTo>
                    <a:lnTo>
                      <a:pt x="314540" y="972798"/>
                    </a:lnTo>
                    <a:lnTo>
                      <a:pt x="272365" y="954266"/>
                    </a:lnTo>
                    <a:lnTo>
                      <a:pt x="232522" y="932122"/>
                    </a:lnTo>
                    <a:lnTo>
                      <a:pt x="195191" y="906551"/>
                    </a:lnTo>
                    <a:lnTo>
                      <a:pt x="160555" y="877736"/>
                    </a:lnTo>
                    <a:lnTo>
                      <a:pt x="128793" y="845863"/>
                    </a:lnTo>
                    <a:lnTo>
                      <a:pt x="100089" y="811116"/>
                    </a:lnTo>
                    <a:lnTo>
                      <a:pt x="74624" y="773680"/>
                    </a:lnTo>
                    <a:lnTo>
                      <a:pt x="52578" y="733739"/>
                    </a:lnTo>
                    <a:lnTo>
                      <a:pt x="34134" y="691477"/>
                    </a:lnTo>
                    <a:lnTo>
                      <a:pt x="19472" y="647080"/>
                    </a:lnTo>
                    <a:lnTo>
                      <a:pt x="8775" y="600731"/>
                    </a:lnTo>
                    <a:lnTo>
                      <a:pt x="2224" y="552616"/>
                    </a:lnTo>
                    <a:lnTo>
                      <a:pt x="0" y="502920"/>
                    </a:lnTo>
                    <a:lnTo>
                      <a:pt x="2224" y="453434"/>
                    </a:lnTo>
                    <a:lnTo>
                      <a:pt x="8775" y="405505"/>
                    </a:lnTo>
                    <a:lnTo>
                      <a:pt x="19472" y="359320"/>
                    </a:lnTo>
                    <a:lnTo>
                      <a:pt x="34134" y="315064"/>
                    </a:lnTo>
                    <a:lnTo>
                      <a:pt x="52578" y="272924"/>
                    </a:lnTo>
                    <a:lnTo>
                      <a:pt x="74624" y="233085"/>
                    </a:lnTo>
                    <a:lnTo>
                      <a:pt x="100089" y="195734"/>
                    </a:lnTo>
                    <a:lnTo>
                      <a:pt x="128793" y="161057"/>
                    </a:lnTo>
                    <a:lnTo>
                      <a:pt x="160555" y="129240"/>
                    </a:lnTo>
                    <a:lnTo>
                      <a:pt x="195191" y="100469"/>
                    </a:lnTo>
                    <a:lnTo>
                      <a:pt x="232522" y="74931"/>
                    </a:lnTo>
                    <a:lnTo>
                      <a:pt x="272365" y="52811"/>
                    </a:lnTo>
                    <a:lnTo>
                      <a:pt x="314540" y="34295"/>
                    </a:lnTo>
                    <a:lnTo>
                      <a:pt x="358864" y="19570"/>
                    </a:lnTo>
                    <a:lnTo>
                      <a:pt x="405156" y="8822"/>
                    </a:lnTo>
                    <a:lnTo>
                      <a:pt x="453235" y="2236"/>
                    </a:lnTo>
                    <a:lnTo>
                      <a:pt x="502920" y="0"/>
                    </a:lnTo>
                    <a:close/>
                  </a:path>
                </a:pathLst>
              </a:custGeom>
              <a:ln w="25518">
                <a:solidFill>
                  <a:srgbClr val="000000"/>
                </a:solidFill>
              </a:ln>
            </p:spPr>
            <p:txBody>
              <a:bodyPr wrap="square" lIns="0" tIns="0" rIns="0" bIns="0" rtlCol="0"/>
              <a:lstStyle/>
              <a:p>
                <a:endParaRPr/>
              </a:p>
            </p:txBody>
          </p:sp>
          <p:sp>
            <p:nvSpPr>
              <p:cNvPr id="153" name="object 153"/>
              <p:cNvSpPr/>
              <p:nvPr/>
            </p:nvSpPr>
            <p:spPr>
              <a:xfrm>
                <a:off x="7223696" y="1471878"/>
                <a:ext cx="1033144" cy="1033144"/>
              </a:xfrm>
              <a:custGeom>
                <a:avLst/>
                <a:gdLst/>
                <a:ahLst/>
                <a:cxnLst/>
                <a:rect l="l" t="t" r="r" b="b"/>
                <a:pathLst>
                  <a:path w="1033145" h="1033144">
                    <a:moveTo>
                      <a:pt x="25514" y="12750"/>
                    </a:moveTo>
                    <a:lnTo>
                      <a:pt x="21780" y="3733"/>
                    </a:lnTo>
                    <a:lnTo>
                      <a:pt x="12763" y="0"/>
                    </a:lnTo>
                    <a:lnTo>
                      <a:pt x="3733" y="3733"/>
                    </a:lnTo>
                    <a:lnTo>
                      <a:pt x="0" y="12750"/>
                    </a:lnTo>
                    <a:lnTo>
                      <a:pt x="3733" y="21780"/>
                    </a:lnTo>
                    <a:lnTo>
                      <a:pt x="12763" y="25514"/>
                    </a:lnTo>
                    <a:lnTo>
                      <a:pt x="21780" y="21780"/>
                    </a:lnTo>
                    <a:lnTo>
                      <a:pt x="25514" y="12750"/>
                    </a:lnTo>
                    <a:close/>
                  </a:path>
                  <a:path w="1033145" h="1033144">
                    <a:moveTo>
                      <a:pt x="1032624" y="1019860"/>
                    </a:moveTo>
                    <a:lnTo>
                      <a:pt x="1028890" y="1010843"/>
                    </a:lnTo>
                    <a:lnTo>
                      <a:pt x="1019873" y="1007110"/>
                    </a:lnTo>
                    <a:lnTo>
                      <a:pt x="1010843" y="1010843"/>
                    </a:lnTo>
                    <a:lnTo>
                      <a:pt x="1007110" y="1019860"/>
                    </a:lnTo>
                    <a:lnTo>
                      <a:pt x="1010843" y="1028890"/>
                    </a:lnTo>
                    <a:lnTo>
                      <a:pt x="1019873" y="1032624"/>
                    </a:lnTo>
                    <a:lnTo>
                      <a:pt x="1028890" y="1028890"/>
                    </a:lnTo>
                    <a:lnTo>
                      <a:pt x="1032624" y="1019860"/>
                    </a:lnTo>
                    <a:close/>
                  </a:path>
                </a:pathLst>
              </a:custGeom>
              <a:solidFill>
                <a:srgbClr val="000000"/>
              </a:solidFill>
            </p:spPr>
            <p:txBody>
              <a:bodyPr wrap="square" lIns="0" tIns="0" rIns="0" bIns="0" rtlCol="0"/>
              <a:lstStyle/>
              <a:p>
                <a:endParaRPr/>
              </a:p>
            </p:txBody>
          </p:sp>
          <p:sp>
            <p:nvSpPr>
              <p:cNvPr id="154" name="object 154"/>
              <p:cNvSpPr/>
              <p:nvPr/>
            </p:nvSpPr>
            <p:spPr>
              <a:xfrm>
                <a:off x="7383779" y="1631949"/>
                <a:ext cx="861060" cy="861060"/>
              </a:xfrm>
              <a:custGeom>
                <a:avLst/>
                <a:gdLst/>
                <a:ahLst/>
                <a:cxnLst/>
                <a:rect l="l" t="t" r="r" b="b"/>
                <a:pathLst>
                  <a:path w="861059" h="861060">
                    <a:moveTo>
                      <a:pt x="0" y="0"/>
                    </a:moveTo>
                    <a:lnTo>
                      <a:pt x="355600" y="356870"/>
                    </a:lnTo>
                  </a:path>
                  <a:path w="861059" h="861060">
                    <a:moveTo>
                      <a:pt x="861060" y="356870"/>
                    </a:moveTo>
                    <a:lnTo>
                      <a:pt x="355600" y="356870"/>
                    </a:lnTo>
                  </a:path>
                  <a:path w="861059" h="861060">
                    <a:moveTo>
                      <a:pt x="355600" y="861060"/>
                    </a:moveTo>
                    <a:lnTo>
                      <a:pt x="355600" y="356870"/>
                    </a:lnTo>
                  </a:path>
                </a:pathLst>
              </a:custGeom>
              <a:ln w="19048">
                <a:solidFill>
                  <a:srgbClr val="000000"/>
                </a:solidFill>
              </a:ln>
            </p:spPr>
            <p:txBody>
              <a:bodyPr wrap="square" lIns="0" tIns="0" rIns="0" bIns="0" rtlCol="0"/>
              <a:lstStyle/>
              <a:p>
                <a:endParaRPr/>
              </a:p>
            </p:txBody>
          </p:sp>
        </p:grpSp>
        <p:sp>
          <p:nvSpPr>
            <p:cNvPr id="155" name="object 155"/>
            <p:cNvSpPr/>
            <p:nvPr/>
          </p:nvSpPr>
          <p:spPr>
            <a:xfrm>
              <a:off x="5664200" y="4796790"/>
              <a:ext cx="1871980" cy="1079500"/>
            </a:xfrm>
            <a:custGeom>
              <a:avLst/>
              <a:gdLst/>
              <a:ahLst/>
              <a:cxnLst/>
              <a:rect l="l" t="t" r="r" b="b"/>
              <a:pathLst>
                <a:path w="1871979" h="1079500">
                  <a:moveTo>
                    <a:pt x="1871979" y="0"/>
                  </a:moveTo>
                  <a:lnTo>
                    <a:pt x="0" y="0"/>
                  </a:lnTo>
                  <a:lnTo>
                    <a:pt x="0" y="1079500"/>
                  </a:lnTo>
                  <a:lnTo>
                    <a:pt x="935989" y="1079500"/>
                  </a:lnTo>
                  <a:lnTo>
                    <a:pt x="1871979" y="1079500"/>
                  </a:lnTo>
                  <a:lnTo>
                    <a:pt x="1871979" y="0"/>
                  </a:lnTo>
                  <a:close/>
                </a:path>
              </a:pathLst>
            </a:custGeom>
            <a:solidFill>
              <a:srgbClr val="FFFFFF"/>
            </a:solidFill>
          </p:spPr>
          <p:txBody>
            <a:bodyPr wrap="square" lIns="0" tIns="0" rIns="0" bIns="0" rtlCol="0"/>
            <a:lstStyle/>
            <a:p>
              <a:endParaRPr/>
            </a:p>
          </p:txBody>
        </p:sp>
        <p:sp>
          <p:nvSpPr>
            <p:cNvPr id="156" name="object 156"/>
            <p:cNvSpPr txBox="1"/>
            <p:nvPr/>
          </p:nvSpPr>
          <p:spPr>
            <a:xfrm>
              <a:off x="5664200" y="4796791"/>
              <a:ext cx="1871980" cy="420628"/>
            </a:xfrm>
            <a:prstGeom prst="rect">
              <a:avLst/>
            </a:prstGeom>
            <a:ln w="25518">
              <a:solidFill>
                <a:srgbClr val="000000"/>
              </a:solidFill>
            </a:ln>
          </p:spPr>
          <p:txBody>
            <a:bodyPr vert="horz" wrap="square" lIns="0" tIns="142240" rIns="0" bIns="0" rtlCol="0">
              <a:spAutoFit/>
            </a:bodyPr>
            <a:lstStyle/>
            <a:p>
              <a:pPr marL="6985" algn="ctr"/>
              <a:r>
                <a:rPr spc="-20" dirty="0">
                  <a:latin typeface="Verdana"/>
                  <a:cs typeface="Verdana"/>
                </a:rPr>
                <a:t>Data</a:t>
              </a:r>
              <a:endParaRPr dirty="0">
                <a:latin typeface="Verdana"/>
                <a:cs typeface="Verdana"/>
              </a:endParaRPr>
            </a:p>
          </p:txBody>
        </p:sp>
        <p:grpSp>
          <p:nvGrpSpPr>
            <p:cNvPr id="159" name="object 159"/>
            <p:cNvGrpSpPr/>
            <p:nvPr/>
          </p:nvGrpSpPr>
          <p:grpSpPr>
            <a:xfrm>
              <a:off x="3926204" y="2626995"/>
              <a:ext cx="5346700" cy="2179320"/>
              <a:chOff x="2402204" y="2626995"/>
              <a:chExt cx="5346700" cy="2179320"/>
            </a:xfrm>
          </p:grpSpPr>
          <p:sp>
            <p:nvSpPr>
              <p:cNvPr id="160" name="object 160"/>
              <p:cNvSpPr/>
              <p:nvPr/>
            </p:nvSpPr>
            <p:spPr>
              <a:xfrm>
                <a:off x="2411729" y="2636520"/>
                <a:ext cx="5327650" cy="2160270"/>
              </a:xfrm>
              <a:custGeom>
                <a:avLst/>
                <a:gdLst/>
                <a:ahLst/>
                <a:cxnLst/>
                <a:rect l="l" t="t" r="r" b="b"/>
                <a:pathLst>
                  <a:path w="5327650" h="2160270">
                    <a:moveTo>
                      <a:pt x="0" y="0"/>
                    </a:moveTo>
                    <a:lnTo>
                      <a:pt x="2664460" y="2160269"/>
                    </a:lnTo>
                  </a:path>
                  <a:path w="5327650" h="2160270">
                    <a:moveTo>
                      <a:pt x="2664460" y="0"/>
                    </a:moveTo>
                    <a:lnTo>
                      <a:pt x="2664460" y="2160269"/>
                    </a:lnTo>
                  </a:path>
                  <a:path w="5327650" h="2160270">
                    <a:moveTo>
                      <a:pt x="5327650" y="0"/>
                    </a:moveTo>
                    <a:lnTo>
                      <a:pt x="2664460" y="2160269"/>
                    </a:lnTo>
                  </a:path>
                </a:pathLst>
              </a:custGeom>
              <a:ln w="19048">
                <a:solidFill>
                  <a:srgbClr val="000000"/>
                </a:solidFill>
              </a:ln>
            </p:spPr>
            <p:txBody>
              <a:bodyPr wrap="square" lIns="0" tIns="0" rIns="0" bIns="0" rtlCol="0"/>
              <a:lstStyle/>
              <a:p>
                <a:endParaRPr/>
              </a:p>
            </p:txBody>
          </p:sp>
          <p:sp>
            <p:nvSpPr>
              <p:cNvPr id="161" name="object 161"/>
              <p:cNvSpPr/>
              <p:nvPr/>
            </p:nvSpPr>
            <p:spPr>
              <a:xfrm>
                <a:off x="5219700" y="3140710"/>
                <a:ext cx="0" cy="1225550"/>
              </a:xfrm>
              <a:custGeom>
                <a:avLst/>
                <a:gdLst/>
                <a:ahLst/>
                <a:cxnLst/>
                <a:rect l="l" t="t" r="r" b="b"/>
                <a:pathLst>
                  <a:path h="1225550">
                    <a:moveTo>
                      <a:pt x="0" y="0"/>
                    </a:moveTo>
                    <a:lnTo>
                      <a:pt x="0" y="1225550"/>
                    </a:lnTo>
                  </a:path>
                </a:pathLst>
              </a:custGeom>
              <a:ln w="19050">
                <a:solidFill>
                  <a:srgbClr val="000000"/>
                </a:solidFill>
              </a:ln>
            </p:spPr>
            <p:txBody>
              <a:bodyPr wrap="square" lIns="0" tIns="0" rIns="0" bIns="0" rtlCol="0"/>
              <a:lstStyle/>
              <a:p>
                <a:endParaRPr/>
              </a:p>
            </p:txBody>
          </p:sp>
          <p:sp>
            <p:nvSpPr>
              <p:cNvPr id="162" name="object 162"/>
              <p:cNvSpPr/>
              <p:nvPr/>
            </p:nvSpPr>
            <p:spPr>
              <a:xfrm>
                <a:off x="5181600" y="436118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grpSp>
        <p:grpSp>
          <p:nvGrpSpPr>
            <p:cNvPr id="165" name="object 165"/>
            <p:cNvGrpSpPr/>
            <p:nvPr/>
          </p:nvGrpSpPr>
          <p:grpSpPr>
            <a:xfrm>
              <a:off x="4862195" y="3131186"/>
              <a:ext cx="4051300" cy="1306195"/>
              <a:chOff x="3338195" y="3131185"/>
              <a:chExt cx="4051300" cy="1306195"/>
            </a:xfrm>
          </p:grpSpPr>
          <p:sp>
            <p:nvSpPr>
              <p:cNvPr id="166" name="object 166"/>
              <p:cNvSpPr/>
              <p:nvPr/>
            </p:nvSpPr>
            <p:spPr>
              <a:xfrm>
                <a:off x="3347720" y="3140710"/>
                <a:ext cx="1459230" cy="1249680"/>
              </a:xfrm>
              <a:custGeom>
                <a:avLst/>
                <a:gdLst/>
                <a:ahLst/>
                <a:cxnLst/>
                <a:rect l="l" t="t" r="r" b="b"/>
                <a:pathLst>
                  <a:path w="1459229" h="1249679">
                    <a:moveTo>
                      <a:pt x="0" y="0"/>
                    </a:moveTo>
                    <a:lnTo>
                      <a:pt x="1459229" y="1249679"/>
                    </a:lnTo>
                  </a:path>
                </a:pathLst>
              </a:custGeom>
              <a:ln w="19050">
                <a:solidFill>
                  <a:srgbClr val="000000"/>
                </a:solidFill>
              </a:ln>
            </p:spPr>
            <p:txBody>
              <a:bodyPr wrap="square" lIns="0" tIns="0" rIns="0" bIns="0" rtlCol="0"/>
              <a:lstStyle/>
              <a:p>
                <a:endParaRPr/>
              </a:p>
            </p:txBody>
          </p:sp>
          <p:sp>
            <p:nvSpPr>
              <p:cNvPr id="167" name="object 167"/>
              <p:cNvSpPr/>
              <p:nvPr/>
            </p:nvSpPr>
            <p:spPr>
              <a:xfrm>
                <a:off x="4777740" y="4358640"/>
                <a:ext cx="82550" cy="78740"/>
              </a:xfrm>
              <a:custGeom>
                <a:avLst/>
                <a:gdLst/>
                <a:ahLst/>
                <a:cxnLst/>
                <a:rect l="l" t="t" r="r" b="b"/>
                <a:pathLst>
                  <a:path w="82550" h="78739">
                    <a:moveTo>
                      <a:pt x="49530" y="0"/>
                    </a:moveTo>
                    <a:lnTo>
                      <a:pt x="0" y="58420"/>
                    </a:lnTo>
                    <a:lnTo>
                      <a:pt x="82550" y="78740"/>
                    </a:lnTo>
                    <a:lnTo>
                      <a:pt x="49530" y="0"/>
                    </a:lnTo>
                    <a:close/>
                  </a:path>
                </a:pathLst>
              </a:custGeom>
              <a:solidFill>
                <a:srgbClr val="000000"/>
              </a:solidFill>
            </p:spPr>
            <p:txBody>
              <a:bodyPr wrap="square" lIns="0" tIns="0" rIns="0" bIns="0" rtlCol="0"/>
              <a:lstStyle/>
              <a:p>
                <a:endParaRPr/>
              </a:p>
            </p:txBody>
          </p:sp>
          <p:sp>
            <p:nvSpPr>
              <p:cNvPr id="168" name="object 168"/>
              <p:cNvSpPr/>
              <p:nvPr/>
            </p:nvSpPr>
            <p:spPr>
              <a:xfrm>
                <a:off x="5850890" y="3140710"/>
                <a:ext cx="1529080" cy="1252220"/>
              </a:xfrm>
              <a:custGeom>
                <a:avLst/>
                <a:gdLst/>
                <a:ahLst/>
                <a:cxnLst/>
                <a:rect l="l" t="t" r="r" b="b"/>
                <a:pathLst>
                  <a:path w="1529079" h="1252220">
                    <a:moveTo>
                      <a:pt x="1529080" y="0"/>
                    </a:moveTo>
                    <a:lnTo>
                      <a:pt x="0" y="1252220"/>
                    </a:lnTo>
                  </a:path>
                </a:pathLst>
              </a:custGeom>
              <a:ln w="19050">
                <a:solidFill>
                  <a:srgbClr val="000000"/>
                </a:solidFill>
              </a:ln>
            </p:spPr>
            <p:txBody>
              <a:bodyPr wrap="square" lIns="0" tIns="0" rIns="0" bIns="0" rtlCol="0"/>
              <a:lstStyle/>
              <a:p>
                <a:endParaRPr/>
              </a:p>
            </p:txBody>
          </p:sp>
          <p:sp>
            <p:nvSpPr>
              <p:cNvPr id="169" name="object 169"/>
              <p:cNvSpPr/>
              <p:nvPr/>
            </p:nvSpPr>
            <p:spPr>
              <a:xfrm>
                <a:off x="5796280" y="4359910"/>
                <a:ext cx="82550" cy="77470"/>
              </a:xfrm>
              <a:custGeom>
                <a:avLst/>
                <a:gdLst/>
                <a:ahLst/>
                <a:cxnLst/>
                <a:rect l="l" t="t" r="r" b="b"/>
                <a:pathLst>
                  <a:path w="82550" h="77470">
                    <a:moveTo>
                      <a:pt x="34290" y="0"/>
                    </a:moveTo>
                    <a:lnTo>
                      <a:pt x="0" y="77469"/>
                    </a:lnTo>
                    <a:lnTo>
                      <a:pt x="82550" y="58419"/>
                    </a:lnTo>
                    <a:lnTo>
                      <a:pt x="34290" y="0"/>
                    </a:lnTo>
                    <a:close/>
                  </a:path>
                </a:pathLst>
              </a:custGeom>
              <a:solidFill>
                <a:srgbClr val="000000"/>
              </a:solidFill>
            </p:spPr>
            <p:txBody>
              <a:bodyPr wrap="square" lIns="0" tIns="0" rIns="0" bIns="0" rtlCol="0"/>
              <a:lstStyle/>
              <a:p>
                <a:endParaRPr/>
              </a:p>
            </p:txBody>
          </p:sp>
        </p:grpSp>
      </p:grpSp>
      <p:sp>
        <p:nvSpPr>
          <p:cNvPr id="171" name="object 157">
            <a:extLst>
              <a:ext uri="{FF2B5EF4-FFF2-40B4-BE49-F238E27FC236}">
                <a16:creationId xmlns:a16="http://schemas.microsoft.com/office/drawing/2014/main" id="{1C1B648F-D7E9-CD04-2B1D-7649072F8268}"/>
              </a:ext>
            </a:extLst>
          </p:cNvPr>
          <p:cNvSpPr txBox="1">
            <a:spLocks/>
          </p:cNvSpPr>
          <p:nvPr/>
        </p:nvSpPr>
        <p:spPr>
          <a:xfrm>
            <a:off x="4346953" y="609600"/>
            <a:ext cx="3497579" cy="26212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CA" sz="1800" i="1" dirty="0">
                <a:solidFill>
                  <a:srgbClr val="000000"/>
                </a:solidFill>
                <a:latin typeface="Verdana"/>
                <a:cs typeface="Verdana"/>
              </a:rPr>
              <a:t>Views</a:t>
            </a:r>
            <a:r>
              <a:rPr lang="en-CA" sz="1800" i="1" spc="-60" dirty="0">
                <a:solidFill>
                  <a:srgbClr val="000000"/>
                </a:solidFill>
                <a:latin typeface="Verdana"/>
                <a:cs typeface="Verdana"/>
              </a:rPr>
              <a:t> </a:t>
            </a:r>
            <a:r>
              <a:rPr lang="en-CA" sz="1800" i="1" dirty="0">
                <a:solidFill>
                  <a:srgbClr val="000000"/>
                </a:solidFill>
                <a:latin typeface="Verdana"/>
                <a:cs typeface="Verdana"/>
              </a:rPr>
              <a:t>(i.e.,</a:t>
            </a:r>
            <a:r>
              <a:rPr lang="en-CA" sz="1800" i="1" spc="-50" dirty="0">
                <a:solidFill>
                  <a:srgbClr val="000000"/>
                </a:solidFill>
                <a:latin typeface="Verdana"/>
                <a:cs typeface="Verdana"/>
              </a:rPr>
              <a:t> </a:t>
            </a:r>
            <a:r>
              <a:rPr lang="en-CA" sz="1800" i="1" dirty="0">
                <a:solidFill>
                  <a:srgbClr val="000000"/>
                </a:solidFill>
                <a:latin typeface="Verdana"/>
                <a:cs typeface="Verdana"/>
              </a:rPr>
              <a:t>observers,</a:t>
            </a:r>
            <a:r>
              <a:rPr lang="en-CA" sz="1800" i="1" spc="-40" dirty="0">
                <a:solidFill>
                  <a:srgbClr val="000000"/>
                </a:solidFill>
                <a:latin typeface="Verdana"/>
                <a:cs typeface="Verdana"/>
              </a:rPr>
              <a:t> </a:t>
            </a:r>
            <a:r>
              <a:rPr lang="en-CA" sz="1800" i="1" spc="-10" dirty="0">
                <a:solidFill>
                  <a:srgbClr val="000000"/>
                </a:solidFill>
                <a:latin typeface="Verdana"/>
                <a:cs typeface="Verdana"/>
              </a:rPr>
              <a:t>clients)</a:t>
            </a:r>
            <a:endParaRPr lang="en-CA" sz="1800" dirty="0">
              <a:latin typeface="Verdana"/>
              <a:cs typeface="Verdana"/>
            </a:endParaRPr>
          </a:p>
        </p:txBody>
      </p:sp>
      <p:sp>
        <p:nvSpPr>
          <p:cNvPr id="174" name="object 158">
            <a:extLst>
              <a:ext uri="{FF2B5EF4-FFF2-40B4-BE49-F238E27FC236}">
                <a16:creationId xmlns:a16="http://schemas.microsoft.com/office/drawing/2014/main" id="{DB7960E8-4056-3A4C-F40F-BBCF62C31E88}"/>
              </a:ext>
            </a:extLst>
          </p:cNvPr>
          <p:cNvSpPr txBox="1"/>
          <p:nvPr/>
        </p:nvSpPr>
        <p:spPr>
          <a:xfrm>
            <a:off x="4467602" y="5948680"/>
            <a:ext cx="3256279" cy="299720"/>
          </a:xfrm>
          <a:prstGeom prst="rect">
            <a:avLst/>
          </a:prstGeom>
        </p:spPr>
        <p:txBody>
          <a:bodyPr vert="horz" wrap="square" lIns="0" tIns="12700" rIns="0" bIns="0" rtlCol="0">
            <a:spAutoFit/>
          </a:bodyPr>
          <a:lstStyle/>
          <a:p>
            <a:pPr marL="12700">
              <a:spcBef>
                <a:spcPts val="100"/>
              </a:spcBef>
            </a:pPr>
            <a:r>
              <a:rPr lang="en-CA" i="1" dirty="0">
                <a:latin typeface="Verdana"/>
                <a:cs typeface="Verdana"/>
              </a:rPr>
              <a:t>Model </a:t>
            </a:r>
            <a:r>
              <a:rPr i="1" dirty="0">
                <a:latin typeface="Verdana"/>
                <a:cs typeface="Verdana"/>
              </a:rPr>
              <a:t>(i.e.,</a:t>
            </a:r>
            <a:r>
              <a:rPr i="1" spc="-40" dirty="0">
                <a:latin typeface="Verdana"/>
                <a:cs typeface="Verdana"/>
              </a:rPr>
              <a:t> </a:t>
            </a:r>
            <a:r>
              <a:rPr i="1" dirty="0">
                <a:latin typeface="Verdana"/>
                <a:cs typeface="Verdana"/>
              </a:rPr>
              <a:t>subject,</a:t>
            </a:r>
            <a:r>
              <a:rPr i="1" spc="-45" dirty="0">
                <a:latin typeface="Verdana"/>
                <a:cs typeface="Verdana"/>
              </a:rPr>
              <a:t> </a:t>
            </a:r>
            <a:r>
              <a:rPr i="1" spc="-10" dirty="0">
                <a:latin typeface="Verdana"/>
                <a:cs typeface="Verdana"/>
              </a:rPr>
              <a:t>server)</a:t>
            </a:r>
            <a:endParaRPr dirty="0">
              <a:latin typeface="Verdana"/>
              <a:cs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F5FEE23-013E-FC98-6526-2A088CDD539E}"/>
              </a:ext>
            </a:extLst>
          </p:cNvPr>
          <p:cNvGrpSpPr/>
          <p:nvPr/>
        </p:nvGrpSpPr>
        <p:grpSpPr>
          <a:xfrm>
            <a:off x="3100501" y="1916430"/>
            <a:ext cx="5990999" cy="3743960"/>
            <a:chOff x="3647440" y="1916430"/>
            <a:chExt cx="5990999" cy="3743960"/>
          </a:xfrm>
        </p:grpSpPr>
        <p:sp>
          <p:nvSpPr>
            <p:cNvPr id="5" name="object 5"/>
            <p:cNvSpPr txBox="1"/>
            <p:nvPr/>
          </p:nvSpPr>
          <p:spPr>
            <a:xfrm>
              <a:off x="5736591" y="4076701"/>
              <a:ext cx="1799589" cy="748923"/>
            </a:xfrm>
            <a:prstGeom prst="rect">
              <a:avLst/>
            </a:prstGeom>
            <a:ln w="28393">
              <a:solidFill>
                <a:srgbClr val="000000"/>
              </a:solidFill>
            </a:ln>
          </p:spPr>
          <p:txBody>
            <a:bodyPr vert="horz" wrap="square" lIns="0" tIns="193040" rIns="0" bIns="0" rtlCol="0">
              <a:spAutoFit/>
            </a:bodyPr>
            <a:lstStyle/>
            <a:p>
              <a:pPr marL="487680">
                <a:spcBef>
                  <a:spcPts val="1520"/>
                </a:spcBef>
              </a:pPr>
              <a:r>
                <a:rPr spc="-10" dirty="0">
                  <a:solidFill>
                    <a:srgbClr val="3B3B3B"/>
                  </a:solidFill>
                  <a:latin typeface="Arial MT"/>
                  <a:cs typeface="Arial MT"/>
                </a:rPr>
                <a:t>«Entity»</a:t>
              </a:r>
              <a:endParaRPr>
                <a:latin typeface="Arial MT"/>
                <a:cs typeface="Arial MT"/>
              </a:endParaRPr>
            </a:p>
            <a:p>
              <a:pPr marL="589280"/>
              <a:r>
                <a:rPr i="1" spc="-10" dirty="0">
                  <a:solidFill>
                    <a:srgbClr val="3B3B3B"/>
                  </a:solidFill>
                  <a:latin typeface="Arial"/>
                  <a:cs typeface="Arial"/>
                </a:rPr>
                <a:t>Model</a:t>
              </a:r>
              <a:endParaRPr>
                <a:latin typeface="Arial"/>
                <a:cs typeface="Arial"/>
              </a:endParaRPr>
            </a:p>
          </p:txBody>
        </p:sp>
        <p:sp>
          <p:nvSpPr>
            <p:cNvPr id="6" name="object 6"/>
            <p:cNvSpPr/>
            <p:nvPr/>
          </p:nvSpPr>
          <p:spPr>
            <a:xfrm>
              <a:off x="5736591" y="5012690"/>
              <a:ext cx="1799589" cy="647700"/>
            </a:xfrm>
            <a:custGeom>
              <a:avLst/>
              <a:gdLst/>
              <a:ahLst/>
              <a:cxnLst/>
              <a:rect l="l" t="t" r="r" b="b"/>
              <a:pathLst>
                <a:path w="1799589" h="647700">
                  <a:moveTo>
                    <a:pt x="899160" y="215900"/>
                  </a:moveTo>
                  <a:lnTo>
                    <a:pt x="0" y="215900"/>
                  </a:lnTo>
                  <a:lnTo>
                    <a:pt x="0" y="0"/>
                  </a:lnTo>
                  <a:lnTo>
                    <a:pt x="1799589" y="0"/>
                  </a:lnTo>
                  <a:lnTo>
                    <a:pt x="1799589" y="215900"/>
                  </a:lnTo>
                  <a:lnTo>
                    <a:pt x="899160" y="215900"/>
                  </a:lnTo>
                  <a:close/>
                </a:path>
                <a:path w="1799589" h="647700">
                  <a:moveTo>
                    <a:pt x="899160" y="647700"/>
                  </a:moveTo>
                  <a:lnTo>
                    <a:pt x="0" y="647700"/>
                  </a:lnTo>
                  <a:lnTo>
                    <a:pt x="0" y="215900"/>
                  </a:lnTo>
                  <a:lnTo>
                    <a:pt x="1799589" y="215900"/>
                  </a:lnTo>
                  <a:lnTo>
                    <a:pt x="1799589" y="647700"/>
                  </a:lnTo>
                  <a:lnTo>
                    <a:pt x="899160" y="647700"/>
                  </a:lnTo>
                  <a:close/>
                </a:path>
              </a:pathLst>
            </a:custGeom>
            <a:ln w="28393">
              <a:solidFill>
                <a:srgbClr val="000000"/>
              </a:solidFill>
            </a:ln>
          </p:spPr>
          <p:txBody>
            <a:bodyPr wrap="square" lIns="0" tIns="0" rIns="0" bIns="0" rtlCol="0"/>
            <a:lstStyle/>
            <a:p>
              <a:endParaRPr/>
            </a:p>
          </p:txBody>
        </p:sp>
        <p:sp>
          <p:nvSpPr>
            <p:cNvPr id="7" name="object 7"/>
            <p:cNvSpPr txBox="1"/>
            <p:nvPr/>
          </p:nvSpPr>
          <p:spPr>
            <a:xfrm>
              <a:off x="3647440" y="1916430"/>
              <a:ext cx="1799589" cy="750205"/>
            </a:xfrm>
            <a:prstGeom prst="rect">
              <a:avLst/>
            </a:prstGeom>
            <a:ln w="28393">
              <a:solidFill>
                <a:srgbClr val="000000"/>
              </a:solidFill>
            </a:ln>
          </p:spPr>
          <p:txBody>
            <a:bodyPr vert="horz" wrap="square" lIns="0" tIns="194310" rIns="0" bIns="0" rtlCol="0" anchor="ctr">
              <a:spAutoFit/>
            </a:bodyPr>
            <a:lstStyle/>
            <a:p>
              <a:pPr marL="1270" algn="ctr">
                <a:spcBef>
                  <a:spcPts val="1530"/>
                </a:spcBef>
              </a:pPr>
              <a:r>
                <a:rPr spc="-10" dirty="0">
                  <a:solidFill>
                    <a:srgbClr val="3B3B3B"/>
                  </a:solidFill>
                  <a:latin typeface="Arial MT"/>
                  <a:cs typeface="Arial MT"/>
                </a:rPr>
                <a:t>«Boundary»</a:t>
              </a:r>
              <a:endParaRPr dirty="0">
                <a:latin typeface="Arial MT"/>
                <a:cs typeface="Arial MT"/>
              </a:endParaRPr>
            </a:p>
            <a:p>
              <a:pPr marL="1270" algn="ctr"/>
              <a:r>
                <a:rPr i="1" spc="-20" dirty="0">
                  <a:solidFill>
                    <a:srgbClr val="3B3B3B"/>
                  </a:solidFill>
                  <a:latin typeface="Arial"/>
                  <a:cs typeface="Arial"/>
                </a:rPr>
                <a:t>View</a:t>
              </a:r>
              <a:endParaRPr dirty="0">
                <a:latin typeface="Arial"/>
                <a:cs typeface="Arial"/>
              </a:endParaRPr>
            </a:p>
          </p:txBody>
        </p:sp>
        <p:sp>
          <p:nvSpPr>
            <p:cNvPr id="8" name="object 8"/>
            <p:cNvSpPr/>
            <p:nvPr/>
          </p:nvSpPr>
          <p:spPr>
            <a:xfrm>
              <a:off x="3647440" y="2852420"/>
              <a:ext cx="1799589" cy="647700"/>
            </a:xfrm>
            <a:custGeom>
              <a:avLst/>
              <a:gdLst/>
              <a:ahLst/>
              <a:cxnLst/>
              <a:rect l="l" t="t" r="r" b="b"/>
              <a:pathLst>
                <a:path w="1799589" h="647700">
                  <a:moveTo>
                    <a:pt x="900430" y="215900"/>
                  </a:moveTo>
                  <a:lnTo>
                    <a:pt x="0" y="215900"/>
                  </a:lnTo>
                  <a:lnTo>
                    <a:pt x="0" y="0"/>
                  </a:lnTo>
                  <a:lnTo>
                    <a:pt x="1799589" y="0"/>
                  </a:lnTo>
                  <a:lnTo>
                    <a:pt x="1799589" y="215900"/>
                  </a:lnTo>
                  <a:lnTo>
                    <a:pt x="900430" y="215900"/>
                  </a:lnTo>
                  <a:close/>
                </a:path>
                <a:path w="1799589" h="647700">
                  <a:moveTo>
                    <a:pt x="900430" y="647700"/>
                  </a:moveTo>
                  <a:lnTo>
                    <a:pt x="0" y="647700"/>
                  </a:lnTo>
                  <a:lnTo>
                    <a:pt x="0" y="215900"/>
                  </a:lnTo>
                  <a:lnTo>
                    <a:pt x="1799589" y="215900"/>
                  </a:lnTo>
                  <a:lnTo>
                    <a:pt x="1799589" y="647700"/>
                  </a:lnTo>
                  <a:lnTo>
                    <a:pt x="900430" y="647700"/>
                  </a:lnTo>
                  <a:close/>
                </a:path>
              </a:pathLst>
            </a:custGeom>
            <a:ln w="28393">
              <a:solidFill>
                <a:srgbClr val="000000"/>
              </a:solidFill>
            </a:ln>
          </p:spPr>
          <p:txBody>
            <a:bodyPr wrap="square" lIns="0" tIns="0" rIns="0" bIns="0" rtlCol="0"/>
            <a:lstStyle/>
            <a:p>
              <a:endParaRPr/>
            </a:p>
          </p:txBody>
        </p:sp>
        <p:sp>
          <p:nvSpPr>
            <p:cNvPr id="9" name="object 9"/>
            <p:cNvSpPr txBox="1"/>
            <p:nvPr/>
          </p:nvSpPr>
          <p:spPr>
            <a:xfrm>
              <a:off x="7824471" y="1916430"/>
              <a:ext cx="1799589" cy="750205"/>
            </a:xfrm>
            <a:prstGeom prst="rect">
              <a:avLst/>
            </a:prstGeom>
            <a:ln w="28393">
              <a:solidFill>
                <a:srgbClr val="000000"/>
              </a:solidFill>
            </a:ln>
          </p:spPr>
          <p:txBody>
            <a:bodyPr vert="horz" wrap="square" lIns="0" tIns="194310" rIns="0" bIns="0" rtlCol="0" anchor="ctr">
              <a:spAutoFit/>
            </a:bodyPr>
            <a:lstStyle/>
            <a:p>
              <a:pPr marL="406400">
                <a:spcBef>
                  <a:spcPts val="1530"/>
                </a:spcBef>
              </a:pPr>
              <a:r>
                <a:rPr spc="-10" dirty="0">
                  <a:solidFill>
                    <a:srgbClr val="3B3B3B"/>
                  </a:solidFill>
                  <a:latin typeface="Arial MT"/>
                  <a:cs typeface="Arial MT"/>
                </a:rPr>
                <a:t>«Control»</a:t>
              </a:r>
              <a:endParaRPr dirty="0">
                <a:latin typeface="Arial MT"/>
                <a:cs typeface="Arial MT"/>
              </a:endParaRPr>
            </a:p>
            <a:p>
              <a:pPr marL="406400"/>
              <a:r>
                <a:rPr i="1" spc="-10" dirty="0">
                  <a:solidFill>
                    <a:srgbClr val="3B3B3B"/>
                  </a:solidFill>
                  <a:latin typeface="Arial"/>
                  <a:cs typeface="Arial"/>
                </a:rPr>
                <a:t>Controller</a:t>
              </a:r>
              <a:endParaRPr dirty="0">
                <a:latin typeface="Arial"/>
                <a:cs typeface="Arial"/>
              </a:endParaRPr>
            </a:p>
          </p:txBody>
        </p:sp>
        <p:grpSp>
          <p:nvGrpSpPr>
            <p:cNvPr id="10" name="object 10"/>
            <p:cNvGrpSpPr/>
            <p:nvPr/>
          </p:nvGrpSpPr>
          <p:grpSpPr>
            <a:xfrm>
              <a:off x="4533674" y="2838224"/>
              <a:ext cx="5104765" cy="2403475"/>
              <a:chOff x="3009673" y="2838223"/>
              <a:chExt cx="5104765" cy="2403475"/>
            </a:xfrm>
          </p:grpSpPr>
          <p:sp>
            <p:nvSpPr>
              <p:cNvPr id="11" name="object 11"/>
              <p:cNvSpPr/>
              <p:nvPr/>
            </p:nvSpPr>
            <p:spPr>
              <a:xfrm>
                <a:off x="6300470" y="2852419"/>
                <a:ext cx="1799589" cy="647700"/>
              </a:xfrm>
              <a:custGeom>
                <a:avLst/>
                <a:gdLst/>
                <a:ahLst/>
                <a:cxnLst/>
                <a:rect l="l" t="t" r="r" b="b"/>
                <a:pathLst>
                  <a:path w="1799590" h="647700">
                    <a:moveTo>
                      <a:pt x="900429" y="215900"/>
                    </a:moveTo>
                    <a:lnTo>
                      <a:pt x="0" y="215900"/>
                    </a:lnTo>
                    <a:lnTo>
                      <a:pt x="0" y="0"/>
                    </a:lnTo>
                    <a:lnTo>
                      <a:pt x="1799589" y="0"/>
                    </a:lnTo>
                    <a:lnTo>
                      <a:pt x="1799589" y="215900"/>
                    </a:lnTo>
                    <a:lnTo>
                      <a:pt x="900429" y="215900"/>
                    </a:lnTo>
                    <a:close/>
                  </a:path>
                  <a:path w="1799590" h="647700">
                    <a:moveTo>
                      <a:pt x="900429" y="647700"/>
                    </a:moveTo>
                    <a:lnTo>
                      <a:pt x="0" y="647700"/>
                    </a:lnTo>
                    <a:lnTo>
                      <a:pt x="0" y="215900"/>
                    </a:lnTo>
                    <a:lnTo>
                      <a:pt x="1799589" y="215900"/>
                    </a:lnTo>
                    <a:lnTo>
                      <a:pt x="1799589" y="647700"/>
                    </a:lnTo>
                    <a:lnTo>
                      <a:pt x="900429" y="647700"/>
                    </a:lnTo>
                    <a:close/>
                  </a:path>
                </a:pathLst>
              </a:custGeom>
              <a:ln w="28393">
                <a:solidFill>
                  <a:srgbClr val="000000"/>
                </a:solidFill>
              </a:ln>
            </p:spPr>
            <p:txBody>
              <a:bodyPr wrap="square" lIns="0" tIns="0" rIns="0" bIns="0" rtlCol="0"/>
              <a:lstStyle/>
              <a:p>
                <a:endParaRPr/>
              </a:p>
            </p:txBody>
          </p:sp>
          <p:sp>
            <p:nvSpPr>
              <p:cNvPr id="12" name="object 12"/>
              <p:cNvSpPr/>
              <p:nvPr/>
            </p:nvSpPr>
            <p:spPr>
              <a:xfrm>
                <a:off x="3923029" y="2960369"/>
                <a:ext cx="2377440" cy="0"/>
              </a:xfrm>
              <a:custGeom>
                <a:avLst/>
                <a:gdLst/>
                <a:ahLst/>
                <a:cxnLst/>
                <a:rect l="l" t="t" r="r" b="b"/>
                <a:pathLst>
                  <a:path w="2377440">
                    <a:moveTo>
                      <a:pt x="0" y="0"/>
                    </a:moveTo>
                    <a:lnTo>
                      <a:pt x="2377440" y="0"/>
                    </a:lnTo>
                  </a:path>
                </a:pathLst>
              </a:custGeom>
              <a:ln w="28393">
                <a:solidFill>
                  <a:srgbClr val="000000"/>
                </a:solidFill>
              </a:ln>
            </p:spPr>
            <p:txBody>
              <a:bodyPr wrap="square" lIns="0" tIns="0" rIns="0" bIns="0" rtlCol="0"/>
              <a:lstStyle/>
              <a:p>
                <a:endParaRPr/>
              </a:p>
            </p:txBody>
          </p:sp>
          <p:pic>
            <p:nvPicPr>
              <p:cNvPr id="13" name="object 13"/>
              <p:cNvPicPr/>
              <p:nvPr/>
            </p:nvPicPr>
            <p:blipFill>
              <a:blip r:embed="rId3" cstate="print"/>
              <a:stretch>
                <a:fillRect/>
              </a:stretch>
            </p:blipFill>
            <p:spPr>
              <a:xfrm>
                <a:off x="3910270" y="2839660"/>
                <a:ext cx="242688" cy="241418"/>
              </a:xfrm>
              <a:prstGeom prst="rect">
                <a:avLst/>
              </a:prstGeom>
            </p:spPr>
          </p:pic>
          <p:sp>
            <p:nvSpPr>
              <p:cNvPr id="14" name="object 14"/>
              <p:cNvSpPr/>
              <p:nvPr/>
            </p:nvSpPr>
            <p:spPr>
              <a:xfrm>
                <a:off x="3023869" y="3501389"/>
                <a:ext cx="4175760" cy="1619250"/>
              </a:xfrm>
              <a:custGeom>
                <a:avLst/>
                <a:gdLst/>
                <a:ahLst/>
                <a:cxnLst/>
                <a:rect l="l" t="t" r="r" b="b"/>
                <a:pathLst>
                  <a:path w="4175759" h="1619250">
                    <a:moveTo>
                      <a:pt x="2988310" y="1619250"/>
                    </a:moveTo>
                    <a:lnTo>
                      <a:pt x="4175759" y="1619250"/>
                    </a:lnTo>
                    <a:lnTo>
                      <a:pt x="4175759" y="0"/>
                    </a:lnTo>
                  </a:path>
                  <a:path w="4175759" h="1619250">
                    <a:moveTo>
                      <a:pt x="0" y="0"/>
                    </a:moveTo>
                    <a:lnTo>
                      <a:pt x="0" y="1619250"/>
                    </a:lnTo>
                    <a:lnTo>
                      <a:pt x="1187450" y="1619250"/>
                    </a:lnTo>
                  </a:path>
                </a:pathLst>
              </a:custGeom>
              <a:ln w="28393">
                <a:solidFill>
                  <a:srgbClr val="000000"/>
                </a:solidFill>
              </a:ln>
            </p:spPr>
            <p:txBody>
              <a:bodyPr wrap="square" lIns="0" tIns="0" rIns="0" bIns="0" rtlCol="0"/>
              <a:lstStyle/>
              <a:p>
                <a:endParaRPr/>
              </a:p>
            </p:txBody>
          </p:sp>
          <p:pic>
            <p:nvPicPr>
              <p:cNvPr id="15" name="object 15"/>
              <p:cNvPicPr/>
              <p:nvPr/>
            </p:nvPicPr>
            <p:blipFill>
              <a:blip r:embed="rId4" cstate="print"/>
              <a:stretch>
                <a:fillRect/>
              </a:stretch>
            </p:blipFill>
            <p:spPr>
              <a:xfrm>
                <a:off x="3982660" y="4999930"/>
                <a:ext cx="241418" cy="241418"/>
              </a:xfrm>
              <a:prstGeom prst="rect">
                <a:avLst/>
              </a:prstGeom>
            </p:spPr>
          </p:pic>
        </p:grpSp>
      </p:grpSp>
      <p:sp>
        <p:nvSpPr>
          <p:cNvPr id="16" name="object 16"/>
          <p:cNvSpPr txBox="1">
            <a:spLocks noGrp="1"/>
          </p:cNvSpPr>
          <p:nvPr>
            <p:ph type="title"/>
          </p:nvPr>
        </p:nvSpPr>
        <p:spPr>
          <a:xfrm>
            <a:off x="2435860" y="885199"/>
            <a:ext cx="2899411" cy="760721"/>
          </a:xfrm>
          <a:prstGeom prst="rect">
            <a:avLst/>
          </a:prstGeom>
        </p:spPr>
        <p:txBody>
          <a:bodyPr vert="horz" wrap="square" lIns="0" tIns="12700" rIns="0" bIns="0" rtlCol="0">
            <a:spAutoFit/>
          </a:bodyPr>
          <a:lstStyle/>
          <a:p>
            <a:pPr marL="12700" marR="5080">
              <a:spcBef>
                <a:spcPts val="100"/>
              </a:spcBef>
            </a:pPr>
            <a:r>
              <a:rPr lang="en-CA" sz="1800" i="1" dirty="0">
                <a:solidFill>
                  <a:srgbClr val="000000"/>
                </a:solidFill>
                <a:latin typeface="Verdana"/>
                <a:cs typeface="Verdana"/>
              </a:rPr>
              <a:t>C</a:t>
            </a:r>
            <a:r>
              <a:rPr sz="1800" i="1" dirty="0">
                <a:solidFill>
                  <a:srgbClr val="000000"/>
                </a:solidFill>
                <a:latin typeface="Verdana"/>
                <a:cs typeface="Verdana"/>
              </a:rPr>
              <a:t>an</a:t>
            </a:r>
            <a:r>
              <a:rPr sz="1800" i="1" spc="-35" dirty="0">
                <a:solidFill>
                  <a:srgbClr val="000000"/>
                </a:solidFill>
                <a:latin typeface="Verdana"/>
                <a:cs typeface="Verdana"/>
              </a:rPr>
              <a:t> </a:t>
            </a:r>
            <a:r>
              <a:rPr sz="1800" i="1" dirty="0">
                <a:solidFill>
                  <a:srgbClr val="000000"/>
                </a:solidFill>
                <a:latin typeface="Verdana"/>
                <a:cs typeface="Verdana"/>
              </a:rPr>
              <a:t>create</a:t>
            </a:r>
            <a:r>
              <a:rPr sz="1800" i="1" spc="-40" dirty="0">
                <a:solidFill>
                  <a:srgbClr val="000000"/>
                </a:solidFill>
                <a:latin typeface="Verdana"/>
                <a:cs typeface="Verdana"/>
              </a:rPr>
              <a:t> </a:t>
            </a:r>
            <a:r>
              <a:rPr sz="1800" i="1" dirty="0">
                <a:solidFill>
                  <a:srgbClr val="000000"/>
                </a:solidFill>
                <a:latin typeface="Verdana"/>
                <a:cs typeface="Verdana"/>
              </a:rPr>
              <a:t>new,</a:t>
            </a:r>
            <a:r>
              <a:rPr sz="1800" i="1" spc="-20" dirty="0">
                <a:solidFill>
                  <a:srgbClr val="000000"/>
                </a:solidFill>
                <a:latin typeface="Verdana"/>
                <a:cs typeface="Verdana"/>
              </a:rPr>
              <a:t> </a:t>
            </a:r>
            <a:r>
              <a:rPr sz="1800" i="1" spc="-10" dirty="0">
                <a:solidFill>
                  <a:srgbClr val="000000"/>
                </a:solidFill>
                <a:latin typeface="Verdana"/>
                <a:cs typeface="Verdana"/>
              </a:rPr>
              <a:t>specific </a:t>
            </a:r>
            <a:r>
              <a:rPr sz="1800" i="1" dirty="0">
                <a:solidFill>
                  <a:srgbClr val="000000"/>
                </a:solidFill>
                <a:latin typeface="Verdana"/>
                <a:cs typeface="Verdana"/>
              </a:rPr>
              <a:t>types</a:t>
            </a:r>
            <a:r>
              <a:rPr sz="1800" i="1" spc="-40" dirty="0">
                <a:solidFill>
                  <a:srgbClr val="000000"/>
                </a:solidFill>
                <a:latin typeface="Verdana"/>
                <a:cs typeface="Verdana"/>
              </a:rPr>
              <a:t> </a:t>
            </a:r>
            <a:r>
              <a:rPr sz="1800" i="1" dirty="0">
                <a:solidFill>
                  <a:srgbClr val="000000"/>
                </a:solidFill>
                <a:latin typeface="Verdana"/>
                <a:cs typeface="Verdana"/>
              </a:rPr>
              <a:t>of</a:t>
            </a:r>
            <a:r>
              <a:rPr sz="1800" i="1" spc="-40" dirty="0">
                <a:solidFill>
                  <a:srgbClr val="000000"/>
                </a:solidFill>
                <a:latin typeface="Verdana"/>
                <a:cs typeface="Verdana"/>
              </a:rPr>
              <a:t> </a:t>
            </a:r>
            <a:r>
              <a:rPr sz="1800" i="1" dirty="0">
                <a:solidFill>
                  <a:srgbClr val="000000"/>
                </a:solidFill>
                <a:latin typeface="Verdana"/>
                <a:cs typeface="Verdana"/>
              </a:rPr>
              <a:t>views</a:t>
            </a:r>
            <a:r>
              <a:rPr sz="1800" i="1" spc="-35" dirty="0">
                <a:solidFill>
                  <a:srgbClr val="000000"/>
                </a:solidFill>
                <a:latin typeface="Verdana"/>
                <a:cs typeface="Verdana"/>
              </a:rPr>
              <a:t> </a:t>
            </a:r>
            <a:r>
              <a:rPr sz="1800" i="1" spc="-10" dirty="0">
                <a:solidFill>
                  <a:srgbClr val="000000"/>
                </a:solidFill>
                <a:latin typeface="Verdana"/>
                <a:cs typeface="Verdana"/>
              </a:rPr>
              <a:t>without </a:t>
            </a:r>
            <a:r>
              <a:rPr sz="1800" i="1" dirty="0">
                <a:solidFill>
                  <a:srgbClr val="000000"/>
                </a:solidFill>
                <a:latin typeface="Verdana"/>
                <a:cs typeface="Verdana"/>
              </a:rPr>
              <a:t>changing</a:t>
            </a:r>
            <a:r>
              <a:rPr sz="1800" i="1" spc="-80" dirty="0">
                <a:solidFill>
                  <a:srgbClr val="000000"/>
                </a:solidFill>
                <a:latin typeface="Verdana"/>
                <a:cs typeface="Verdana"/>
              </a:rPr>
              <a:t> </a:t>
            </a:r>
            <a:r>
              <a:rPr sz="1800" i="1" dirty="0">
                <a:solidFill>
                  <a:srgbClr val="000000"/>
                </a:solidFill>
                <a:latin typeface="Verdana"/>
                <a:cs typeface="Verdana"/>
              </a:rPr>
              <a:t>the</a:t>
            </a:r>
            <a:r>
              <a:rPr sz="1800" i="1" spc="-80" dirty="0">
                <a:solidFill>
                  <a:srgbClr val="000000"/>
                </a:solidFill>
                <a:latin typeface="Verdana"/>
                <a:cs typeface="Verdana"/>
              </a:rPr>
              <a:t> </a:t>
            </a:r>
            <a:r>
              <a:rPr sz="1800" i="1" spc="-10" dirty="0">
                <a:solidFill>
                  <a:srgbClr val="000000"/>
                </a:solidFill>
                <a:latin typeface="Verdana"/>
                <a:cs typeface="Verdana"/>
              </a:rPr>
              <a:t>model</a:t>
            </a:r>
            <a:endParaRPr sz="1800" dirty="0">
              <a:latin typeface="Verdana"/>
              <a:cs typeface="Verdana"/>
            </a:endParaRPr>
          </a:p>
        </p:txBody>
      </p:sp>
      <p:sp>
        <p:nvSpPr>
          <p:cNvPr id="17" name="object 17"/>
          <p:cNvSpPr txBox="1"/>
          <p:nvPr/>
        </p:nvSpPr>
        <p:spPr>
          <a:xfrm>
            <a:off x="457200" y="5638399"/>
            <a:ext cx="4175760" cy="566822"/>
          </a:xfrm>
          <a:prstGeom prst="rect">
            <a:avLst/>
          </a:prstGeom>
        </p:spPr>
        <p:txBody>
          <a:bodyPr vert="horz" wrap="square" lIns="0" tIns="12700" rIns="0" bIns="0" rtlCol="0">
            <a:spAutoFit/>
          </a:bodyPr>
          <a:lstStyle/>
          <a:p>
            <a:pPr marL="12700" marR="5080">
              <a:spcBef>
                <a:spcPts val="100"/>
              </a:spcBef>
            </a:pPr>
            <a:r>
              <a:rPr lang="en-CA" i="1" dirty="0">
                <a:latin typeface="Verdana"/>
                <a:cs typeface="Verdana"/>
              </a:rPr>
              <a:t>T</a:t>
            </a:r>
            <a:r>
              <a:rPr i="1" dirty="0">
                <a:latin typeface="Verdana"/>
                <a:cs typeface="Verdana"/>
              </a:rPr>
              <a:t>he</a:t>
            </a:r>
            <a:r>
              <a:rPr i="1" spc="-50" dirty="0">
                <a:latin typeface="Verdana"/>
                <a:cs typeface="Verdana"/>
              </a:rPr>
              <a:t> </a:t>
            </a:r>
            <a:r>
              <a:rPr i="1" dirty="0">
                <a:latin typeface="Verdana"/>
                <a:cs typeface="Verdana"/>
              </a:rPr>
              <a:t>model</a:t>
            </a:r>
            <a:r>
              <a:rPr i="1" spc="-35" dirty="0">
                <a:latin typeface="Verdana"/>
                <a:cs typeface="Verdana"/>
              </a:rPr>
              <a:t> </a:t>
            </a:r>
            <a:r>
              <a:rPr i="1" dirty="0">
                <a:latin typeface="Verdana"/>
                <a:cs typeface="Verdana"/>
              </a:rPr>
              <a:t>should</a:t>
            </a:r>
            <a:r>
              <a:rPr i="1" spc="-45" dirty="0">
                <a:latin typeface="Verdana"/>
                <a:cs typeface="Verdana"/>
              </a:rPr>
              <a:t> </a:t>
            </a:r>
            <a:r>
              <a:rPr i="1" dirty="0">
                <a:latin typeface="Verdana"/>
                <a:cs typeface="Verdana"/>
              </a:rPr>
              <a:t>not</a:t>
            </a:r>
            <a:r>
              <a:rPr i="1" spc="-30" dirty="0">
                <a:latin typeface="Verdana"/>
                <a:cs typeface="Verdana"/>
              </a:rPr>
              <a:t> </a:t>
            </a:r>
            <a:r>
              <a:rPr i="1" spc="-20" dirty="0">
                <a:latin typeface="Verdana"/>
                <a:cs typeface="Verdana"/>
              </a:rPr>
              <a:t>need </a:t>
            </a:r>
            <a:r>
              <a:rPr i="1" dirty="0">
                <a:latin typeface="Verdana"/>
                <a:cs typeface="Verdana"/>
              </a:rPr>
              <a:t>to</a:t>
            </a:r>
            <a:r>
              <a:rPr i="1" spc="-45" dirty="0">
                <a:latin typeface="Verdana"/>
                <a:cs typeface="Verdana"/>
              </a:rPr>
              <a:t> </a:t>
            </a:r>
            <a:r>
              <a:rPr i="1" dirty="0">
                <a:latin typeface="Verdana"/>
                <a:cs typeface="Verdana"/>
              </a:rPr>
              <a:t>know</a:t>
            </a:r>
            <a:r>
              <a:rPr i="1" spc="-30" dirty="0">
                <a:latin typeface="Verdana"/>
                <a:cs typeface="Verdana"/>
              </a:rPr>
              <a:t> </a:t>
            </a:r>
            <a:r>
              <a:rPr i="1" dirty="0">
                <a:latin typeface="Verdana"/>
                <a:cs typeface="Verdana"/>
              </a:rPr>
              <a:t>the</a:t>
            </a:r>
            <a:r>
              <a:rPr i="1" spc="-40" dirty="0">
                <a:latin typeface="Verdana"/>
                <a:cs typeface="Verdana"/>
              </a:rPr>
              <a:t> </a:t>
            </a:r>
            <a:r>
              <a:rPr i="1" dirty="0">
                <a:latin typeface="Verdana"/>
                <a:cs typeface="Verdana"/>
              </a:rPr>
              <a:t>particulars</a:t>
            </a:r>
            <a:r>
              <a:rPr i="1" spc="-45" dirty="0">
                <a:latin typeface="Verdana"/>
                <a:cs typeface="Verdana"/>
              </a:rPr>
              <a:t> </a:t>
            </a:r>
            <a:r>
              <a:rPr i="1" spc="-25" dirty="0">
                <a:latin typeface="Verdana"/>
                <a:cs typeface="Verdana"/>
              </a:rPr>
              <a:t>of </a:t>
            </a:r>
            <a:r>
              <a:rPr i="1" dirty="0">
                <a:latin typeface="Verdana"/>
                <a:cs typeface="Verdana"/>
              </a:rPr>
              <a:t>a</a:t>
            </a:r>
            <a:r>
              <a:rPr i="1" spc="-40" dirty="0">
                <a:latin typeface="Verdana"/>
                <a:cs typeface="Verdana"/>
              </a:rPr>
              <a:t> </a:t>
            </a:r>
            <a:r>
              <a:rPr i="1" dirty="0">
                <a:latin typeface="Verdana"/>
                <a:cs typeface="Verdana"/>
              </a:rPr>
              <a:t>specific</a:t>
            </a:r>
            <a:r>
              <a:rPr i="1" spc="-45" dirty="0">
                <a:latin typeface="Verdana"/>
                <a:cs typeface="Verdana"/>
              </a:rPr>
              <a:t> </a:t>
            </a:r>
            <a:r>
              <a:rPr i="1" spc="-20" dirty="0">
                <a:latin typeface="Verdana"/>
                <a:cs typeface="Verdana"/>
              </a:rPr>
              <a:t>view</a:t>
            </a:r>
            <a:endParaRPr dirty="0">
              <a:latin typeface="Verdana"/>
              <a:cs typeface="Verdana"/>
            </a:endParaRPr>
          </a:p>
        </p:txBody>
      </p:sp>
      <p:sp>
        <p:nvSpPr>
          <p:cNvPr id="18" name="object 18"/>
          <p:cNvSpPr txBox="1"/>
          <p:nvPr/>
        </p:nvSpPr>
        <p:spPr>
          <a:xfrm>
            <a:off x="8458200" y="4180840"/>
            <a:ext cx="807085" cy="299720"/>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Modify</a:t>
            </a:r>
            <a:endParaRPr dirty="0">
              <a:latin typeface="Verdana"/>
              <a:cs typeface="Verdana"/>
            </a:endParaRPr>
          </a:p>
        </p:txBody>
      </p:sp>
      <p:sp>
        <p:nvSpPr>
          <p:cNvPr id="19" name="object 19"/>
          <p:cNvSpPr txBox="1"/>
          <p:nvPr/>
        </p:nvSpPr>
        <p:spPr>
          <a:xfrm>
            <a:off x="2590800" y="4180840"/>
            <a:ext cx="1128622" cy="289823"/>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Update</a:t>
            </a:r>
            <a:endParaRPr dirty="0">
              <a:latin typeface="Verdana"/>
              <a:cs typeface="Verdana"/>
            </a:endParaRPr>
          </a:p>
        </p:txBody>
      </p:sp>
      <p:sp>
        <p:nvSpPr>
          <p:cNvPr id="20" name="object 20"/>
          <p:cNvSpPr txBox="1"/>
          <p:nvPr/>
        </p:nvSpPr>
        <p:spPr>
          <a:xfrm>
            <a:off x="2590801" y="4455159"/>
            <a:ext cx="1410130" cy="289823"/>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Notification</a:t>
            </a:r>
            <a:endParaRPr dirty="0">
              <a:latin typeface="Verdana"/>
              <a:cs typeface="Verdana"/>
            </a:endParaRPr>
          </a:p>
        </p:txBody>
      </p:sp>
      <p:sp>
        <p:nvSpPr>
          <p:cNvPr id="21" name="object 21"/>
          <p:cNvSpPr txBox="1"/>
          <p:nvPr/>
        </p:nvSpPr>
        <p:spPr>
          <a:xfrm>
            <a:off x="7772401" y="5638399"/>
            <a:ext cx="3428999" cy="566822"/>
          </a:xfrm>
          <a:prstGeom prst="rect">
            <a:avLst/>
          </a:prstGeom>
        </p:spPr>
        <p:txBody>
          <a:bodyPr vert="horz" wrap="square" lIns="0" tIns="12700" rIns="0" bIns="0" rtlCol="0">
            <a:spAutoFit/>
          </a:bodyPr>
          <a:lstStyle/>
          <a:p>
            <a:pPr marL="12700" marR="5080">
              <a:spcBef>
                <a:spcPts val="100"/>
              </a:spcBef>
            </a:pPr>
            <a:r>
              <a:rPr lang="en-CA" dirty="0">
                <a:latin typeface="Verdana"/>
                <a:cs typeface="Verdana"/>
              </a:rPr>
              <a:t>T</a:t>
            </a:r>
            <a:r>
              <a:rPr dirty="0">
                <a:latin typeface="Verdana"/>
                <a:cs typeface="Verdana"/>
              </a:rPr>
              <a:t>he</a:t>
            </a:r>
            <a:r>
              <a:rPr spc="-30" dirty="0">
                <a:latin typeface="Verdana"/>
                <a:cs typeface="Verdana"/>
              </a:rPr>
              <a:t> </a:t>
            </a:r>
            <a:r>
              <a:rPr dirty="0">
                <a:latin typeface="Verdana"/>
                <a:cs typeface="Verdana"/>
              </a:rPr>
              <a:t>model</a:t>
            </a:r>
            <a:r>
              <a:rPr spc="-40" dirty="0">
                <a:latin typeface="Verdana"/>
                <a:cs typeface="Verdana"/>
              </a:rPr>
              <a:t> </a:t>
            </a:r>
            <a:r>
              <a:rPr dirty="0">
                <a:latin typeface="Verdana"/>
                <a:cs typeface="Verdana"/>
              </a:rPr>
              <a:t>should</a:t>
            </a:r>
            <a:r>
              <a:rPr spc="-35" dirty="0">
                <a:latin typeface="Verdana"/>
                <a:cs typeface="Verdana"/>
              </a:rPr>
              <a:t> </a:t>
            </a:r>
            <a:r>
              <a:rPr dirty="0">
                <a:latin typeface="Verdana"/>
                <a:cs typeface="Verdana"/>
              </a:rPr>
              <a:t>not</a:t>
            </a:r>
            <a:r>
              <a:rPr spc="-35" dirty="0">
                <a:latin typeface="Verdana"/>
                <a:cs typeface="Verdana"/>
              </a:rPr>
              <a:t> </a:t>
            </a:r>
            <a:r>
              <a:rPr spc="-20" dirty="0">
                <a:latin typeface="Verdana"/>
                <a:cs typeface="Verdana"/>
              </a:rPr>
              <a:t>need </a:t>
            </a:r>
            <a:r>
              <a:rPr dirty="0">
                <a:latin typeface="Verdana"/>
                <a:cs typeface="Verdana"/>
              </a:rPr>
              <a:t>to</a:t>
            </a:r>
            <a:r>
              <a:rPr spc="-15" dirty="0">
                <a:latin typeface="Verdana"/>
                <a:cs typeface="Verdana"/>
              </a:rPr>
              <a:t> </a:t>
            </a:r>
            <a:r>
              <a:rPr dirty="0">
                <a:latin typeface="Verdana"/>
                <a:cs typeface="Verdana"/>
              </a:rPr>
              <a:t>know</a:t>
            </a:r>
            <a:r>
              <a:rPr spc="-10" dirty="0">
                <a:latin typeface="Verdana"/>
                <a:cs typeface="Verdana"/>
              </a:rPr>
              <a:t> </a:t>
            </a:r>
            <a:r>
              <a:rPr dirty="0">
                <a:latin typeface="Verdana"/>
                <a:cs typeface="Verdana"/>
              </a:rPr>
              <a:t>about</a:t>
            </a:r>
            <a:r>
              <a:rPr spc="-5" dirty="0">
                <a:latin typeface="Verdana"/>
                <a:cs typeface="Verdana"/>
              </a:rPr>
              <a:t> </a:t>
            </a:r>
            <a:r>
              <a:rPr spc="-25" dirty="0">
                <a:latin typeface="Verdana"/>
                <a:cs typeface="Verdana"/>
              </a:rPr>
              <a:t>any </a:t>
            </a:r>
            <a:r>
              <a:rPr spc="-10" dirty="0">
                <a:latin typeface="Verdana"/>
                <a:cs typeface="Verdana"/>
              </a:rPr>
              <a:t>controllers</a:t>
            </a:r>
            <a:endParaRPr dirty="0">
              <a:latin typeface="Verdana"/>
              <a:cs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D6DA3-F1C9-9B36-ADF0-0342DAA9C32F}"/>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7C9D783C-FD3F-CB42-76A0-DC9D315B2E52}"/>
              </a:ext>
            </a:extLst>
          </p:cNvPr>
          <p:cNvSpPr>
            <a:spLocks noGrp="1"/>
          </p:cNvSpPr>
          <p:nvPr>
            <p:ph idx="1"/>
          </p:nvPr>
        </p:nvSpPr>
        <p:spPr>
          <a:xfrm>
            <a:off x="838200" y="1825625"/>
            <a:ext cx="10515600" cy="4351338"/>
          </a:xfrm>
        </p:spPr>
        <p:txBody>
          <a:bodyPr/>
          <a:lstStyle/>
          <a:p>
            <a:r>
              <a:rPr lang="en-US" dirty="0"/>
              <a:t>User interacts with the View</a:t>
            </a:r>
          </a:p>
          <a:p>
            <a:r>
              <a:rPr lang="en-US" dirty="0"/>
              <a:t>Controller handles the interaction</a:t>
            </a:r>
          </a:p>
          <a:p>
            <a:r>
              <a:rPr lang="en-US" dirty="0"/>
              <a:t>Controller modifies the Model</a:t>
            </a:r>
          </a:p>
          <a:p>
            <a:r>
              <a:rPr lang="en-US" dirty="0"/>
              <a:t>Model changes state</a:t>
            </a:r>
          </a:p>
          <a:p>
            <a:r>
              <a:rPr lang="en-US" dirty="0"/>
              <a:t>View updates based on the Model</a:t>
            </a:r>
          </a:p>
        </p:txBody>
      </p:sp>
      <p:sp>
        <p:nvSpPr>
          <p:cNvPr id="2" name="object 2">
            <a:extLst>
              <a:ext uri="{FF2B5EF4-FFF2-40B4-BE49-F238E27FC236}">
                <a16:creationId xmlns:a16="http://schemas.microsoft.com/office/drawing/2014/main" id="{3F1193C9-D2EF-0C34-F790-482BD266120F}"/>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MVC </a:t>
            </a:r>
            <a:r>
              <a:rPr lang="en-CA" dirty="0"/>
              <a:t>Sequence</a:t>
            </a:r>
            <a:endParaRPr dirty="0"/>
          </a:p>
        </p:txBody>
      </p:sp>
    </p:spTree>
    <p:extLst>
      <p:ext uri="{BB962C8B-B14F-4D97-AF65-F5344CB8AC3E}">
        <p14:creationId xmlns:p14="http://schemas.microsoft.com/office/powerpoint/2010/main" val="2933336334"/>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4BAB1BC-1F86-D306-0A3B-92F9759905E7}"/>
              </a:ext>
            </a:extLst>
          </p:cNvPr>
          <p:cNvSpPr>
            <a:spLocks noGrp="1"/>
          </p:cNvSpPr>
          <p:nvPr>
            <p:ph idx="1"/>
          </p:nvPr>
        </p:nvSpPr>
        <p:spPr>
          <a:xfrm>
            <a:off x="838200" y="1825625"/>
            <a:ext cx="10515600" cy="4351338"/>
          </a:xfrm>
        </p:spPr>
        <p:txBody>
          <a:bodyPr/>
          <a:lstStyle/>
          <a:p>
            <a:r>
              <a:rPr lang="en-US" dirty="0"/>
              <a:t>Android UI-Dependent part:</a:t>
            </a:r>
          </a:p>
          <a:p>
            <a:pPr lvl="1"/>
            <a:r>
              <a:rPr lang="en-US" b="1" dirty="0"/>
              <a:t>Views</a:t>
            </a:r>
            <a:r>
              <a:rPr lang="en-US" dirty="0"/>
              <a:t> contain Android UI components</a:t>
            </a:r>
          </a:p>
          <a:p>
            <a:pPr lvl="2"/>
            <a:r>
              <a:rPr lang="en-US" dirty="0"/>
              <a:t>XML layouts, Compose UI, Button, </a:t>
            </a:r>
            <a:r>
              <a:rPr lang="en-US" dirty="0" err="1"/>
              <a:t>TextView</a:t>
            </a:r>
            <a:r>
              <a:rPr lang="en-US" dirty="0"/>
              <a:t>, </a:t>
            </a:r>
            <a:r>
              <a:rPr lang="en-US" dirty="0" err="1"/>
              <a:t>RecyclerView</a:t>
            </a:r>
            <a:r>
              <a:rPr lang="en-US" dirty="0"/>
              <a:t>, etc.</a:t>
            </a:r>
          </a:p>
          <a:p>
            <a:pPr lvl="1"/>
            <a:r>
              <a:rPr lang="en-US" b="1" dirty="0"/>
              <a:t>Controllers</a:t>
            </a:r>
            <a:r>
              <a:rPr lang="en-US" dirty="0"/>
              <a:t> handle Android UI events</a:t>
            </a:r>
          </a:p>
          <a:p>
            <a:pPr lvl="2"/>
            <a:r>
              <a:rPr lang="en-US" dirty="0"/>
              <a:t>Click listeners, text-change listeners, menu actions, navigation events</a:t>
            </a:r>
          </a:p>
          <a:p>
            <a:r>
              <a:rPr lang="en-US" dirty="0"/>
              <a:t>Android UI-Independent part:</a:t>
            </a:r>
          </a:p>
          <a:p>
            <a:pPr lvl="1"/>
            <a:r>
              <a:rPr lang="en-US" b="1" dirty="0"/>
              <a:t>Model</a:t>
            </a:r>
            <a:r>
              <a:rPr lang="en-US" dirty="0"/>
              <a:t> should be as Android-free as possible</a:t>
            </a:r>
          </a:p>
          <a:p>
            <a:pPr lvl="2"/>
            <a:r>
              <a:rPr lang="en-US" dirty="0"/>
              <a:t>E.g., avoid using Android UI types in entity/data classes</a:t>
            </a:r>
          </a:p>
          <a:p>
            <a:pPr lvl="3"/>
            <a:r>
              <a:rPr lang="en-US" dirty="0"/>
              <a:t>Avoid </a:t>
            </a:r>
            <a:r>
              <a:rPr lang="en-US" dirty="0" err="1"/>
              <a:t>TextView</a:t>
            </a:r>
            <a:r>
              <a:rPr lang="en-US" dirty="0"/>
              <a:t>, Button, Context, Activity, Fragment, etc. in Model classes</a:t>
            </a:r>
          </a:p>
        </p:txBody>
      </p:sp>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MVC Design Issues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9230AC48-07F7-095E-D9E7-0EEB7A770B29}"/>
              </a:ext>
            </a:extLst>
          </p:cNvPr>
          <p:cNvSpPr>
            <a:spLocks noGrp="1"/>
          </p:cNvSpPr>
          <p:nvPr>
            <p:ph idx="1"/>
          </p:nvPr>
        </p:nvSpPr>
        <p:spPr>
          <a:xfrm>
            <a:off x="838200" y="1825625"/>
            <a:ext cx="10515600" cy="4351338"/>
          </a:xfrm>
        </p:spPr>
        <p:txBody>
          <a:bodyPr/>
          <a:lstStyle/>
          <a:p>
            <a:r>
              <a:rPr lang="en-US" dirty="0"/>
              <a:t>Generalization:</a:t>
            </a:r>
          </a:p>
          <a:p>
            <a:pPr lvl="1"/>
            <a:r>
              <a:rPr lang="en-US" dirty="0"/>
              <a:t>Use “model” superclass and “view” interface</a:t>
            </a:r>
          </a:p>
          <a:p>
            <a:pPr lvl="2"/>
            <a:r>
              <a:rPr lang="en-US" dirty="0"/>
              <a:t>All models keep track of their views</a:t>
            </a:r>
          </a:p>
          <a:p>
            <a:pPr lvl="2"/>
            <a:r>
              <a:rPr lang="en-US" dirty="0"/>
              <a:t>When changed, all models notify their views to update</a:t>
            </a:r>
          </a:p>
          <a:p>
            <a:pPr lvl="2"/>
            <a:r>
              <a:rPr lang="en-US" dirty="0"/>
              <a:t>All views update themselves when notified</a:t>
            </a:r>
          </a:p>
          <a:p>
            <a:pPr lvl="1"/>
            <a:r>
              <a:rPr lang="en-US" dirty="0"/>
              <a:t>Have application-specific model and view classes</a:t>
            </a:r>
          </a:p>
        </p:txBody>
      </p:sp>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“MV” Design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F48B-695A-7203-F65F-AA680010505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EC417A7-0706-B040-8937-01FCBABF8C1F}"/>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a:t>Model-View Update Example</a:t>
            </a:r>
            <a:endParaRPr sz="4000" dirty="0"/>
          </a:p>
        </p:txBody>
      </p:sp>
      <p:sp>
        <p:nvSpPr>
          <p:cNvPr id="5" name="Rectangle 3">
            <a:extLst>
              <a:ext uri="{FF2B5EF4-FFF2-40B4-BE49-F238E27FC236}">
                <a16:creationId xmlns:a16="http://schemas.microsoft.com/office/drawing/2014/main" id="{BAD6C9D1-ED6B-3360-D8DD-16D7176E9C39}"/>
              </a:ext>
            </a:extLst>
          </p:cNvPr>
          <p:cNvSpPr txBox="1">
            <a:spLocks noChangeArrowheads="1"/>
          </p:cNvSpPr>
          <p:nvPr/>
        </p:nvSpPr>
        <p:spPr>
          <a:xfrm>
            <a:off x="838200" y="1143000"/>
            <a:ext cx="10668000" cy="562828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interface </a:t>
            </a:r>
            <a:r>
              <a:rPr lang="en-US" sz="2400" dirty="0" err="1">
                <a:latin typeface="Courier New" panose="02070309020205020404" pitchFamily="49" charset="0"/>
                <a:cs typeface="Courier New" panose="02070309020205020404" pitchFamily="49" charset="0"/>
              </a:rPr>
              <a:t>ViewObserver</a:t>
            </a:r>
            <a:r>
              <a:rPr lang="en-US" sz="2400" dirty="0">
                <a:latin typeface="Courier New" panose="02070309020205020404" pitchFamily="49" charset="0"/>
                <a:cs typeface="Courier New" panose="02070309020205020404" pitchFamily="49" charset="0"/>
              </a:rPr>
              <a:t>&lt;M&gt; {</a:t>
            </a:r>
          </a:p>
          <a:p>
            <a:pPr marL="0" indent="0">
              <a:buNone/>
            </a:pPr>
            <a:r>
              <a:rPr lang="en-US" sz="2400" dirty="0">
                <a:latin typeface="Courier New" panose="02070309020205020404" pitchFamily="49" charset="0"/>
                <a:cs typeface="Courier New" panose="02070309020205020404" pitchFamily="49" charset="0"/>
              </a:rPr>
              <a:t>    fun update( model: M )</a:t>
            </a:r>
          </a:p>
          <a:p>
            <a:pPr marL="0" indent="0">
              <a:buNone/>
            </a:pP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open class </a:t>
            </a:r>
            <a:r>
              <a:rPr lang="en-US" sz="2400" dirty="0" err="1">
                <a:latin typeface="Courier New" panose="02070309020205020404" pitchFamily="49" charset="0"/>
                <a:cs typeface="Courier New" panose="02070309020205020404" pitchFamily="49" charset="0"/>
              </a:rPr>
              <a:t>ObservableModel</a:t>
            </a:r>
            <a:r>
              <a:rPr lang="en-US" sz="2400" dirty="0">
                <a:latin typeface="Courier New" panose="02070309020205020404" pitchFamily="49" charset="0"/>
                <a:cs typeface="Courier New" panose="02070309020205020404" pitchFamily="49" charset="0"/>
              </a:rPr>
              <a:t>&lt;M&gt; {</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observers = </a:t>
            </a:r>
            <a:r>
              <a:rPr lang="en-US" sz="2400" dirty="0" err="1">
                <a:latin typeface="Courier New" panose="02070309020205020404" pitchFamily="49" charset="0"/>
                <a:cs typeface="Courier New" panose="02070309020205020404" pitchFamily="49" charset="0"/>
              </a:rPr>
              <a:t>mutableListOf</a:t>
            </a:r>
            <a:r>
              <a:rPr lang="en-US" sz="2400" dirty="0">
                <a:latin typeface="Courier New" panose="02070309020205020404" pitchFamily="49" charset="0"/>
                <a:cs typeface="Courier New" panose="02070309020205020404" pitchFamily="49" charset="0"/>
              </a:rPr>
              <a:t>&lt; </a:t>
            </a:r>
            <a:r>
              <a:rPr lang="en-US" sz="2400" dirty="0" err="1">
                <a:latin typeface="Courier New" panose="02070309020205020404" pitchFamily="49" charset="0"/>
                <a:cs typeface="Courier New" panose="02070309020205020404" pitchFamily="49" charset="0"/>
              </a:rPr>
              <a:t>ViewObserver</a:t>
            </a:r>
            <a:r>
              <a:rPr lang="en-US" sz="2400" dirty="0">
                <a:latin typeface="Courier New" panose="02070309020205020404" pitchFamily="49" charset="0"/>
                <a:cs typeface="Courier New" panose="02070309020205020404" pitchFamily="49" charset="0"/>
              </a:rPr>
              <a:t>&lt;M&gt; &gt;()</a:t>
            </a:r>
            <a:br>
              <a:rPr lang="en-US" sz="2400" dirty="0">
                <a:latin typeface="Courier New" panose="02070309020205020404" pitchFamily="49" charset="0"/>
                <a:cs typeface="Courier New" panose="02070309020205020404" pitchFamily="49" charset="0"/>
              </a:rPr>
            </a:b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“all models keep track of their views” </a:t>
            </a: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addObserver</a:t>
            </a:r>
            <a:r>
              <a:rPr lang="en-US" sz="2400" dirty="0">
                <a:latin typeface="Courier New" panose="02070309020205020404" pitchFamily="49" charset="0"/>
                <a:cs typeface="Courier New" panose="02070309020205020404" pitchFamily="49" charset="0"/>
              </a:rPr>
              <a:t>( o: </a:t>
            </a:r>
            <a:r>
              <a:rPr lang="en-US" sz="2400" dirty="0" err="1">
                <a:latin typeface="Courier New" panose="02070309020205020404" pitchFamily="49" charset="0"/>
                <a:cs typeface="Courier New" panose="02070309020205020404" pitchFamily="49" charset="0"/>
              </a:rPr>
              <a:t>ViewObserver</a:t>
            </a:r>
            <a:r>
              <a:rPr lang="en-US" sz="2400" dirty="0">
                <a:latin typeface="Courier New" panose="02070309020205020404" pitchFamily="49" charset="0"/>
                <a:cs typeface="Courier New" panose="02070309020205020404" pitchFamily="49" charset="0"/>
              </a:rPr>
              <a:t>&lt;M&gt; ) { … } </a:t>
            </a: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removeObserver</a:t>
            </a:r>
            <a:r>
              <a:rPr lang="en-US" sz="2400" dirty="0">
                <a:latin typeface="Courier New" panose="02070309020205020404" pitchFamily="49" charset="0"/>
                <a:cs typeface="Courier New" panose="02070309020205020404" pitchFamily="49" charset="0"/>
              </a:rPr>
              <a:t>( o: </a:t>
            </a:r>
            <a:r>
              <a:rPr lang="en-US" sz="2400" dirty="0" err="1">
                <a:latin typeface="Courier New" panose="02070309020205020404" pitchFamily="49" charset="0"/>
                <a:cs typeface="Courier New" panose="02070309020205020404" pitchFamily="49" charset="0"/>
              </a:rPr>
              <a:t>ViewObserver</a:t>
            </a:r>
            <a:r>
              <a:rPr lang="en-US" sz="2400" dirty="0">
                <a:latin typeface="Courier New" panose="02070309020205020404" pitchFamily="49" charset="0"/>
                <a:cs typeface="Courier New" panose="02070309020205020404" pitchFamily="49" charset="0"/>
              </a:rPr>
              <a:t> &lt;M&gt; ) { …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“all models notify their views to update” </a:t>
            </a:r>
          </a:p>
          <a:p>
            <a:pPr marL="0" indent="0">
              <a:buNone/>
            </a:pPr>
            <a:r>
              <a:rPr lang="en-US" sz="2400" dirty="0">
                <a:latin typeface="Courier New" panose="02070309020205020404" pitchFamily="49" charset="0"/>
                <a:cs typeface="Courier New" panose="02070309020205020404" pitchFamily="49" charset="0"/>
              </a:rPr>
              <a:t>    protected fun </a:t>
            </a:r>
            <a:r>
              <a:rPr lang="en-US" sz="2400" dirty="0" err="1">
                <a:latin typeface="Courier New" panose="02070309020205020404" pitchFamily="49" charset="0"/>
                <a:cs typeface="Courier New" panose="02070309020205020404" pitchFamily="49" charset="0"/>
              </a:rPr>
              <a:t>notifyObservers</a:t>
            </a:r>
            <a:r>
              <a:rPr lang="en-US" sz="2400" dirty="0">
                <a:latin typeface="Courier New" panose="02070309020205020404" pitchFamily="49" charset="0"/>
                <a:cs typeface="Courier New" panose="02070309020205020404" pitchFamily="49" charset="0"/>
              </a:rPr>
              <a:t>( model: M ) { …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83587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Java</a:t>
            </a:r>
            <a:r>
              <a:rPr sz="4000" dirty="0"/>
              <a:t> Observe</a:t>
            </a:r>
            <a:r>
              <a:rPr lang="en-CA" sz="4000" dirty="0"/>
              <a:t>r – </a:t>
            </a:r>
            <a:r>
              <a:rPr lang="en-CA" sz="4000" dirty="0" err="1"/>
              <a:t>java.util.Observable</a:t>
            </a:r>
            <a:r>
              <a:rPr lang="en-CA" sz="4000" dirty="0"/>
              <a:t> superclass</a:t>
            </a:r>
            <a:endParaRPr sz="4000" dirty="0"/>
          </a:p>
        </p:txBody>
      </p:sp>
      <p:sp>
        <p:nvSpPr>
          <p:cNvPr id="5" name="Rectangle 3">
            <a:extLst>
              <a:ext uri="{FF2B5EF4-FFF2-40B4-BE49-F238E27FC236}">
                <a16:creationId xmlns:a16="http://schemas.microsoft.com/office/drawing/2014/main" id="{9C150D8F-08E5-3D29-9D04-095678D58D7B}"/>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public class Observable {</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public Observable() { …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“all models keep track of their views” </a:t>
            </a:r>
          </a:p>
          <a:p>
            <a:pPr marL="0" indent="0">
              <a:buNone/>
            </a:pPr>
            <a:r>
              <a:rPr lang="en-US" sz="2400" dirty="0">
                <a:latin typeface="Courier New" panose="02070309020205020404" pitchFamily="49" charset="0"/>
                <a:cs typeface="Courier New" panose="02070309020205020404" pitchFamily="49" charset="0"/>
              </a:rPr>
              <a:t>	public void </a:t>
            </a:r>
            <a:r>
              <a:rPr lang="en-US" sz="2400" dirty="0" err="1">
                <a:latin typeface="Courier New" panose="02070309020205020404" pitchFamily="49" charset="0"/>
                <a:cs typeface="Courier New" panose="02070309020205020404" pitchFamily="49" charset="0"/>
              </a:rPr>
              <a:t>addObserver</a:t>
            </a:r>
            <a:r>
              <a:rPr lang="en-US" sz="2400" dirty="0">
                <a:latin typeface="Courier New" panose="02070309020205020404" pitchFamily="49" charset="0"/>
                <a:cs typeface="Courier New" panose="02070309020205020404" pitchFamily="49" charset="0"/>
              </a:rPr>
              <a:t>( Observer o ) { … } </a:t>
            </a:r>
          </a:p>
          <a:p>
            <a:pPr marL="0" indent="0">
              <a:buNone/>
            </a:pPr>
            <a:r>
              <a:rPr lang="en-US" sz="2400" dirty="0">
                <a:latin typeface="Courier New" panose="02070309020205020404" pitchFamily="49" charset="0"/>
                <a:cs typeface="Courier New" panose="02070309020205020404" pitchFamily="49" charset="0"/>
              </a:rPr>
              <a:t>	public void </a:t>
            </a:r>
            <a:r>
              <a:rPr lang="en-US" sz="2400" dirty="0" err="1">
                <a:latin typeface="Courier New" panose="02070309020205020404" pitchFamily="49" charset="0"/>
                <a:cs typeface="Courier New" panose="02070309020205020404" pitchFamily="49" charset="0"/>
              </a:rPr>
              <a:t>deleteObserver</a:t>
            </a:r>
            <a:r>
              <a:rPr lang="en-US" sz="2400" dirty="0">
                <a:latin typeface="Courier New" panose="02070309020205020404" pitchFamily="49" charset="0"/>
                <a:cs typeface="Courier New" panose="02070309020205020404" pitchFamily="49" charset="0"/>
              </a:rPr>
              <a:t>( Observer o ) { …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“all models notify their views to update” </a:t>
            </a:r>
          </a:p>
          <a:p>
            <a:pPr marL="0" indent="0">
              <a:buNone/>
            </a:pPr>
            <a:r>
              <a:rPr lang="en-US" sz="2400" dirty="0">
                <a:latin typeface="Courier New" panose="02070309020205020404" pitchFamily="49" charset="0"/>
                <a:cs typeface="Courier New" panose="02070309020205020404" pitchFamily="49" charset="0"/>
              </a:rPr>
              <a:t>	public void </a:t>
            </a:r>
            <a:r>
              <a:rPr lang="en-US" sz="2400" dirty="0" err="1">
                <a:latin typeface="Courier New" panose="02070309020205020404" pitchFamily="49" charset="0"/>
                <a:cs typeface="Courier New" panose="02070309020205020404" pitchFamily="49" charset="0"/>
              </a:rPr>
              <a:t>notifyObservers</a:t>
            </a:r>
            <a:r>
              <a:rPr lang="en-US" sz="2400" dirty="0">
                <a:latin typeface="Courier New" panose="02070309020205020404" pitchFamily="49" charset="0"/>
                <a:cs typeface="Courier New" panose="02070309020205020404" pitchFamily="49" charset="0"/>
              </a:rPr>
              <a:t>() { … }</a:t>
            </a:r>
          </a:p>
          <a:p>
            <a:pPr marL="0" indent="0">
              <a:buNone/>
            </a:pPr>
            <a:r>
              <a:rPr lang="en-US" sz="2400" dirty="0">
                <a:latin typeface="Courier New" panose="02070309020205020404" pitchFamily="49" charset="0"/>
                <a:cs typeface="Courier New" panose="02070309020205020404" pitchFamily="49" charset="0"/>
              </a:rPr>
              <a:t>	public void </a:t>
            </a:r>
            <a:r>
              <a:rPr lang="en-US" sz="2400" dirty="0" err="1">
                <a:latin typeface="Courier New" panose="02070309020205020404" pitchFamily="49" charset="0"/>
                <a:cs typeface="Courier New" panose="02070309020205020404" pitchFamily="49" charset="0"/>
              </a:rPr>
              <a:t>notifyObservers</a:t>
            </a:r>
            <a:r>
              <a:rPr lang="en-US" sz="2400" dirty="0">
                <a:latin typeface="Courier New" panose="02070309020205020404" pitchFamily="49" charset="0"/>
                <a:cs typeface="Courier New" panose="02070309020205020404" pitchFamily="49" charset="0"/>
              </a:rPr>
              <a:t>( Object </a:t>
            </a:r>
            <a:r>
              <a:rPr lang="en-US" sz="2400" dirty="0" err="1">
                <a:latin typeface="Courier New" panose="02070309020205020404" pitchFamily="49" charset="0"/>
                <a:cs typeface="Courier New" panose="02070309020205020404" pitchFamily="49" charset="0"/>
              </a:rPr>
              <a:t>arg</a:t>
            </a:r>
            <a:r>
              <a:rPr lang="en-US" sz="2400" dirty="0">
                <a:latin typeface="Courier New" panose="02070309020205020404" pitchFamily="49" charset="0"/>
                <a:cs typeface="Courier New" panose="02070309020205020404" pitchFamily="49" charset="0"/>
              </a:rPr>
              <a:t> ) { …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note whether the model has changed </a:t>
            </a:r>
          </a:p>
          <a:p>
            <a:pPr marL="0" indent="0">
              <a:buNone/>
            </a:pPr>
            <a:r>
              <a:rPr lang="en-US" sz="2400" dirty="0">
                <a:latin typeface="Courier New" panose="02070309020205020404" pitchFamily="49" charset="0"/>
                <a:cs typeface="Courier New" panose="02070309020205020404" pitchFamily="49" charset="0"/>
              </a:rPr>
              <a:t>	public </a:t>
            </a:r>
            <a:r>
              <a:rPr lang="en-US" sz="2400" dirty="0" err="1">
                <a:latin typeface="Courier New" panose="02070309020205020404" pitchFamily="49" charset="0"/>
                <a:cs typeface="Courier New" panose="02070309020205020404" pitchFamily="49" charset="0"/>
              </a:rPr>
              <a:t>boolean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hasChanged</a:t>
            </a:r>
            <a:r>
              <a:rPr lang="en-US" sz="2400" dirty="0">
                <a:latin typeface="Courier New" panose="02070309020205020404" pitchFamily="49" charset="0"/>
                <a:cs typeface="Courier New" panose="02070309020205020404" pitchFamily="49" charset="0"/>
              </a:rPr>
              <a:t>() { … } </a:t>
            </a:r>
          </a:p>
          <a:p>
            <a:pPr marL="0" indent="0">
              <a:buNone/>
            </a:pPr>
            <a:r>
              <a:rPr lang="en-US" sz="2400" dirty="0">
                <a:latin typeface="Courier New" panose="02070309020205020404" pitchFamily="49" charset="0"/>
                <a:cs typeface="Courier New" panose="02070309020205020404" pitchFamily="49" charset="0"/>
              </a:rPr>
              <a:t>	protected void </a:t>
            </a:r>
            <a:r>
              <a:rPr lang="en-US" sz="2400" dirty="0" err="1">
                <a:latin typeface="Courier New" panose="02070309020205020404" pitchFamily="49" charset="0"/>
                <a:cs typeface="Courier New" panose="02070309020205020404" pitchFamily="49" charset="0"/>
              </a:rPr>
              <a:t>clearChanged</a:t>
            </a:r>
            <a:r>
              <a:rPr lang="en-US" sz="2400" dirty="0">
                <a:latin typeface="Courier New" panose="02070309020205020404" pitchFamily="49" charset="0"/>
                <a:cs typeface="Courier New" panose="02070309020205020404" pitchFamily="49" charset="0"/>
              </a:rPr>
              <a:t>() { … } </a:t>
            </a:r>
          </a:p>
          <a:p>
            <a:pPr marL="0" indent="0">
              <a:buNone/>
            </a:pPr>
            <a:r>
              <a:rPr lang="en-US" sz="2400" dirty="0">
                <a:latin typeface="Courier New" panose="02070309020205020404" pitchFamily="49" charset="0"/>
                <a:cs typeface="Courier New" panose="02070309020205020404" pitchFamily="49" charset="0"/>
              </a:rPr>
              <a:t>	protected void </a:t>
            </a:r>
            <a:r>
              <a:rPr lang="en-US" sz="2400" dirty="0" err="1">
                <a:latin typeface="Courier New" panose="02070309020205020404" pitchFamily="49" charset="0"/>
                <a:cs typeface="Courier New" panose="02070309020205020404" pitchFamily="49" charset="0"/>
              </a:rPr>
              <a:t>setChanged</a:t>
            </a:r>
            <a:r>
              <a:rPr lang="en-US" sz="2400" dirty="0">
                <a:latin typeface="Courier New" panose="02070309020205020404" pitchFamily="49" charset="0"/>
                <a:cs typeface="Courier New" panose="02070309020205020404" pitchFamily="49" charset="0"/>
              </a:rPr>
              <a:t>() { … }</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a:t>
            </a:r>
          </a:p>
        </p:txBody>
      </p:sp>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801AEE-1ADF-8FAB-6C71-0DCD5207427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E188F0-2B9E-53D7-5A3F-677B956BBF69}"/>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fr-FR" sz="4000" dirty="0"/>
              <a:t>Java Observer – </a:t>
            </a:r>
            <a:r>
              <a:rPr lang="fr-FR" sz="4000" dirty="0" err="1"/>
              <a:t>java.util.Observer</a:t>
            </a:r>
            <a:r>
              <a:rPr lang="fr-FR" sz="4000" dirty="0"/>
              <a:t> interface</a:t>
            </a:r>
          </a:p>
        </p:txBody>
      </p:sp>
      <p:sp>
        <p:nvSpPr>
          <p:cNvPr id="5" name="Rectangle 3">
            <a:extLst>
              <a:ext uri="{FF2B5EF4-FFF2-40B4-BE49-F238E27FC236}">
                <a16:creationId xmlns:a16="http://schemas.microsoft.com/office/drawing/2014/main" id="{2D473B84-724F-CBC6-A653-83F06BF3800F}"/>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public class Observer {</a:t>
            </a:r>
          </a:p>
          <a:p>
            <a:pPr marL="0" indent="0">
              <a:buNone/>
            </a:pPr>
            <a:r>
              <a:rPr lang="en-US" sz="2400" dirty="0">
                <a:latin typeface="Courier New" panose="02070309020205020404" pitchFamily="49" charset="0"/>
                <a:cs typeface="Courier New" panose="02070309020205020404" pitchFamily="49" charset="0"/>
              </a:rPr>
              <a:t>	public void update( Observable s, Object </a:t>
            </a:r>
            <a:r>
              <a:rPr lang="en-US" sz="2400" dirty="0" err="1">
                <a:latin typeface="Courier New" panose="02070309020205020404" pitchFamily="49" charset="0"/>
                <a:cs typeface="Courier New" panose="02070309020205020404" pitchFamily="49" charset="0"/>
              </a:rPr>
              <a:t>arg</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70249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34828-9ED2-D8A3-E675-E4705795181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1CED0D-22F8-A78C-45F5-02EB49D8231E}"/>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Model-View Update Example</a:t>
            </a:r>
            <a:endParaRPr sz="4000" dirty="0"/>
          </a:p>
        </p:txBody>
      </p:sp>
      <p:sp>
        <p:nvSpPr>
          <p:cNvPr id="5" name="Rectangle 3">
            <a:extLst>
              <a:ext uri="{FF2B5EF4-FFF2-40B4-BE49-F238E27FC236}">
                <a16:creationId xmlns:a16="http://schemas.microsoft.com/office/drawing/2014/main" id="{F9691272-A673-E273-875A-F5B932C077DF}"/>
              </a:ext>
            </a:extLst>
          </p:cNvPr>
          <p:cNvSpPr txBox="1">
            <a:spLocks noChangeArrowheads="1"/>
          </p:cNvSpPr>
          <p:nvPr/>
        </p:nvSpPr>
        <p:spPr>
          <a:xfrm>
            <a:off x="838200" y="1143000"/>
            <a:ext cx="106680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MyModel.kt</a:t>
            </a:r>
            <a:r>
              <a:rPr lang="en-US" sz="2400" dirty="0">
                <a:solidFill>
                  <a:schemeClr val="accent6"/>
                </a:solidFill>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ObservableModel</a:t>
            </a:r>
            <a:r>
              <a:rPr lang="en-US" sz="2400" dirty="0">
                <a:latin typeface="Courier New" panose="02070309020205020404" pitchFamily="49" charset="0"/>
                <a:cs typeface="Courier New" panose="02070309020205020404" pitchFamily="49" charset="0"/>
              </a:rPr>
              <a:t>&lt;</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&gt;() { </a:t>
            </a:r>
          </a:p>
          <a:p>
            <a:pPr marL="0" indent="0">
              <a:buNone/>
            </a:pPr>
            <a:r>
              <a:rPr lang="en-US" sz="2400" dirty="0">
                <a:latin typeface="Courier New" panose="02070309020205020404" pitchFamily="49" charset="0"/>
                <a:cs typeface="Courier New" panose="02070309020205020404" pitchFamily="49" charset="0"/>
              </a:rPr>
              <a:t>    var message: String = “” </a:t>
            </a:r>
          </a:p>
          <a:p>
            <a:pPr marL="0" indent="0">
              <a:buNone/>
            </a:pPr>
            <a:r>
              <a:rPr lang="en-US" sz="2400" dirty="0">
                <a:latin typeface="Courier New" panose="02070309020205020404" pitchFamily="49" charset="0"/>
                <a:cs typeface="Courier New" panose="02070309020205020404" pitchFamily="49" charset="0"/>
              </a:rPr>
              <a:t>        private set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updateMessage</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newMessage</a:t>
            </a:r>
            <a:r>
              <a:rPr lang="en-US" sz="2400" dirty="0">
                <a:latin typeface="Courier New" panose="02070309020205020404" pitchFamily="49" charset="0"/>
                <a:cs typeface="Courier New" panose="02070309020205020404" pitchFamily="49" charset="0"/>
              </a:rPr>
              <a:t>: String ) { </a:t>
            </a:r>
          </a:p>
          <a:p>
            <a:pPr marL="0" indent="0">
              <a:buNone/>
            </a:pPr>
            <a:r>
              <a:rPr lang="en-US" sz="2400" dirty="0">
                <a:latin typeface="Courier New" panose="02070309020205020404" pitchFamily="49" charset="0"/>
                <a:cs typeface="Courier New" panose="02070309020205020404" pitchFamily="49" charset="0"/>
              </a:rPr>
              <a:t>		message = </a:t>
            </a:r>
            <a:r>
              <a:rPr lang="en-US" sz="2400" dirty="0" err="1">
                <a:latin typeface="Courier New" panose="02070309020205020404" pitchFamily="49" charset="0"/>
                <a:cs typeface="Courier New" panose="02070309020205020404" pitchFamily="49" charset="0"/>
              </a:rPr>
              <a:t>newMessage</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notifyObservers</a:t>
            </a:r>
            <a:r>
              <a:rPr lang="en-US" sz="2400" dirty="0">
                <a:latin typeface="Courier New" panose="02070309020205020404" pitchFamily="49" charset="0"/>
                <a:cs typeface="Courier New" panose="02070309020205020404" pitchFamily="49" charset="0"/>
              </a:rPr>
              <a:t>(this) </a:t>
            </a:r>
            <a:r>
              <a:rPr lang="en-US" sz="2400" dirty="0">
                <a:solidFill>
                  <a:schemeClr val="accent6"/>
                </a:solidFill>
                <a:latin typeface="Courier New" panose="02070309020205020404" pitchFamily="49" charset="0"/>
                <a:cs typeface="Courier New" panose="02070309020205020404" pitchFamily="49" charset="0"/>
              </a:rPr>
              <a:t>// notify views to update</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35605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FBF56-67C1-0BA2-9334-AF59DD618D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38BEA7-5B99-FC72-BAF9-BF78B36B274D}"/>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Model-View Update Example</a:t>
            </a:r>
            <a:endParaRPr sz="4000" dirty="0"/>
          </a:p>
        </p:txBody>
      </p:sp>
      <p:sp>
        <p:nvSpPr>
          <p:cNvPr id="5" name="Rectangle 3">
            <a:extLst>
              <a:ext uri="{FF2B5EF4-FFF2-40B4-BE49-F238E27FC236}">
                <a16:creationId xmlns:a16="http://schemas.microsoft.com/office/drawing/2014/main" id="{50B0CA6F-D489-C13C-A1B2-3DD1008EA55A}"/>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MyView.kt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MyView</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ViewObserver</a:t>
            </a:r>
            <a:r>
              <a:rPr lang="en-US" sz="2400" dirty="0">
                <a:latin typeface="Courier New" panose="02070309020205020404" pitchFamily="49" charset="0"/>
                <a:cs typeface="Courier New" panose="02070309020205020404" pitchFamily="49" charset="0"/>
              </a:rPr>
              <a:t>&lt;</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&gt; {</a:t>
            </a:r>
          </a:p>
          <a:p>
            <a:pPr marL="0" indent="0">
              <a:buNone/>
            </a:pPr>
            <a:r>
              <a:rPr lang="en-US" sz="2400" dirty="0">
                <a:latin typeface="Courier New" panose="02070309020205020404" pitchFamily="49" charset="0"/>
                <a:cs typeface="Courier New" panose="02070309020205020404" pitchFamily="49" charset="0"/>
              </a:rPr>
              <a:t>	override fun update( mode: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println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model.message</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38382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5C7FB-6215-510C-9A79-663A72AE4D6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859347E-9E98-D42C-E3EF-F3DDA61E7E67}"/>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Model-View Update Example</a:t>
            </a:r>
            <a:endParaRPr sz="4000" dirty="0"/>
          </a:p>
        </p:txBody>
      </p:sp>
      <p:sp>
        <p:nvSpPr>
          <p:cNvPr id="5" name="Rectangle 3">
            <a:extLst>
              <a:ext uri="{FF2B5EF4-FFF2-40B4-BE49-F238E27FC236}">
                <a16:creationId xmlns:a16="http://schemas.microsoft.com/office/drawing/2014/main" id="{9C818D3C-397D-A71A-E129-BBB2D58C2EFD}"/>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MyApp.kt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fun main()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theModel</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aView</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MyView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anotherView</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MyView</a:t>
            </a: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theModel.addObserver</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aView</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theModel.addObserver</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anotherView</a:t>
            </a: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theModel.updateMessage</a:t>
            </a:r>
            <a:r>
              <a:rPr lang="en-US" sz="2400" dirty="0">
                <a:latin typeface="Courier New" panose="02070309020205020404" pitchFamily="49" charset="0"/>
                <a:cs typeface="Courier New" panose="02070309020205020404" pitchFamily="49" charset="0"/>
              </a:rPr>
              <a:t>( "hello" )</a:t>
            </a:r>
          </a:p>
          <a:p>
            <a:pPr marL="0" indent="0">
              <a:buNone/>
            </a:pP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40394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MVC Design</a:t>
            </a:r>
          </a:p>
        </p:txBody>
      </p:sp>
      <p:sp>
        <p:nvSpPr>
          <p:cNvPr id="4" name="Content Placeholder 2">
            <a:extLst>
              <a:ext uri="{FF2B5EF4-FFF2-40B4-BE49-F238E27FC236}">
                <a16:creationId xmlns:a16="http://schemas.microsoft.com/office/drawing/2014/main" id="{7825F3FA-6586-2FEC-4D52-124EF90B3A5C}"/>
              </a:ext>
            </a:extLst>
          </p:cNvPr>
          <p:cNvSpPr>
            <a:spLocks noGrp="1"/>
          </p:cNvSpPr>
          <p:nvPr>
            <p:ph idx="1"/>
          </p:nvPr>
        </p:nvSpPr>
        <p:spPr>
          <a:xfrm>
            <a:off x="838200" y="1825625"/>
            <a:ext cx="10515600" cy="4351338"/>
          </a:xfrm>
        </p:spPr>
        <p:txBody>
          <a:bodyPr/>
          <a:lstStyle/>
          <a:p>
            <a:r>
              <a:rPr lang="en-US" dirty="0"/>
              <a:t>Approach:</a:t>
            </a:r>
          </a:p>
          <a:p>
            <a:pPr lvl="1"/>
            <a:r>
              <a:rPr lang="en-US" dirty="0"/>
              <a:t>Use a framework that supports MVC to help structure an interactive application</a:t>
            </a:r>
          </a:p>
          <a:p>
            <a:pPr lvl="1"/>
            <a:r>
              <a:rPr lang="en-US" dirty="0"/>
              <a:t>Framework is a set of cooperating classes, interfaces, and conventions that forms a reusable design in a particular domain</a:t>
            </a:r>
          </a:p>
          <a:p>
            <a:pPr lvl="1"/>
            <a:r>
              <a:rPr lang="en-US" dirty="0"/>
              <a:t>Reusable design </a:t>
            </a:r>
            <a:r>
              <a:rPr lang="en-US" i="1" dirty="0"/>
              <a:t>and</a:t>
            </a:r>
            <a:r>
              <a:rPr lang="en-US" dirty="0"/>
              <a:t> code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31850" y="3718654"/>
            <a:ext cx="10515600" cy="843821"/>
          </a:xfrm>
          <a:prstGeom prst="rect">
            <a:avLst/>
          </a:prstGeom>
        </p:spPr>
        <p:txBody>
          <a:bodyPr vert="horz" wrap="square" lIns="0" tIns="12700" rIns="0" bIns="0" rtlCol="0">
            <a:spAutoFit/>
          </a:bodyPr>
          <a:lstStyle/>
          <a:p>
            <a:pPr marL="12700">
              <a:spcBef>
                <a:spcPts val="100"/>
              </a:spcBef>
            </a:pPr>
            <a:r>
              <a:rPr dirty="0"/>
              <a:t>MVC Framework</a:t>
            </a:r>
          </a:p>
        </p:txBody>
      </p:sp>
      <p:sp>
        <p:nvSpPr>
          <p:cNvPr id="4" name="Text Placeholder 3">
            <a:extLst>
              <a:ext uri="{FF2B5EF4-FFF2-40B4-BE49-F238E27FC236}">
                <a16:creationId xmlns:a16="http://schemas.microsoft.com/office/drawing/2014/main" id="{F82FEE66-F30E-1778-3359-D320C042CED1}"/>
              </a:ext>
            </a:extLst>
          </p:cNvPr>
          <p:cNvSpPr>
            <a:spLocks noGrp="1"/>
          </p:cNvSpPr>
          <p:nvPr>
            <p:ph type="body" idx="1"/>
          </p:nvPr>
        </p:nvSpPr>
        <p:spPr/>
        <p:txBody>
          <a:bodyPr/>
          <a:lstStyle/>
          <a:p>
            <a:endParaRPr lang="en-CA"/>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Who is in Control?</a:t>
            </a:r>
          </a:p>
        </p:txBody>
      </p:sp>
      <p:sp>
        <p:nvSpPr>
          <p:cNvPr id="10" name="Content Placeholder 2">
            <a:extLst>
              <a:ext uri="{FF2B5EF4-FFF2-40B4-BE49-F238E27FC236}">
                <a16:creationId xmlns:a16="http://schemas.microsoft.com/office/drawing/2014/main" id="{155881F8-01D7-8E2D-4EA3-6EE7A08B5490}"/>
              </a:ext>
            </a:extLst>
          </p:cNvPr>
          <p:cNvSpPr>
            <a:spLocks noGrp="1"/>
          </p:cNvSpPr>
          <p:nvPr>
            <p:ph idx="1"/>
          </p:nvPr>
        </p:nvSpPr>
        <p:spPr>
          <a:xfrm>
            <a:off x="838200" y="1825625"/>
            <a:ext cx="10515600" cy="4351338"/>
          </a:xfrm>
        </p:spPr>
        <p:txBody>
          <a:bodyPr>
            <a:normAutofit/>
          </a:bodyPr>
          <a:lstStyle/>
          <a:p>
            <a:r>
              <a:rPr lang="en-US" dirty="0"/>
              <a:t>Class library reuse</a:t>
            </a:r>
          </a:p>
          <a:p>
            <a:pPr lvl="1"/>
            <a:r>
              <a:rPr lang="en-US" dirty="0"/>
              <a:t>Application developers:</a:t>
            </a:r>
          </a:p>
          <a:p>
            <a:pPr lvl="2"/>
            <a:r>
              <a:rPr lang="en-US" dirty="0"/>
              <a:t>Write the main body of the application </a:t>
            </a:r>
          </a:p>
          <a:p>
            <a:pPr lvl="2"/>
            <a:r>
              <a:rPr lang="en-US" dirty="0"/>
              <a:t>Reuse library code by calling it</a:t>
            </a:r>
          </a:p>
          <a:p>
            <a:r>
              <a:rPr lang="en-US" dirty="0"/>
              <a:t>Framework reuse</a:t>
            </a:r>
          </a:p>
          <a:p>
            <a:pPr lvl="1"/>
            <a:r>
              <a:rPr lang="en-US" dirty="0"/>
              <a:t>Application developers:</a:t>
            </a:r>
          </a:p>
          <a:p>
            <a:pPr lvl="2"/>
            <a:r>
              <a:rPr lang="en-US" dirty="0"/>
              <a:t>Reuse the main body of the application </a:t>
            </a:r>
          </a:p>
          <a:p>
            <a:pPr lvl="2"/>
            <a:r>
              <a:rPr lang="en-US" dirty="0"/>
              <a:t>Write code that the framework calls </a:t>
            </a:r>
          </a:p>
          <a:p>
            <a:pPr lvl="2"/>
            <a:r>
              <a:rPr lang="en-US" dirty="0"/>
              <a:t>Reuse library code by calling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Framework</a:t>
            </a:r>
          </a:p>
        </p:txBody>
      </p:sp>
      <p:grpSp>
        <p:nvGrpSpPr>
          <p:cNvPr id="3" name="object 3"/>
          <p:cNvGrpSpPr/>
          <p:nvPr/>
        </p:nvGrpSpPr>
        <p:grpSpPr>
          <a:xfrm>
            <a:off x="3717925" y="2608579"/>
            <a:ext cx="82550" cy="629920"/>
            <a:chOff x="2193925" y="2608579"/>
            <a:chExt cx="82550" cy="629920"/>
          </a:xfrm>
        </p:grpSpPr>
        <p:pic>
          <p:nvPicPr>
            <p:cNvPr id="4" name="object 4"/>
            <p:cNvPicPr/>
            <p:nvPr/>
          </p:nvPicPr>
          <p:blipFill>
            <a:blip r:embed="rId2" cstate="print"/>
            <a:stretch>
              <a:fillRect/>
            </a:stretch>
          </p:blipFill>
          <p:spPr>
            <a:xfrm>
              <a:off x="2193925" y="2608579"/>
              <a:ext cx="82550" cy="203200"/>
            </a:xfrm>
            <a:prstGeom prst="rect">
              <a:avLst/>
            </a:prstGeom>
          </p:spPr>
        </p:pic>
        <p:pic>
          <p:nvPicPr>
            <p:cNvPr id="5" name="object 5"/>
            <p:cNvPicPr/>
            <p:nvPr/>
          </p:nvPicPr>
          <p:blipFill>
            <a:blip r:embed="rId2" cstate="print"/>
            <a:stretch>
              <a:fillRect/>
            </a:stretch>
          </p:blipFill>
          <p:spPr>
            <a:xfrm>
              <a:off x="2193925" y="3035299"/>
              <a:ext cx="82550" cy="203200"/>
            </a:xfrm>
            <a:prstGeom prst="rect">
              <a:avLst/>
            </a:prstGeom>
          </p:spPr>
        </p:pic>
      </p:grpSp>
      <p:pic>
        <p:nvPicPr>
          <p:cNvPr id="6" name="object 6"/>
          <p:cNvPicPr/>
          <p:nvPr/>
        </p:nvPicPr>
        <p:blipFill>
          <a:blip r:embed="rId2" cstate="print"/>
          <a:stretch>
            <a:fillRect/>
          </a:stretch>
        </p:blipFill>
        <p:spPr>
          <a:xfrm>
            <a:off x="3717925" y="4494529"/>
            <a:ext cx="82550" cy="203200"/>
          </a:xfrm>
          <a:prstGeom prst="rect">
            <a:avLst/>
          </a:prstGeom>
        </p:spPr>
      </p:pic>
      <p:sp>
        <p:nvSpPr>
          <p:cNvPr id="8" name="Content Placeholder 2">
            <a:extLst>
              <a:ext uri="{FF2B5EF4-FFF2-40B4-BE49-F238E27FC236}">
                <a16:creationId xmlns:a16="http://schemas.microsoft.com/office/drawing/2014/main" id="{A1050872-FEAC-2843-A00B-366E03695CA1}"/>
              </a:ext>
            </a:extLst>
          </p:cNvPr>
          <p:cNvSpPr>
            <a:spLocks noGrp="1"/>
          </p:cNvSpPr>
          <p:nvPr>
            <p:ph idx="1"/>
          </p:nvPr>
        </p:nvSpPr>
        <p:spPr>
          <a:xfrm>
            <a:off x="838200" y="1825625"/>
            <a:ext cx="10515600" cy="4351338"/>
          </a:xfrm>
        </p:spPr>
        <p:txBody>
          <a:bodyPr/>
          <a:lstStyle/>
          <a:p>
            <a:r>
              <a:rPr lang="en-US" dirty="0"/>
              <a:t>Separation of concerns:</a:t>
            </a:r>
          </a:p>
          <a:p>
            <a:pPr lvl="1"/>
            <a:r>
              <a:rPr lang="en-US" dirty="0"/>
              <a:t>Framework</a:t>
            </a:r>
          </a:p>
          <a:p>
            <a:pPr lvl="2"/>
            <a:r>
              <a:rPr lang="en-US" dirty="0"/>
              <a:t>Skeletal application code</a:t>
            </a:r>
          </a:p>
          <a:p>
            <a:pPr lvl="2"/>
            <a:r>
              <a:rPr lang="en-US" dirty="0"/>
              <a:t>General </a:t>
            </a:r>
            <a:r>
              <a:rPr lang="en-US" dirty="0" err="1"/>
              <a:t>superclasses</a:t>
            </a:r>
            <a:r>
              <a:rPr lang="en-US" dirty="0"/>
              <a:t> and interfaces</a:t>
            </a:r>
          </a:p>
          <a:p>
            <a:pPr lvl="1"/>
            <a:r>
              <a:rPr lang="en-US" dirty="0"/>
              <a:t>Your “customizations”</a:t>
            </a:r>
          </a:p>
          <a:p>
            <a:pPr lvl="2"/>
            <a:r>
              <a:rPr lang="en-US" dirty="0"/>
              <a:t>Specific subclasses and implementations</a:t>
            </a:r>
          </a:p>
          <a:p>
            <a:pPr lvl="2"/>
            <a:r>
              <a:rPr lang="en-US" dirty="0"/>
              <a:t>Define app-specific models, views, and controllers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Exercise</a:t>
            </a:r>
          </a:p>
        </p:txBody>
      </p:sp>
      <p:sp>
        <p:nvSpPr>
          <p:cNvPr id="4" name="Content Placeholder 2">
            <a:extLst>
              <a:ext uri="{FF2B5EF4-FFF2-40B4-BE49-F238E27FC236}">
                <a16:creationId xmlns:a16="http://schemas.microsoft.com/office/drawing/2014/main" id="{B9DC849D-97BD-058B-03F8-24BD46D7F0D0}"/>
              </a:ext>
            </a:extLst>
          </p:cNvPr>
          <p:cNvSpPr>
            <a:spLocks noGrp="1"/>
          </p:cNvSpPr>
          <p:nvPr>
            <p:ph idx="1"/>
          </p:nvPr>
        </p:nvSpPr>
        <p:spPr>
          <a:xfrm>
            <a:off x="838200" y="1825625"/>
            <a:ext cx="10515600" cy="4351338"/>
          </a:xfrm>
        </p:spPr>
        <p:txBody>
          <a:bodyPr/>
          <a:lstStyle/>
          <a:p>
            <a:r>
              <a:rPr lang="en-US" dirty="0"/>
              <a:t>Design an MVC framework for building interactive applications.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DEE0-871A-92A9-D2C1-C04353BB4CA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D597CF-66E2-9489-1F6F-1609FF2DBE09}"/>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Generic MVC Structure</a:t>
            </a:r>
          </a:p>
        </p:txBody>
      </p:sp>
      <p:sp>
        <p:nvSpPr>
          <p:cNvPr id="5" name="Rectangle 3">
            <a:extLst>
              <a:ext uri="{FF2B5EF4-FFF2-40B4-BE49-F238E27FC236}">
                <a16:creationId xmlns:a16="http://schemas.microsoft.com/office/drawing/2014/main" id="{AA8DC198-D20E-EBBC-3823-3E97A90C4966}"/>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MVC.kt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interface View&lt; M &gt; {</a:t>
            </a:r>
          </a:p>
          <a:p>
            <a:pPr marL="0" indent="0">
              <a:buNone/>
            </a:pPr>
            <a:r>
              <a:rPr lang="en-US" sz="2400" dirty="0">
                <a:latin typeface="Courier New" panose="02070309020205020404" pitchFamily="49" charset="0"/>
                <a:cs typeface="Courier New" panose="02070309020205020404" pitchFamily="49" charset="0"/>
              </a:rPr>
              <a:t>    fun render( model: M )</a:t>
            </a:r>
          </a:p>
          <a:p>
            <a:pPr marL="0" indent="0">
              <a:buNone/>
            </a:pP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interface Controller {</a:t>
            </a:r>
          </a:p>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fun </a:t>
            </a:r>
            <a:r>
              <a:rPr lang="en-US" sz="2400" dirty="0" err="1">
                <a:latin typeface="Courier New" panose="02070309020205020404" pitchFamily="49" charset="0"/>
                <a:cs typeface="Courier New" panose="02070309020205020404" pitchFamily="49" charset="0"/>
              </a:rPr>
              <a:t>onUserAction</a:t>
            </a: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Handles user actions</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186124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905F2-DD31-DFD5-8112-FF992D91EA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4655E25-68A1-5E0A-2CAA-7F9156437542}"/>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Generic Model</a:t>
            </a:r>
          </a:p>
        </p:txBody>
      </p:sp>
      <p:sp>
        <p:nvSpPr>
          <p:cNvPr id="5" name="Rectangle 3">
            <a:extLst>
              <a:ext uri="{FF2B5EF4-FFF2-40B4-BE49-F238E27FC236}">
                <a16:creationId xmlns:a16="http://schemas.microsoft.com/office/drawing/2014/main" id="{D3FA9065-BA46-2C57-1F27-E9B31C2B76BE}"/>
              </a:ext>
            </a:extLst>
          </p:cNvPr>
          <p:cNvSpPr txBox="1">
            <a:spLocks noChangeArrowheads="1"/>
          </p:cNvSpPr>
          <p:nvPr/>
        </p:nvSpPr>
        <p:spPr>
          <a:xfrm>
            <a:off x="838200" y="1234797"/>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Generic Model Rules:</a:t>
            </a:r>
          </a:p>
          <a:p>
            <a:pPr lvl="1"/>
            <a:r>
              <a:rPr lang="en-US" dirty="0"/>
              <a:t>The Model stores application state</a:t>
            </a:r>
          </a:p>
          <a:p>
            <a:pPr lvl="1"/>
            <a:r>
              <a:rPr lang="en-US" dirty="0"/>
              <a:t>The Model contains application rules and calculations</a:t>
            </a:r>
          </a:p>
          <a:p>
            <a:pPr lvl="1"/>
            <a:r>
              <a:rPr lang="en-US" dirty="0"/>
              <a:t>The Model should avoid Android UI types</a:t>
            </a:r>
          </a:p>
          <a:p>
            <a:pPr lvl="1"/>
            <a:r>
              <a:rPr lang="en-US" dirty="0"/>
              <a:t>The Model may notify Views when its state changes</a:t>
            </a:r>
          </a:p>
        </p:txBody>
      </p:sp>
    </p:spTree>
    <p:extLst>
      <p:ext uri="{BB962C8B-B14F-4D97-AF65-F5344CB8AC3E}">
        <p14:creationId xmlns:p14="http://schemas.microsoft.com/office/powerpoint/2010/main" val="965543967"/>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752FA-81C2-B81E-CF72-F0EC83670F0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1F3A452-D14A-FA7B-A46C-1500512237F7}"/>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Generic Model</a:t>
            </a:r>
          </a:p>
        </p:txBody>
      </p:sp>
      <p:sp>
        <p:nvSpPr>
          <p:cNvPr id="5" name="Rectangle 3">
            <a:extLst>
              <a:ext uri="{FF2B5EF4-FFF2-40B4-BE49-F238E27FC236}">
                <a16:creationId xmlns:a16="http://schemas.microsoft.com/office/drawing/2014/main" id="{DA9F6341-F6E0-1BFA-2A20-EC06D7076794}"/>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ObservableModel.kt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endParaRPr lang="en-US" sz="2400" dirty="0">
              <a:solidFill>
                <a:schemeClr val="accent4"/>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open class </a:t>
            </a:r>
            <a:r>
              <a:rPr lang="en-US" sz="2400" dirty="0" err="1">
                <a:latin typeface="Courier New" panose="02070309020205020404" pitchFamily="49" charset="0"/>
                <a:cs typeface="Courier New" panose="02070309020205020404" pitchFamily="49" charset="0"/>
              </a:rPr>
              <a:t>ObservableModel</a:t>
            </a:r>
            <a:r>
              <a:rPr lang="en-US" sz="2400" dirty="0">
                <a:latin typeface="Courier New" panose="02070309020205020404" pitchFamily="49" charset="0"/>
                <a:cs typeface="Courier New" panose="02070309020205020404" pitchFamily="49" charset="0"/>
              </a:rPr>
              <a:t>&lt;M&gt; {</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views = </a:t>
            </a:r>
            <a:r>
              <a:rPr lang="en-US" sz="2400" dirty="0" err="1">
                <a:latin typeface="Courier New" panose="02070309020205020404" pitchFamily="49" charset="0"/>
                <a:cs typeface="Courier New" panose="02070309020205020404" pitchFamily="49" charset="0"/>
              </a:rPr>
              <a:t>mutableListOf</a:t>
            </a:r>
            <a:r>
              <a:rPr lang="en-US" sz="2400" dirty="0">
                <a:latin typeface="Courier New" panose="02070309020205020404" pitchFamily="49" charset="0"/>
                <a:cs typeface="Courier New" panose="02070309020205020404" pitchFamily="49" charset="0"/>
              </a:rPr>
              <a:t>&lt;View&lt;M&gt;&gt;()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addView</a:t>
            </a:r>
            <a:r>
              <a:rPr lang="en-US" sz="2400" dirty="0">
                <a:latin typeface="Courier New" panose="02070309020205020404" pitchFamily="49" charset="0"/>
                <a:cs typeface="Courier New" panose="02070309020205020404" pitchFamily="49" charset="0"/>
              </a:rPr>
              <a:t>( view: View&lt;M&gt; ) {</a:t>
            </a:r>
          </a:p>
          <a:p>
            <a:pPr marL="0" indent="0">
              <a:buNone/>
            </a:pPr>
            <a:r>
              <a:rPr lang="en-US" sz="2400" dirty="0">
                <a:latin typeface="Courier New" panose="02070309020205020404" pitchFamily="49" charset="0"/>
                <a:cs typeface="Courier New" panose="02070309020205020404" pitchFamily="49" charset="0"/>
              </a:rPr>
              <a:t>        if ( view !in views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views.add</a:t>
            </a:r>
            <a:r>
              <a:rPr lang="en-US" sz="2400" dirty="0">
                <a:latin typeface="Courier New" panose="02070309020205020404" pitchFamily="49" charset="0"/>
                <a:cs typeface="Courier New" panose="02070309020205020404" pitchFamily="49" charset="0"/>
              </a:rPr>
              <a:t>( view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45698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CCAE7-CF43-DB0E-4182-05945A1645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B574200-52D6-229E-A715-0EF4301D7C1A}"/>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Generic Model</a:t>
            </a:r>
          </a:p>
        </p:txBody>
      </p:sp>
      <p:sp>
        <p:nvSpPr>
          <p:cNvPr id="5" name="Rectangle 3">
            <a:extLst>
              <a:ext uri="{FF2B5EF4-FFF2-40B4-BE49-F238E27FC236}">
                <a16:creationId xmlns:a16="http://schemas.microsoft.com/office/drawing/2014/main" id="{57579AD7-A285-4BAF-A1C1-05B7C0BD30D0}"/>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removeView</a:t>
            </a:r>
            <a:r>
              <a:rPr lang="en-US" sz="2400" dirty="0">
                <a:latin typeface="Courier New" panose="02070309020205020404" pitchFamily="49" charset="0"/>
                <a:cs typeface="Courier New" panose="02070309020205020404" pitchFamily="49" charset="0"/>
              </a:rPr>
              <a:t>(view: View&lt;M&gt;)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views.remove</a:t>
            </a:r>
            <a:r>
              <a:rPr lang="en-US" sz="2400" dirty="0">
                <a:latin typeface="Courier New" panose="02070309020205020404" pitchFamily="49" charset="0"/>
                <a:cs typeface="Courier New" panose="02070309020205020404" pitchFamily="49" charset="0"/>
              </a:rPr>
              <a:t>(view)</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protected fun </a:t>
            </a:r>
            <a:r>
              <a:rPr lang="en-US" sz="2400" dirty="0" err="1">
                <a:latin typeface="Courier New" panose="02070309020205020404" pitchFamily="49" charset="0"/>
                <a:cs typeface="Courier New" panose="02070309020205020404" pitchFamily="49" charset="0"/>
              </a:rPr>
              <a:t>notifyViews</a:t>
            </a:r>
            <a:r>
              <a:rPr lang="en-US" sz="2400" dirty="0">
                <a:latin typeface="Courier New" panose="02070309020205020404" pitchFamily="49" charset="0"/>
                <a:cs typeface="Courier New" panose="02070309020205020404" pitchFamily="49" charset="0"/>
              </a:rPr>
              <a:t>( model: M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views.forEach</a:t>
            </a:r>
            <a:r>
              <a:rPr lang="en-US" sz="2400" dirty="0">
                <a:latin typeface="Courier New" panose="02070309020205020404" pitchFamily="49" charset="0"/>
                <a:cs typeface="Courier New" panose="02070309020205020404" pitchFamily="49" charset="0"/>
              </a:rPr>
              <a:t> { view -&gt;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view.render</a:t>
            </a:r>
            <a:r>
              <a:rPr lang="en-US" sz="2400" dirty="0">
                <a:latin typeface="Courier New" panose="02070309020205020404" pitchFamily="49" charset="0"/>
                <a:cs typeface="Courier New" panose="02070309020205020404" pitchFamily="49" charset="0"/>
              </a:rPr>
              <a:t>( model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56261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32CC-DAB1-0D55-BE87-F93793FACB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69CA1C-286D-E250-9831-B32CE1A714FA}"/>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Generic Controller</a:t>
            </a:r>
          </a:p>
        </p:txBody>
      </p:sp>
      <p:sp>
        <p:nvSpPr>
          <p:cNvPr id="5" name="Rectangle 3">
            <a:extLst>
              <a:ext uri="{FF2B5EF4-FFF2-40B4-BE49-F238E27FC236}">
                <a16:creationId xmlns:a16="http://schemas.microsoft.com/office/drawing/2014/main" id="{80F83C1E-6334-C784-B1C2-033F3EF29E5E}"/>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Controller.kt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MyController</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model: </a:t>
            </a:r>
            <a:r>
              <a:rPr lang="en-US" sz="2400" dirty="0" err="1">
                <a:latin typeface="Courier New" panose="02070309020205020404" pitchFamily="49" charset="0"/>
                <a:cs typeface="Courier New" panose="02070309020205020404" pitchFamily="49" charset="0"/>
              </a:rPr>
              <a:t>MyModel</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onUserAction</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validate input</a:t>
            </a:r>
          </a:p>
          <a:p>
            <a:pPr marL="0" indent="0">
              <a:buNone/>
            </a:pPr>
            <a:r>
              <a:rPr lang="en-US" sz="2400" dirty="0">
                <a:solidFill>
                  <a:schemeClr val="accent6"/>
                </a:solidFill>
                <a:latin typeface="Courier New" panose="02070309020205020404" pitchFamily="49" charset="0"/>
                <a:cs typeface="Courier New" panose="02070309020205020404" pitchFamily="49" charset="0"/>
              </a:rPr>
              <a:t>        // modify the model</a:t>
            </a:r>
          </a:p>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98442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9D0BD-3DF8-7AFA-F086-F3CF3673DA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645D7A1-552B-0F81-86CA-32065240B435}"/>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Generic View</a:t>
            </a:r>
          </a:p>
        </p:txBody>
      </p:sp>
      <p:sp>
        <p:nvSpPr>
          <p:cNvPr id="5" name="Rectangle 3">
            <a:extLst>
              <a:ext uri="{FF2B5EF4-FFF2-40B4-BE49-F238E27FC236}">
                <a16:creationId xmlns:a16="http://schemas.microsoft.com/office/drawing/2014/main" id="{BCA5F068-45DB-6D38-60E8-31498E5C00F0}"/>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MyView.kt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MyView</a:t>
            </a:r>
            <a:r>
              <a:rPr lang="en-US" sz="2400" dirty="0">
                <a:latin typeface="Courier New" panose="02070309020205020404" pitchFamily="49" charset="0"/>
                <a:cs typeface="Courier New" panose="02070309020205020404" pitchFamily="49" charset="0"/>
              </a:rPr>
              <a:t> : View&lt;</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&gt; {</a:t>
            </a:r>
          </a:p>
          <a:p>
            <a:pPr marL="0" indent="0">
              <a:buNone/>
            </a:pPr>
            <a:r>
              <a:rPr lang="en-US" sz="2400" dirty="0">
                <a:latin typeface="Courier New" panose="02070309020205020404" pitchFamily="49" charset="0"/>
                <a:cs typeface="Courier New" panose="02070309020205020404" pitchFamily="49" charset="0"/>
              </a:rPr>
              <a:t>    override fun render( model :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update the UI using model state</a:t>
            </a:r>
          </a:p>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00723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AE253-C444-3757-420D-11A156CF6CF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1EB4FF-0FAA-1DC7-5408-37262294571E}"/>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Connecting MVC</a:t>
            </a:r>
          </a:p>
        </p:txBody>
      </p:sp>
      <p:sp>
        <p:nvSpPr>
          <p:cNvPr id="5" name="Rectangle 3">
            <a:extLst>
              <a:ext uri="{FF2B5EF4-FFF2-40B4-BE49-F238E27FC236}">
                <a16:creationId xmlns:a16="http://schemas.microsoft.com/office/drawing/2014/main" id="{0ABF1337-0053-6C79-0D04-308305F34830}"/>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MyApp.kt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model =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view = </a:t>
            </a:r>
            <a:r>
              <a:rPr lang="en-US" sz="2400" dirty="0" err="1">
                <a:latin typeface="Courier New" panose="02070309020205020404" pitchFamily="49" charset="0"/>
                <a:cs typeface="Courier New" panose="02070309020205020404" pitchFamily="49" charset="0"/>
              </a:rPr>
              <a:t>MyView</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controller = </a:t>
            </a:r>
            <a:r>
              <a:rPr lang="en-US" sz="2400" dirty="0" err="1">
                <a:latin typeface="Courier New" panose="02070309020205020404" pitchFamily="49" charset="0"/>
                <a:cs typeface="Courier New" panose="02070309020205020404" pitchFamily="49" charset="0"/>
              </a:rPr>
              <a:t>MyController</a:t>
            </a:r>
            <a:r>
              <a:rPr lang="en-US" sz="2400" dirty="0">
                <a:latin typeface="Courier New" panose="02070309020205020404" pitchFamily="49" charset="0"/>
                <a:cs typeface="Courier New" panose="02070309020205020404" pitchFamily="49" charset="0"/>
              </a:rPr>
              <a:t>(model)</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model.addView</a:t>
            </a:r>
            <a:r>
              <a:rPr lang="en-US" sz="2400" dirty="0">
                <a:latin typeface="Courier New" panose="02070309020205020404" pitchFamily="49" charset="0"/>
                <a:cs typeface="Courier New" panose="02070309020205020404" pitchFamily="49" charset="0"/>
              </a:rPr>
              <a:t>(view)</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UI event delegates to the controller</a:t>
            </a:r>
          </a:p>
          <a:p>
            <a:pPr marL="0" indent="0">
              <a:buNone/>
            </a:pPr>
            <a:r>
              <a:rPr lang="en-US" sz="2400" dirty="0">
                <a:solidFill>
                  <a:schemeClr val="accent6"/>
                </a:solidFill>
                <a:latin typeface="Courier New" panose="02070309020205020404" pitchFamily="49" charset="0"/>
                <a:cs typeface="Courier New" panose="02070309020205020404" pitchFamily="49" charset="0"/>
              </a:rPr>
              <a:t>    // e.g., when a button is clicked, call </a:t>
            </a:r>
          </a:p>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controller.onUserAction</a:t>
            </a:r>
            <a:r>
              <a:rPr lang="en-US" sz="2400" dirty="0">
                <a:solidFill>
                  <a:schemeClr val="accent6"/>
                </a:solidFill>
                <a:latin typeface="Courier New" panose="02070309020205020404" pitchFamily="49" charset="0"/>
                <a:cs typeface="Courier New" panose="02070309020205020404" pitchFamily="49" charset="0"/>
              </a:rPr>
              <a:t>()</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08327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86744-7346-FC48-1E71-7B57C2C4E46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4FC99A-AB83-D1C9-296E-4A745B72AE4B}"/>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Multiple Views</a:t>
            </a:r>
          </a:p>
        </p:txBody>
      </p:sp>
      <p:sp>
        <p:nvSpPr>
          <p:cNvPr id="5" name="Rectangle 3">
            <a:extLst>
              <a:ext uri="{FF2B5EF4-FFF2-40B4-BE49-F238E27FC236}">
                <a16:creationId xmlns:a16="http://schemas.microsoft.com/office/drawing/2014/main" id="{2F5340ED-FEA4-D1A4-1214-C4DD7C9B27EC}"/>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MyApp.kt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endParaRPr lang="en-US" sz="2400" dirty="0">
              <a:latin typeface="Courier New" panose="02070309020205020404" pitchFamily="49" charset="0"/>
              <a:cs typeface="Courier New" panose="02070309020205020404" pitchFamily="49" charset="0"/>
            </a:endParaRPr>
          </a:p>
          <a:p>
            <a:pPr marL="0" indent="0">
              <a:buNone/>
            </a:pPr>
            <a:endParaRPr lang="en-US" sz="2400" dirty="0">
              <a:solidFill>
                <a:schemeClr val="accent4"/>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model =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model.addView</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summaryView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model.addView</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detailView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model.addView</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chartView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One Model can update multiple Views</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8671681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89049-5BBC-42BA-C744-ABB47F5A6C0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2140AE6-804F-8AD1-732C-597D3F057D89}"/>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Generic MVC Flow</a:t>
            </a:r>
          </a:p>
        </p:txBody>
      </p:sp>
      <p:sp>
        <p:nvSpPr>
          <p:cNvPr id="5" name="Rectangle 3">
            <a:extLst>
              <a:ext uri="{FF2B5EF4-FFF2-40B4-BE49-F238E27FC236}">
                <a16:creationId xmlns:a16="http://schemas.microsoft.com/office/drawing/2014/main" id="{D66CB0F0-47FA-8BA8-6888-60461EAB0FD7}"/>
              </a:ext>
            </a:extLst>
          </p:cNvPr>
          <p:cNvSpPr txBox="1">
            <a:spLocks noChangeArrowheads="1"/>
          </p:cNvSpPr>
          <p:nvPr/>
        </p:nvSpPr>
        <p:spPr>
          <a:xfrm>
            <a:off x="838200" y="1234797"/>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User action:</a:t>
            </a:r>
          </a:p>
          <a:p>
            <a:pPr lvl="1"/>
            <a:r>
              <a:rPr lang="en-US" dirty="0"/>
              <a:t>User interacts with View</a:t>
            </a:r>
          </a:p>
          <a:p>
            <a:pPr lvl="1"/>
            <a:r>
              <a:rPr lang="en-US" dirty="0"/>
              <a:t>View delegates interaction to Controller</a:t>
            </a:r>
          </a:p>
          <a:p>
            <a:r>
              <a:rPr lang="en-US" dirty="0"/>
              <a:t>Controller response:</a:t>
            </a:r>
          </a:p>
          <a:p>
            <a:pPr lvl="1"/>
            <a:r>
              <a:rPr lang="en-US" dirty="0"/>
              <a:t>Controller validates and handles the interaction</a:t>
            </a:r>
          </a:p>
          <a:p>
            <a:pPr lvl="1"/>
            <a:r>
              <a:rPr lang="en-US" dirty="0"/>
              <a:t>Controller invokes changes on the Model</a:t>
            </a:r>
          </a:p>
          <a:p>
            <a:r>
              <a:rPr lang="en-US" dirty="0"/>
              <a:t>Model update:</a:t>
            </a:r>
          </a:p>
          <a:p>
            <a:pPr lvl="1"/>
            <a:r>
              <a:rPr lang="en-US" dirty="0"/>
              <a:t>Model changes state</a:t>
            </a:r>
          </a:p>
          <a:p>
            <a:pPr lvl="1"/>
            <a:r>
              <a:rPr lang="en-US" dirty="0"/>
              <a:t>Model notifies registered Views</a:t>
            </a:r>
          </a:p>
          <a:p>
            <a:r>
              <a:rPr lang="en-US" dirty="0"/>
              <a:t>View refresh:</a:t>
            </a:r>
          </a:p>
          <a:p>
            <a:pPr lvl="1"/>
            <a:r>
              <a:rPr lang="en-US" dirty="0"/>
              <a:t>Views update based on the Model</a:t>
            </a:r>
          </a:p>
        </p:txBody>
      </p:sp>
    </p:spTree>
    <p:extLst>
      <p:ext uri="{BB962C8B-B14F-4D97-AF65-F5344CB8AC3E}">
        <p14:creationId xmlns:p14="http://schemas.microsoft.com/office/powerpoint/2010/main" val="3113159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“Code Reuse”</a:t>
            </a:r>
          </a:p>
        </p:txBody>
      </p:sp>
      <p:sp>
        <p:nvSpPr>
          <p:cNvPr id="3" name="object 3"/>
          <p:cNvSpPr txBox="1"/>
          <p:nvPr/>
        </p:nvSpPr>
        <p:spPr>
          <a:xfrm>
            <a:off x="3440429" y="2037079"/>
            <a:ext cx="4832350" cy="878840"/>
          </a:xfrm>
          <a:prstGeom prst="rect">
            <a:avLst/>
          </a:prstGeom>
        </p:spPr>
        <p:txBody>
          <a:bodyPr vert="horz" wrap="square" lIns="0" tIns="12700" rIns="0" bIns="0" rtlCol="0">
            <a:spAutoFit/>
          </a:bodyPr>
          <a:lstStyle/>
          <a:p>
            <a:pPr marL="248920" indent="-236220">
              <a:spcBef>
                <a:spcPts val="100"/>
              </a:spcBef>
              <a:buClr>
                <a:srgbClr val="3790A6"/>
              </a:buClr>
              <a:buFont typeface="Verdana"/>
              <a:buChar char="◦"/>
              <a:tabLst>
                <a:tab pos="248920" algn="l"/>
              </a:tabLst>
            </a:pPr>
            <a:r>
              <a:rPr sz="2800" u="heavy" spc="-10" dirty="0">
                <a:solidFill>
                  <a:srgbClr val="8CC664"/>
                </a:solidFill>
                <a:uFill>
                  <a:solidFill>
                    <a:srgbClr val="8CC664"/>
                  </a:solidFill>
                </a:uFill>
                <a:latin typeface="Trebuchet MS"/>
                <a:cs typeface="Trebuchet MS"/>
                <a:hlinkClick r:id="rId2"/>
              </a:rPr>
              <a:t>http://www.dilbert.com</a:t>
            </a:r>
            <a:endParaRPr sz="2800" dirty="0">
              <a:latin typeface="Trebuchet MS"/>
              <a:cs typeface="Trebuchet MS"/>
            </a:endParaRPr>
          </a:p>
          <a:p>
            <a:pPr marL="248285"/>
            <a:r>
              <a:rPr sz="2800" u="heavy" spc="65" dirty="0">
                <a:solidFill>
                  <a:srgbClr val="8CC664"/>
                </a:solidFill>
                <a:uFill>
                  <a:solidFill>
                    <a:srgbClr val="8CC664"/>
                  </a:solidFill>
                </a:uFill>
                <a:latin typeface="Trebuchet MS"/>
                <a:cs typeface="Trebuchet MS"/>
              </a:rPr>
              <a:t>/strips/comic/1996-</a:t>
            </a:r>
            <a:r>
              <a:rPr sz="2800" u="heavy" spc="195" dirty="0">
                <a:solidFill>
                  <a:srgbClr val="8CC664"/>
                </a:solidFill>
                <a:uFill>
                  <a:solidFill>
                    <a:srgbClr val="8CC664"/>
                  </a:solidFill>
                </a:uFill>
                <a:latin typeface="Trebuchet MS"/>
                <a:cs typeface="Trebuchet MS"/>
              </a:rPr>
              <a:t>01-</a:t>
            </a:r>
            <a:r>
              <a:rPr sz="2800" u="heavy" spc="-25" dirty="0">
                <a:solidFill>
                  <a:srgbClr val="8CC664"/>
                </a:solidFill>
                <a:uFill>
                  <a:solidFill>
                    <a:srgbClr val="8CC664"/>
                  </a:solidFill>
                </a:uFill>
                <a:latin typeface="Trebuchet MS"/>
                <a:cs typeface="Trebuchet MS"/>
              </a:rPr>
              <a:t>31/</a:t>
            </a:r>
            <a:endParaRPr sz="2800" dirty="0">
              <a:latin typeface="Trebuchet MS"/>
              <a:cs typeface="Trebuchet M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F0499-FF83-236D-EDF0-9F3B1ABF82F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634A5C0-6DF6-8D1C-2793-EA05CD4DA45C}"/>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Example Template</a:t>
            </a:r>
          </a:p>
        </p:txBody>
      </p:sp>
      <p:sp>
        <p:nvSpPr>
          <p:cNvPr id="5" name="Rectangle 3">
            <a:extLst>
              <a:ext uri="{FF2B5EF4-FFF2-40B4-BE49-F238E27FC236}">
                <a16:creationId xmlns:a16="http://schemas.microsoft.com/office/drawing/2014/main" id="{EFA58BE8-3CFB-D54B-722B-14B1E22202EC}"/>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SomeModel</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ObservableModel</a:t>
            </a:r>
            <a:r>
              <a:rPr lang="en-US" sz="2400" dirty="0">
                <a:latin typeface="Courier New" panose="02070309020205020404" pitchFamily="49" charset="0"/>
                <a:cs typeface="Courier New" panose="02070309020205020404" pitchFamily="49" charset="0"/>
              </a:rPr>
              <a:t>&lt;</a:t>
            </a:r>
            <a:r>
              <a:rPr lang="en-US" sz="2400" dirty="0" err="1">
                <a:latin typeface="Courier New" panose="02070309020205020404" pitchFamily="49" charset="0"/>
                <a:cs typeface="Courier New" panose="02070309020205020404" pitchFamily="49" charset="0"/>
              </a:rPr>
              <a:t>SomeModel</a:t>
            </a:r>
            <a:r>
              <a:rPr lang="en-US" sz="2400" dirty="0">
                <a:latin typeface="Courier New" panose="02070309020205020404" pitchFamily="49" charset="0"/>
                <a:cs typeface="Courier New" panose="02070309020205020404" pitchFamily="49" charset="0"/>
              </a:rPr>
              <a:t>&gt;() {</a:t>
            </a: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changeState</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 update state</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notifyViews</a:t>
            </a:r>
            <a:r>
              <a:rPr lang="en-US" sz="2400" dirty="0">
                <a:latin typeface="Courier New" panose="02070309020205020404" pitchFamily="49" charset="0"/>
                <a:cs typeface="Courier New" panose="02070309020205020404" pitchFamily="49" charset="0"/>
              </a:rPr>
              <a:t>(this)</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SomeView</a:t>
            </a:r>
            <a:r>
              <a:rPr lang="en-US" sz="2400" dirty="0">
                <a:latin typeface="Courier New" panose="02070309020205020404" pitchFamily="49" charset="0"/>
                <a:cs typeface="Courier New" panose="02070309020205020404" pitchFamily="49" charset="0"/>
              </a:rPr>
              <a:t> : View&lt;</a:t>
            </a:r>
            <a:r>
              <a:rPr lang="en-US" sz="2400" dirty="0" err="1">
                <a:latin typeface="Courier New" panose="02070309020205020404" pitchFamily="49" charset="0"/>
                <a:cs typeface="Courier New" panose="02070309020205020404" pitchFamily="49" charset="0"/>
              </a:rPr>
              <a:t>SomeModel</a:t>
            </a:r>
            <a:r>
              <a:rPr lang="en-US" sz="2400" dirty="0">
                <a:latin typeface="Courier New" panose="02070309020205020404" pitchFamily="49" charset="0"/>
                <a:cs typeface="Courier New" panose="02070309020205020404" pitchFamily="49" charset="0"/>
              </a:rPr>
              <a:t>&gt; {</a:t>
            </a:r>
          </a:p>
          <a:p>
            <a:pPr marL="0" indent="0">
              <a:buNone/>
            </a:pPr>
            <a:r>
              <a:rPr lang="en-US" sz="2400" dirty="0">
                <a:latin typeface="Courier New" panose="02070309020205020404" pitchFamily="49" charset="0"/>
                <a:cs typeface="Courier New" panose="02070309020205020404" pitchFamily="49" charset="0"/>
              </a:rPr>
              <a:t>    override fun render( model: </a:t>
            </a:r>
            <a:r>
              <a:rPr lang="en-US" sz="2400" dirty="0" err="1">
                <a:latin typeface="Courier New" panose="02070309020205020404" pitchFamily="49" charset="0"/>
                <a:cs typeface="Courier New" panose="02070309020205020404" pitchFamily="49" charset="0"/>
              </a:rPr>
              <a:t>SomeModel</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 display model state</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SomeController</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model: </a:t>
            </a:r>
            <a:r>
              <a:rPr lang="en-US" sz="2400" dirty="0" err="1">
                <a:latin typeface="Courier New" panose="02070309020205020404" pitchFamily="49" charset="0"/>
                <a:cs typeface="Courier New" panose="02070309020205020404" pitchFamily="49" charset="0"/>
              </a:rPr>
              <a:t>SomeModel</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onUserAction</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model.changeState</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4780513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7AA18-1C81-CC3D-A4E1-040B6854F58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F59B0A5-4773-D609-C366-1E10EB38BB62}"/>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MVC Responsibility Checklist Example</a:t>
            </a:r>
          </a:p>
        </p:txBody>
      </p:sp>
      <p:sp>
        <p:nvSpPr>
          <p:cNvPr id="5" name="Rectangle 3">
            <a:extLst>
              <a:ext uri="{FF2B5EF4-FFF2-40B4-BE49-F238E27FC236}">
                <a16:creationId xmlns:a16="http://schemas.microsoft.com/office/drawing/2014/main" id="{F7DD51C9-ABD5-D13A-5EB7-0C0A48EE5E3C}"/>
              </a:ext>
            </a:extLst>
          </p:cNvPr>
          <p:cNvSpPr txBox="1">
            <a:spLocks noChangeArrowheads="1"/>
          </p:cNvSpPr>
          <p:nvPr/>
        </p:nvSpPr>
        <p:spPr>
          <a:xfrm>
            <a:off x="838200" y="1234797"/>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aphicFrame>
        <p:nvGraphicFramePr>
          <p:cNvPr id="4" name="Table 3">
            <a:extLst>
              <a:ext uri="{FF2B5EF4-FFF2-40B4-BE49-F238E27FC236}">
                <a16:creationId xmlns:a16="http://schemas.microsoft.com/office/drawing/2014/main" id="{16CDE361-7E0C-6979-02DB-230F2601198B}"/>
              </a:ext>
            </a:extLst>
          </p:cNvPr>
          <p:cNvGraphicFramePr>
            <a:graphicFrameLocks noGrp="1"/>
          </p:cNvGraphicFramePr>
          <p:nvPr>
            <p:extLst>
              <p:ext uri="{D42A27DB-BD31-4B8C-83A1-F6EECF244321}">
                <p14:modId xmlns:p14="http://schemas.microsoft.com/office/powerpoint/2010/main" val="3005938945"/>
              </p:ext>
            </p:extLst>
          </p:nvPr>
        </p:nvGraphicFramePr>
        <p:xfrm>
          <a:off x="838200" y="1056753"/>
          <a:ext cx="10515600" cy="5351303"/>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347024647"/>
                    </a:ext>
                  </a:extLst>
                </a:gridCol>
                <a:gridCol w="5257800">
                  <a:extLst>
                    <a:ext uri="{9D8B030D-6E8A-4147-A177-3AD203B41FA5}">
                      <a16:colId xmlns:a16="http://schemas.microsoft.com/office/drawing/2014/main" val="185537728"/>
                    </a:ext>
                  </a:extLst>
                </a:gridCol>
              </a:tblGrid>
              <a:tr h="446436">
                <a:tc>
                  <a:txBody>
                    <a:bodyPr/>
                    <a:lstStyle/>
                    <a:p>
                      <a:r>
                        <a:rPr lang="en-US" dirty="0"/>
                        <a:t>Question</a:t>
                      </a:r>
                    </a:p>
                  </a:txBody>
                  <a:tcPr/>
                </a:tc>
                <a:tc>
                  <a:txBody>
                    <a:bodyPr/>
                    <a:lstStyle/>
                    <a:p>
                      <a:r>
                        <a:rPr lang="en-US" dirty="0"/>
                        <a:t>Belongs in</a:t>
                      </a:r>
                    </a:p>
                  </a:txBody>
                  <a:tcPr/>
                </a:tc>
                <a:extLst>
                  <a:ext uri="{0D108BD9-81ED-4DB2-BD59-A6C34878D82A}">
                    <a16:rowId xmlns:a16="http://schemas.microsoft.com/office/drawing/2014/main" val="2049365601"/>
                  </a:ext>
                </a:extLst>
              </a:tr>
              <a:tr h="446436">
                <a:tc>
                  <a:txBody>
                    <a:bodyPr/>
                    <a:lstStyle/>
                    <a:p>
                      <a:r>
                        <a:rPr lang="en-US" dirty="0"/>
                        <a:t>What data does the application store?</a:t>
                      </a:r>
                    </a:p>
                  </a:txBody>
                  <a:tcPr/>
                </a:tc>
                <a:tc>
                  <a:txBody>
                    <a:bodyPr/>
                    <a:lstStyle/>
                    <a:p>
                      <a:r>
                        <a:rPr lang="en-US" dirty="0"/>
                        <a:t>Model</a:t>
                      </a:r>
                    </a:p>
                  </a:txBody>
                  <a:tcPr/>
                </a:tc>
                <a:extLst>
                  <a:ext uri="{0D108BD9-81ED-4DB2-BD59-A6C34878D82A}">
                    <a16:rowId xmlns:a16="http://schemas.microsoft.com/office/drawing/2014/main" val="978661854"/>
                  </a:ext>
                </a:extLst>
              </a:tr>
              <a:tr h="446436">
                <a:tc>
                  <a:txBody>
                    <a:bodyPr/>
                    <a:lstStyle/>
                    <a:p>
                      <a:r>
                        <a:rPr lang="en-US" dirty="0"/>
                        <a:t>What rules protect or change the data?</a:t>
                      </a:r>
                    </a:p>
                  </a:txBody>
                  <a:tcPr/>
                </a:tc>
                <a:tc>
                  <a:txBody>
                    <a:bodyPr/>
                    <a:lstStyle/>
                    <a:p>
                      <a:r>
                        <a:rPr lang="en-US" dirty="0"/>
                        <a:t>Model</a:t>
                      </a:r>
                    </a:p>
                  </a:txBody>
                  <a:tcPr/>
                </a:tc>
                <a:extLst>
                  <a:ext uri="{0D108BD9-81ED-4DB2-BD59-A6C34878D82A}">
                    <a16:rowId xmlns:a16="http://schemas.microsoft.com/office/drawing/2014/main" val="3725862097"/>
                  </a:ext>
                </a:extLst>
              </a:tr>
              <a:tr h="446436">
                <a:tc>
                  <a:txBody>
                    <a:bodyPr/>
                    <a:lstStyle/>
                    <a:p>
                      <a:r>
                        <a:rPr lang="en-US" dirty="0"/>
                        <a:t>What methods change application state?</a:t>
                      </a:r>
                    </a:p>
                  </a:txBody>
                  <a:tcPr/>
                </a:tc>
                <a:tc>
                  <a:txBody>
                    <a:bodyPr/>
                    <a:lstStyle/>
                    <a:p>
                      <a:r>
                        <a:rPr lang="en-US" dirty="0"/>
                        <a:t>Model</a:t>
                      </a:r>
                    </a:p>
                  </a:txBody>
                  <a:tcPr/>
                </a:tc>
                <a:extLst>
                  <a:ext uri="{0D108BD9-81ED-4DB2-BD59-A6C34878D82A}">
                    <a16:rowId xmlns:a16="http://schemas.microsoft.com/office/drawing/2014/main" val="1442720305"/>
                  </a:ext>
                </a:extLst>
              </a:tr>
              <a:tr h="446436">
                <a:tc>
                  <a:txBody>
                    <a:bodyPr/>
                    <a:lstStyle/>
                    <a:p>
                      <a:r>
                        <a:rPr lang="en-US" dirty="0"/>
                        <a:t>How is the current state displayed?</a:t>
                      </a:r>
                    </a:p>
                  </a:txBody>
                  <a:tcPr/>
                </a:tc>
                <a:tc>
                  <a:txBody>
                    <a:bodyPr/>
                    <a:lstStyle/>
                    <a:p>
                      <a:r>
                        <a:rPr lang="en-US" dirty="0"/>
                        <a:t>View</a:t>
                      </a:r>
                    </a:p>
                  </a:txBody>
                  <a:tcPr/>
                </a:tc>
                <a:extLst>
                  <a:ext uri="{0D108BD9-81ED-4DB2-BD59-A6C34878D82A}">
                    <a16:rowId xmlns:a16="http://schemas.microsoft.com/office/drawing/2014/main" val="228102218"/>
                  </a:ext>
                </a:extLst>
              </a:tr>
              <a:tr h="446436">
                <a:tc>
                  <a:txBody>
                    <a:bodyPr/>
                    <a:lstStyle/>
                    <a:p>
                      <a:r>
                        <a:rPr lang="en-US" dirty="0"/>
                        <a:t>Which UI components are shown?</a:t>
                      </a:r>
                    </a:p>
                  </a:txBody>
                  <a:tcPr/>
                </a:tc>
                <a:tc>
                  <a:txBody>
                    <a:bodyPr/>
                    <a:lstStyle/>
                    <a:p>
                      <a:r>
                        <a:rPr lang="en-US" dirty="0"/>
                        <a:t>View</a:t>
                      </a:r>
                    </a:p>
                  </a:txBody>
                  <a:tcPr/>
                </a:tc>
                <a:extLst>
                  <a:ext uri="{0D108BD9-81ED-4DB2-BD59-A6C34878D82A}">
                    <a16:rowId xmlns:a16="http://schemas.microsoft.com/office/drawing/2014/main" val="2447766947"/>
                  </a:ext>
                </a:extLst>
              </a:tr>
              <a:tr h="449141">
                <a:tc>
                  <a:txBody>
                    <a:bodyPr/>
                    <a:lstStyle/>
                    <a:p>
                      <a:r>
                        <a:rPr lang="en-US" dirty="0"/>
                        <a:t>What happens when the user clicks or types?</a:t>
                      </a:r>
                    </a:p>
                  </a:txBody>
                  <a:tcPr/>
                </a:tc>
                <a:tc>
                  <a:txBody>
                    <a:bodyPr/>
                    <a:lstStyle/>
                    <a:p>
                      <a:r>
                        <a:rPr lang="en-US" dirty="0"/>
                        <a:t>Controller</a:t>
                      </a:r>
                    </a:p>
                  </a:txBody>
                  <a:tcPr/>
                </a:tc>
                <a:extLst>
                  <a:ext uri="{0D108BD9-81ED-4DB2-BD59-A6C34878D82A}">
                    <a16:rowId xmlns:a16="http://schemas.microsoft.com/office/drawing/2014/main" val="2107663015"/>
                  </a:ext>
                </a:extLst>
              </a:tr>
              <a:tr h="665337">
                <a:tc>
                  <a:txBody>
                    <a:bodyPr/>
                    <a:lstStyle/>
                    <a:p>
                      <a:r>
                        <a:rPr lang="en-US" dirty="0"/>
                        <a:t>Which Model method should be called for this action? </a:t>
                      </a:r>
                    </a:p>
                  </a:txBody>
                  <a:tcPr/>
                </a:tc>
                <a:tc>
                  <a:txBody>
                    <a:bodyPr/>
                    <a:lstStyle/>
                    <a:p>
                      <a:r>
                        <a:rPr lang="en-US" dirty="0"/>
                        <a:t>Controller</a:t>
                      </a:r>
                    </a:p>
                  </a:txBody>
                  <a:tcPr/>
                </a:tc>
                <a:extLst>
                  <a:ext uri="{0D108BD9-81ED-4DB2-BD59-A6C34878D82A}">
                    <a16:rowId xmlns:a16="http://schemas.microsoft.com/office/drawing/2014/main" val="395504811"/>
                  </a:ext>
                </a:extLst>
              </a:tr>
              <a:tr h="665337">
                <a:tc>
                  <a:txBody>
                    <a:bodyPr/>
                    <a:lstStyle/>
                    <a:p>
                      <a:r>
                        <a:rPr lang="en-US" dirty="0"/>
                        <a:t>Who notifies registered Views after state changes?</a:t>
                      </a:r>
                    </a:p>
                  </a:txBody>
                  <a:tcPr/>
                </a:tc>
                <a:tc>
                  <a:txBody>
                    <a:bodyPr/>
                    <a:lstStyle/>
                    <a:p>
                      <a:r>
                        <a:rPr lang="en-US" dirty="0"/>
                        <a:t>Model</a:t>
                      </a:r>
                    </a:p>
                  </a:txBody>
                  <a:tcPr/>
                </a:tc>
                <a:extLst>
                  <a:ext uri="{0D108BD9-81ED-4DB2-BD59-A6C34878D82A}">
                    <a16:rowId xmlns:a16="http://schemas.microsoft.com/office/drawing/2014/main" val="1748957836"/>
                  </a:ext>
                </a:extLst>
              </a:tr>
              <a:tr h="446436">
                <a:tc>
                  <a:txBody>
                    <a:bodyPr/>
                    <a:lstStyle/>
                    <a:p>
                      <a:r>
                        <a:rPr lang="en-US" dirty="0"/>
                        <a:t>Who updates the screen after notification?</a:t>
                      </a:r>
                    </a:p>
                  </a:txBody>
                  <a:tcPr/>
                </a:tc>
                <a:tc>
                  <a:txBody>
                    <a:bodyPr/>
                    <a:lstStyle/>
                    <a:p>
                      <a:r>
                        <a:rPr lang="en-US" dirty="0"/>
                        <a:t>View</a:t>
                      </a:r>
                    </a:p>
                  </a:txBody>
                  <a:tcPr/>
                </a:tc>
                <a:extLst>
                  <a:ext uri="{0D108BD9-81ED-4DB2-BD59-A6C34878D82A}">
                    <a16:rowId xmlns:a16="http://schemas.microsoft.com/office/drawing/2014/main" val="176628089"/>
                  </a:ext>
                </a:extLst>
              </a:tr>
              <a:tr h="446436">
                <a:tc>
                  <a:txBody>
                    <a:bodyPr/>
                    <a:lstStyle/>
                    <a:p>
                      <a:r>
                        <a:rPr lang="en-US" dirty="0"/>
                        <a:t>Who delegates the user interaction to the Controller?</a:t>
                      </a:r>
                    </a:p>
                  </a:txBody>
                  <a:tcPr/>
                </a:tc>
                <a:tc>
                  <a:txBody>
                    <a:bodyPr/>
                    <a:lstStyle/>
                    <a:p>
                      <a:r>
                        <a:rPr lang="en-US" dirty="0"/>
                        <a:t>View</a:t>
                      </a:r>
                    </a:p>
                  </a:txBody>
                  <a:tcPr/>
                </a:tc>
                <a:extLst>
                  <a:ext uri="{0D108BD9-81ED-4DB2-BD59-A6C34878D82A}">
                    <a16:rowId xmlns:a16="http://schemas.microsoft.com/office/drawing/2014/main" val="910691515"/>
                  </a:ext>
                </a:extLst>
              </a:tr>
            </a:tbl>
          </a:graphicData>
        </a:graphic>
      </p:graphicFrame>
    </p:spTree>
    <p:extLst>
      <p:ext uri="{BB962C8B-B14F-4D97-AF65-F5344CB8AC3E}">
        <p14:creationId xmlns:p14="http://schemas.microsoft.com/office/powerpoint/2010/main" val="2172031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ED0FB-648A-65BB-503B-D943BD32AD12}"/>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1B42CD63-07DE-EEAF-81D8-532D04B1658A}"/>
              </a:ext>
            </a:extLst>
          </p:cNvPr>
          <p:cNvSpPr>
            <a:spLocks noGrp="1"/>
          </p:cNvSpPr>
          <p:nvPr>
            <p:ph idx="1"/>
          </p:nvPr>
        </p:nvSpPr>
        <p:spPr>
          <a:xfrm>
            <a:off x="838200" y="1825625"/>
            <a:ext cx="10515600" cy="4351338"/>
          </a:xfrm>
        </p:spPr>
        <p:txBody>
          <a:bodyPr/>
          <a:lstStyle/>
          <a:p>
            <a:r>
              <a:rPr lang="en-US" dirty="0"/>
              <a:t>Framework:</a:t>
            </a:r>
          </a:p>
          <a:p>
            <a:pPr lvl="1"/>
            <a:r>
              <a:rPr lang="en-US" dirty="0"/>
              <a:t>Implement using generic base classes and interfaces for Model and View</a:t>
            </a:r>
          </a:p>
          <a:p>
            <a:pPr lvl="1"/>
            <a:endParaRPr lang="en-US" dirty="0"/>
          </a:p>
        </p:txBody>
      </p:sp>
      <p:sp>
        <p:nvSpPr>
          <p:cNvPr id="2" name="object 2">
            <a:extLst>
              <a:ext uri="{FF2B5EF4-FFF2-40B4-BE49-F238E27FC236}">
                <a16:creationId xmlns:a16="http://schemas.microsoft.com/office/drawing/2014/main" id="{2D03DBBC-2DD4-C09E-8B19-9D8561C996B7}"/>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lang="en-CA" dirty="0"/>
              <a:t>Implementing MVC</a:t>
            </a:r>
            <a:endParaRPr dirty="0"/>
          </a:p>
        </p:txBody>
      </p:sp>
    </p:spTree>
    <p:extLst>
      <p:ext uri="{BB962C8B-B14F-4D97-AF65-F5344CB8AC3E}">
        <p14:creationId xmlns:p14="http://schemas.microsoft.com/office/powerpoint/2010/main" val="2804092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1EC9-2CAE-2BF4-D9AA-C20509B47D2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DE7A547-AF59-B733-4616-8DC80C876A15}"/>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err="1"/>
              <a:t>TView</a:t>
            </a:r>
            <a:endParaRPr lang="en-CA" sz="4000" dirty="0"/>
          </a:p>
        </p:txBody>
      </p:sp>
      <p:sp>
        <p:nvSpPr>
          <p:cNvPr id="5" name="Rectangle 3">
            <a:extLst>
              <a:ext uri="{FF2B5EF4-FFF2-40B4-BE49-F238E27FC236}">
                <a16:creationId xmlns:a16="http://schemas.microsoft.com/office/drawing/2014/main" id="{9479857F-3A01-A136-17E5-01015741A054}"/>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TView.kt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interface </a:t>
            </a:r>
            <a:r>
              <a:rPr lang="en-US" sz="2400" dirty="0" err="1">
                <a:latin typeface="Courier New" panose="02070309020205020404" pitchFamily="49" charset="0"/>
                <a:cs typeface="Courier New" panose="02070309020205020404" pitchFamily="49" charset="0"/>
              </a:rPr>
              <a:t>TView</a:t>
            </a:r>
            <a:r>
              <a:rPr lang="en-US" sz="2400" dirty="0">
                <a:latin typeface="Courier New" panose="02070309020205020404" pitchFamily="49" charset="0"/>
                <a:cs typeface="Courier New" panose="02070309020205020404" pitchFamily="49" charset="0"/>
              </a:rPr>
              <a:t>&lt;M&gt;</a:t>
            </a:r>
            <a:r>
              <a:rPr lang="en-US" sz="2400" dirty="0">
                <a:solidFill>
                  <a:schemeClr val="accent6"/>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a:t>
            </a:r>
          </a:p>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fun update( model: M )</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5886928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75DEA-BE4C-337B-0264-F2E7F45F2FC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FBF64B-49F7-4D0C-239B-2F0EA69C2C65}"/>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err="1"/>
              <a:t>TModel</a:t>
            </a:r>
            <a:endParaRPr lang="en-CA" sz="4000" dirty="0"/>
          </a:p>
        </p:txBody>
      </p:sp>
      <p:sp>
        <p:nvSpPr>
          <p:cNvPr id="5" name="Rectangle 3">
            <a:extLst>
              <a:ext uri="{FF2B5EF4-FFF2-40B4-BE49-F238E27FC236}">
                <a16:creationId xmlns:a16="http://schemas.microsoft.com/office/drawing/2014/main" id="{D7395F22-6111-D2AE-051F-FA7A74FD1B2A}"/>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TModel.kt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abstract class </a:t>
            </a:r>
            <a:r>
              <a:rPr lang="en-US" sz="2400" dirty="0" err="1">
                <a:latin typeface="Courier New" panose="02070309020205020404" pitchFamily="49" charset="0"/>
                <a:cs typeface="Courier New" panose="02070309020205020404" pitchFamily="49" charset="0"/>
              </a:rPr>
              <a:t>TModel</a:t>
            </a:r>
            <a:r>
              <a:rPr lang="en-US" sz="2400" dirty="0">
                <a:latin typeface="Courier New" panose="02070309020205020404" pitchFamily="49" charset="0"/>
                <a:cs typeface="Courier New" panose="02070309020205020404" pitchFamily="49" charset="0"/>
              </a:rPr>
              <a:t>&lt;M, V: </a:t>
            </a:r>
            <a:r>
              <a:rPr lang="en-US" sz="2400" dirty="0" err="1">
                <a:latin typeface="Courier New" panose="02070309020205020404" pitchFamily="49" charset="0"/>
                <a:cs typeface="Courier New" panose="02070309020205020404" pitchFamily="49" charset="0"/>
              </a:rPr>
              <a:t>TView</a:t>
            </a:r>
            <a:r>
              <a:rPr lang="en-US" sz="2400" dirty="0">
                <a:latin typeface="Courier New" panose="02070309020205020404" pitchFamily="49" charset="0"/>
                <a:cs typeface="Courier New" panose="02070309020205020404" pitchFamily="49" charset="0"/>
              </a:rPr>
              <a:t>&lt;M&gt; &gt; {</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views = </a:t>
            </a:r>
            <a:r>
              <a:rPr lang="en-US" sz="2400" dirty="0" err="1">
                <a:latin typeface="Courier New" panose="02070309020205020404" pitchFamily="49" charset="0"/>
                <a:cs typeface="Courier New" panose="02070309020205020404" pitchFamily="49" charset="0"/>
              </a:rPr>
              <a:t>mutableListOf</a:t>
            </a:r>
            <a:r>
              <a:rPr lang="en-US" sz="2400" dirty="0">
                <a:latin typeface="Courier New" panose="02070309020205020404" pitchFamily="49" charset="0"/>
                <a:cs typeface="Courier New" panose="02070309020205020404" pitchFamily="49" charset="0"/>
              </a:rPr>
              <a:t>&lt;V&gt;()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addView</a:t>
            </a:r>
            <a:r>
              <a:rPr lang="en-US" sz="2400" dirty="0">
                <a:latin typeface="Courier New" panose="02070309020205020404" pitchFamily="49" charset="0"/>
                <a:cs typeface="Courier New" panose="02070309020205020404" pitchFamily="49" charset="0"/>
              </a:rPr>
              <a:t>( view: V ) {</a:t>
            </a:r>
          </a:p>
          <a:p>
            <a:pPr marL="0" indent="0">
              <a:buNone/>
            </a:pPr>
            <a:r>
              <a:rPr lang="en-US" sz="2400" dirty="0">
                <a:latin typeface="Courier New" panose="02070309020205020404" pitchFamily="49" charset="0"/>
                <a:cs typeface="Courier New" panose="02070309020205020404" pitchFamily="49" charset="0"/>
              </a:rPr>
              <a:t>        if ( view !in views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views.add</a:t>
            </a:r>
            <a:r>
              <a:rPr lang="en-US" sz="2400" dirty="0">
                <a:latin typeface="Courier New" panose="02070309020205020404" pitchFamily="49" charset="0"/>
                <a:cs typeface="Courier New" panose="02070309020205020404" pitchFamily="49" charset="0"/>
              </a:rPr>
              <a:t>( view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7254670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FD063-8BF7-3005-B967-2F07756F1E31}"/>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673C45CA-269E-848B-A4AE-A9416E4F5FD4}"/>
              </a:ext>
            </a:extLst>
          </p:cNvPr>
          <p:cNvSpPr txBox="1">
            <a:spLocks noChangeArrowheads="1"/>
          </p:cNvSpPr>
          <p:nvPr/>
        </p:nvSpPr>
        <p:spPr>
          <a:xfrm>
            <a:off x="838200" y="0"/>
            <a:ext cx="10515600" cy="6771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deleteView</a:t>
            </a:r>
            <a:r>
              <a:rPr lang="en-US" sz="2400" dirty="0">
                <a:latin typeface="Courier New" panose="02070309020205020404" pitchFamily="49" charset="0"/>
                <a:cs typeface="Courier New" panose="02070309020205020404" pitchFamily="49" charset="0"/>
              </a:rPr>
              <a:t>( view: V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views.remove</a:t>
            </a:r>
            <a:r>
              <a:rPr lang="en-US" sz="2400" dirty="0">
                <a:latin typeface="Courier New" panose="02070309020205020404" pitchFamily="49" charset="0"/>
                <a:cs typeface="Courier New" panose="02070309020205020404" pitchFamily="49" charset="0"/>
              </a:rPr>
              <a:t>( view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protected fun </a:t>
            </a:r>
            <a:r>
              <a:rPr lang="en-US" sz="2400" dirty="0" err="1">
                <a:latin typeface="Courier New" panose="02070309020205020404" pitchFamily="49" charset="0"/>
                <a:cs typeface="Courier New" panose="02070309020205020404" pitchFamily="49" charset="0"/>
              </a:rPr>
              <a:t>notifyViews</a:t>
            </a:r>
            <a:r>
              <a:rPr lang="en-US" sz="2400" dirty="0">
                <a:latin typeface="Courier New" panose="02070309020205020404" pitchFamily="49" charset="0"/>
                <a:cs typeface="Courier New" panose="02070309020205020404" pitchFamily="49" charset="0"/>
              </a:rPr>
              <a:t>(model: M)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views.forEach</a:t>
            </a:r>
            <a:r>
              <a:rPr lang="en-US" sz="2400" dirty="0">
                <a:latin typeface="Courier New" panose="02070309020205020404" pitchFamily="49" charset="0"/>
                <a:cs typeface="Courier New" panose="02070309020205020404" pitchFamily="49" charset="0"/>
              </a:rPr>
              <a:t> { view -&gt;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view.update</a:t>
            </a:r>
            <a:r>
              <a:rPr lang="en-US" sz="2400" dirty="0">
                <a:latin typeface="Courier New" panose="02070309020205020404" pitchFamily="49" charset="0"/>
                <a:cs typeface="Courier New" panose="02070309020205020404" pitchFamily="49" charset="0"/>
              </a:rPr>
              <a:t>( </a:t>
            </a:r>
            <a:r>
              <a:rPr lang="en-US" sz="2400" dirty="0">
                <a:solidFill>
                  <a:schemeClr val="accent4"/>
                </a:solidFill>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34209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0374E00-C620-5BCF-751E-A6C82E080C46}"/>
              </a:ext>
            </a:extLst>
          </p:cNvPr>
          <p:cNvSpPr txBox="1">
            <a:spLocks/>
          </p:cNvSpPr>
          <p:nvPr/>
        </p:nvSpPr>
        <p:spPr>
          <a:xfrm>
            <a:off x="838200" y="716795"/>
            <a:ext cx="10515600" cy="62222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CA" dirty="0"/>
              <a:t>Example Custom Application</a:t>
            </a:r>
          </a:p>
        </p:txBody>
      </p:sp>
      <p:pic>
        <p:nvPicPr>
          <p:cNvPr id="8" name="Picture 7">
            <a:extLst>
              <a:ext uri="{FF2B5EF4-FFF2-40B4-BE49-F238E27FC236}">
                <a16:creationId xmlns:a16="http://schemas.microsoft.com/office/drawing/2014/main" id="{57F0E9E8-35E8-5F9A-F30D-2893C5B48FD2}"/>
              </a:ext>
            </a:extLst>
          </p:cNvPr>
          <p:cNvPicPr>
            <a:picLocks noChangeAspect="1"/>
          </p:cNvPicPr>
          <p:nvPr/>
        </p:nvPicPr>
        <p:blipFill>
          <a:blip r:embed="rId2"/>
          <a:stretch>
            <a:fillRect/>
          </a:stretch>
        </p:blipFill>
        <p:spPr>
          <a:xfrm>
            <a:off x="4502150" y="1600200"/>
            <a:ext cx="3187700" cy="467458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DD69D-7353-0BA6-61AA-94B69B7D32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4703702-BB4F-E1ED-7C9B-3A6F6261E5EC}"/>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View</a:t>
            </a:r>
          </a:p>
        </p:txBody>
      </p:sp>
      <p:sp>
        <p:nvSpPr>
          <p:cNvPr id="5" name="Rectangle 3">
            <a:extLst>
              <a:ext uri="{FF2B5EF4-FFF2-40B4-BE49-F238E27FC236}">
                <a16:creationId xmlns:a16="http://schemas.microsoft.com/office/drawing/2014/main" id="{17947D6C-3F7D-12E6-D003-9864E6A51CF1}"/>
              </a:ext>
            </a:extLst>
          </p:cNvPr>
          <p:cNvSpPr txBox="1">
            <a:spLocks noChangeArrowheads="1"/>
          </p:cNvSpPr>
          <p:nvPr/>
        </p:nvSpPr>
        <p:spPr>
          <a:xfrm>
            <a:off x="838200" y="1143001"/>
            <a:ext cx="10515600" cy="571499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MyLabelView.kt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MyLabelView</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labelText</a:t>
            </a:r>
            <a:r>
              <a:rPr lang="en-US" sz="2400" dirty="0">
                <a:latin typeface="Courier New" panose="02070309020205020404" pitchFamily="49" charset="0"/>
                <a:cs typeface="Courier New" panose="02070309020205020404" pitchFamily="49" charset="0"/>
              </a:rPr>
              <a:t>: String,</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multiplier: Double</a:t>
            </a:r>
          </a:p>
          <a:p>
            <a:pPr marL="0" indent="0">
              <a:buNone/>
            </a:pP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TView</a:t>
            </a:r>
            <a:r>
              <a:rPr lang="en-US" sz="2400" dirty="0">
                <a:latin typeface="Courier New" panose="02070309020205020404" pitchFamily="49" charset="0"/>
                <a:cs typeface="Courier New" panose="02070309020205020404" pitchFamily="49" charset="0"/>
              </a:rPr>
              <a:t>&lt;</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&gt; {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companion object {</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twoPlaces</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DecimalFormat</a:t>
            </a:r>
            <a:r>
              <a:rPr lang="en-US" sz="2400" dirty="0">
                <a:latin typeface="Courier New" panose="02070309020205020404" pitchFamily="49" charset="0"/>
                <a:cs typeface="Courier New" panose="02070309020205020404" pitchFamily="49" charset="0"/>
              </a:rPr>
              <a:t>( “0.00”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panel = </a:t>
            </a:r>
            <a:r>
              <a:rPr lang="en-US" sz="2400" dirty="0" err="1">
                <a:latin typeface="Courier New" panose="02070309020205020404" pitchFamily="49" charset="0"/>
                <a:cs typeface="Courier New" panose="02070309020205020404" pitchFamily="49" charset="0"/>
              </a:rPr>
              <a:t>JPanel</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labelView</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JLabel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labelText</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valueView</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JLabel</a:t>
            </a:r>
            <a:r>
              <a:rPr lang="en-US" sz="2400" dirty="0">
                <a:latin typeface="Courier New" panose="02070309020205020404" pitchFamily="49" charset="0"/>
                <a:cs typeface="Courier New" panose="02070309020205020404" pitchFamily="49" charset="0"/>
              </a:rPr>
              <a:t>( “ ” )</a:t>
            </a:r>
          </a:p>
        </p:txBody>
      </p:sp>
    </p:spTree>
    <p:extLst>
      <p:ext uri="{BB962C8B-B14F-4D97-AF65-F5344CB8AC3E}">
        <p14:creationId xmlns:p14="http://schemas.microsoft.com/office/powerpoint/2010/main" val="4222275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AEE28-FE27-F7DC-581C-6421ED899E5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5DF5C05-C37D-47FC-3F6B-780963D2184E}"/>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View</a:t>
            </a:r>
          </a:p>
        </p:txBody>
      </p:sp>
      <p:sp>
        <p:nvSpPr>
          <p:cNvPr id="5" name="Rectangle 3">
            <a:extLst>
              <a:ext uri="{FF2B5EF4-FFF2-40B4-BE49-F238E27FC236}">
                <a16:creationId xmlns:a16="http://schemas.microsoft.com/office/drawing/2014/main" id="{45A005E6-AAFC-6512-39C0-5D3BE755F257}"/>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init</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panel.add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labelView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panel.add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valueView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component: </a:t>
            </a:r>
            <a:r>
              <a:rPr lang="en-US" sz="2400" dirty="0" err="1">
                <a:latin typeface="Courier New" panose="02070309020205020404" pitchFamily="49" charset="0"/>
                <a:cs typeface="Courier New" panose="02070309020205020404" pitchFamily="49" charset="0"/>
              </a:rPr>
              <a:t>JComponent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get() = panel</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override fun update( model: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value = </a:t>
            </a:r>
            <a:r>
              <a:rPr lang="en-US" sz="2400" dirty="0" err="1">
                <a:latin typeface="Courier New" panose="02070309020205020404" pitchFamily="49" charset="0"/>
                <a:cs typeface="Courier New" panose="02070309020205020404" pitchFamily="49" charset="0"/>
              </a:rPr>
              <a:t>model.value</a:t>
            </a:r>
            <a:r>
              <a:rPr lang="en-US" sz="2400" dirty="0">
                <a:latin typeface="Courier New" panose="02070309020205020404" pitchFamily="49" charset="0"/>
                <a:cs typeface="Courier New" panose="02070309020205020404" pitchFamily="49" charset="0"/>
              </a:rPr>
              <a:t> * multiplier</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valueView.text</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twoPlaces.format</a:t>
            </a:r>
            <a:r>
              <a:rPr lang="en-US" sz="2400" dirty="0">
                <a:latin typeface="Courier New" panose="02070309020205020404" pitchFamily="49" charset="0"/>
                <a:cs typeface="Courier New" panose="02070309020205020404" pitchFamily="49" charset="0"/>
              </a:rPr>
              <a:t>( value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71209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4F00B-FDC1-8CCF-16EB-23694CDCA7DA}"/>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CDC57D87-804E-715A-3937-0544FC0D8513}"/>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MyModel.kt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TModel</a:t>
            </a:r>
            <a:r>
              <a:rPr lang="en-US" sz="2400" dirty="0">
                <a:latin typeface="Courier New" panose="02070309020205020404" pitchFamily="49" charset="0"/>
                <a:cs typeface="Courier New" panose="02070309020205020404" pitchFamily="49" charset="0"/>
              </a:rPr>
              <a:t>&lt;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TView</a:t>
            </a:r>
            <a:r>
              <a:rPr lang="en-US" sz="2400" dirty="0">
                <a:latin typeface="Courier New" panose="02070309020205020404" pitchFamily="49" charset="0"/>
                <a:cs typeface="Courier New" panose="02070309020205020404" pitchFamily="49" charset="0"/>
              </a:rPr>
              <a:t>&lt;</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&gt; &gt;() {</a:t>
            </a:r>
          </a:p>
          <a:p>
            <a:pPr marL="0" indent="0">
              <a:buNone/>
            </a:pPr>
            <a:r>
              <a:rPr lang="en-US" sz="2400" dirty="0">
                <a:latin typeface="Courier New" panose="02070309020205020404" pitchFamily="49" charset="0"/>
                <a:cs typeface="Courier New" panose="02070309020205020404" pitchFamily="49" charset="0"/>
              </a:rPr>
              <a:t>	var value: Int = 0</a:t>
            </a:r>
          </a:p>
          <a:p>
            <a:pPr marL="0" indent="0">
              <a:buNone/>
            </a:pPr>
            <a:r>
              <a:rPr lang="en-US" sz="2400" dirty="0">
                <a:latin typeface="Courier New" panose="02070309020205020404" pitchFamily="49" charset="0"/>
                <a:cs typeface="Courier New" panose="02070309020205020404" pitchFamily="49" charset="0"/>
              </a:rPr>
              <a:t>		private set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fun </a:t>
            </a:r>
            <a:r>
              <a:rPr lang="en-US" sz="2400" dirty="0" err="1">
                <a:latin typeface="Courier New" panose="02070309020205020404" pitchFamily="49" charset="0"/>
                <a:cs typeface="Courier New" panose="02070309020205020404" pitchFamily="49" charset="0"/>
              </a:rPr>
              <a:t>setValue</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newValue</a:t>
            </a:r>
            <a:r>
              <a:rPr lang="en-US" sz="2400" dirty="0">
                <a:latin typeface="Courier New" panose="02070309020205020404" pitchFamily="49" charset="0"/>
                <a:cs typeface="Courier New" panose="02070309020205020404" pitchFamily="49" charset="0"/>
              </a:rPr>
              <a:t>: Int ) {</a:t>
            </a:r>
          </a:p>
          <a:p>
            <a:pPr marL="0" indent="0">
              <a:buNone/>
            </a:pPr>
            <a:r>
              <a:rPr lang="en-US" sz="2400" dirty="0">
                <a:latin typeface="Courier New" panose="02070309020205020404" pitchFamily="49" charset="0"/>
                <a:cs typeface="Courier New" panose="02070309020205020404" pitchFamily="49" charset="0"/>
              </a:rPr>
              <a:t>		value = </a:t>
            </a:r>
            <a:r>
              <a:rPr lang="en-US" sz="2400" dirty="0" err="1">
                <a:latin typeface="Courier New" panose="02070309020205020404" pitchFamily="49" charset="0"/>
                <a:cs typeface="Courier New" panose="02070309020205020404" pitchFamily="49" charset="0"/>
              </a:rPr>
              <a:t>maxOf</a:t>
            </a:r>
            <a:r>
              <a:rPr lang="en-US" sz="2400" dirty="0">
                <a:latin typeface="Courier New" panose="02070309020205020404" pitchFamily="49" charset="0"/>
                <a:cs typeface="Courier New" panose="02070309020205020404" pitchFamily="49" charset="0"/>
              </a:rPr>
              <a:t>( 0, </a:t>
            </a:r>
            <a:r>
              <a:rPr lang="en-US" sz="2400" dirty="0" err="1">
                <a:latin typeface="Courier New" panose="02070309020205020404" pitchFamily="49" charset="0"/>
                <a:cs typeface="Courier New" panose="02070309020205020404" pitchFamily="49" charset="0"/>
              </a:rPr>
              <a:t>newValue</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notifyViews</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
        <p:nvSpPr>
          <p:cNvPr id="2" name="object 2">
            <a:extLst>
              <a:ext uri="{FF2B5EF4-FFF2-40B4-BE49-F238E27FC236}">
                <a16:creationId xmlns:a16="http://schemas.microsoft.com/office/drawing/2014/main" id="{F079D60F-C2BC-E2C1-75DB-76A59569BFBD}"/>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Model</a:t>
            </a:r>
          </a:p>
        </p:txBody>
      </p:sp>
    </p:spTree>
    <p:extLst>
      <p:ext uri="{BB962C8B-B14F-4D97-AF65-F5344CB8AC3E}">
        <p14:creationId xmlns:p14="http://schemas.microsoft.com/office/powerpoint/2010/main" val="595205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AC423-4F64-73C9-72CF-2A0851175478}"/>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EB419653-17C0-6AD5-48AD-7E2016A6C315}"/>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MyApp.kt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p>
          <a:p>
            <a:pPr marL="0" indent="0">
              <a:buNone/>
            </a:pP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MyApp</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title: String,</a:t>
            </a:r>
          </a:p>
          <a:p>
            <a:pPr marL="0" indent="0">
              <a:buNone/>
            </a:pPr>
            <a:r>
              <a:rPr lang="en-US" sz="2400" dirty="0">
                <a:latin typeface="Courier New" panose="02070309020205020404" pitchFamily="49" charset="0"/>
                <a:cs typeface="Courier New" panose="02070309020205020404" pitchFamily="49" charset="0"/>
              </a:rPr>
              <a:t>	model: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TApp</a:t>
            </a:r>
            <a:r>
              <a:rPr lang="en-US" sz="2400" dirty="0">
                <a:latin typeface="Courier New" panose="02070309020205020404" pitchFamily="49" charset="0"/>
                <a:cs typeface="Courier New" panose="02070309020205020404" pitchFamily="49" charset="0"/>
              </a:rPr>
              <a:t>&lt;</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&gt;(title, model)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init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create the UI</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myMainView</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MyMainView</a:t>
            </a:r>
            <a:r>
              <a:rPr lang="en-US" sz="2400" dirty="0">
                <a:latin typeface="Courier New" panose="02070309020205020404" pitchFamily="49" charset="0"/>
                <a:cs typeface="Courier New" panose="02070309020205020404" pitchFamily="49" charset="0"/>
              </a:rPr>
              <a:t>(this, model)</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register the main view with the model</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model.addView</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myMainView</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
        <p:nvSpPr>
          <p:cNvPr id="2" name="object 2">
            <a:extLst>
              <a:ext uri="{FF2B5EF4-FFF2-40B4-BE49-F238E27FC236}">
                <a16:creationId xmlns:a16="http://schemas.microsoft.com/office/drawing/2014/main" id="{02BD4858-6EF0-2ED4-FE63-DC12652C40B0}"/>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Application</a:t>
            </a:r>
          </a:p>
        </p:txBody>
      </p:sp>
    </p:spTree>
    <p:extLst>
      <p:ext uri="{BB962C8B-B14F-4D97-AF65-F5344CB8AC3E}">
        <p14:creationId xmlns:p14="http://schemas.microsoft.com/office/powerpoint/2010/main" val="3653540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0B74B-0FD3-8284-E4B5-2CBF97C722EB}"/>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943EBC5-4F4D-5DB4-BEEF-935364D8EF01}"/>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	fun main()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model =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app = </a:t>
            </a:r>
            <a:r>
              <a:rPr lang="en-US" sz="2400" dirty="0" err="1">
                <a:latin typeface="Courier New" panose="02070309020205020404" pitchFamily="49" charset="0"/>
                <a:cs typeface="Courier New" panose="02070309020205020404" pitchFamily="49" charset="0"/>
              </a:rPr>
              <a:t>MyApp</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MyApp</a:t>
            </a:r>
            <a:r>
              <a:rPr lang="en-US" sz="2400" dirty="0">
                <a:latin typeface="Courier New" panose="02070309020205020404" pitchFamily="49" charset="0"/>
                <a:cs typeface="Courier New" panose="02070309020205020404" pitchFamily="49" charset="0"/>
              </a:rPr>
              <a:t>”, model)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model.setValue</a:t>
            </a:r>
            <a:r>
              <a:rPr lang="en-US" sz="2400" dirty="0">
                <a:latin typeface="Courier New" panose="02070309020205020404" pitchFamily="49" charset="0"/>
                <a:cs typeface="Courier New" panose="02070309020205020404" pitchFamily="49" charset="0"/>
              </a:rPr>
              <a:t>(0)</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app.content.preferredSize</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Dimension(400, 200)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app.show</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a:t>
            </a:r>
          </a:p>
        </p:txBody>
      </p:sp>
      <p:sp>
        <p:nvSpPr>
          <p:cNvPr id="2" name="object 2">
            <a:extLst>
              <a:ext uri="{FF2B5EF4-FFF2-40B4-BE49-F238E27FC236}">
                <a16:creationId xmlns:a16="http://schemas.microsoft.com/office/drawing/2014/main" id="{699F88EA-05A7-D9C3-6A49-C3758AD34F57}"/>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Application</a:t>
            </a:r>
          </a:p>
        </p:txBody>
      </p:sp>
    </p:spTree>
    <p:extLst>
      <p:ext uri="{BB962C8B-B14F-4D97-AF65-F5344CB8AC3E}">
        <p14:creationId xmlns:p14="http://schemas.microsoft.com/office/powerpoint/2010/main" val="7308025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6CF26-0CAB-728E-3BD9-BDD3F7816E3C}"/>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631A5FF8-D634-DAB8-F63F-631D0BC338F2}"/>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MyMainView.kt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solidFill>
                  <a:schemeClr val="accent4"/>
                </a:solidFill>
                <a:latin typeface="Courier New" panose="02070309020205020404" pitchFamily="49" charset="0"/>
                <a:cs typeface="Courier New" panose="02070309020205020404" pitchFamily="49" charset="0"/>
              </a:rPr>
              <a:t>…</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MyMainView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app: </a:t>
            </a:r>
            <a:r>
              <a:rPr lang="en-US" sz="2400" dirty="0" err="1">
                <a:latin typeface="Courier New" panose="02070309020205020404" pitchFamily="49" charset="0"/>
                <a:cs typeface="Courier New" panose="02070309020205020404" pitchFamily="49" charset="0"/>
              </a:rPr>
              <a:t>MyApp</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model: </a:t>
            </a:r>
            <a:r>
              <a:rPr lang="en-US" sz="2400" dirty="0" err="1">
                <a:latin typeface="Courier New" panose="02070309020205020404" pitchFamily="49" charset="0"/>
                <a:cs typeface="Courier New" panose="02070309020205020404" pitchFamily="49" charset="0"/>
              </a:rPr>
              <a:t>MyModel</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TView</a:t>
            </a:r>
            <a:r>
              <a:rPr lang="en-US" sz="2400" dirty="0">
                <a:latin typeface="Courier New" panose="02070309020205020404" pitchFamily="49" charset="0"/>
                <a:cs typeface="Courier New" panose="02070309020205020404" pitchFamily="49" charset="0"/>
              </a:rPr>
              <a:t>&lt;</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&gt; {</a:t>
            </a: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kmView</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MyLabelView</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milesView</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MyLabelView</a:t>
            </a:r>
            <a:endParaRPr lang="en-US" sz="2400" dirty="0">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incrCommand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TCommand</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decrCommand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TCommand</a:t>
            </a:r>
            <a:endParaRPr lang="en-US" sz="2400" dirty="0">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incrButton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JButton</a:t>
            </a: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private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decrButton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JButton</a:t>
            </a:r>
            <a:endParaRPr lang="en-US" sz="2400" dirty="0">
              <a:latin typeface="Courier New" panose="02070309020205020404" pitchFamily="49" charset="0"/>
              <a:cs typeface="Courier New" panose="02070309020205020404" pitchFamily="49" charset="0"/>
            </a:endParaRPr>
          </a:p>
        </p:txBody>
      </p:sp>
      <p:sp>
        <p:nvSpPr>
          <p:cNvPr id="2" name="object 2">
            <a:extLst>
              <a:ext uri="{FF2B5EF4-FFF2-40B4-BE49-F238E27FC236}">
                <a16:creationId xmlns:a16="http://schemas.microsoft.com/office/drawing/2014/main" id="{634782E4-A15A-D547-950B-5E09B3C914E2}"/>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User Interface</a:t>
            </a:r>
          </a:p>
        </p:txBody>
      </p:sp>
    </p:spTree>
    <p:extLst>
      <p:ext uri="{BB962C8B-B14F-4D97-AF65-F5344CB8AC3E}">
        <p14:creationId xmlns:p14="http://schemas.microsoft.com/office/powerpoint/2010/main" val="1852333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FDEF2-27A1-98AF-6180-5AF9E0C45E96}"/>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47915BCA-F61F-4F51-8457-0B7B03EA931F}"/>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init</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a:solidFill>
                  <a:schemeClr val="accent6"/>
                </a:solidFill>
                <a:latin typeface="Courier New" panose="02070309020205020404" pitchFamily="49" charset="0"/>
                <a:cs typeface="Courier New" panose="02070309020205020404" pitchFamily="49" charset="0"/>
              </a:rPr>
              <a:t>// create views</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kmView</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MyLabelView</a:t>
            </a:r>
            <a:r>
              <a:rPr lang="en-US" dirty="0">
                <a:latin typeface="Courier New" panose="02070309020205020404" pitchFamily="49" charset="0"/>
                <a:cs typeface="Courier New" panose="02070309020205020404" pitchFamily="49" charset="0"/>
              </a:rPr>
              <a:t>(“km: ”, 1.0)</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milesView</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MyLabelView</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“miles: ”,  </a:t>
            </a:r>
          </a:p>
          <a:p>
            <a:pPr marL="0" indent="0">
              <a:buNone/>
            </a:pPr>
            <a:r>
              <a:rPr lang="en-US" dirty="0">
                <a:latin typeface="Courier New" panose="02070309020205020404" pitchFamily="49" charset="0"/>
                <a:cs typeface="Courier New" panose="02070309020205020404" pitchFamily="49" charset="0"/>
              </a:rPr>
              <a:t>		0.621371192</a:t>
            </a:r>
          </a:p>
          <a:p>
            <a:pPr marL="0" indent="0">
              <a:buNone/>
            </a:pPr>
            <a:r>
              <a:rPr lang="en-US" dirty="0">
                <a:latin typeface="Courier New" panose="02070309020205020404" pitchFamily="49" charset="0"/>
                <a:cs typeface="Courier New" panose="02070309020205020404" pitchFamily="49" charset="0"/>
              </a:rPr>
              <a:t>	)</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dirty="0">
                <a:solidFill>
                  <a:schemeClr val="accent6"/>
                </a:solidFill>
                <a:latin typeface="Courier New" panose="02070309020205020404" pitchFamily="49" charset="0"/>
                <a:cs typeface="Courier New" panose="02070309020205020404" pitchFamily="49" charset="0"/>
              </a:rPr>
              <a:t>// register views with model</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model.addView</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kmView</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model.addView</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milesView</a:t>
            </a:r>
            <a:r>
              <a:rPr lang="en-US" dirty="0">
                <a:latin typeface="Courier New" panose="02070309020205020404" pitchFamily="49" charset="0"/>
                <a:cs typeface="Courier New" panose="02070309020205020404" pitchFamily="49" charset="0"/>
              </a:rPr>
              <a:t>)</a:t>
            </a:r>
          </a:p>
        </p:txBody>
      </p:sp>
      <p:sp>
        <p:nvSpPr>
          <p:cNvPr id="2" name="object 2">
            <a:extLst>
              <a:ext uri="{FF2B5EF4-FFF2-40B4-BE49-F238E27FC236}">
                <a16:creationId xmlns:a16="http://schemas.microsoft.com/office/drawing/2014/main" id="{439D1F49-CA75-BEF3-F7F4-6B5CECE8860D}"/>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User Interface</a:t>
            </a:r>
          </a:p>
        </p:txBody>
      </p:sp>
    </p:spTree>
    <p:extLst>
      <p:ext uri="{BB962C8B-B14F-4D97-AF65-F5344CB8AC3E}">
        <p14:creationId xmlns:p14="http://schemas.microsoft.com/office/powerpoint/2010/main" val="814120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380E5-23EF-98FF-4801-639370C33DA3}"/>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EA8FCF4F-0DA1-EF85-ED5A-29BDBC6FA582}"/>
              </a:ext>
            </a:extLst>
          </p:cNvPr>
          <p:cNvSpPr txBox="1">
            <a:spLocks noChangeArrowheads="1"/>
          </p:cNvSpPr>
          <p:nvPr/>
        </p:nvSpPr>
        <p:spPr>
          <a:xfrm>
            <a:off x="838200" y="1143000"/>
            <a:ext cx="110490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create commands that modify the model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incrCommand</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TCommand</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model.setValue</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model.value</a:t>
            </a:r>
            <a:r>
              <a:rPr lang="en-US" sz="2400" dirty="0">
                <a:latin typeface="Courier New" panose="02070309020205020404" pitchFamily="49" charset="0"/>
                <a:cs typeface="Courier New" panose="02070309020205020404" pitchFamily="49" charset="0"/>
              </a:rPr>
              <a:t> + 1)</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decrCommand</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TCommand</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model.setValue</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model.value</a:t>
            </a:r>
            <a:r>
              <a:rPr lang="en-US" sz="2400" dirty="0">
                <a:latin typeface="Courier New" panose="02070309020205020404" pitchFamily="49" charset="0"/>
                <a:cs typeface="Courier New" panose="02070309020205020404" pitchFamily="49" charset="0"/>
              </a:rPr>
              <a:t> - 1)</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endParaRPr lang="en-US" sz="2400" dirty="0">
              <a:latin typeface="Courier New" panose="02070309020205020404" pitchFamily="49" charset="0"/>
              <a:cs typeface="Courier New" panose="02070309020205020404" pitchFamily="49" charset="0"/>
            </a:endParaRPr>
          </a:p>
        </p:txBody>
      </p:sp>
      <p:sp>
        <p:nvSpPr>
          <p:cNvPr id="2" name="object 2">
            <a:extLst>
              <a:ext uri="{FF2B5EF4-FFF2-40B4-BE49-F238E27FC236}">
                <a16:creationId xmlns:a16="http://schemas.microsoft.com/office/drawing/2014/main" id="{6428D798-D5FA-BA8F-3FD6-D8AB2FC57D0E}"/>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User Interface</a:t>
            </a:r>
          </a:p>
        </p:txBody>
      </p:sp>
    </p:spTree>
    <p:extLst>
      <p:ext uri="{BB962C8B-B14F-4D97-AF65-F5344CB8AC3E}">
        <p14:creationId xmlns:p14="http://schemas.microsoft.com/office/powerpoint/2010/main" val="238003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15508-37B6-2DED-E3D5-14CF0A6CFCBC}"/>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8F4943F7-25DC-94A3-B698-9A4842B51B3D}"/>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views</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app.addToContent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kmView.component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app.addToContent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milesView.component</a:t>
            </a: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controls</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incrButton</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JButton</a:t>
            </a:r>
            <a:r>
              <a:rPr lang="en-US" sz="2400" dirty="0">
                <a:latin typeface="Courier New" panose="02070309020205020404" pitchFamily="49" charset="0"/>
                <a:cs typeface="Courier New" panose="02070309020205020404" pitchFamily="49" charset="0"/>
              </a:rPr>
              <a:t>( "+ 1 km"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app.addToContent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incrButton</a:t>
            </a: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decrButton</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JButton</a:t>
            </a:r>
            <a:r>
              <a:rPr lang="en-US" sz="2400" dirty="0">
                <a:latin typeface="Courier New" panose="02070309020205020404" pitchFamily="49" charset="0"/>
                <a:cs typeface="Courier New" panose="02070309020205020404" pitchFamily="49" charset="0"/>
              </a:rPr>
              <a:t>( "­- 1 km"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app.addToContent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decrButton</a:t>
            </a: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connect buttons to commands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TButtonController</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incrButton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incrCommand</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TButtonController</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decrButton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decrCommand</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p:txBody>
      </p:sp>
      <p:sp>
        <p:nvSpPr>
          <p:cNvPr id="2" name="object 2">
            <a:extLst>
              <a:ext uri="{FF2B5EF4-FFF2-40B4-BE49-F238E27FC236}">
                <a16:creationId xmlns:a16="http://schemas.microsoft.com/office/drawing/2014/main" id="{EFB85520-73F8-9BB4-7F11-3D385CADFCE6}"/>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User Interface</a:t>
            </a:r>
          </a:p>
        </p:txBody>
      </p:sp>
    </p:spTree>
    <p:extLst>
      <p:ext uri="{BB962C8B-B14F-4D97-AF65-F5344CB8AC3E}">
        <p14:creationId xmlns:p14="http://schemas.microsoft.com/office/powerpoint/2010/main" val="6097919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34838-50AB-EE3E-F834-746024BBA3AD}"/>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A72A851D-2A0C-C6C8-5C5D-C125815265C5}"/>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urier New" panose="02070309020205020404" pitchFamily="49" charset="0"/>
                <a:cs typeface="Courier New" panose="02070309020205020404" pitchFamily="49" charset="0"/>
              </a:rPr>
              <a:t>	override fun update( model: </a:t>
            </a:r>
            <a:r>
              <a:rPr lang="en-US" sz="2400" dirty="0" err="1">
                <a:latin typeface="Courier New" panose="02070309020205020404" pitchFamily="49" charset="0"/>
                <a:cs typeface="Courier New" panose="02070309020205020404" pitchFamily="49" charset="0"/>
              </a:rPr>
              <a:t>MyModel</a:t>
            </a:r>
            <a:r>
              <a:rPr lang="en-US" sz="2400" dirty="0">
                <a:latin typeface="Courier New" panose="02070309020205020404" pitchFamily="49" charset="0"/>
                <a:cs typeface="Courier New" panose="02070309020205020404" pitchFamily="49" charset="0"/>
              </a:rPr>
              <a:t> ) {</a:t>
            </a:r>
          </a:p>
          <a:p>
            <a:pPr marL="0" indent="0">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nothing to do</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
        <p:nvSpPr>
          <p:cNvPr id="2" name="object 2">
            <a:extLst>
              <a:ext uri="{FF2B5EF4-FFF2-40B4-BE49-F238E27FC236}">
                <a16:creationId xmlns:a16="http://schemas.microsoft.com/office/drawing/2014/main" id="{A627E786-FEEA-7177-781F-5610E52AA0B2}"/>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Custom User Interface</a:t>
            </a:r>
          </a:p>
        </p:txBody>
      </p:sp>
    </p:spTree>
    <p:extLst>
      <p:ext uri="{BB962C8B-B14F-4D97-AF65-F5344CB8AC3E}">
        <p14:creationId xmlns:p14="http://schemas.microsoft.com/office/powerpoint/2010/main" val="26716301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spcBef>
                <a:spcPts val="100"/>
              </a:spcBef>
            </a:pPr>
            <a:r>
              <a:rPr spc="390" dirty="0"/>
              <a:t>UML</a:t>
            </a:r>
            <a:r>
              <a:rPr spc="75" dirty="0"/>
              <a:t> </a:t>
            </a:r>
            <a:r>
              <a:rPr spc="340" dirty="0"/>
              <a:t>Sequence</a:t>
            </a:r>
            <a:r>
              <a:rPr spc="75" dirty="0"/>
              <a:t> </a:t>
            </a:r>
            <a:r>
              <a:rPr spc="355" dirty="0"/>
              <a:t>Diagram</a:t>
            </a:r>
          </a:p>
        </p:txBody>
      </p:sp>
      <p:sp>
        <p:nvSpPr>
          <p:cNvPr id="3" name="object 3"/>
          <p:cNvSpPr/>
          <p:nvPr/>
        </p:nvSpPr>
        <p:spPr>
          <a:xfrm>
            <a:off x="2711450" y="1771650"/>
            <a:ext cx="4968240" cy="1224280"/>
          </a:xfrm>
          <a:custGeom>
            <a:avLst/>
            <a:gdLst/>
            <a:ahLst/>
            <a:cxnLst/>
            <a:rect l="l" t="t" r="r" b="b"/>
            <a:pathLst>
              <a:path w="4968240" h="1224280">
                <a:moveTo>
                  <a:pt x="1116330" y="504189"/>
                </a:moveTo>
                <a:lnTo>
                  <a:pt x="0" y="504189"/>
                </a:lnTo>
                <a:lnTo>
                  <a:pt x="0" y="0"/>
                </a:lnTo>
                <a:lnTo>
                  <a:pt x="2232660" y="0"/>
                </a:lnTo>
                <a:lnTo>
                  <a:pt x="2232660" y="504189"/>
                </a:lnTo>
                <a:lnTo>
                  <a:pt x="1116330" y="504189"/>
                </a:lnTo>
                <a:close/>
              </a:path>
              <a:path w="4968240" h="1224280">
                <a:moveTo>
                  <a:pt x="3853179" y="1224279"/>
                </a:moveTo>
                <a:lnTo>
                  <a:pt x="2736850" y="1224279"/>
                </a:lnTo>
                <a:lnTo>
                  <a:pt x="2736850" y="721360"/>
                </a:lnTo>
                <a:lnTo>
                  <a:pt x="4968240" y="721360"/>
                </a:lnTo>
                <a:lnTo>
                  <a:pt x="4968240" y="1224279"/>
                </a:lnTo>
                <a:lnTo>
                  <a:pt x="3853179" y="1224279"/>
                </a:lnTo>
                <a:close/>
              </a:path>
            </a:pathLst>
          </a:custGeom>
          <a:ln w="28393">
            <a:solidFill>
              <a:srgbClr val="000000"/>
            </a:solidFill>
          </a:ln>
        </p:spPr>
        <p:txBody>
          <a:bodyPr wrap="square" lIns="0" tIns="0" rIns="0" bIns="0" rtlCol="0"/>
          <a:lstStyle/>
          <a:p>
            <a:endParaRPr/>
          </a:p>
        </p:txBody>
      </p:sp>
      <p:sp>
        <p:nvSpPr>
          <p:cNvPr id="4" name="object 4"/>
          <p:cNvSpPr txBox="1"/>
          <p:nvPr/>
        </p:nvSpPr>
        <p:spPr>
          <a:xfrm>
            <a:off x="6065521" y="2594609"/>
            <a:ext cx="997585" cy="299720"/>
          </a:xfrm>
          <a:prstGeom prst="rect">
            <a:avLst/>
          </a:prstGeom>
        </p:spPr>
        <p:txBody>
          <a:bodyPr vert="horz" wrap="square" lIns="0" tIns="12700" rIns="0" bIns="0" rtlCol="0">
            <a:spAutoFit/>
          </a:bodyPr>
          <a:lstStyle/>
          <a:p>
            <a:pPr marL="12700">
              <a:spcBef>
                <a:spcPts val="100"/>
              </a:spcBef>
            </a:pPr>
            <a:r>
              <a:rPr u="sng" spc="-10" dirty="0">
                <a:uFill>
                  <a:solidFill>
                    <a:srgbClr val="000000"/>
                  </a:solidFill>
                </a:uFill>
                <a:latin typeface="Verdana"/>
                <a:cs typeface="Verdana"/>
              </a:rPr>
              <a:t>:JButton</a:t>
            </a:r>
            <a:endParaRPr dirty="0">
              <a:latin typeface="Verdana"/>
              <a:cs typeface="Verdana"/>
            </a:endParaRPr>
          </a:p>
        </p:txBody>
      </p:sp>
      <p:sp>
        <p:nvSpPr>
          <p:cNvPr id="5" name="object 5"/>
          <p:cNvSpPr txBox="1"/>
          <p:nvPr/>
        </p:nvSpPr>
        <p:spPr>
          <a:xfrm>
            <a:off x="8040369" y="3213101"/>
            <a:ext cx="2519680" cy="392415"/>
          </a:xfrm>
          <a:prstGeom prst="rect">
            <a:avLst/>
          </a:prstGeom>
          <a:ln w="28393">
            <a:solidFill>
              <a:srgbClr val="000000"/>
            </a:solidFill>
          </a:ln>
        </p:spPr>
        <p:txBody>
          <a:bodyPr vert="horz" wrap="square" lIns="0" tIns="114300" rIns="0" bIns="0" rtlCol="0">
            <a:spAutoFit/>
          </a:bodyPr>
          <a:lstStyle/>
          <a:p>
            <a:pPr marL="163195">
              <a:spcBef>
                <a:spcPts val="900"/>
              </a:spcBef>
            </a:pPr>
            <a:r>
              <a:rPr u="sng" spc="-10" dirty="0">
                <a:uFill>
                  <a:solidFill>
                    <a:srgbClr val="000000"/>
                  </a:solidFill>
                </a:uFill>
                <a:latin typeface="Verdana"/>
                <a:cs typeface="Verdana"/>
              </a:rPr>
              <a:t>listener:MyListener</a:t>
            </a:r>
            <a:endParaRPr>
              <a:latin typeface="Verdana"/>
              <a:cs typeface="Verdana"/>
            </a:endParaRPr>
          </a:p>
        </p:txBody>
      </p:sp>
      <p:grpSp>
        <p:nvGrpSpPr>
          <p:cNvPr id="6" name="object 6"/>
          <p:cNvGrpSpPr/>
          <p:nvPr/>
        </p:nvGrpSpPr>
        <p:grpSpPr>
          <a:xfrm>
            <a:off x="1661160" y="1945639"/>
            <a:ext cx="1050290" cy="86360"/>
            <a:chOff x="137160" y="1945639"/>
            <a:chExt cx="1050290" cy="86360"/>
          </a:xfrm>
        </p:grpSpPr>
        <p:sp>
          <p:nvSpPr>
            <p:cNvPr id="7" name="object 7"/>
            <p:cNvSpPr/>
            <p:nvPr/>
          </p:nvSpPr>
          <p:spPr>
            <a:xfrm>
              <a:off x="215900" y="1988819"/>
              <a:ext cx="891540" cy="0"/>
            </a:xfrm>
            <a:custGeom>
              <a:avLst/>
              <a:gdLst/>
              <a:ahLst/>
              <a:cxnLst/>
              <a:rect l="l" t="t" r="r" b="b"/>
              <a:pathLst>
                <a:path w="891540">
                  <a:moveTo>
                    <a:pt x="0" y="0"/>
                  </a:moveTo>
                  <a:lnTo>
                    <a:pt x="891540" y="0"/>
                  </a:lnTo>
                </a:path>
              </a:pathLst>
            </a:custGeom>
            <a:ln w="27940">
              <a:solidFill>
                <a:srgbClr val="000000"/>
              </a:solidFill>
            </a:ln>
          </p:spPr>
          <p:txBody>
            <a:bodyPr wrap="square" lIns="0" tIns="0" rIns="0" bIns="0" rtlCol="0"/>
            <a:lstStyle/>
            <a:p>
              <a:endParaRPr/>
            </a:p>
          </p:txBody>
        </p:sp>
        <p:pic>
          <p:nvPicPr>
            <p:cNvPr id="8" name="object 8"/>
            <p:cNvPicPr/>
            <p:nvPr/>
          </p:nvPicPr>
          <p:blipFill>
            <a:blip r:embed="rId2" cstate="print"/>
            <a:stretch>
              <a:fillRect/>
            </a:stretch>
          </p:blipFill>
          <p:spPr>
            <a:xfrm>
              <a:off x="137160" y="1945639"/>
              <a:ext cx="85089" cy="86360"/>
            </a:xfrm>
            <a:prstGeom prst="rect">
              <a:avLst/>
            </a:prstGeom>
          </p:spPr>
        </p:pic>
        <p:sp>
          <p:nvSpPr>
            <p:cNvPr id="9" name="object 9"/>
            <p:cNvSpPr/>
            <p:nvPr/>
          </p:nvSpPr>
          <p:spPr>
            <a:xfrm>
              <a:off x="1102360" y="1945639"/>
              <a:ext cx="85090" cy="86360"/>
            </a:xfrm>
            <a:custGeom>
              <a:avLst/>
              <a:gdLst/>
              <a:ahLst/>
              <a:cxnLst/>
              <a:rect l="l" t="t" r="r" b="b"/>
              <a:pathLst>
                <a:path w="85090" h="86360">
                  <a:moveTo>
                    <a:pt x="0" y="0"/>
                  </a:moveTo>
                  <a:lnTo>
                    <a:pt x="0" y="86360"/>
                  </a:lnTo>
                  <a:lnTo>
                    <a:pt x="85090" y="43180"/>
                  </a:lnTo>
                  <a:lnTo>
                    <a:pt x="0" y="0"/>
                  </a:lnTo>
                  <a:close/>
                </a:path>
              </a:pathLst>
            </a:custGeom>
            <a:solidFill>
              <a:srgbClr val="000000"/>
            </a:solidFill>
          </p:spPr>
          <p:txBody>
            <a:bodyPr wrap="square" lIns="0" tIns="0" rIns="0" bIns="0" rtlCol="0"/>
            <a:lstStyle/>
            <a:p>
              <a:endParaRPr/>
            </a:p>
          </p:txBody>
        </p:sp>
      </p:grpSp>
      <p:grpSp>
        <p:nvGrpSpPr>
          <p:cNvPr id="10" name="object 10"/>
          <p:cNvGrpSpPr/>
          <p:nvPr/>
        </p:nvGrpSpPr>
        <p:grpSpPr>
          <a:xfrm>
            <a:off x="3818255" y="2267585"/>
            <a:ext cx="5374005" cy="4235450"/>
            <a:chOff x="2294254" y="2267585"/>
            <a:chExt cx="5374005" cy="4235450"/>
          </a:xfrm>
        </p:grpSpPr>
        <p:sp>
          <p:nvSpPr>
            <p:cNvPr id="11" name="object 11"/>
            <p:cNvSpPr/>
            <p:nvPr/>
          </p:nvSpPr>
          <p:spPr>
            <a:xfrm>
              <a:off x="2411729" y="2708910"/>
              <a:ext cx="1432560" cy="0"/>
            </a:xfrm>
            <a:custGeom>
              <a:avLst/>
              <a:gdLst/>
              <a:ahLst/>
              <a:cxnLst/>
              <a:rect l="l" t="t" r="r" b="b"/>
              <a:pathLst>
                <a:path w="1432560">
                  <a:moveTo>
                    <a:pt x="0" y="0"/>
                  </a:moveTo>
                  <a:lnTo>
                    <a:pt x="1432559" y="0"/>
                  </a:lnTo>
                </a:path>
              </a:pathLst>
            </a:custGeom>
            <a:ln w="27940">
              <a:solidFill>
                <a:srgbClr val="000000"/>
              </a:solidFill>
            </a:ln>
          </p:spPr>
          <p:txBody>
            <a:bodyPr wrap="square" lIns="0" tIns="0" rIns="0" bIns="0" rtlCol="0"/>
            <a:lstStyle/>
            <a:p>
              <a:endParaRPr/>
            </a:p>
          </p:txBody>
        </p:sp>
        <p:sp>
          <p:nvSpPr>
            <p:cNvPr id="12" name="object 12"/>
            <p:cNvSpPr/>
            <p:nvPr/>
          </p:nvSpPr>
          <p:spPr>
            <a:xfrm>
              <a:off x="3837939" y="2665730"/>
              <a:ext cx="85090" cy="86360"/>
            </a:xfrm>
            <a:custGeom>
              <a:avLst/>
              <a:gdLst/>
              <a:ahLst/>
              <a:cxnLst/>
              <a:rect l="l" t="t" r="r" b="b"/>
              <a:pathLst>
                <a:path w="85089" h="86360">
                  <a:moveTo>
                    <a:pt x="0" y="0"/>
                  </a:moveTo>
                  <a:lnTo>
                    <a:pt x="0" y="86360"/>
                  </a:lnTo>
                  <a:lnTo>
                    <a:pt x="85089" y="43180"/>
                  </a:lnTo>
                  <a:lnTo>
                    <a:pt x="0" y="0"/>
                  </a:lnTo>
                  <a:close/>
                </a:path>
              </a:pathLst>
            </a:custGeom>
            <a:solidFill>
              <a:srgbClr val="000000"/>
            </a:solidFill>
          </p:spPr>
          <p:txBody>
            <a:bodyPr wrap="square" lIns="0" tIns="0" rIns="0" bIns="0" rtlCol="0"/>
            <a:lstStyle/>
            <a:p>
              <a:endParaRPr/>
            </a:p>
          </p:txBody>
        </p:sp>
        <p:sp>
          <p:nvSpPr>
            <p:cNvPr id="13" name="object 13"/>
            <p:cNvSpPr/>
            <p:nvPr/>
          </p:nvSpPr>
          <p:spPr>
            <a:xfrm>
              <a:off x="2411729" y="3429000"/>
              <a:ext cx="4024629" cy="0"/>
            </a:xfrm>
            <a:custGeom>
              <a:avLst/>
              <a:gdLst/>
              <a:ahLst/>
              <a:cxnLst/>
              <a:rect l="l" t="t" r="r" b="b"/>
              <a:pathLst>
                <a:path w="4024629">
                  <a:moveTo>
                    <a:pt x="0" y="0"/>
                  </a:moveTo>
                  <a:lnTo>
                    <a:pt x="4024629" y="0"/>
                  </a:lnTo>
                </a:path>
              </a:pathLst>
            </a:custGeom>
            <a:ln w="27940">
              <a:solidFill>
                <a:srgbClr val="000000"/>
              </a:solidFill>
            </a:ln>
          </p:spPr>
          <p:txBody>
            <a:bodyPr wrap="square" lIns="0" tIns="0" rIns="0" bIns="0" rtlCol="0"/>
            <a:lstStyle/>
            <a:p>
              <a:endParaRPr/>
            </a:p>
          </p:txBody>
        </p:sp>
        <p:sp>
          <p:nvSpPr>
            <p:cNvPr id="14" name="object 14"/>
            <p:cNvSpPr/>
            <p:nvPr/>
          </p:nvSpPr>
          <p:spPr>
            <a:xfrm>
              <a:off x="6431279" y="3387090"/>
              <a:ext cx="85090" cy="85090"/>
            </a:xfrm>
            <a:custGeom>
              <a:avLst/>
              <a:gdLst/>
              <a:ahLst/>
              <a:cxnLst/>
              <a:rect l="l" t="t" r="r" b="b"/>
              <a:pathLst>
                <a:path w="85090" h="85089">
                  <a:moveTo>
                    <a:pt x="0" y="0"/>
                  </a:moveTo>
                  <a:lnTo>
                    <a:pt x="0" y="85089"/>
                  </a:lnTo>
                  <a:lnTo>
                    <a:pt x="85090" y="41910"/>
                  </a:lnTo>
                  <a:lnTo>
                    <a:pt x="0" y="0"/>
                  </a:lnTo>
                  <a:close/>
                </a:path>
              </a:pathLst>
            </a:custGeom>
            <a:solidFill>
              <a:srgbClr val="000000"/>
            </a:solidFill>
          </p:spPr>
          <p:txBody>
            <a:bodyPr wrap="square" lIns="0" tIns="0" rIns="0" bIns="0" rtlCol="0"/>
            <a:lstStyle/>
            <a:p>
              <a:endParaRPr/>
            </a:p>
          </p:txBody>
        </p:sp>
        <p:sp>
          <p:nvSpPr>
            <p:cNvPr id="15" name="object 15"/>
            <p:cNvSpPr/>
            <p:nvPr/>
          </p:nvSpPr>
          <p:spPr>
            <a:xfrm>
              <a:off x="2411729" y="4149089"/>
              <a:ext cx="2440940" cy="0"/>
            </a:xfrm>
            <a:custGeom>
              <a:avLst/>
              <a:gdLst/>
              <a:ahLst/>
              <a:cxnLst/>
              <a:rect l="l" t="t" r="r" b="b"/>
              <a:pathLst>
                <a:path w="2440940">
                  <a:moveTo>
                    <a:pt x="0" y="0"/>
                  </a:moveTo>
                  <a:lnTo>
                    <a:pt x="2440940" y="0"/>
                  </a:lnTo>
                </a:path>
              </a:pathLst>
            </a:custGeom>
            <a:ln w="27940">
              <a:solidFill>
                <a:srgbClr val="000000"/>
              </a:solidFill>
            </a:ln>
          </p:spPr>
          <p:txBody>
            <a:bodyPr wrap="square" lIns="0" tIns="0" rIns="0" bIns="0" rtlCol="0"/>
            <a:lstStyle/>
            <a:p>
              <a:endParaRPr/>
            </a:p>
          </p:txBody>
        </p:sp>
        <p:sp>
          <p:nvSpPr>
            <p:cNvPr id="16" name="object 16"/>
            <p:cNvSpPr/>
            <p:nvPr/>
          </p:nvSpPr>
          <p:spPr>
            <a:xfrm>
              <a:off x="4846319" y="4105910"/>
              <a:ext cx="85090" cy="86360"/>
            </a:xfrm>
            <a:custGeom>
              <a:avLst/>
              <a:gdLst/>
              <a:ahLst/>
              <a:cxnLst/>
              <a:rect l="l" t="t" r="r" b="b"/>
              <a:pathLst>
                <a:path w="85089" h="86360">
                  <a:moveTo>
                    <a:pt x="0" y="0"/>
                  </a:moveTo>
                  <a:lnTo>
                    <a:pt x="0" y="86359"/>
                  </a:lnTo>
                  <a:lnTo>
                    <a:pt x="85089" y="43179"/>
                  </a:lnTo>
                  <a:lnTo>
                    <a:pt x="0" y="0"/>
                  </a:lnTo>
                  <a:close/>
                </a:path>
              </a:pathLst>
            </a:custGeom>
            <a:solidFill>
              <a:srgbClr val="000000"/>
            </a:solidFill>
          </p:spPr>
          <p:txBody>
            <a:bodyPr wrap="square" lIns="0" tIns="0" rIns="0" bIns="0" rtlCol="0"/>
            <a:lstStyle/>
            <a:p>
              <a:endParaRPr/>
            </a:p>
          </p:txBody>
        </p:sp>
        <p:sp>
          <p:nvSpPr>
            <p:cNvPr id="17" name="object 17"/>
            <p:cNvSpPr/>
            <p:nvPr/>
          </p:nvSpPr>
          <p:spPr>
            <a:xfrm>
              <a:off x="5148579" y="5228589"/>
              <a:ext cx="2439670" cy="0"/>
            </a:xfrm>
            <a:custGeom>
              <a:avLst/>
              <a:gdLst/>
              <a:ahLst/>
              <a:cxnLst/>
              <a:rect l="l" t="t" r="r" b="b"/>
              <a:pathLst>
                <a:path w="2439670">
                  <a:moveTo>
                    <a:pt x="0" y="0"/>
                  </a:moveTo>
                  <a:lnTo>
                    <a:pt x="2439670" y="0"/>
                  </a:lnTo>
                </a:path>
              </a:pathLst>
            </a:custGeom>
            <a:ln w="27940">
              <a:solidFill>
                <a:srgbClr val="000000"/>
              </a:solidFill>
            </a:ln>
          </p:spPr>
          <p:txBody>
            <a:bodyPr wrap="square" lIns="0" tIns="0" rIns="0" bIns="0" rtlCol="0"/>
            <a:lstStyle/>
            <a:p>
              <a:endParaRPr/>
            </a:p>
          </p:txBody>
        </p:sp>
        <p:sp>
          <p:nvSpPr>
            <p:cNvPr id="18" name="object 18"/>
            <p:cNvSpPr/>
            <p:nvPr/>
          </p:nvSpPr>
          <p:spPr>
            <a:xfrm>
              <a:off x="7583170" y="5186680"/>
              <a:ext cx="85090" cy="85090"/>
            </a:xfrm>
            <a:custGeom>
              <a:avLst/>
              <a:gdLst/>
              <a:ahLst/>
              <a:cxnLst/>
              <a:rect l="l" t="t" r="r" b="b"/>
              <a:pathLst>
                <a:path w="85090" h="85089">
                  <a:moveTo>
                    <a:pt x="0" y="0"/>
                  </a:moveTo>
                  <a:lnTo>
                    <a:pt x="0" y="85090"/>
                  </a:lnTo>
                  <a:lnTo>
                    <a:pt x="85089" y="41910"/>
                  </a:lnTo>
                  <a:lnTo>
                    <a:pt x="0" y="0"/>
                  </a:lnTo>
                  <a:close/>
                </a:path>
              </a:pathLst>
            </a:custGeom>
            <a:solidFill>
              <a:srgbClr val="000000"/>
            </a:solidFill>
          </p:spPr>
          <p:txBody>
            <a:bodyPr wrap="square" lIns="0" tIns="0" rIns="0" bIns="0" rtlCol="0"/>
            <a:lstStyle/>
            <a:p>
              <a:endParaRPr/>
            </a:p>
          </p:txBody>
        </p:sp>
        <p:sp>
          <p:nvSpPr>
            <p:cNvPr id="19" name="object 19"/>
            <p:cNvSpPr/>
            <p:nvPr/>
          </p:nvSpPr>
          <p:spPr>
            <a:xfrm>
              <a:off x="2303779" y="2277110"/>
              <a:ext cx="0" cy="4216400"/>
            </a:xfrm>
            <a:custGeom>
              <a:avLst/>
              <a:gdLst/>
              <a:ahLst/>
              <a:cxnLst/>
              <a:rect l="l" t="t" r="r" b="b"/>
              <a:pathLst>
                <a:path h="4216400">
                  <a:moveTo>
                    <a:pt x="0" y="0"/>
                  </a:moveTo>
                  <a:lnTo>
                    <a:pt x="0" y="4216400"/>
                  </a:lnTo>
                </a:path>
              </a:pathLst>
            </a:custGeom>
            <a:ln w="19050">
              <a:solidFill>
                <a:srgbClr val="000000"/>
              </a:solidFill>
              <a:prstDash val="sysDash"/>
            </a:ln>
          </p:spPr>
          <p:txBody>
            <a:bodyPr wrap="square" lIns="0" tIns="0" rIns="0" bIns="0" rtlCol="0"/>
            <a:lstStyle/>
            <a:p>
              <a:endParaRPr/>
            </a:p>
          </p:txBody>
        </p:sp>
      </p:grpSp>
      <p:sp>
        <p:nvSpPr>
          <p:cNvPr id="20" name="object 20"/>
          <p:cNvSpPr txBox="1"/>
          <p:nvPr/>
        </p:nvSpPr>
        <p:spPr>
          <a:xfrm>
            <a:off x="3328670" y="1874520"/>
            <a:ext cx="1962150" cy="796290"/>
          </a:xfrm>
          <a:prstGeom prst="rect">
            <a:avLst/>
          </a:prstGeom>
        </p:spPr>
        <p:txBody>
          <a:bodyPr vert="horz" wrap="square" lIns="0" tIns="12700" rIns="0" bIns="0" rtlCol="0">
            <a:spAutoFit/>
          </a:bodyPr>
          <a:lstStyle/>
          <a:p>
            <a:pPr marL="12700">
              <a:spcBef>
                <a:spcPts val="100"/>
              </a:spcBef>
            </a:pPr>
            <a:r>
              <a:rPr u="sng" spc="-10" dirty="0">
                <a:uFill>
                  <a:solidFill>
                    <a:srgbClr val="000000"/>
                  </a:solidFill>
                </a:uFill>
                <a:latin typeface="Verdana"/>
                <a:cs typeface="Verdana"/>
              </a:rPr>
              <a:t>:MyView</a:t>
            </a:r>
            <a:endParaRPr dirty="0">
              <a:latin typeface="Verdana"/>
              <a:cs typeface="Verdana"/>
            </a:endParaRPr>
          </a:p>
          <a:p>
            <a:pPr marR="5080" algn="r">
              <a:spcBef>
                <a:spcPts val="1750"/>
              </a:spcBef>
            </a:pPr>
            <a:r>
              <a:rPr lang="en-CA" spc="-25" dirty="0">
                <a:latin typeface="Verdana"/>
                <a:cs typeface="Verdana"/>
              </a:rPr>
              <a:t>New</a:t>
            </a:r>
            <a:endParaRPr dirty="0">
              <a:latin typeface="Verdana"/>
              <a:cs typeface="Verdana"/>
            </a:endParaRPr>
          </a:p>
        </p:txBody>
      </p:sp>
      <p:sp>
        <p:nvSpPr>
          <p:cNvPr id="21" name="object 21"/>
          <p:cNvSpPr txBox="1"/>
          <p:nvPr/>
        </p:nvSpPr>
        <p:spPr>
          <a:xfrm>
            <a:off x="1831340" y="1661159"/>
            <a:ext cx="732156" cy="289823"/>
          </a:xfrm>
          <a:prstGeom prst="rect">
            <a:avLst/>
          </a:prstGeom>
        </p:spPr>
        <p:txBody>
          <a:bodyPr vert="horz" wrap="square" lIns="0" tIns="12700" rIns="0" bIns="0" rtlCol="0">
            <a:spAutoFit/>
          </a:bodyPr>
          <a:lstStyle/>
          <a:p>
            <a:pPr marL="12700">
              <a:spcBef>
                <a:spcPts val="100"/>
              </a:spcBef>
            </a:pPr>
            <a:r>
              <a:rPr lang="en-CA" spc="-25" dirty="0">
                <a:latin typeface="Verdana"/>
                <a:cs typeface="Verdana"/>
              </a:rPr>
              <a:t>New</a:t>
            </a:r>
            <a:endParaRPr dirty="0">
              <a:latin typeface="Verdana"/>
              <a:cs typeface="Verdana"/>
            </a:endParaRPr>
          </a:p>
        </p:txBody>
      </p:sp>
      <p:sp>
        <p:nvSpPr>
          <p:cNvPr id="22" name="object 22"/>
          <p:cNvSpPr txBox="1"/>
          <p:nvPr/>
        </p:nvSpPr>
        <p:spPr>
          <a:xfrm>
            <a:off x="7063106" y="3101340"/>
            <a:ext cx="756283" cy="289823"/>
          </a:xfrm>
          <a:prstGeom prst="rect">
            <a:avLst/>
          </a:prstGeom>
        </p:spPr>
        <p:txBody>
          <a:bodyPr vert="horz" wrap="square" lIns="0" tIns="12700" rIns="0" bIns="0" rtlCol="0">
            <a:spAutoFit/>
          </a:bodyPr>
          <a:lstStyle/>
          <a:p>
            <a:pPr marL="12700">
              <a:spcBef>
                <a:spcPts val="100"/>
              </a:spcBef>
            </a:pPr>
            <a:r>
              <a:rPr lang="en-CA" spc="-25" dirty="0">
                <a:latin typeface="Verdana"/>
                <a:cs typeface="Verdana"/>
              </a:rPr>
              <a:t>New</a:t>
            </a:r>
            <a:endParaRPr dirty="0">
              <a:latin typeface="Verdana"/>
              <a:cs typeface="Verdana"/>
            </a:endParaRPr>
          </a:p>
        </p:txBody>
      </p:sp>
      <p:sp>
        <p:nvSpPr>
          <p:cNvPr id="23" name="object 23"/>
          <p:cNvSpPr txBox="1"/>
          <p:nvPr/>
        </p:nvSpPr>
        <p:spPr>
          <a:xfrm>
            <a:off x="4104640" y="3749040"/>
            <a:ext cx="3283585" cy="299720"/>
          </a:xfrm>
          <a:prstGeom prst="rect">
            <a:avLst/>
          </a:prstGeom>
        </p:spPr>
        <p:txBody>
          <a:bodyPr vert="horz" wrap="square" lIns="0" tIns="12700" rIns="0" bIns="0" rtlCol="0">
            <a:spAutoFit/>
          </a:bodyPr>
          <a:lstStyle/>
          <a:p>
            <a:pPr marL="12700">
              <a:spcBef>
                <a:spcPts val="100"/>
              </a:spcBef>
            </a:pPr>
            <a:r>
              <a:rPr dirty="0">
                <a:latin typeface="Verdana"/>
                <a:cs typeface="Verdana"/>
              </a:rPr>
              <a:t>addActionListener(</a:t>
            </a:r>
            <a:r>
              <a:rPr spc="-135" dirty="0">
                <a:latin typeface="Verdana"/>
                <a:cs typeface="Verdana"/>
              </a:rPr>
              <a:t> </a:t>
            </a:r>
            <a:r>
              <a:rPr dirty="0">
                <a:latin typeface="Verdana"/>
                <a:cs typeface="Verdana"/>
              </a:rPr>
              <a:t>listener</a:t>
            </a:r>
            <a:r>
              <a:rPr spc="-125" dirty="0">
                <a:latin typeface="Verdana"/>
                <a:cs typeface="Verdana"/>
              </a:rPr>
              <a:t> </a:t>
            </a:r>
            <a:r>
              <a:rPr spc="-50" dirty="0">
                <a:latin typeface="Verdana"/>
                <a:cs typeface="Verdana"/>
              </a:rPr>
              <a:t>)</a:t>
            </a:r>
            <a:endParaRPr>
              <a:latin typeface="Verdana"/>
              <a:cs typeface="Verdana"/>
            </a:endParaRPr>
          </a:p>
        </p:txBody>
      </p:sp>
      <p:sp>
        <p:nvSpPr>
          <p:cNvPr id="24" name="object 24"/>
          <p:cNvSpPr txBox="1"/>
          <p:nvPr/>
        </p:nvSpPr>
        <p:spPr>
          <a:xfrm>
            <a:off x="6973571" y="4828540"/>
            <a:ext cx="2453005"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actionPerformed(</a:t>
            </a:r>
            <a:r>
              <a:rPr spc="-15" dirty="0">
                <a:latin typeface="Verdana"/>
                <a:cs typeface="Verdana"/>
              </a:rPr>
              <a:t> </a:t>
            </a:r>
            <a:r>
              <a:rPr dirty="0">
                <a:latin typeface="Verdana"/>
                <a:cs typeface="Verdana"/>
              </a:rPr>
              <a:t>…</a:t>
            </a:r>
            <a:r>
              <a:rPr spc="-5" dirty="0">
                <a:latin typeface="Verdana"/>
                <a:cs typeface="Verdana"/>
              </a:rPr>
              <a:t> </a:t>
            </a:r>
            <a:r>
              <a:rPr spc="-50" dirty="0">
                <a:latin typeface="Verdana"/>
                <a:cs typeface="Verdana"/>
              </a:rPr>
              <a:t>)</a:t>
            </a:r>
            <a:endParaRPr>
              <a:latin typeface="Verdana"/>
              <a:cs typeface="Verdana"/>
            </a:endParaRPr>
          </a:p>
        </p:txBody>
      </p:sp>
      <p:sp>
        <p:nvSpPr>
          <p:cNvPr id="25" name="object 25"/>
          <p:cNvSpPr/>
          <p:nvPr/>
        </p:nvSpPr>
        <p:spPr>
          <a:xfrm>
            <a:off x="9300209" y="6521450"/>
            <a:ext cx="0" cy="3810"/>
          </a:xfrm>
          <a:custGeom>
            <a:avLst/>
            <a:gdLst/>
            <a:ahLst/>
            <a:cxnLst/>
            <a:rect l="l" t="t" r="r" b="b"/>
            <a:pathLst>
              <a:path h="3809">
                <a:moveTo>
                  <a:pt x="0" y="0"/>
                </a:moveTo>
                <a:lnTo>
                  <a:pt x="0" y="3810"/>
                </a:lnTo>
              </a:path>
            </a:pathLst>
          </a:custGeom>
          <a:ln w="19050">
            <a:solidFill>
              <a:srgbClr val="000000"/>
            </a:solidFill>
          </a:ln>
        </p:spPr>
        <p:txBody>
          <a:bodyPr wrap="square" lIns="0" tIns="0" rIns="0" bIns="0" rtlCol="0"/>
          <a:lstStyle/>
          <a:p>
            <a:endParaRPr/>
          </a:p>
        </p:txBody>
      </p:sp>
      <p:grpSp>
        <p:nvGrpSpPr>
          <p:cNvPr id="26" name="object 26"/>
          <p:cNvGrpSpPr/>
          <p:nvPr/>
        </p:nvGrpSpPr>
        <p:grpSpPr>
          <a:xfrm>
            <a:off x="3707072" y="2552641"/>
            <a:ext cx="5714365" cy="3973195"/>
            <a:chOff x="2183071" y="2552640"/>
            <a:chExt cx="5714365" cy="3973195"/>
          </a:xfrm>
        </p:grpSpPr>
        <p:sp>
          <p:nvSpPr>
            <p:cNvPr id="27" name="object 27"/>
            <p:cNvSpPr/>
            <p:nvPr/>
          </p:nvSpPr>
          <p:spPr>
            <a:xfrm>
              <a:off x="5040630" y="2997199"/>
              <a:ext cx="2735580" cy="3528060"/>
            </a:xfrm>
            <a:custGeom>
              <a:avLst/>
              <a:gdLst/>
              <a:ahLst/>
              <a:cxnLst/>
              <a:rect l="l" t="t" r="r" b="b"/>
              <a:pathLst>
                <a:path w="2735579" h="3528059">
                  <a:moveTo>
                    <a:pt x="0" y="0"/>
                  </a:moveTo>
                  <a:lnTo>
                    <a:pt x="0" y="3528060"/>
                  </a:lnTo>
                </a:path>
                <a:path w="2735579" h="3528059">
                  <a:moveTo>
                    <a:pt x="2735579" y="720089"/>
                  </a:moveTo>
                  <a:lnTo>
                    <a:pt x="2735579" y="3467100"/>
                  </a:lnTo>
                </a:path>
              </a:pathLst>
            </a:custGeom>
            <a:ln w="19050">
              <a:solidFill>
                <a:srgbClr val="000000"/>
              </a:solidFill>
              <a:prstDash val="sysDash"/>
            </a:ln>
          </p:spPr>
          <p:txBody>
            <a:bodyPr wrap="square" lIns="0" tIns="0" rIns="0" bIns="0" rtlCol="0"/>
            <a:lstStyle/>
            <a:p>
              <a:endParaRPr/>
            </a:p>
          </p:txBody>
        </p:sp>
        <p:sp>
          <p:nvSpPr>
            <p:cNvPr id="28" name="object 28"/>
            <p:cNvSpPr/>
            <p:nvPr/>
          </p:nvSpPr>
          <p:spPr>
            <a:xfrm>
              <a:off x="2195830" y="2565399"/>
              <a:ext cx="214629" cy="2303780"/>
            </a:xfrm>
            <a:custGeom>
              <a:avLst/>
              <a:gdLst/>
              <a:ahLst/>
              <a:cxnLst/>
              <a:rect l="l" t="t" r="r" b="b"/>
              <a:pathLst>
                <a:path w="214630" h="2303779">
                  <a:moveTo>
                    <a:pt x="214630" y="0"/>
                  </a:moveTo>
                  <a:lnTo>
                    <a:pt x="0" y="0"/>
                  </a:lnTo>
                  <a:lnTo>
                    <a:pt x="0" y="2303780"/>
                  </a:lnTo>
                  <a:lnTo>
                    <a:pt x="107950" y="2303780"/>
                  </a:lnTo>
                  <a:lnTo>
                    <a:pt x="214630" y="2303780"/>
                  </a:lnTo>
                  <a:lnTo>
                    <a:pt x="214630" y="0"/>
                  </a:lnTo>
                  <a:close/>
                </a:path>
              </a:pathLst>
            </a:custGeom>
            <a:solidFill>
              <a:srgbClr val="FFFFFF"/>
            </a:solidFill>
          </p:spPr>
          <p:txBody>
            <a:bodyPr wrap="square" lIns="0" tIns="0" rIns="0" bIns="0" rtlCol="0"/>
            <a:lstStyle/>
            <a:p>
              <a:endParaRPr/>
            </a:p>
          </p:txBody>
        </p:sp>
        <p:sp>
          <p:nvSpPr>
            <p:cNvPr id="29" name="object 29"/>
            <p:cNvSpPr/>
            <p:nvPr/>
          </p:nvSpPr>
          <p:spPr>
            <a:xfrm>
              <a:off x="2195830" y="2565399"/>
              <a:ext cx="214629" cy="2303780"/>
            </a:xfrm>
            <a:custGeom>
              <a:avLst/>
              <a:gdLst/>
              <a:ahLst/>
              <a:cxnLst/>
              <a:rect l="l" t="t" r="r" b="b"/>
              <a:pathLst>
                <a:path w="214630" h="2303779">
                  <a:moveTo>
                    <a:pt x="107950" y="2303780"/>
                  </a:moveTo>
                  <a:lnTo>
                    <a:pt x="0" y="2303780"/>
                  </a:lnTo>
                  <a:lnTo>
                    <a:pt x="0" y="0"/>
                  </a:lnTo>
                  <a:lnTo>
                    <a:pt x="214630" y="0"/>
                  </a:lnTo>
                  <a:lnTo>
                    <a:pt x="214630" y="2303780"/>
                  </a:lnTo>
                  <a:lnTo>
                    <a:pt x="107950" y="2303780"/>
                  </a:lnTo>
                  <a:close/>
                </a:path>
              </a:pathLst>
            </a:custGeom>
            <a:ln w="25518">
              <a:solidFill>
                <a:srgbClr val="000000"/>
              </a:solidFill>
            </a:ln>
          </p:spPr>
          <p:txBody>
            <a:bodyPr wrap="square" lIns="0" tIns="0" rIns="0" bIns="0" rtlCol="0"/>
            <a:lstStyle/>
            <a:p>
              <a:endParaRPr/>
            </a:p>
          </p:txBody>
        </p:sp>
        <p:sp>
          <p:nvSpPr>
            <p:cNvPr id="30" name="object 30"/>
            <p:cNvSpPr/>
            <p:nvPr/>
          </p:nvSpPr>
          <p:spPr>
            <a:xfrm>
              <a:off x="4931410" y="4149089"/>
              <a:ext cx="215900" cy="431800"/>
            </a:xfrm>
            <a:custGeom>
              <a:avLst/>
              <a:gdLst/>
              <a:ahLst/>
              <a:cxnLst/>
              <a:rect l="l" t="t" r="r" b="b"/>
              <a:pathLst>
                <a:path w="215900" h="431800">
                  <a:moveTo>
                    <a:pt x="215900" y="0"/>
                  </a:moveTo>
                  <a:lnTo>
                    <a:pt x="0" y="0"/>
                  </a:lnTo>
                  <a:lnTo>
                    <a:pt x="0" y="431800"/>
                  </a:lnTo>
                  <a:lnTo>
                    <a:pt x="107950" y="431800"/>
                  </a:lnTo>
                  <a:lnTo>
                    <a:pt x="215900" y="431800"/>
                  </a:lnTo>
                  <a:lnTo>
                    <a:pt x="215900" y="0"/>
                  </a:lnTo>
                  <a:close/>
                </a:path>
              </a:pathLst>
            </a:custGeom>
            <a:solidFill>
              <a:srgbClr val="FFFFFF"/>
            </a:solidFill>
          </p:spPr>
          <p:txBody>
            <a:bodyPr wrap="square" lIns="0" tIns="0" rIns="0" bIns="0" rtlCol="0"/>
            <a:lstStyle/>
            <a:p>
              <a:endParaRPr/>
            </a:p>
          </p:txBody>
        </p:sp>
        <p:sp>
          <p:nvSpPr>
            <p:cNvPr id="31" name="object 31"/>
            <p:cNvSpPr/>
            <p:nvPr/>
          </p:nvSpPr>
          <p:spPr>
            <a:xfrm>
              <a:off x="4931410" y="4149089"/>
              <a:ext cx="215900" cy="431800"/>
            </a:xfrm>
            <a:custGeom>
              <a:avLst/>
              <a:gdLst/>
              <a:ahLst/>
              <a:cxnLst/>
              <a:rect l="l" t="t" r="r" b="b"/>
              <a:pathLst>
                <a:path w="215900" h="431800">
                  <a:moveTo>
                    <a:pt x="107950" y="431800"/>
                  </a:moveTo>
                  <a:lnTo>
                    <a:pt x="0" y="431800"/>
                  </a:lnTo>
                  <a:lnTo>
                    <a:pt x="0" y="0"/>
                  </a:lnTo>
                  <a:lnTo>
                    <a:pt x="215900" y="0"/>
                  </a:lnTo>
                  <a:lnTo>
                    <a:pt x="215900" y="431800"/>
                  </a:lnTo>
                  <a:lnTo>
                    <a:pt x="107950" y="431800"/>
                  </a:lnTo>
                  <a:close/>
                </a:path>
              </a:pathLst>
            </a:custGeom>
            <a:ln w="25518">
              <a:solidFill>
                <a:srgbClr val="000000"/>
              </a:solidFill>
            </a:ln>
          </p:spPr>
          <p:txBody>
            <a:bodyPr wrap="square" lIns="0" tIns="0" rIns="0" bIns="0" rtlCol="0"/>
            <a:lstStyle/>
            <a:p>
              <a:endParaRPr/>
            </a:p>
          </p:txBody>
        </p:sp>
        <p:sp>
          <p:nvSpPr>
            <p:cNvPr id="32" name="object 32"/>
            <p:cNvSpPr/>
            <p:nvPr/>
          </p:nvSpPr>
          <p:spPr>
            <a:xfrm>
              <a:off x="4931410" y="5012689"/>
              <a:ext cx="215900" cy="863600"/>
            </a:xfrm>
            <a:custGeom>
              <a:avLst/>
              <a:gdLst/>
              <a:ahLst/>
              <a:cxnLst/>
              <a:rect l="l" t="t" r="r" b="b"/>
              <a:pathLst>
                <a:path w="215900" h="863600">
                  <a:moveTo>
                    <a:pt x="215900" y="0"/>
                  </a:moveTo>
                  <a:lnTo>
                    <a:pt x="0" y="0"/>
                  </a:lnTo>
                  <a:lnTo>
                    <a:pt x="0" y="863600"/>
                  </a:lnTo>
                  <a:lnTo>
                    <a:pt x="107950" y="863600"/>
                  </a:lnTo>
                  <a:lnTo>
                    <a:pt x="215900" y="863600"/>
                  </a:lnTo>
                  <a:lnTo>
                    <a:pt x="215900" y="0"/>
                  </a:lnTo>
                  <a:close/>
                </a:path>
              </a:pathLst>
            </a:custGeom>
            <a:solidFill>
              <a:srgbClr val="FFFFFF"/>
            </a:solidFill>
          </p:spPr>
          <p:txBody>
            <a:bodyPr wrap="square" lIns="0" tIns="0" rIns="0" bIns="0" rtlCol="0"/>
            <a:lstStyle/>
            <a:p>
              <a:endParaRPr/>
            </a:p>
          </p:txBody>
        </p:sp>
        <p:sp>
          <p:nvSpPr>
            <p:cNvPr id="33" name="object 33"/>
            <p:cNvSpPr/>
            <p:nvPr/>
          </p:nvSpPr>
          <p:spPr>
            <a:xfrm>
              <a:off x="4931410" y="5012689"/>
              <a:ext cx="215900" cy="863600"/>
            </a:xfrm>
            <a:custGeom>
              <a:avLst/>
              <a:gdLst/>
              <a:ahLst/>
              <a:cxnLst/>
              <a:rect l="l" t="t" r="r" b="b"/>
              <a:pathLst>
                <a:path w="215900" h="863600">
                  <a:moveTo>
                    <a:pt x="107950" y="863600"/>
                  </a:moveTo>
                  <a:lnTo>
                    <a:pt x="0" y="863600"/>
                  </a:lnTo>
                  <a:lnTo>
                    <a:pt x="0" y="0"/>
                  </a:lnTo>
                  <a:lnTo>
                    <a:pt x="215900" y="0"/>
                  </a:lnTo>
                  <a:lnTo>
                    <a:pt x="215900" y="863600"/>
                  </a:lnTo>
                  <a:lnTo>
                    <a:pt x="107950" y="863600"/>
                  </a:lnTo>
                  <a:close/>
                </a:path>
              </a:pathLst>
            </a:custGeom>
            <a:ln w="25518">
              <a:solidFill>
                <a:srgbClr val="000000"/>
              </a:solidFill>
            </a:ln>
          </p:spPr>
          <p:txBody>
            <a:bodyPr wrap="square" lIns="0" tIns="0" rIns="0" bIns="0" rtlCol="0"/>
            <a:lstStyle/>
            <a:p>
              <a:endParaRPr/>
            </a:p>
          </p:txBody>
        </p:sp>
        <p:sp>
          <p:nvSpPr>
            <p:cNvPr id="34" name="object 34"/>
            <p:cNvSpPr/>
            <p:nvPr/>
          </p:nvSpPr>
          <p:spPr>
            <a:xfrm>
              <a:off x="7668260" y="5228589"/>
              <a:ext cx="215900" cy="863600"/>
            </a:xfrm>
            <a:custGeom>
              <a:avLst/>
              <a:gdLst/>
              <a:ahLst/>
              <a:cxnLst/>
              <a:rect l="l" t="t" r="r" b="b"/>
              <a:pathLst>
                <a:path w="215900" h="863600">
                  <a:moveTo>
                    <a:pt x="215900" y="0"/>
                  </a:moveTo>
                  <a:lnTo>
                    <a:pt x="0" y="0"/>
                  </a:lnTo>
                  <a:lnTo>
                    <a:pt x="0" y="863600"/>
                  </a:lnTo>
                  <a:lnTo>
                    <a:pt x="107950" y="863600"/>
                  </a:lnTo>
                  <a:lnTo>
                    <a:pt x="215900" y="863600"/>
                  </a:lnTo>
                  <a:lnTo>
                    <a:pt x="215900" y="0"/>
                  </a:lnTo>
                  <a:close/>
                </a:path>
              </a:pathLst>
            </a:custGeom>
            <a:solidFill>
              <a:srgbClr val="FFFFFF"/>
            </a:solidFill>
          </p:spPr>
          <p:txBody>
            <a:bodyPr wrap="square" lIns="0" tIns="0" rIns="0" bIns="0" rtlCol="0"/>
            <a:lstStyle/>
            <a:p>
              <a:endParaRPr/>
            </a:p>
          </p:txBody>
        </p:sp>
        <p:sp>
          <p:nvSpPr>
            <p:cNvPr id="35" name="object 35"/>
            <p:cNvSpPr/>
            <p:nvPr/>
          </p:nvSpPr>
          <p:spPr>
            <a:xfrm>
              <a:off x="7668260" y="5228589"/>
              <a:ext cx="215900" cy="863600"/>
            </a:xfrm>
            <a:custGeom>
              <a:avLst/>
              <a:gdLst/>
              <a:ahLst/>
              <a:cxnLst/>
              <a:rect l="l" t="t" r="r" b="b"/>
              <a:pathLst>
                <a:path w="215900" h="863600">
                  <a:moveTo>
                    <a:pt x="107950" y="863600"/>
                  </a:moveTo>
                  <a:lnTo>
                    <a:pt x="0" y="863600"/>
                  </a:lnTo>
                  <a:lnTo>
                    <a:pt x="0" y="0"/>
                  </a:lnTo>
                  <a:lnTo>
                    <a:pt x="215900" y="0"/>
                  </a:lnTo>
                  <a:lnTo>
                    <a:pt x="215900" y="863600"/>
                  </a:lnTo>
                  <a:lnTo>
                    <a:pt x="107950" y="863600"/>
                  </a:lnTo>
                  <a:close/>
                </a:path>
              </a:pathLst>
            </a:custGeom>
            <a:ln w="25518">
              <a:solidFill>
                <a:srgbClr val="000000"/>
              </a:solidFill>
            </a:ln>
          </p:spPr>
          <p:txBody>
            <a:bodyPr wrap="square" lIns="0" tIns="0" rIns="0" bIns="0" rtlCol="0"/>
            <a:lstStyle/>
            <a:p>
              <a:endParaRPr/>
            </a:p>
          </p:txBody>
        </p:sp>
      </p:grpSp>
      <p:sp>
        <p:nvSpPr>
          <p:cNvPr id="36" name="object 36"/>
          <p:cNvSpPr txBox="1"/>
          <p:nvPr/>
        </p:nvSpPr>
        <p:spPr>
          <a:xfrm>
            <a:off x="9017001" y="1588770"/>
            <a:ext cx="858520" cy="289823"/>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Roles</a:t>
            </a:r>
            <a:endParaRPr dirty="0">
              <a:latin typeface="Verdana"/>
              <a:cs typeface="Verdana"/>
            </a:endParaRPr>
          </a:p>
        </p:txBody>
      </p:sp>
      <p:sp>
        <p:nvSpPr>
          <p:cNvPr id="37" name="object 37"/>
          <p:cNvSpPr txBox="1"/>
          <p:nvPr/>
        </p:nvSpPr>
        <p:spPr>
          <a:xfrm>
            <a:off x="4771389" y="1443990"/>
            <a:ext cx="858520" cy="289823"/>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Object</a:t>
            </a:r>
            <a:endParaRPr dirty="0">
              <a:latin typeface="Verdana"/>
              <a:cs typeface="Verdana"/>
            </a:endParaRPr>
          </a:p>
        </p:txBody>
      </p:sp>
      <p:sp>
        <p:nvSpPr>
          <p:cNvPr id="38" name="object 38"/>
          <p:cNvSpPr txBox="1"/>
          <p:nvPr/>
        </p:nvSpPr>
        <p:spPr>
          <a:xfrm>
            <a:off x="4618991" y="4253229"/>
            <a:ext cx="1694178" cy="566822"/>
          </a:xfrm>
          <a:prstGeom prst="rect">
            <a:avLst/>
          </a:prstGeom>
        </p:spPr>
        <p:txBody>
          <a:bodyPr vert="horz" wrap="square" lIns="0" tIns="12700" rIns="0" bIns="0" rtlCol="0">
            <a:spAutoFit/>
          </a:bodyPr>
          <a:lstStyle/>
          <a:p>
            <a:pPr marL="12700" marR="5080">
              <a:spcBef>
                <a:spcPts val="100"/>
              </a:spcBef>
            </a:pPr>
            <a:r>
              <a:rPr lang="en-CA" i="1" spc="-10" dirty="0">
                <a:latin typeface="Verdana"/>
                <a:cs typeface="Verdana"/>
              </a:rPr>
              <a:t>Synchronous</a:t>
            </a:r>
            <a:r>
              <a:rPr i="1" spc="-10" dirty="0">
                <a:latin typeface="Verdana"/>
                <a:cs typeface="Verdana"/>
              </a:rPr>
              <a:t> </a:t>
            </a:r>
            <a:r>
              <a:rPr i="1" dirty="0">
                <a:latin typeface="Verdana"/>
                <a:cs typeface="Verdana"/>
              </a:rPr>
              <a:t>method</a:t>
            </a:r>
            <a:r>
              <a:rPr i="1" spc="-90" dirty="0">
                <a:latin typeface="Verdana"/>
                <a:cs typeface="Verdana"/>
              </a:rPr>
              <a:t> </a:t>
            </a:r>
            <a:r>
              <a:rPr i="1" spc="-20" dirty="0">
                <a:latin typeface="Verdana"/>
                <a:cs typeface="Verdana"/>
              </a:rPr>
              <a:t>call</a:t>
            </a:r>
            <a:endParaRPr dirty="0">
              <a:latin typeface="Verdana"/>
              <a:cs typeface="Verdana"/>
            </a:endParaRPr>
          </a:p>
        </p:txBody>
      </p:sp>
      <p:sp>
        <p:nvSpPr>
          <p:cNvPr id="39" name="object 39"/>
          <p:cNvSpPr txBox="1"/>
          <p:nvPr/>
        </p:nvSpPr>
        <p:spPr>
          <a:xfrm>
            <a:off x="7578091" y="3821429"/>
            <a:ext cx="1506220" cy="289823"/>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Constructor</a:t>
            </a:r>
            <a:endParaRPr dirty="0">
              <a:latin typeface="Verdana"/>
              <a:cs typeface="Verdana"/>
            </a:endParaRPr>
          </a:p>
        </p:txBody>
      </p:sp>
      <p:sp>
        <p:nvSpPr>
          <p:cNvPr id="40" name="object 40"/>
          <p:cNvSpPr txBox="1"/>
          <p:nvPr/>
        </p:nvSpPr>
        <p:spPr>
          <a:xfrm>
            <a:off x="7578090" y="4095750"/>
            <a:ext cx="651510" cy="289823"/>
          </a:xfrm>
          <a:prstGeom prst="rect">
            <a:avLst/>
          </a:prstGeom>
        </p:spPr>
        <p:txBody>
          <a:bodyPr vert="horz" wrap="square" lIns="0" tIns="12700" rIns="0" bIns="0" rtlCol="0">
            <a:spAutoFit/>
          </a:bodyPr>
          <a:lstStyle/>
          <a:p>
            <a:pPr marL="12700">
              <a:spcBef>
                <a:spcPts val="100"/>
              </a:spcBef>
            </a:pPr>
            <a:r>
              <a:rPr lang="en-CA" i="1" spc="-20" dirty="0">
                <a:latin typeface="Verdana"/>
                <a:cs typeface="Verdana"/>
              </a:rPr>
              <a:t>call</a:t>
            </a:r>
            <a:endParaRPr dirty="0">
              <a:latin typeface="Verdana"/>
              <a:cs typeface="Verdana"/>
            </a:endParaRPr>
          </a:p>
        </p:txBody>
      </p:sp>
      <p:sp>
        <p:nvSpPr>
          <p:cNvPr id="41" name="object 41"/>
          <p:cNvSpPr txBox="1"/>
          <p:nvPr/>
        </p:nvSpPr>
        <p:spPr>
          <a:xfrm>
            <a:off x="3467099" y="6485890"/>
            <a:ext cx="952497" cy="289823"/>
          </a:xfrm>
          <a:prstGeom prst="rect">
            <a:avLst/>
          </a:prstGeom>
        </p:spPr>
        <p:txBody>
          <a:bodyPr vert="horz" wrap="square" lIns="0" tIns="12700" rIns="0" bIns="0" rtlCol="0">
            <a:spAutoFit/>
          </a:bodyPr>
          <a:lstStyle/>
          <a:p>
            <a:pPr marL="12700">
              <a:spcBef>
                <a:spcPts val="100"/>
              </a:spcBef>
            </a:pPr>
            <a:r>
              <a:rPr lang="en-CA" i="1" spc="-10" dirty="0">
                <a:latin typeface="Verdana"/>
                <a:cs typeface="Verdana"/>
              </a:rPr>
              <a:t>Lifeline</a:t>
            </a:r>
            <a:endParaRPr dirty="0">
              <a:latin typeface="Verdana"/>
              <a:cs typeface="Verdana"/>
            </a:endParaRPr>
          </a:p>
        </p:txBody>
      </p:sp>
      <p:sp>
        <p:nvSpPr>
          <p:cNvPr id="42" name="object 42"/>
          <p:cNvSpPr txBox="1"/>
          <p:nvPr/>
        </p:nvSpPr>
        <p:spPr>
          <a:xfrm>
            <a:off x="2256792" y="2597150"/>
            <a:ext cx="1344927" cy="566822"/>
          </a:xfrm>
          <a:prstGeom prst="rect">
            <a:avLst/>
          </a:prstGeom>
        </p:spPr>
        <p:txBody>
          <a:bodyPr vert="horz" wrap="square" lIns="0" tIns="12700" rIns="0" bIns="0" rtlCol="0">
            <a:spAutoFit/>
          </a:bodyPr>
          <a:lstStyle/>
          <a:p>
            <a:pPr marL="12700" marR="5080">
              <a:spcBef>
                <a:spcPts val="100"/>
              </a:spcBef>
            </a:pPr>
            <a:r>
              <a:rPr lang="en-CA" i="1" spc="-10" dirty="0">
                <a:latin typeface="Verdana"/>
                <a:cs typeface="Verdana"/>
              </a:rPr>
              <a:t>Activation </a:t>
            </a:r>
            <a:r>
              <a:rPr i="1" spc="-25" dirty="0">
                <a:latin typeface="Verdana"/>
                <a:cs typeface="Verdana"/>
              </a:rPr>
              <a:t>box</a:t>
            </a:r>
            <a:endParaRPr dirty="0">
              <a:latin typeface="Verdana"/>
              <a:cs typeface="Verdana"/>
            </a:endParaRPr>
          </a:p>
        </p:txBody>
      </p:sp>
      <p:sp>
        <p:nvSpPr>
          <p:cNvPr id="43" name="object 43"/>
          <p:cNvSpPr txBox="1"/>
          <p:nvPr/>
        </p:nvSpPr>
        <p:spPr>
          <a:xfrm>
            <a:off x="1661160" y="3749040"/>
            <a:ext cx="654049" cy="289823"/>
          </a:xfrm>
          <a:prstGeom prst="rect">
            <a:avLst/>
          </a:prstGeom>
        </p:spPr>
        <p:txBody>
          <a:bodyPr vert="horz" wrap="square" lIns="0" tIns="12700" rIns="0" bIns="0" rtlCol="0">
            <a:spAutoFit/>
          </a:bodyPr>
          <a:lstStyle/>
          <a:p>
            <a:pPr marL="12700">
              <a:spcBef>
                <a:spcPts val="100"/>
              </a:spcBef>
            </a:pPr>
            <a:r>
              <a:rPr lang="en-CA" i="1" spc="-20" dirty="0">
                <a:solidFill>
                  <a:srgbClr val="3B3B3B"/>
                </a:solidFill>
                <a:latin typeface="Arial"/>
                <a:cs typeface="Arial"/>
              </a:rPr>
              <a:t>Time</a:t>
            </a:r>
            <a:endParaRPr dirty="0">
              <a:latin typeface="Arial"/>
              <a:cs typeface="Arial"/>
            </a:endParaRPr>
          </a:p>
        </p:txBody>
      </p:sp>
      <p:grpSp>
        <p:nvGrpSpPr>
          <p:cNvPr id="44" name="object 44"/>
          <p:cNvGrpSpPr/>
          <p:nvPr/>
        </p:nvGrpSpPr>
        <p:grpSpPr>
          <a:xfrm>
            <a:off x="1948180" y="4076700"/>
            <a:ext cx="86360" cy="647700"/>
            <a:chOff x="424180" y="4076700"/>
            <a:chExt cx="86360" cy="647700"/>
          </a:xfrm>
        </p:grpSpPr>
        <p:sp>
          <p:nvSpPr>
            <p:cNvPr id="45" name="object 45"/>
            <p:cNvSpPr/>
            <p:nvPr/>
          </p:nvSpPr>
          <p:spPr>
            <a:xfrm>
              <a:off x="467360" y="4076700"/>
              <a:ext cx="0" cy="568960"/>
            </a:xfrm>
            <a:custGeom>
              <a:avLst/>
              <a:gdLst/>
              <a:ahLst/>
              <a:cxnLst/>
              <a:rect l="l" t="t" r="r" b="b"/>
              <a:pathLst>
                <a:path h="568960">
                  <a:moveTo>
                    <a:pt x="0" y="0"/>
                  </a:moveTo>
                  <a:lnTo>
                    <a:pt x="0" y="568960"/>
                  </a:lnTo>
                </a:path>
              </a:pathLst>
            </a:custGeom>
            <a:ln w="27940">
              <a:solidFill>
                <a:srgbClr val="000000"/>
              </a:solidFill>
            </a:ln>
          </p:spPr>
          <p:txBody>
            <a:bodyPr wrap="square" lIns="0" tIns="0" rIns="0" bIns="0" rtlCol="0"/>
            <a:lstStyle/>
            <a:p>
              <a:endParaRPr/>
            </a:p>
          </p:txBody>
        </p:sp>
        <p:sp>
          <p:nvSpPr>
            <p:cNvPr id="46" name="object 46"/>
            <p:cNvSpPr/>
            <p:nvPr/>
          </p:nvSpPr>
          <p:spPr>
            <a:xfrm>
              <a:off x="424180" y="4639309"/>
              <a:ext cx="86360" cy="85090"/>
            </a:xfrm>
            <a:custGeom>
              <a:avLst/>
              <a:gdLst/>
              <a:ahLst/>
              <a:cxnLst/>
              <a:rect l="l" t="t" r="r" b="b"/>
              <a:pathLst>
                <a:path w="86359" h="85089">
                  <a:moveTo>
                    <a:pt x="86360" y="0"/>
                  </a:moveTo>
                  <a:lnTo>
                    <a:pt x="0" y="0"/>
                  </a:lnTo>
                  <a:lnTo>
                    <a:pt x="43179" y="85089"/>
                  </a:lnTo>
                  <a:lnTo>
                    <a:pt x="86360" y="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EC0E-2673-1654-E3D7-F44F68F821A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EF33A4-2DC1-84C7-2CDE-0FFC91AF5A97}"/>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dirty="0"/>
              <a:t>Exercise</a:t>
            </a:r>
          </a:p>
        </p:txBody>
      </p:sp>
      <p:sp>
        <p:nvSpPr>
          <p:cNvPr id="4" name="Content Placeholder 2">
            <a:extLst>
              <a:ext uri="{FF2B5EF4-FFF2-40B4-BE49-F238E27FC236}">
                <a16:creationId xmlns:a16="http://schemas.microsoft.com/office/drawing/2014/main" id="{B5009ACB-39C9-2BD3-E046-E0B54D0CAE66}"/>
              </a:ext>
            </a:extLst>
          </p:cNvPr>
          <p:cNvSpPr>
            <a:spLocks noGrp="1"/>
          </p:cNvSpPr>
          <p:nvPr>
            <p:ph idx="1"/>
          </p:nvPr>
        </p:nvSpPr>
        <p:spPr>
          <a:xfrm>
            <a:off x="838200" y="1825625"/>
            <a:ext cx="10515600" cy="4351338"/>
          </a:xfrm>
        </p:spPr>
        <p:txBody>
          <a:bodyPr/>
          <a:lstStyle/>
          <a:p>
            <a:r>
              <a:rPr lang="en-US" dirty="0"/>
              <a:t>Draw a UML sequence diagram for the behavior when a button is clicked in the example application.</a:t>
            </a:r>
          </a:p>
        </p:txBody>
      </p:sp>
    </p:spTree>
    <p:extLst>
      <p:ext uri="{BB962C8B-B14F-4D97-AF65-F5344CB8AC3E}">
        <p14:creationId xmlns:p14="http://schemas.microsoft.com/office/powerpoint/2010/main" val="2572452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31850" y="3718654"/>
            <a:ext cx="10515600" cy="843821"/>
          </a:xfrm>
          <a:prstGeom prst="rect">
            <a:avLst/>
          </a:prstGeom>
        </p:spPr>
        <p:txBody>
          <a:bodyPr vert="horz" wrap="square" lIns="0" tIns="12700" rIns="0" bIns="0" rtlCol="0">
            <a:spAutoFit/>
          </a:bodyPr>
          <a:lstStyle/>
          <a:p>
            <a:pPr marL="12700">
              <a:spcBef>
                <a:spcPts val="100"/>
              </a:spcBef>
            </a:pPr>
            <a:r>
              <a:rPr dirty="0"/>
              <a:t>Swing</a:t>
            </a:r>
          </a:p>
        </p:txBody>
      </p:sp>
      <p:sp>
        <p:nvSpPr>
          <p:cNvPr id="4" name="Text Placeholder 3">
            <a:extLst>
              <a:ext uri="{FF2B5EF4-FFF2-40B4-BE49-F238E27FC236}">
                <a16:creationId xmlns:a16="http://schemas.microsoft.com/office/drawing/2014/main" id="{920550D9-C1E0-CFDB-59D1-37E80C5D13CC}"/>
              </a:ext>
            </a:extLst>
          </p:cNvPr>
          <p:cNvSpPr>
            <a:spLocks noGrp="1"/>
          </p:cNvSpPr>
          <p:nvPr>
            <p:ph type="body" idx="1"/>
          </p:nvPr>
        </p:nvSpPr>
        <p:spPr/>
        <p:txBody>
          <a:bodyPr/>
          <a:lstStyle/>
          <a:p>
            <a:endParaRPr lang="en-CA"/>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261CCD2-87EF-90B0-F278-DC0CC9EA9950}"/>
              </a:ext>
            </a:extLst>
          </p:cNvPr>
          <p:cNvGrpSpPr/>
          <p:nvPr/>
        </p:nvGrpSpPr>
        <p:grpSpPr>
          <a:xfrm>
            <a:off x="2171700" y="168910"/>
            <a:ext cx="7848600" cy="6518910"/>
            <a:chOff x="2711450" y="168910"/>
            <a:chExt cx="7848600" cy="6518910"/>
          </a:xfrm>
        </p:grpSpPr>
        <p:pic>
          <p:nvPicPr>
            <p:cNvPr id="2" name="object 2"/>
            <p:cNvPicPr/>
            <p:nvPr/>
          </p:nvPicPr>
          <p:blipFill>
            <a:blip r:embed="rId2" cstate="print"/>
            <a:stretch>
              <a:fillRect/>
            </a:stretch>
          </p:blipFill>
          <p:spPr>
            <a:xfrm>
              <a:off x="2711450" y="187960"/>
              <a:ext cx="3810000" cy="3187700"/>
            </a:xfrm>
            <a:prstGeom prst="rect">
              <a:avLst/>
            </a:prstGeom>
          </p:spPr>
        </p:pic>
        <p:pic>
          <p:nvPicPr>
            <p:cNvPr id="3" name="object 3"/>
            <p:cNvPicPr/>
            <p:nvPr/>
          </p:nvPicPr>
          <p:blipFill>
            <a:blip r:embed="rId3" cstate="print"/>
            <a:stretch>
              <a:fillRect/>
            </a:stretch>
          </p:blipFill>
          <p:spPr>
            <a:xfrm>
              <a:off x="6750050" y="168910"/>
              <a:ext cx="3810000" cy="3187700"/>
            </a:xfrm>
            <a:prstGeom prst="rect">
              <a:avLst/>
            </a:prstGeom>
          </p:spPr>
        </p:pic>
        <p:pic>
          <p:nvPicPr>
            <p:cNvPr id="4" name="object 4"/>
            <p:cNvPicPr/>
            <p:nvPr/>
          </p:nvPicPr>
          <p:blipFill>
            <a:blip r:embed="rId4" cstate="print"/>
            <a:stretch>
              <a:fillRect/>
            </a:stretch>
          </p:blipFill>
          <p:spPr>
            <a:xfrm>
              <a:off x="2717800" y="3500121"/>
              <a:ext cx="3810000" cy="3187699"/>
            </a:xfrm>
            <a:prstGeom prst="rect">
              <a:avLst/>
            </a:prstGeom>
          </p:spPr>
        </p:pic>
        <p:pic>
          <p:nvPicPr>
            <p:cNvPr id="5" name="object 5"/>
            <p:cNvPicPr/>
            <p:nvPr/>
          </p:nvPicPr>
          <p:blipFill>
            <a:blip r:embed="rId5" cstate="print"/>
            <a:stretch>
              <a:fillRect/>
            </a:stretch>
          </p:blipFill>
          <p:spPr>
            <a:xfrm>
              <a:off x="6750050" y="3500121"/>
              <a:ext cx="3810000" cy="3187699"/>
            </a:xfrm>
            <a:prstGeom prst="rect">
              <a:avLst/>
            </a:prstGeom>
          </p:spPr>
        </p:pic>
      </p:grpSp>
      <p:sp>
        <p:nvSpPr>
          <p:cNvPr id="6" name="object 6"/>
          <p:cNvSpPr txBox="1"/>
          <p:nvPr/>
        </p:nvSpPr>
        <p:spPr>
          <a:xfrm>
            <a:off x="2499361" y="1300479"/>
            <a:ext cx="643255"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Metal</a:t>
            </a:r>
            <a:endParaRPr>
              <a:latin typeface="Verdana"/>
              <a:cs typeface="Verdana"/>
            </a:endParaRPr>
          </a:p>
        </p:txBody>
      </p:sp>
      <p:sp>
        <p:nvSpPr>
          <p:cNvPr id="7" name="object 7"/>
          <p:cNvSpPr txBox="1"/>
          <p:nvPr/>
        </p:nvSpPr>
        <p:spPr>
          <a:xfrm>
            <a:off x="6536690" y="1300479"/>
            <a:ext cx="887094"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Nimbus</a:t>
            </a:r>
            <a:endParaRPr>
              <a:latin typeface="Verdana"/>
              <a:cs typeface="Verdana"/>
            </a:endParaRPr>
          </a:p>
        </p:txBody>
      </p:sp>
      <p:sp>
        <p:nvSpPr>
          <p:cNvPr id="8" name="object 8"/>
          <p:cNvSpPr txBox="1"/>
          <p:nvPr/>
        </p:nvSpPr>
        <p:spPr>
          <a:xfrm>
            <a:off x="2501900" y="4612640"/>
            <a:ext cx="589280"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Motif</a:t>
            </a:r>
            <a:endParaRPr>
              <a:latin typeface="Verdana"/>
              <a:cs typeface="Verdana"/>
            </a:endParaRPr>
          </a:p>
        </p:txBody>
      </p:sp>
      <p:sp>
        <p:nvSpPr>
          <p:cNvPr id="9" name="object 9"/>
          <p:cNvSpPr txBox="1"/>
          <p:nvPr/>
        </p:nvSpPr>
        <p:spPr>
          <a:xfrm>
            <a:off x="6539229" y="4612640"/>
            <a:ext cx="1129030" cy="299720"/>
          </a:xfrm>
          <a:prstGeom prst="rect">
            <a:avLst/>
          </a:prstGeom>
        </p:spPr>
        <p:txBody>
          <a:bodyPr vert="horz" wrap="square" lIns="0" tIns="12700" rIns="0" bIns="0" rtlCol="0">
            <a:spAutoFit/>
          </a:bodyPr>
          <a:lstStyle/>
          <a:p>
            <a:pPr marL="12700">
              <a:spcBef>
                <a:spcPts val="100"/>
              </a:spcBef>
            </a:pPr>
            <a:r>
              <a:rPr dirty="0">
                <a:latin typeface="Verdana"/>
                <a:cs typeface="Verdana"/>
              </a:rPr>
              <a:t>Mac</a:t>
            </a:r>
            <a:r>
              <a:rPr spc="-10" dirty="0">
                <a:latin typeface="Verdana"/>
                <a:cs typeface="Verdana"/>
              </a:rPr>
              <a:t> </a:t>
            </a:r>
            <a:r>
              <a:rPr dirty="0">
                <a:latin typeface="Verdana"/>
                <a:cs typeface="Verdana"/>
              </a:rPr>
              <a:t>OS</a:t>
            </a:r>
            <a:r>
              <a:rPr spc="5" dirty="0">
                <a:latin typeface="Verdana"/>
                <a:cs typeface="Verdana"/>
              </a:rPr>
              <a:t> </a:t>
            </a:r>
            <a:r>
              <a:rPr spc="-50" dirty="0">
                <a:latin typeface="Verdana"/>
                <a:cs typeface="Verdana"/>
              </a:rPr>
              <a:t>X</a:t>
            </a:r>
            <a:endParaRPr>
              <a:latin typeface="Verdana"/>
              <a:cs typeface="Verdan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32000" y="1230630"/>
            <a:ext cx="8128000" cy="4381500"/>
          </a:xfrm>
          <a:prstGeom prst="rect">
            <a:avLst/>
          </a:prstGeom>
        </p:spPr>
      </p:pic>
      <p:sp>
        <p:nvSpPr>
          <p:cNvPr id="3" name="object 3"/>
          <p:cNvSpPr txBox="1"/>
          <p:nvPr/>
        </p:nvSpPr>
        <p:spPr>
          <a:xfrm>
            <a:off x="1907540" y="6052820"/>
            <a:ext cx="8376920" cy="299720"/>
          </a:xfrm>
          <a:prstGeom prst="rect">
            <a:avLst/>
          </a:prstGeom>
        </p:spPr>
        <p:txBody>
          <a:bodyPr vert="horz" wrap="square" lIns="0" tIns="12700" rIns="0" bIns="0" rtlCol="0">
            <a:spAutoFit/>
          </a:bodyPr>
          <a:lstStyle/>
          <a:p>
            <a:pPr marL="12700">
              <a:spcBef>
                <a:spcPts val="100"/>
              </a:spcBef>
            </a:pPr>
            <a:r>
              <a:rPr dirty="0">
                <a:latin typeface="Verdana"/>
                <a:cs typeface="Verdana"/>
              </a:rPr>
              <a:t>-</a:t>
            </a:r>
            <a:r>
              <a:rPr spc="-10" dirty="0">
                <a:latin typeface="Verdana"/>
                <a:cs typeface="Verdana"/>
              </a:rPr>
              <a:t>Dswing.defaultlaf=com.sun.java.swing.plaf.nimbus.NimbusLookAndFeel</a:t>
            </a:r>
            <a:endParaRPr dirty="0">
              <a:latin typeface="Verdana"/>
              <a:cs typeface="Verdan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82546" y="6052820"/>
            <a:ext cx="7026909" cy="299720"/>
          </a:xfrm>
          <a:prstGeom prst="rect">
            <a:avLst/>
          </a:prstGeom>
        </p:spPr>
        <p:txBody>
          <a:bodyPr vert="horz" wrap="square" lIns="0" tIns="12700" rIns="0" bIns="0" rtlCol="0">
            <a:spAutoFit/>
          </a:bodyPr>
          <a:lstStyle/>
          <a:p>
            <a:pPr marL="12700">
              <a:spcBef>
                <a:spcPts val="100"/>
              </a:spcBef>
            </a:pPr>
            <a:r>
              <a:rPr dirty="0">
                <a:latin typeface="Verdana"/>
                <a:cs typeface="Verdana"/>
              </a:rPr>
              <a:t>-</a:t>
            </a:r>
            <a:r>
              <a:rPr spc="-10" dirty="0">
                <a:latin typeface="Verdana"/>
                <a:cs typeface="Verdana"/>
              </a:rPr>
              <a:t>Dswing.defaultlaf=javax.swing.plaf.metal.MetalLookAndFeel</a:t>
            </a:r>
            <a:endParaRPr dirty="0">
              <a:latin typeface="Verdana"/>
              <a:cs typeface="Verdana"/>
            </a:endParaRPr>
          </a:p>
        </p:txBody>
      </p:sp>
      <p:pic>
        <p:nvPicPr>
          <p:cNvPr id="3" name="object 3"/>
          <p:cNvPicPr/>
          <p:nvPr/>
        </p:nvPicPr>
        <p:blipFill>
          <a:blip r:embed="rId2" cstate="print"/>
          <a:stretch>
            <a:fillRect/>
          </a:stretch>
        </p:blipFill>
        <p:spPr>
          <a:xfrm>
            <a:off x="2032000" y="1243330"/>
            <a:ext cx="8128000" cy="43561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18287" y="1243330"/>
            <a:ext cx="8128000" cy="4368800"/>
          </a:xfrm>
          <a:prstGeom prst="rect">
            <a:avLst/>
          </a:prstGeom>
        </p:spPr>
      </p:pic>
      <p:sp>
        <p:nvSpPr>
          <p:cNvPr id="3" name="object 3"/>
          <p:cNvSpPr txBox="1"/>
          <p:nvPr/>
        </p:nvSpPr>
        <p:spPr>
          <a:xfrm>
            <a:off x="5231765" y="652779"/>
            <a:ext cx="1728470" cy="299720"/>
          </a:xfrm>
          <a:prstGeom prst="rect">
            <a:avLst/>
          </a:prstGeom>
        </p:spPr>
        <p:txBody>
          <a:bodyPr vert="horz" wrap="square" lIns="0" tIns="12700" rIns="0" bIns="0" rtlCol="0">
            <a:spAutoFit/>
          </a:bodyPr>
          <a:lstStyle/>
          <a:p>
            <a:pPr marL="12700">
              <a:spcBef>
                <a:spcPts val="100"/>
              </a:spcBef>
            </a:pPr>
            <a:r>
              <a:rPr dirty="0">
                <a:latin typeface="Verdana"/>
                <a:cs typeface="Verdana"/>
              </a:rPr>
              <a:t>JFrame,</a:t>
            </a:r>
            <a:r>
              <a:rPr spc="-75" dirty="0">
                <a:latin typeface="Verdana"/>
                <a:cs typeface="Verdana"/>
              </a:rPr>
              <a:t> </a:t>
            </a:r>
            <a:r>
              <a:rPr spc="-10" dirty="0">
                <a:latin typeface="Verdana"/>
                <a:cs typeface="Verdana"/>
              </a:rPr>
              <a:t>JPanel</a:t>
            </a:r>
            <a:endParaRPr dirty="0">
              <a:latin typeface="Verdana"/>
              <a:cs typeface="Verdana"/>
            </a:endParaRPr>
          </a:p>
        </p:txBody>
      </p:sp>
      <p:graphicFrame>
        <p:nvGraphicFramePr>
          <p:cNvPr id="4" name="object 4"/>
          <p:cNvGraphicFramePr>
            <a:graphicFrameLocks noGrp="1"/>
          </p:cNvGraphicFramePr>
          <p:nvPr>
            <p:extLst>
              <p:ext uri="{D42A27DB-BD31-4B8C-83A1-F6EECF244321}">
                <p14:modId xmlns:p14="http://schemas.microsoft.com/office/powerpoint/2010/main" val="587510603"/>
              </p:ext>
            </p:extLst>
          </p:nvPr>
        </p:nvGraphicFramePr>
        <p:xfrm>
          <a:off x="1977965" y="1471871"/>
          <a:ext cx="8208644" cy="4175125"/>
        </p:xfrm>
        <a:graphic>
          <a:graphicData uri="http://schemas.openxmlformats.org/drawingml/2006/table">
            <a:tbl>
              <a:tblPr firstRow="1" bandRow="1">
                <a:tableStyleId>{2D5ABB26-0587-4C30-8999-92F81FD0307C}</a:tableStyleId>
              </a:tblPr>
              <a:tblGrid>
                <a:gridCol w="2592070">
                  <a:extLst>
                    <a:ext uri="{9D8B030D-6E8A-4147-A177-3AD203B41FA5}">
                      <a16:colId xmlns:a16="http://schemas.microsoft.com/office/drawing/2014/main" val="20000"/>
                    </a:ext>
                  </a:extLst>
                </a:gridCol>
                <a:gridCol w="72389">
                  <a:extLst>
                    <a:ext uri="{9D8B030D-6E8A-4147-A177-3AD203B41FA5}">
                      <a16:colId xmlns:a16="http://schemas.microsoft.com/office/drawing/2014/main" val="20001"/>
                    </a:ext>
                  </a:extLst>
                </a:gridCol>
                <a:gridCol w="5544185">
                  <a:extLst>
                    <a:ext uri="{9D8B030D-6E8A-4147-A177-3AD203B41FA5}">
                      <a16:colId xmlns:a16="http://schemas.microsoft.com/office/drawing/2014/main" val="20002"/>
                    </a:ext>
                  </a:extLst>
                </a:gridCol>
              </a:tblGrid>
              <a:tr h="288290">
                <a:tc gridSpan="3">
                  <a:txBody>
                    <a:bodyPr/>
                    <a:lstStyle/>
                    <a:p>
                      <a:pPr marL="3982085">
                        <a:lnSpc>
                          <a:spcPts val="1889"/>
                        </a:lnSpc>
                        <a:spcBef>
                          <a:spcPts val="280"/>
                        </a:spcBef>
                      </a:pPr>
                      <a:r>
                        <a:rPr sz="1800" spc="-25" dirty="0">
                          <a:latin typeface="Verdana"/>
                          <a:cs typeface="Verdana"/>
                        </a:rPr>
                        <a:t>JMenuBar,</a:t>
                      </a:r>
                      <a:r>
                        <a:rPr sz="1800" spc="-70" dirty="0">
                          <a:latin typeface="Verdana"/>
                          <a:cs typeface="Verdana"/>
                        </a:rPr>
                        <a:t> </a:t>
                      </a:r>
                      <a:r>
                        <a:rPr sz="1800" dirty="0">
                          <a:latin typeface="Verdana"/>
                          <a:cs typeface="Verdana"/>
                        </a:rPr>
                        <a:t>JMenu,</a:t>
                      </a:r>
                      <a:r>
                        <a:rPr sz="1800" spc="-65" dirty="0">
                          <a:latin typeface="Verdana"/>
                          <a:cs typeface="Verdana"/>
                        </a:rPr>
                        <a:t> </a:t>
                      </a:r>
                      <a:r>
                        <a:rPr sz="1800" spc="-10" dirty="0">
                          <a:latin typeface="Verdana"/>
                          <a:cs typeface="Verdana"/>
                        </a:rPr>
                        <a:t>JMenuItem</a:t>
                      </a:r>
                      <a:endParaRPr sz="1800">
                        <a:latin typeface="Verdana"/>
                        <a:cs typeface="Verdana"/>
                      </a:endParaRPr>
                    </a:p>
                  </a:txBody>
                  <a:tcPr marL="0" marR="0" marT="35560" marB="0">
                    <a:lnL w="28575">
                      <a:solidFill>
                        <a:srgbClr val="FF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0045">
                <a:tc gridSpan="3">
                  <a:txBody>
                    <a:bodyPr/>
                    <a:lstStyle/>
                    <a:p>
                      <a:pPr marL="3988435">
                        <a:lnSpc>
                          <a:spcPct val="100000"/>
                        </a:lnSpc>
                        <a:spcBef>
                          <a:spcPts val="350"/>
                        </a:spcBef>
                      </a:pPr>
                      <a:r>
                        <a:rPr sz="1800" spc="-45" dirty="0">
                          <a:latin typeface="Verdana"/>
                          <a:cs typeface="Verdana"/>
                        </a:rPr>
                        <a:t>JToolBar,</a:t>
                      </a:r>
                      <a:r>
                        <a:rPr sz="1800" spc="-95" dirty="0">
                          <a:latin typeface="Verdana"/>
                          <a:cs typeface="Verdana"/>
                        </a:rPr>
                        <a:t> </a:t>
                      </a:r>
                      <a:r>
                        <a:rPr sz="1800" spc="-10" dirty="0">
                          <a:latin typeface="Verdana"/>
                          <a:cs typeface="Verdana"/>
                        </a:rPr>
                        <a:t>JButton</a:t>
                      </a:r>
                      <a:endParaRPr sz="1800" dirty="0">
                        <a:latin typeface="Verdana"/>
                        <a:cs typeface="Verdana"/>
                      </a:endParaRPr>
                    </a:p>
                  </a:txBody>
                  <a:tcPr marL="0" marR="0" marT="44450" marB="0">
                    <a:lnL w="28575">
                      <a:solidFill>
                        <a:srgbClr val="FF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526790">
                <a:tc>
                  <a:txBody>
                    <a:bodyPr/>
                    <a:lstStyle/>
                    <a:p>
                      <a:pPr>
                        <a:lnSpc>
                          <a:spcPct val="100000"/>
                        </a:lnSpc>
                      </a:pPr>
                      <a:endParaRPr sz="1800" dirty="0">
                        <a:latin typeface="Times New Roman"/>
                        <a:cs typeface="Times New Roman"/>
                      </a:endParaRPr>
                    </a:p>
                  </a:txBody>
                  <a:tcPr marL="0" marR="0" marT="0" marB="0">
                    <a:lnL w="28575">
                      <a:solidFill>
                        <a:srgbClr val="FF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tc>
                  <a:txBody>
                    <a:bodyPr/>
                    <a:lstStyle/>
                    <a:p>
                      <a:pPr>
                        <a:lnSpc>
                          <a:spcPct val="100000"/>
                        </a:lnSpc>
                      </a:pPr>
                      <a:endParaRPr sz="1800">
                        <a:latin typeface="Times New Roman"/>
                        <a:cs typeface="Times New Roman"/>
                      </a:endParaRPr>
                    </a:p>
                  </a:txBody>
                  <a:tcPr marL="0" marR="0" marT="0" marB="0">
                    <a:lnL w="28575">
                      <a:solidFill>
                        <a:srgbClr val="FF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tc>
                  <a:txBody>
                    <a:bodyPr/>
                    <a:lstStyle/>
                    <a:p>
                      <a:pPr>
                        <a:lnSpc>
                          <a:spcPct val="100000"/>
                        </a:lnSpc>
                      </a:pPr>
                      <a:endParaRPr sz="1800" dirty="0">
                        <a:latin typeface="Times New Roman"/>
                        <a:cs typeface="Times New Roman"/>
                      </a:endParaRPr>
                    </a:p>
                  </a:txBody>
                  <a:tcPr marL="0" marR="0" marT="0" marB="0">
                    <a:lnL w="28575">
                      <a:solidFill>
                        <a:srgbClr val="FF0000"/>
                      </a:solidFill>
                      <a:prstDash val="solid"/>
                    </a:lnL>
                    <a:lnR w="28575">
                      <a:solidFill>
                        <a:srgbClr val="FF0000"/>
                      </a:solidFill>
                      <a:prstDash val="solid"/>
                    </a:lnR>
                    <a:lnT w="28575">
                      <a:solidFill>
                        <a:srgbClr val="FF0000"/>
                      </a:solidFill>
                      <a:prstDash val="solid"/>
                    </a:lnT>
                    <a:lnB w="28575">
                      <a:solidFill>
                        <a:srgbClr val="FF0000"/>
                      </a:solidFill>
                      <a:prstDash val="solid"/>
                    </a:lnB>
                  </a:tcPr>
                </a:tc>
                <a:extLst>
                  <a:ext uri="{0D108BD9-81ED-4DB2-BD59-A6C34878D82A}">
                    <a16:rowId xmlns:a16="http://schemas.microsoft.com/office/drawing/2014/main" val="10002"/>
                  </a:ext>
                </a:extLst>
              </a:tr>
            </a:tbl>
          </a:graphicData>
        </a:graphic>
      </p:graphicFrame>
      <p:sp>
        <p:nvSpPr>
          <p:cNvPr id="5" name="object 5"/>
          <p:cNvSpPr txBox="1"/>
          <p:nvPr/>
        </p:nvSpPr>
        <p:spPr>
          <a:xfrm>
            <a:off x="4774248" y="6268720"/>
            <a:ext cx="2643505" cy="299720"/>
          </a:xfrm>
          <a:prstGeom prst="rect">
            <a:avLst/>
          </a:prstGeom>
        </p:spPr>
        <p:txBody>
          <a:bodyPr vert="horz" wrap="square" lIns="0" tIns="12700" rIns="0" bIns="0" rtlCol="0">
            <a:spAutoFit/>
          </a:bodyPr>
          <a:lstStyle/>
          <a:p>
            <a:pPr marL="12700">
              <a:spcBef>
                <a:spcPts val="100"/>
              </a:spcBef>
            </a:pPr>
            <a:r>
              <a:rPr dirty="0">
                <a:latin typeface="Verdana"/>
                <a:cs typeface="Verdana"/>
              </a:rPr>
              <a:t>JSplitPane,</a:t>
            </a:r>
            <a:r>
              <a:rPr spc="-140" dirty="0">
                <a:latin typeface="Verdana"/>
                <a:cs typeface="Verdana"/>
              </a:rPr>
              <a:t> </a:t>
            </a:r>
            <a:r>
              <a:rPr spc="-10" dirty="0">
                <a:latin typeface="Verdana"/>
                <a:cs typeface="Verdana"/>
              </a:rPr>
              <a:t>JScrollPane</a:t>
            </a:r>
            <a:endParaRPr>
              <a:latin typeface="Verdana"/>
              <a:cs typeface="Verdana"/>
            </a:endParaRPr>
          </a:p>
        </p:txBody>
      </p:sp>
      <p:sp>
        <p:nvSpPr>
          <p:cNvPr id="6" name="object 6"/>
          <p:cNvSpPr txBox="1"/>
          <p:nvPr/>
        </p:nvSpPr>
        <p:spPr>
          <a:xfrm>
            <a:off x="6960235" y="5664275"/>
            <a:ext cx="740410"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JPanel</a:t>
            </a:r>
            <a:endParaRPr>
              <a:latin typeface="Verdana"/>
              <a:cs typeface="Verdana"/>
            </a:endParaRPr>
          </a:p>
        </p:txBody>
      </p:sp>
      <p:sp>
        <p:nvSpPr>
          <p:cNvPr id="7" name="object 7"/>
          <p:cNvSpPr txBox="1"/>
          <p:nvPr/>
        </p:nvSpPr>
        <p:spPr>
          <a:xfrm>
            <a:off x="2510789" y="5693409"/>
            <a:ext cx="1407160" cy="299720"/>
          </a:xfrm>
          <a:prstGeom prst="rect">
            <a:avLst/>
          </a:prstGeom>
        </p:spPr>
        <p:txBody>
          <a:bodyPr vert="horz" wrap="square" lIns="0" tIns="12700" rIns="0" bIns="0" rtlCol="0">
            <a:spAutoFit/>
          </a:bodyPr>
          <a:lstStyle/>
          <a:p>
            <a:pPr marL="12700">
              <a:spcBef>
                <a:spcPts val="100"/>
              </a:spcBef>
            </a:pPr>
            <a:r>
              <a:rPr dirty="0">
                <a:latin typeface="Verdana"/>
                <a:cs typeface="Verdana"/>
              </a:rPr>
              <a:t>JPanel,</a:t>
            </a:r>
            <a:r>
              <a:rPr spc="-105" dirty="0">
                <a:latin typeface="Verdana"/>
                <a:cs typeface="Verdana"/>
              </a:rPr>
              <a:t> </a:t>
            </a:r>
            <a:r>
              <a:rPr spc="-20" dirty="0">
                <a:latin typeface="Verdana"/>
                <a:cs typeface="Verdana"/>
              </a:rPr>
              <a:t>JList</a:t>
            </a:r>
            <a:endParaRPr>
              <a:latin typeface="Verdana"/>
              <a:cs typeface="Verdan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68650" y="1725929"/>
            <a:ext cx="5854700" cy="3403600"/>
          </a:xfrm>
          <a:prstGeom prst="rect">
            <a:avLst/>
          </a:prstGeom>
        </p:spPr>
      </p:pic>
      <p:sp>
        <p:nvSpPr>
          <p:cNvPr id="3" name="object 3"/>
          <p:cNvSpPr txBox="1"/>
          <p:nvPr/>
        </p:nvSpPr>
        <p:spPr>
          <a:xfrm>
            <a:off x="5232400" y="1012190"/>
            <a:ext cx="1727200" cy="299720"/>
          </a:xfrm>
          <a:prstGeom prst="rect">
            <a:avLst/>
          </a:prstGeom>
        </p:spPr>
        <p:txBody>
          <a:bodyPr vert="horz" wrap="square" lIns="0" tIns="12700" rIns="0" bIns="0" rtlCol="0">
            <a:spAutoFit/>
          </a:bodyPr>
          <a:lstStyle/>
          <a:p>
            <a:pPr marL="12700">
              <a:spcBef>
                <a:spcPts val="100"/>
              </a:spcBef>
            </a:pPr>
            <a:r>
              <a:rPr dirty="0">
                <a:latin typeface="Verdana"/>
                <a:cs typeface="Verdana"/>
              </a:rPr>
              <a:t>JDialog,</a:t>
            </a:r>
            <a:r>
              <a:rPr spc="-40" dirty="0">
                <a:latin typeface="Verdana"/>
                <a:cs typeface="Verdana"/>
              </a:rPr>
              <a:t> </a:t>
            </a:r>
            <a:r>
              <a:rPr spc="-10" dirty="0">
                <a:latin typeface="Verdana"/>
                <a:cs typeface="Verdana"/>
              </a:rPr>
              <a:t>JPanel</a:t>
            </a:r>
            <a:endParaRPr dirty="0">
              <a:latin typeface="Verdana"/>
              <a:cs typeface="Verdana"/>
            </a:endParaRPr>
          </a:p>
        </p:txBody>
      </p:sp>
      <p:sp>
        <p:nvSpPr>
          <p:cNvPr id="4" name="object 4"/>
          <p:cNvSpPr txBox="1"/>
          <p:nvPr/>
        </p:nvSpPr>
        <p:spPr>
          <a:xfrm>
            <a:off x="2289810" y="2092959"/>
            <a:ext cx="734695"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JLabel</a:t>
            </a:r>
            <a:endParaRPr>
              <a:latin typeface="Verdana"/>
              <a:cs typeface="Verdana"/>
            </a:endParaRPr>
          </a:p>
        </p:txBody>
      </p:sp>
      <p:sp>
        <p:nvSpPr>
          <p:cNvPr id="5" name="object 5"/>
          <p:cNvSpPr txBox="1"/>
          <p:nvPr/>
        </p:nvSpPr>
        <p:spPr>
          <a:xfrm>
            <a:off x="9133841" y="2092959"/>
            <a:ext cx="1139825" cy="299720"/>
          </a:xfrm>
          <a:prstGeom prst="rect">
            <a:avLst/>
          </a:prstGeom>
        </p:spPr>
        <p:txBody>
          <a:bodyPr vert="horz" wrap="square" lIns="0" tIns="12700" rIns="0" bIns="0" rtlCol="0">
            <a:spAutoFit/>
          </a:bodyPr>
          <a:lstStyle/>
          <a:p>
            <a:pPr marL="12700">
              <a:spcBef>
                <a:spcPts val="100"/>
              </a:spcBef>
            </a:pPr>
            <a:r>
              <a:rPr spc="-25" dirty="0">
                <a:latin typeface="Verdana"/>
                <a:cs typeface="Verdana"/>
              </a:rPr>
              <a:t>JTextField</a:t>
            </a:r>
            <a:endParaRPr>
              <a:latin typeface="Verdana"/>
              <a:cs typeface="Verdana"/>
            </a:endParaRPr>
          </a:p>
        </p:txBody>
      </p:sp>
      <p:sp>
        <p:nvSpPr>
          <p:cNvPr id="6" name="object 6"/>
          <p:cNvSpPr txBox="1"/>
          <p:nvPr/>
        </p:nvSpPr>
        <p:spPr>
          <a:xfrm>
            <a:off x="9133841" y="2740659"/>
            <a:ext cx="1360805"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JComboBox</a:t>
            </a:r>
            <a:endParaRPr>
              <a:latin typeface="Verdana"/>
              <a:cs typeface="Verdana"/>
            </a:endParaRPr>
          </a:p>
        </p:txBody>
      </p:sp>
      <p:sp>
        <p:nvSpPr>
          <p:cNvPr id="7" name="object 7"/>
          <p:cNvSpPr txBox="1"/>
          <p:nvPr/>
        </p:nvSpPr>
        <p:spPr>
          <a:xfrm>
            <a:off x="9135109" y="3892550"/>
            <a:ext cx="1397000" cy="574040"/>
          </a:xfrm>
          <a:prstGeom prst="rect">
            <a:avLst/>
          </a:prstGeom>
        </p:spPr>
        <p:txBody>
          <a:bodyPr vert="horz" wrap="square" lIns="0" tIns="12700" rIns="0" bIns="0" rtlCol="0">
            <a:spAutoFit/>
          </a:bodyPr>
          <a:lstStyle/>
          <a:p>
            <a:pPr marL="12700" marR="5080">
              <a:spcBef>
                <a:spcPts val="100"/>
              </a:spcBef>
            </a:pPr>
            <a:r>
              <a:rPr spc="-10" dirty="0">
                <a:latin typeface="Verdana"/>
                <a:cs typeface="Verdana"/>
              </a:rPr>
              <a:t>JScrollPane, JTextArea</a:t>
            </a:r>
            <a:endParaRPr>
              <a:latin typeface="Verdana"/>
              <a:cs typeface="Verdana"/>
            </a:endParaRPr>
          </a:p>
        </p:txBody>
      </p:sp>
      <p:sp>
        <p:nvSpPr>
          <p:cNvPr id="8" name="object 8"/>
          <p:cNvSpPr txBox="1"/>
          <p:nvPr/>
        </p:nvSpPr>
        <p:spPr>
          <a:xfrm>
            <a:off x="6323329" y="5261609"/>
            <a:ext cx="893444"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JButton</a:t>
            </a:r>
            <a:endParaRPr>
              <a:latin typeface="Verdana"/>
              <a:cs typeface="Verdan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03500" y="748030"/>
            <a:ext cx="6985000" cy="5359400"/>
          </a:xfrm>
          <a:prstGeom prst="rect">
            <a:avLst/>
          </a:prstGeom>
        </p:spPr>
      </p:pic>
      <p:sp>
        <p:nvSpPr>
          <p:cNvPr id="3" name="object 3"/>
          <p:cNvSpPr txBox="1"/>
          <p:nvPr/>
        </p:nvSpPr>
        <p:spPr>
          <a:xfrm>
            <a:off x="5368608" y="292100"/>
            <a:ext cx="1454785" cy="299720"/>
          </a:xfrm>
          <a:prstGeom prst="rect">
            <a:avLst/>
          </a:prstGeom>
        </p:spPr>
        <p:txBody>
          <a:bodyPr vert="horz" wrap="square" lIns="0" tIns="12700" rIns="0" bIns="0" rtlCol="0">
            <a:spAutoFit/>
          </a:bodyPr>
          <a:lstStyle/>
          <a:p>
            <a:pPr marL="12700">
              <a:spcBef>
                <a:spcPts val="100"/>
              </a:spcBef>
            </a:pPr>
            <a:r>
              <a:rPr spc="-10" dirty="0">
                <a:latin typeface="Verdana"/>
                <a:cs typeface="Verdana"/>
              </a:rPr>
              <a:t>JFileChooser</a:t>
            </a:r>
            <a:endParaRPr>
              <a:latin typeface="Verdana"/>
              <a:cs typeface="Verdan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720D-3B05-8AAE-1463-62A694A69AF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2DE5378-8072-6A60-545B-1D64ED8DEC12}"/>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lang="en-CA" dirty="0"/>
              <a:t>Main Window</a:t>
            </a:r>
            <a:endParaRPr dirty="0"/>
          </a:p>
        </p:txBody>
      </p:sp>
      <p:sp>
        <p:nvSpPr>
          <p:cNvPr id="4" name="Content Placeholder 2">
            <a:extLst>
              <a:ext uri="{FF2B5EF4-FFF2-40B4-BE49-F238E27FC236}">
                <a16:creationId xmlns:a16="http://schemas.microsoft.com/office/drawing/2014/main" id="{93C207BC-3881-CF2B-AC39-A807D9D79248}"/>
              </a:ext>
            </a:extLst>
          </p:cNvPr>
          <p:cNvSpPr>
            <a:spLocks noGrp="1"/>
          </p:cNvSpPr>
          <p:nvPr>
            <p:ph idx="1"/>
          </p:nvPr>
        </p:nvSpPr>
        <p:spPr>
          <a:xfrm>
            <a:off x="838200" y="1825625"/>
            <a:ext cx="10515600" cy="4351338"/>
          </a:xfrm>
        </p:spPr>
        <p:txBody>
          <a:bodyPr/>
          <a:lstStyle/>
          <a:p>
            <a:r>
              <a:rPr lang="en-US" dirty="0"/>
              <a:t>Typical containment setup steps:</a:t>
            </a:r>
          </a:p>
          <a:p>
            <a:pPr lvl="1"/>
            <a:r>
              <a:rPr lang="en-US" dirty="0"/>
              <a:t>Create a </a:t>
            </a:r>
            <a:r>
              <a:rPr lang="en-US" dirty="0" err="1"/>
              <a:t>JFrame</a:t>
            </a:r>
            <a:endParaRPr lang="en-US" dirty="0"/>
          </a:p>
          <a:p>
            <a:pPr lvl="2"/>
            <a:r>
              <a:rPr lang="en-US" dirty="0"/>
              <a:t>Create and define a </a:t>
            </a:r>
            <a:r>
              <a:rPr lang="en-US" dirty="0" err="1"/>
              <a:t>JMenuBar</a:t>
            </a:r>
            <a:r>
              <a:rPr lang="en-US" dirty="0"/>
              <a:t> (optional) </a:t>
            </a:r>
          </a:p>
          <a:p>
            <a:pPr lvl="2"/>
            <a:r>
              <a:rPr lang="en-US" dirty="0"/>
              <a:t>Add this </a:t>
            </a:r>
            <a:r>
              <a:rPr lang="en-US" dirty="0" err="1"/>
              <a:t>JMenuBar</a:t>
            </a:r>
            <a:r>
              <a:rPr lang="en-US" dirty="0"/>
              <a:t> to the </a:t>
            </a:r>
            <a:r>
              <a:rPr lang="en-US" dirty="0" err="1"/>
              <a:t>JFrame</a:t>
            </a:r>
            <a:r>
              <a:rPr lang="en-US" dirty="0"/>
              <a:t> (optional)</a:t>
            </a:r>
          </a:p>
          <a:p>
            <a:pPr lvl="1"/>
            <a:r>
              <a:rPr lang="en-US" dirty="0"/>
              <a:t>Create a </a:t>
            </a:r>
            <a:r>
              <a:rPr lang="en-US" dirty="0" err="1"/>
              <a:t>JPanel</a:t>
            </a:r>
            <a:endParaRPr lang="en-US" dirty="0"/>
          </a:p>
          <a:p>
            <a:pPr lvl="2"/>
            <a:r>
              <a:rPr lang="en-US" dirty="0"/>
              <a:t>Add components to this </a:t>
            </a:r>
            <a:r>
              <a:rPr lang="en-US" dirty="0" err="1"/>
              <a:t>JPanel</a:t>
            </a:r>
            <a:endParaRPr lang="en-US" dirty="0"/>
          </a:p>
          <a:p>
            <a:pPr lvl="2"/>
            <a:r>
              <a:rPr lang="en-US" dirty="0"/>
              <a:t>Set </a:t>
            </a:r>
            <a:r>
              <a:rPr lang="en-US" dirty="0" err="1"/>
              <a:t>JFrame</a:t>
            </a:r>
            <a:r>
              <a:rPr lang="en-US" dirty="0"/>
              <a:t> </a:t>
            </a:r>
            <a:r>
              <a:rPr lang="en-US" i="1" dirty="0"/>
              <a:t>content pane </a:t>
            </a:r>
            <a:r>
              <a:rPr lang="en-US" dirty="0"/>
              <a:t>to this </a:t>
            </a:r>
            <a:r>
              <a:rPr lang="en-US" dirty="0" err="1"/>
              <a:t>JPanel</a:t>
            </a:r>
            <a:endParaRPr lang="en-US" dirty="0"/>
          </a:p>
          <a:p>
            <a:pPr lvl="1"/>
            <a:r>
              <a:rPr lang="en-US" dirty="0"/>
              <a:t>Pack and show the </a:t>
            </a:r>
            <a:r>
              <a:rPr lang="en-US" dirty="0" err="1"/>
              <a:t>JFrame</a:t>
            </a:r>
            <a:endParaRPr lang="en-US" dirty="0"/>
          </a:p>
        </p:txBody>
      </p:sp>
    </p:spTree>
    <p:extLst>
      <p:ext uri="{BB962C8B-B14F-4D97-AF65-F5344CB8AC3E}">
        <p14:creationId xmlns:p14="http://schemas.microsoft.com/office/powerpoint/2010/main" val="10057201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023870" y="187960"/>
            <a:ext cx="6144260" cy="393698"/>
          </a:xfrm>
          <a:prstGeom prst="rect">
            <a:avLst/>
          </a:prstGeom>
          <a:ln w="28393">
            <a:solidFill>
              <a:srgbClr val="000000"/>
            </a:solidFill>
          </a:ln>
        </p:spPr>
        <p:txBody>
          <a:bodyPr vert="horz" wrap="square" lIns="0" tIns="115570" rIns="0" bIns="0" rtlCol="0">
            <a:spAutoFit/>
          </a:bodyPr>
          <a:lstStyle/>
          <a:p>
            <a:pPr algn="ctr">
              <a:spcBef>
                <a:spcPts val="910"/>
              </a:spcBef>
            </a:pPr>
            <a:r>
              <a:rPr sz="1800" spc="-10" dirty="0">
                <a:solidFill>
                  <a:srgbClr val="000000"/>
                </a:solidFill>
                <a:latin typeface="Verdana"/>
                <a:cs typeface="Verdana"/>
              </a:rPr>
              <a:t>JFrame</a:t>
            </a:r>
            <a:endParaRPr sz="1800">
              <a:latin typeface="Verdana"/>
              <a:cs typeface="Verdana"/>
            </a:endParaRPr>
          </a:p>
        </p:txBody>
      </p:sp>
      <p:sp>
        <p:nvSpPr>
          <p:cNvPr id="6" name="object 6"/>
          <p:cNvSpPr/>
          <p:nvPr/>
        </p:nvSpPr>
        <p:spPr>
          <a:xfrm>
            <a:off x="3023870" y="692150"/>
            <a:ext cx="6144260" cy="215900"/>
          </a:xfrm>
          <a:custGeom>
            <a:avLst/>
            <a:gdLst/>
            <a:ahLst/>
            <a:cxnLst/>
            <a:rect l="l" t="t" r="r" b="b"/>
            <a:pathLst>
              <a:path w="6144259" h="215900">
                <a:moveTo>
                  <a:pt x="3072130" y="215900"/>
                </a:moveTo>
                <a:lnTo>
                  <a:pt x="0" y="215900"/>
                </a:lnTo>
                <a:lnTo>
                  <a:pt x="0" y="0"/>
                </a:lnTo>
                <a:lnTo>
                  <a:pt x="6144260" y="0"/>
                </a:lnTo>
                <a:lnTo>
                  <a:pt x="6144260" y="215900"/>
                </a:lnTo>
                <a:lnTo>
                  <a:pt x="3072130" y="215900"/>
                </a:lnTo>
                <a:close/>
              </a:path>
            </a:pathLst>
          </a:custGeom>
          <a:ln w="28393">
            <a:solidFill>
              <a:srgbClr val="000000"/>
            </a:solidFill>
          </a:ln>
        </p:spPr>
        <p:txBody>
          <a:bodyPr wrap="square" lIns="0" tIns="0" rIns="0" bIns="0" rtlCol="0"/>
          <a:lstStyle/>
          <a:p>
            <a:endParaRPr/>
          </a:p>
        </p:txBody>
      </p:sp>
      <p:grpSp>
        <p:nvGrpSpPr>
          <p:cNvPr id="3" name="Group 2">
            <a:extLst>
              <a:ext uri="{FF2B5EF4-FFF2-40B4-BE49-F238E27FC236}">
                <a16:creationId xmlns:a16="http://schemas.microsoft.com/office/drawing/2014/main" id="{AC35548D-C5E4-4953-A426-BA4DB6352B96}"/>
              </a:ext>
            </a:extLst>
          </p:cNvPr>
          <p:cNvGrpSpPr/>
          <p:nvPr/>
        </p:nvGrpSpPr>
        <p:grpSpPr>
          <a:xfrm>
            <a:off x="4429125" y="2701768"/>
            <a:ext cx="234948" cy="870744"/>
            <a:chOff x="4429125" y="2842896"/>
            <a:chExt cx="236218" cy="729615"/>
          </a:xfrm>
        </p:grpSpPr>
        <p:sp>
          <p:nvSpPr>
            <p:cNvPr id="8" name="object 8"/>
            <p:cNvSpPr/>
            <p:nvPr/>
          </p:nvSpPr>
          <p:spPr>
            <a:xfrm>
              <a:off x="4547869" y="2852421"/>
              <a:ext cx="0" cy="720090"/>
            </a:xfrm>
            <a:custGeom>
              <a:avLst/>
              <a:gdLst/>
              <a:ahLst/>
              <a:cxnLst/>
              <a:rect l="l" t="t" r="r" b="b"/>
              <a:pathLst>
                <a:path h="720089">
                  <a:moveTo>
                    <a:pt x="0" y="0"/>
                  </a:moveTo>
                  <a:lnTo>
                    <a:pt x="0" y="720089"/>
                  </a:lnTo>
                </a:path>
              </a:pathLst>
            </a:custGeom>
            <a:ln w="28393">
              <a:solidFill>
                <a:srgbClr val="0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4429125" y="2842896"/>
              <a:ext cx="236218" cy="234948"/>
            </a:xfrm>
            <a:prstGeom prst="rect">
              <a:avLst/>
            </a:prstGeom>
          </p:spPr>
        </p:pic>
      </p:grpSp>
      <p:sp>
        <p:nvSpPr>
          <p:cNvPr id="10" name="object 10"/>
          <p:cNvSpPr txBox="1"/>
          <p:nvPr/>
        </p:nvSpPr>
        <p:spPr>
          <a:xfrm>
            <a:off x="4664711" y="3244850"/>
            <a:ext cx="170815" cy="299720"/>
          </a:xfrm>
          <a:prstGeom prst="rect">
            <a:avLst/>
          </a:prstGeom>
        </p:spPr>
        <p:txBody>
          <a:bodyPr vert="horz" wrap="square" lIns="0" tIns="12700" rIns="0" bIns="0" rtlCol="0">
            <a:spAutoFit/>
          </a:bodyPr>
          <a:lstStyle/>
          <a:p>
            <a:pPr marL="12700">
              <a:spcBef>
                <a:spcPts val="100"/>
              </a:spcBef>
            </a:pPr>
            <a:r>
              <a:rPr spc="-50" dirty="0">
                <a:latin typeface="Verdana"/>
                <a:cs typeface="Verdana"/>
              </a:rPr>
              <a:t>1</a:t>
            </a:r>
            <a:endParaRPr>
              <a:latin typeface="Verdana"/>
              <a:cs typeface="Verdana"/>
            </a:endParaRPr>
          </a:p>
        </p:txBody>
      </p:sp>
      <p:sp>
        <p:nvSpPr>
          <p:cNvPr id="11" name="object 11"/>
          <p:cNvSpPr txBox="1"/>
          <p:nvPr/>
        </p:nvSpPr>
        <p:spPr>
          <a:xfrm>
            <a:off x="3023870" y="908051"/>
            <a:ext cx="6144260" cy="1779973"/>
          </a:xfrm>
          <a:prstGeom prst="rect">
            <a:avLst/>
          </a:prstGeom>
          <a:ln w="28393">
            <a:solidFill>
              <a:srgbClr val="000000"/>
            </a:solidFill>
          </a:ln>
        </p:spPr>
        <p:txBody>
          <a:bodyPr vert="horz" wrap="square" lIns="0" tIns="116839" rIns="0" bIns="0" rtlCol="0">
            <a:spAutoFit/>
          </a:bodyPr>
          <a:lstStyle/>
          <a:p>
            <a:pPr marL="212090">
              <a:spcBef>
                <a:spcPts val="919"/>
              </a:spcBef>
            </a:pPr>
            <a:r>
              <a:rPr dirty="0">
                <a:latin typeface="Verdana"/>
                <a:cs typeface="Verdana"/>
              </a:rPr>
              <a:t>+JFrame(</a:t>
            </a:r>
            <a:r>
              <a:rPr spc="-75" dirty="0">
                <a:latin typeface="Verdana"/>
                <a:cs typeface="Verdana"/>
              </a:rPr>
              <a:t> </a:t>
            </a:r>
            <a:r>
              <a:rPr dirty="0">
                <a:latin typeface="Verdana"/>
                <a:cs typeface="Verdana"/>
              </a:rPr>
              <a:t>title:</a:t>
            </a:r>
            <a:r>
              <a:rPr spc="-65" dirty="0">
                <a:latin typeface="Verdana"/>
                <a:cs typeface="Verdana"/>
              </a:rPr>
              <a:t> </a:t>
            </a:r>
            <a:r>
              <a:rPr dirty="0">
                <a:latin typeface="Verdana"/>
                <a:cs typeface="Verdana"/>
              </a:rPr>
              <a:t>String</a:t>
            </a:r>
            <a:r>
              <a:rPr spc="-75" dirty="0">
                <a:latin typeface="Verdana"/>
                <a:cs typeface="Verdana"/>
              </a:rPr>
              <a:t> </a:t>
            </a:r>
            <a:r>
              <a:rPr spc="-50" dirty="0">
                <a:latin typeface="Verdana"/>
                <a:cs typeface="Verdana"/>
              </a:rPr>
              <a:t>)</a:t>
            </a:r>
            <a:endParaRPr>
              <a:latin typeface="Verdana"/>
              <a:cs typeface="Verdana"/>
            </a:endParaRPr>
          </a:p>
          <a:p>
            <a:pPr marL="212090"/>
            <a:r>
              <a:rPr dirty="0">
                <a:latin typeface="Verdana"/>
                <a:cs typeface="Verdana"/>
              </a:rPr>
              <a:t>+setJMenuBar(</a:t>
            </a:r>
            <a:r>
              <a:rPr spc="-85" dirty="0">
                <a:latin typeface="Verdana"/>
                <a:cs typeface="Verdana"/>
              </a:rPr>
              <a:t> </a:t>
            </a:r>
            <a:r>
              <a:rPr dirty="0">
                <a:latin typeface="Verdana"/>
                <a:cs typeface="Verdana"/>
              </a:rPr>
              <a:t>menuBar:</a:t>
            </a:r>
            <a:r>
              <a:rPr spc="-80" dirty="0">
                <a:latin typeface="Verdana"/>
                <a:cs typeface="Verdana"/>
              </a:rPr>
              <a:t> </a:t>
            </a:r>
            <a:r>
              <a:rPr dirty="0">
                <a:latin typeface="Verdana"/>
                <a:cs typeface="Verdana"/>
              </a:rPr>
              <a:t>JMenuBar</a:t>
            </a:r>
            <a:r>
              <a:rPr spc="-80" dirty="0">
                <a:latin typeface="Verdana"/>
                <a:cs typeface="Verdana"/>
              </a:rPr>
              <a:t> </a:t>
            </a:r>
            <a:r>
              <a:rPr dirty="0">
                <a:latin typeface="Verdana"/>
                <a:cs typeface="Verdana"/>
              </a:rPr>
              <a:t>):</a:t>
            </a:r>
            <a:r>
              <a:rPr spc="-75" dirty="0">
                <a:latin typeface="Verdana"/>
                <a:cs typeface="Verdana"/>
              </a:rPr>
              <a:t> </a:t>
            </a:r>
            <a:r>
              <a:rPr spc="-20" dirty="0">
                <a:latin typeface="Verdana"/>
                <a:cs typeface="Verdana"/>
              </a:rPr>
              <a:t>void</a:t>
            </a:r>
            <a:endParaRPr>
              <a:latin typeface="Verdana"/>
              <a:cs typeface="Verdana"/>
            </a:endParaRPr>
          </a:p>
          <a:p>
            <a:pPr marL="212090"/>
            <a:r>
              <a:rPr spc="-10" dirty="0">
                <a:latin typeface="Verdana"/>
                <a:cs typeface="Verdana"/>
              </a:rPr>
              <a:t>+setContentPane(</a:t>
            </a:r>
            <a:r>
              <a:rPr spc="-70" dirty="0">
                <a:latin typeface="Verdana"/>
                <a:cs typeface="Verdana"/>
              </a:rPr>
              <a:t> </a:t>
            </a:r>
            <a:r>
              <a:rPr dirty="0">
                <a:latin typeface="Verdana"/>
                <a:cs typeface="Verdana"/>
              </a:rPr>
              <a:t>contentPane:</a:t>
            </a:r>
            <a:r>
              <a:rPr spc="-60" dirty="0">
                <a:latin typeface="Verdana"/>
                <a:cs typeface="Verdana"/>
              </a:rPr>
              <a:t> </a:t>
            </a:r>
            <a:r>
              <a:rPr dirty="0">
                <a:latin typeface="Verdana"/>
                <a:cs typeface="Verdana"/>
              </a:rPr>
              <a:t>Container</a:t>
            </a:r>
            <a:r>
              <a:rPr spc="-70" dirty="0">
                <a:latin typeface="Verdana"/>
                <a:cs typeface="Verdana"/>
              </a:rPr>
              <a:t> </a:t>
            </a:r>
            <a:r>
              <a:rPr dirty="0">
                <a:latin typeface="Verdana"/>
                <a:cs typeface="Verdana"/>
              </a:rPr>
              <a:t>):</a:t>
            </a:r>
            <a:r>
              <a:rPr spc="-70" dirty="0">
                <a:latin typeface="Verdana"/>
                <a:cs typeface="Verdana"/>
              </a:rPr>
              <a:t> </a:t>
            </a:r>
            <a:r>
              <a:rPr spc="-20" dirty="0">
                <a:latin typeface="Verdana"/>
                <a:cs typeface="Verdana"/>
              </a:rPr>
              <a:t>void</a:t>
            </a:r>
            <a:endParaRPr>
              <a:latin typeface="Verdana"/>
              <a:cs typeface="Verdana"/>
            </a:endParaRPr>
          </a:p>
          <a:p>
            <a:pPr marL="212090"/>
            <a:r>
              <a:rPr dirty="0">
                <a:latin typeface="Verdana"/>
                <a:cs typeface="Verdana"/>
              </a:rPr>
              <a:t>+pack():</a:t>
            </a:r>
            <a:r>
              <a:rPr spc="-55" dirty="0">
                <a:latin typeface="Verdana"/>
                <a:cs typeface="Verdana"/>
              </a:rPr>
              <a:t> </a:t>
            </a:r>
            <a:r>
              <a:rPr spc="-20" dirty="0">
                <a:latin typeface="Verdana"/>
                <a:cs typeface="Verdana"/>
              </a:rPr>
              <a:t>void</a:t>
            </a:r>
            <a:endParaRPr>
              <a:latin typeface="Verdana"/>
              <a:cs typeface="Verdana"/>
            </a:endParaRPr>
          </a:p>
          <a:p>
            <a:pPr marL="212090"/>
            <a:r>
              <a:rPr dirty="0">
                <a:latin typeface="Verdana"/>
                <a:cs typeface="Verdana"/>
              </a:rPr>
              <a:t>+setVisible(</a:t>
            </a:r>
            <a:r>
              <a:rPr spc="-80" dirty="0">
                <a:latin typeface="Verdana"/>
                <a:cs typeface="Verdana"/>
              </a:rPr>
              <a:t> </a:t>
            </a:r>
            <a:r>
              <a:rPr dirty="0">
                <a:latin typeface="Verdana"/>
                <a:cs typeface="Verdana"/>
              </a:rPr>
              <a:t>visibility:</a:t>
            </a:r>
            <a:r>
              <a:rPr spc="-80" dirty="0">
                <a:latin typeface="Verdana"/>
                <a:cs typeface="Verdana"/>
              </a:rPr>
              <a:t> </a:t>
            </a:r>
            <a:r>
              <a:rPr dirty="0">
                <a:latin typeface="Verdana"/>
                <a:cs typeface="Verdana"/>
              </a:rPr>
              <a:t>boolean</a:t>
            </a:r>
            <a:r>
              <a:rPr spc="-80" dirty="0">
                <a:latin typeface="Verdana"/>
                <a:cs typeface="Verdana"/>
              </a:rPr>
              <a:t> </a:t>
            </a:r>
            <a:r>
              <a:rPr dirty="0">
                <a:latin typeface="Verdana"/>
                <a:cs typeface="Verdana"/>
              </a:rPr>
              <a:t>):</a:t>
            </a:r>
            <a:r>
              <a:rPr spc="-75" dirty="0">
                <a:latin typeface="Verdana"/>
                <a:cs typeface="Verdana"/>
              </a:rPr>
              <a:t> </a:t>
            </a:r>
            <a:r>
              <a:rPr spc="-20" dirty="0">
                <a:latin typeface="Verdana"/>
                <a:cs typeface="Verdana"/>
              </a:rPr>
              <a:t>void</a:t>
            </a:r>
            <a:endParaRPr>
              <a:latin typeface="Verdana"/>
              <a:cs typeface="Verdana"/>
            </a:endParaRPr>
          </a:p>
          <a:p>
            <a:pPr marL="212090"/>
            <a:r>
              <a:rPr spc="-50" dirty="0">
                <a:latin typeface="Verdana"/>
                <a:cs typeface="Verdana"/>
              </a:rPr>
              <a:t>…</a:t>
            </a:r>
            <a:endParaRPr>
              <a:latin typeface="Verdana"/>
              <a:cs typeface="Verdana"/>
            </a:endParaRPr>
          </a:p>
        </p:txBody>
      </p:sp>
      <p:graphicFrame>
        <p:nvGraphicFramePr>
          <p:cNvPr id="12" name="object 12"/>
          <p:cNvGraphicFramePr>
            <a:graphicFrameLocks noGrp="1"/>
          </p:cNvGraphicFramePr>
          <p:nvPr>
            <p:extLst>
              <p:ext uri="{D42A27DB-BD31-4B8C-83A1-F6EECF244321}">
                <p14:modId xmlns:p14="http://schemas.microsoft.com/office/powerpoint/2010/main" val="1914038027"/>
              </p:ext>
            </p:extLst>
          </p:nvPr>
        </p:nvGraphicFramePr>
        <p:xfrm>
          <a:off x="2624864" y="3558313"/>
          <a:ext cx="3888740" cy="1438910"/>
        </p:xfrm>
        <a:graphic>
          <a:graphicData uri="http://schemas.openxmlformats.org/drawingml/2006/table">
            <a:tbl>
              <a:tblPr firstRow="1" bandRow="1">
                <a:tableStyleId>{2D5ABB26-0587-4C30-8999-92F81FD0307C}</a:tableStyleId>
              </a:tblPr>
              <a:tblGrid>
                <a:gridCol w="3888740">
                  <a:extLst>
                    <a:ext uri="{9D8B030D-6E8A-4147-A177-3AD203B41FA5}">
                      <a16:colId xmlns:a16="http://schemas.microsoft.com/office/drawing/2014/main" val="20000"/>
                    </a:ext>
                  </a:extLst>
                </a:gridCol>
              </a:tblGrid>
              <a:tr h="503555">
                <a:tc>
                  <a:txBody>
                    <a:bodyPr/>
                    <a:lstStyle/>
                    <a:p>
                      <a:pPr algn="ctr">
                        <a:lnSpc>
                          <a:spcPct val="100000"/>
                        </a:lnSpc>
                        <a:spcBef>
                          <a:spcPts val="910"/>
                        </a:spcBef>
                      </a:pPr>
                      <a:r>
                        <a:rPr sz="1800" spc="-10" dirty="0">
                          <a:latin typeface="Verdana"/>
                          <a:cs typeface="Verdana"/>
                        </a:rPr>
                        <a:t>JMenuBar</a:t>
                      </a:r>
                      <a:endParaRPr sz="1800">
                        <a:latin typeface="Verdana"/>
                        <a:cs typeface="Verdana"/>
                      </a:endParaRPr>
                    </a:p>
                  </a:txBody>
                  <a:tcPr marL="0" marR="0" marT="11557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177800">
                <a:tc>
                  <a:txBody>
                    <a:bodyPr/>
                    <a:lstStyle/>
                    <a:p>
                      <a:pPr>
                        <a:lnSpc>
                          <a:spcPct val="100000"/>
                        </a:lnSpc>
                      </a:pPr>
                      <a:endParaRPr sz="10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757555">
                <a:tc>
                  <a:txBody>
                    <a:bodyPr/>
                    <a:lstStyle/>
                    <a:p>
                      <a:pPr marL="225425">
                        <a:lnSpc>
                          <a:spcPct val="100000"/>
                        </a:lnSpc>
                        <a:spcBef>
                          <a:spcPts val="670"/>
                        </a:spcBef>
                      </a:pPr>
                      <a:r>
                        <a:rPr sz="1800" spc="-10" dirty="0">
                          <a:latin typeface="Verdana"/>
                          <a:cs typeface="Verdana"/>
                        </a:rPr>
                        <a:t>+JMenuBar()</a:t>
                      </a:r>
                      <a:endParaRPr sz="1800">
                        <a:latin typeface="Verdana"/>
                        <a:cs typeface="Verdana"/>
                      </a:endParaRPr>
                    </a:p>
                    <a:p>
                      <a:pPr marL="225425">
                        <a:lnSpc>
                          <a:spcPct val="100000"/>
                        </a:lnSpc>
                      </a:pPr>
                      <a:r>
                        <a:rPr sz="1800" dirty="0">
                          <a:latin typeface="Verdana"/>
                          <a:cs typeface="Verdana"/>
                        </a:rPr>
                        <a:t>+add(</a:t>
                      </a:r>
                      <a:r>
                        <a:rPr sz="1800" spc="-40" dirty="0">
                          <a:latin typeface="Verdana"/>
                          <a:cs typeface="Verdana"/>
                        </a:rPr>
                        <a:t> </a:t>
                      </a:r>
                      <a:r>
                        <a:rPr sz="1800" dirty="0">
                          <a:latin typeface="Verdana"/>
                          <a:cs typeface="Verdana"/>
                        </a:rPr>
                        <a:t>menu:</a:t>
                      </a:r>
                      <a:r>
                        <a:rPr sz="1800" spc="-35" dirty="0">
                          <a:latin typeface="Verdana"/>
                          <a:cs typeface="Verdana"/>
                        </a:rPr>
                        <a:t> </a:t>
                      </a:r>
                      <a:r>
                        <a:rPr sz="1800" dirty="0">
                          <a:latin typeface="Verdana"/>
                          <a:cs typeface="Verdana"/>
                        </a:rPr>
                        <a:t>JMenu</a:t>
                      </a:r>
                      <a:r>
                        <a:rPr sz="1800" spc="-30" dirty="0">
                          <a:latin typeface="Verdana"/>
                          <a:cs typeface="Verdana"/>
                        </a:rPr>
                        <a:t> </a:t>
                      </a:r>
                      <a:r>
                        <a:rPr sz="1800" dirty="0">
                          <a:latin typeface="Verdana"/>
                          <a:cs typeface="Verdana"/>
                        </a:rPr>
                        <a:t>):</a:t>
                      </a:r>
                      <a:r>
                        <a:rPr sz="1800" spc="-25" dirty="0">
                          <a:latin typeface="Verdana"/>
                          <a:cs typeface="Verdana"/>
                        </a:rPr>
                        <a:t> </a:t>
                      </a:r>
                      <a:r>
                        <a:rPr sz="1800" spc="-10" dirty="0">
                          <a:latin typeface="Verdana"/>
                          <a:cs typeface="Verdana"/>
                        </a:rPr>
                        <a:t>JMenu</a:t>
                      </a:r>
                      <a:endParaRPr sz="1800">
                        <a:latin typeface="Verdana"/>
                        <a:cs typeface="Verdana"/>
                      </a:endParaRPr>
                    </a:p>
                  </a:txBody>
                  <a:tcPr marL="0" marR="0" marT="8509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13" name="object 13"/>
          <p:cNvGraphicFramePr>
            <a:graphicFrameLocks noGrp="1"/>
          </p:cNvGraphicFramePr>
          <p:nvPr>
            <p:extLst>
              <p:ext uri="{D42A27DB-BD31-4B8C-83A1-F6EECF244321}">
                <p14:modId xmlns:p14="http://schemas.microsoft.com/office/powerpoint/2010/main" val="527992848"/>
              </p:ext>
            </p:extLst>
          </p:nvPr>
        </p:nvGraphicFramePr>
        <p:xfrm>
          <a:off x="4496844" y="5286784"/>
          <a:ext cx="5688330" cy="1439545"/>
        </p:xfrm>
        <a:graphic>
          <a:graphicData uri="http://schemas.openxmlformats.org/drawingml/2006/table">
            <a:tbl>
              <a:tblPr firstRow="1" bandRow="1">
                <a:tableStyleId>{2D5ABB26-0587-4C30-8999-92F81FD0307C}</a:tableStyleId>
              </a:tblPr>
              <a:tblGrid>
                <a:gridCol w="5688330">
                  <a:extLst>
                    <a:ext uri="{9D8B030D-6E8A-4147-A177-3AD203B41FA5}">
                      <a16:colId xmlns:a16="http://schemas.microsoft.com/office/drawing/2014/main" val="20000"/>
                    </a:ext>
                  </a:extLst>
                </a:gridCol>
              </a:tblGrid>
              <a:tr h="503555">
                <a:tc>
                  <a:txBody>
                    <a:bodyPr/>
                    <a:lstStyle/>
                    <a:p>
                      <a:pPr marL="1270" algn="ctr">
                        <a:lnSpc>
                          <a:spcPct val="100000"/>
                        </a:lnSpc>
                        <a:spcBef>
                          <a:spcPts val="900"/>
                        </a:spcBef>
                      </a:pPr>
                      <a:r>
                        <a:rPr sz="1800" spc="-10" dirty="0">
                          <a:latin typeface="Verdana"/>
                          <a:cs typeface="Verdana"/>
                        </a:rPr>
                        <a:t>JPanel</a:t>
                      </a:r>
                      <a:endParaRPr sz="1800">
                        <a:latin typeface="Verdana"/>
                        <a:cs typeface="Verdana"/>
                      </a:endParaRPr>
                    </a:p>
                  </a:txBody>
                  <a:tcPr marL="0" marR="0" marT="11430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177800">
                <a:tc>
                  <a:txBody>
                    <a:bodyPr/>
                    <a:lstStyle/>
                    <a:p>
                      <a:pPr>
                        <a:lnSpc>
                          <a:spcPct val="100000"/>
                        </a:lnSpc>
                      </a:pPr>
                      <a:endParaRPr sz="10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758190">
                <a:tc>
                  <a:txBody>
                    <a:bodyPr/>
                    <a:lstStyle/>
                    <a:p>
                      <a:pPr marL="217170">
                        <a:lnSpc>
                          <a:spcPct val="100000"/>
                        </a:lnSpc>
                        <a:spcBef>
                          <a:spcPts val="650"/>
                        </a:spcBef>
                      </a:pPr>
                      <a:r>
                        <a:rPr sz="1800" spc="-10" dirty="0">
                          <a:latin typeface="Verdana"/>
                          <a:cs typeface="Verdana"/>
                        </a:rPr>
                        <a:t>+JPanel()</a:t>
                      </a:r>
                      <a:endParaRPr sz="1800">
                        <a:latin typeface="Verdana"/>
                        <a:cs typeface="Verdana"/>
                      </a:endParaRPr>
                    </a:p>
                    <a:p>
                      <a:pPr marL="217170">
                        <a:lnSpc>
                          <a:spcPct val="100000"/>
                        </a:lnSpc>
                      </a:pPr>
                      <a:r>
                        <a:rPr sz="1800" dirty="0">
                          <a:latin typeface="Verdana"/>
                          <a:cs typeface="Verdana"/>
                        </a:rPr>
                        <a:t>+add(</a:t>
                      </a:r>
                      <a:r>
                        <a:rPr sz="1800" spc="-60" dirty="0">
                          <a:latin typeface="Verdana"/>
                          <a:cs typeface="Verdana"/>
                        </a:rPr>
                        <a:t> </a:t>
                      </a:r>
                      <a:r>
                        <a:rPr sz="1800" dirty="0">
                          <a:latin typeface="Verdana"/>
                          <a:cs typeface="Verdana"/>
                        </a:rPr>
                        <a:t>component:</a:t>
                      </a:r>
                      <a:r>
                        <a:rPr sz="1800" spc="-55" dirty="0">
                          <a:latin typeface="Verdana"/>
                          <a:cs typeface="Verdana"/>
                        </a:rPr>
                        <a:t> </a:t>
                      </a:r>
                      <a:r>
                        <a:rPr sz="1800" dirty="0">
                          <a:latin typeface="Verdana"/>
                          <a:cs typeface="Verdana"/>
                        </a:rPr>
                        <a:t>Component</a:t>
                      </a:r>
                      <a:r>
                        <a:rPr sz="1800" spc="-55" dirty="0">
                          <a:latin typeface="Verdana"/>
                          <a:cs typeface="Verdana"/>
                        </a:rPr>
                        <a:t> </a:t>
                      </a:r>
                      <a:r>
                        <a:rPr sz="1800" dirty="0">
                          <a:latin typeface="Verdana"/>
                          <a:cs typeface="Verdana"/>
                        </a:rPr>
                        <a:t>):</a:t>
                      </a:r>
                      <a:r>
                        <a:rPr sz="1800" spc="-55" dirty="0">
                          <a:latin typeface="Verdana"/>
                          <a:cs typeface="Verdana"/>
                        </a:rPr>
                        <a:t> </a:t>
                      </a:r>
                      <a:r>
                        <a:rPr sz="1800" spc="-10" dirty="0">
                          <a:latin typeface="Verdana"/>
                          <a:cs typeface="Verdana"/>
                        </a:rPr>
                        <a:t>Component</a:t>
                      </a:r>
                      <a:endParaRPr sz="1800">
                        <a:latin typeface="Verdana"/>
                        <a:cs typeface="Verdana"/>
                      </a:endParaRPr>
                    </a:p>
                  </a:txBody>
                  <a:tcPr marL="0" marR="0" marT="8255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2" name="Group 1">
            <a:extLst>
              <a:ext uri="{FF2B5EF4-FFF2-40B4-BE49-F238E27FC236}">
                <a16:creationId xmlns:a16="http://schemas.microsoft.com/office/drawing/2014/main" id="{C5440C68-7002-F803-7A57-29BD8196EBCB}"/>
              </a:ext>
            </a:extLst>
          </p:cNvPr>
          <p:cNvGrpSpPr/>
          <p:nvPr/>
        </p:nvGrpSpPr>
        <p:grpSpPr>
          <a:xfrm>
            <a:off x="7165975" y="2688024"/>
            <a:ext cx="234316" cy="2612956"/>
            <a:chOff x="7165975" y="2842896"/>
            <a:chExt cx="234948" cy="2458084"/>
          </a:xfrm>
        </p:grpSpPr>
        <p:sp>
          <p:nvSpPr>
            <p:cNvPr id="15" name="object 15"/>
            <p:cNvSpPr/>
            <p:nvPr/>
          </p:nvSpPr>
          <p:spPr>
            <a:xfrm>
              <a:off x="7265670" y="2852420"/>
              <a:ext cx="36830" cy="2448560"/>
            </a:xfrm>
            <a:custGeom>
              <a:avLst/>
              <a:gdLst/>
              <a:ahLst/>
              <a:cxnLst/>
              <a:rect l="l" t="t" r="r" b="b"/>
              <a:pathLst>
                <a:path w="36829" h="2448560">
                  <a:moveTo>
                    <a:pt x="0" y="0"/>
                  </a:moveTo>
                  <a:lnTo>
                    <a:pt x="36829" y="2448560"/>
                  </a:lnTo>
                </a:path>
              </a:pathLst>
            </a:custGeom>
            <a:ln w="28393">
              <a:solidFill>
                <a:srgbClr val="000000"/>
              </a:solidFill>
            </a:ln>
          </p:spPr>
          <p:txBody>
            <a:bodyPr wrap="square" lIns="0" tIns="0" rIns="0" bIns="0" rtlCol="0"/>
            <a:lstStyle/>
            <a:p>
              <a:endParaRPr/>
            </a:p>
          </p:txBody>
        </p:sp>
        <p:pic>
          <p:nvPicPr>
            <p:cNvPr id="16" name="object 16"/>
            <p:cNvPicPr/>
            <p:nvPr/>
          </p:nvPicPr>
          <p:blipFill>
            <a:blip r:embed="rId3" cstate="print"/>
            <a:stretch>
              <a:fillRect/>
            </a:stretch>
          </p:blipFill>
          <p:spPr>
            <a:xfrm>
              <a:off x="7165975" y="2842896"/>
              <a:ext cx="234948" cy="234948"/>
            </a:xfrm>
            <a:prstGeom prst="rect">
              <a:avLst/>
            </a:prstGeom>
          </p:spPr>
        </p:pic>
      </p:grpSp>
      <p:sp>
        <p:nvSpPr>
          <p:cNvPr id="17" name="object 17"/>
          <p:cNvSpPr txBox="1"/>
          <p:nvPr/>
        </p:nvSpPr>
        <p:spPr>
          <a:xfrm>
            <a:off x="7400291" y="4973320"/>
            <a:ext cx="170815" cy="299720"/>
          </a:xfrm>
          <a:prstGeom prst="rect">
            <a:avLst/>
          </a:prstGeom>
        </p:spPr>
        <p:txBody>
          <a:bodyPr vert="horz" wrap="square" lIns="0" tIns="12700" rIns="0" bIns="0" rtlCol="0">
            <a:spAutoFit/>
          </a:bodyPr>
          <a:lstStyle/>
          <a:p>
            <a:pPr marL="12700">
              <a:spcBef>
                <a:spcPts val="100"/>
              </a:spcBef>
            </a:pPr>
            <a:r>
              <a:rPr spc="-50" dirty="0">
                <a:latin typeface="Verdana"/>
                <a:cs typeface="Verdana"/>
              </a:rPr>
              <a:t>1</a:t>
            </a:r>
            <a:endParaRPr>
              <a:latin typeface="Verdana"/>
              <a:cs typeface="Verdan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9038590" y="6069329"/>
            <a:ext cx="1625600" cy="787400"/>
          </a:xfrm>
          <a:prstGeom prst="rect">
            <a:avLst/>
          </a:prstGeom>
        </p:spPr>
      </p:pic>
      <p:sp>
        <p:nvSpPr>
          <p:cNvPr id="4" name="Rectangle 3">
            <a:extLst>
              <a:ext uri="{FF2B5EF4-FFF2-40B4-BE49-F238E27FC236}">
                <a16:creationId xmlns:a16="http://schemas.microsoft.com/office/drawing/2014/main" id="{D2F9E681-BB80-1BC8-068E-9BF55CDD3A3D}"/>
              </a:ext>
            </a:extLst>
          </p:cNvPr>
          <p:cNvSpPr txBox="1">
            <a:spLocks noChangeArrowheads="1"/>
          </p:cNvSpPr>
          <p:nvPr/>
        </p:nvSpPr>
        <p:spPr>
          <a:xfrm>
            <a:off x="838200" y="838200"/>
            <a:ext cx="10744200" cy="59330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MyApp.kt</a:t>
            </a:r>
            <a:endParaRPr lang="en-US" sz="2400" dirty="0">
              <a:solidFill>
                <a:schemeClr val="accent6"/>
              </a:solidFill>
              <a:latin typeface="Courier New" panose="02070309020205020404" pitchFamily="49" charset="0"/>
              <a:cs typeface="Courier New" panose="02070309020205020404" pitchFamily="49" charset="0"/>
            </a:endParaRPr>
          </a:p>
          <a:p>
            <a:pPr marL="0" indent="0">
              <a:spcBef>
                <a:spcPts val="600"/>
              </a:spcBef>
              <a:buNone/>
            </a:pPr>
            <a:endParaRPr lang="en-US" sz="2400" dirty="0">
              <a:solidFill>
                <a:schemeClr val="accent6"/>
              </a:solidFill>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import </a:t>
            </a:r>
            <a:r>
              <a:rPr lang="en-US" sz="2400" dirty="0" err="1">
                <a:latin typeface="Courier New" panose="02070309020205020404" pitchFamily="49" charset="0"/>
                <a:cs typeface="Courier New" panose="02070309020205020404" pitchFamily="49" charset="0"/>
              </a:rPr>
              <a:t>javax.swing.JButton</a:t>
            </a: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import </a:t>
            </a:r>
            <a:r>
              <a:rPr lang="en-US" sz="2400" dirty="0" err="1">
                <a:latin typeface="Courier New" panose="02070309020205020404" pitchFamily="49" charset="0"/>
                <a:cs typeface="Courier New" panose="02070309020205020404" pitchFamily="49" charset="0"/>
              </a:rPr>
              <a:t>javax.swing.JFrame</a:t>
            </a: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import </a:t>
            </a:r>
            <a:r>
              <a:rPr lang="en-US" sz="2400" dirty="0" err="1">
                <a:latin typeface="Courier New" panose="02070309020205020404" pitchFamily="49" charset="0"/>
                <a:cs typeface="Courier New" panose="02070309020205020404" pitchFamily="49" charset="0"/>
              </a:rPr>
              <a:t>javax.swing.JMenuBar</a:t>
            </a: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import </a:t>
            </a:r>
            <a:r>
              <a:rPr lang="en-US" sz="2400" dirty="0" err="1">
                <a:latin typeface="Courier New" panose="02070309020205020404" pitchFamily="49" charset="0"/>
                <a:cs typeface="Courier New" panose="02070309020205020404" pitchFamily="49" charset="0"/>
              </a:rPr>
              <a:t>javax.swing.JPanel</a:t>
            </a:r>
            <a:endParaRPr lang="en-US" sz="2400" dirty="0">
              <a:latin typeface="Courier New" panose="02070309020205020404" pitchFamily="49" charset="0"/>
              <a:cs typeface="Courier New" panose="02070309020205020404" pitchFamily="49" charset="0"/>
            </a:endParaRPr>
          </a:p>
          <a:p>
            <a:pPr marL="0" indent="0">
              <a:spcBef>
                <a:spcPts val="600"/>
              </a:spcBef>
              <a:buNone/>
            </a:pP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fun main() {</a:t>
            </a: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frame = </a:t>
            </a:r>
            <a:r>
              <a:rPr lang="en-US" sz="2400" dirty="0" err="1">
                <a:latin typeface="Courier New" panose="02070309020205020404" pitchFamily="49" charset="0"/>
                <a:cs typeface="Courier New" panose="02070309020205020404" pitchFamily="49" charset="0"/>
              </a:rPr>
              <a:t>JFrame</a:t>
            </a:r>
            <a:r>
              <a:rPr lang="en-US" sz="2400" dirty="0">
                <a:latin typeface="Courier New" panose="02070309020205020404" pitchFamily="49" charset="0"/>
                <a:cs typeface="Courier New" panose="02070309020205020404" pitchFamily="49" charset="0"/>
              </a:rPr>
              <a:t>( “Title” )</a:t>
            </a:r>
          </a:p>
          <a:p>
            <a:pPr marL="0" indent="0">
              <a:spcBef>
                <a:spcPts val="600"/>
              </a:spcBef>
              <a:buNone/>
            </a:pP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menuBar</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JMenuBar</a:t>
            </a:r>
            <a:r>
              <a:rPr lang="en-US" sz="2400" dirty="0">
                <a:latin typeface="Courier New" panose="02070309020205020404" pitchFamily="49" charset="0"/>
                <a:cs typeface="Courier New" panose="02070309020205020404" pitchFamily="49" charset="0"/>
              </a:rPr>
              <a:t>()</a:t>
            </a:r>
          </a:p>
          <a:p>
            <a:pPr marL="0" indent="0">
              <a:spcBef>
                <a:spcPts val="600"/>
              </a:spcBef>
              <a:buNone/>
            </a:pPr>
            <a:r>
              <a:rPr lang="en-US" sz="2400" dirty="0">
                <a:solidFill>
                  <a:schemeClr val="accent6"/>
                </a:solidFill>
                <a:latin typeface="Courier New" panose="02070309020205020404" pitchFamily="49" charset="0"/>
                <a:cs typeface="Courier New" panose="02070309020205020404" pitchFamily="49" charset="0"/>
              </a:rPr>
              <a:t>    // code to define menu items, etc.</a:t>
            </a: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frame.jMenuBar</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menuBar</a:t>
            </a:r>
            <a:endParaRPr lang="en-US" sz="2400" dirty="0">
              <a:latin typeface="Courier New" panose="02070309020205020404" pitchFamily="49" charset="0"/>
              <a:cs typeface="Courier New" panose="02070309020205020404" pitchFamily="49" charset="0"/>
            </a:endParaRPr>
          </a:p>
          <a:p>
            <a:pPr marL="0" indent="0">
              <a:spcBef>
                <a:spcPts val="600"/>
              </a:spcBef>
              <a:buNone/>
            </a:pPr>
            <a:endParaRPr lang="en-US" sz="2400" dirty="0">
              <a:latin typeface="Courier New" panose="02070309020205020404" pitchFamily="49" charset="0"/>
              <a:cs typeface="Courier New" panose="02070309020205020404" pitchFamily="49" charset="0"/>
            </a:endParaRPr>
          </a:p>
        </p:txBody>
      </p:sp>
      <p:sp>
        <p:nvSpPr>
          <p:cNvPr id="2" name="object 2">
            <a:extLst>
              <a:ext uri="{FF2B5EF4-FFF2-40B4-BE49-F238E27FC236}">
                <a16:creationId xmlns:a16="http://schemas.microsoft.com/office/drawing/2014/main" id="{8C282BC0-DA2C-4C93-3CEC-67CF0649D87C}"/>
              </a:ext>
            </a:extLst>
          </p:cNvPr>
          <p:cNvSpPr txBox="1">
            <a:spLocks/>
          </p:cNvSpPr>
          <p:nvPr/>
        </p:nvSpPr>
        <p:spPr>
          <a:xfrm>
            <a:off x="838200" y="256300"/>
            <a:ext cx="10515600" cy="566822"/>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CA" sz="4000" dirty="0"/>
              <a:t>Swing Main Window</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CF6F2-3863-6015-A843-76FCC2FB1A93}"/>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7FB4612F-DFBA-93EF-97B8-BC85A2742867}"/>
              </a:ext>
            </a:extLst>
          </p:cNvPr>
          <p:cNvPicPr/>
          <p:nvPr/>
        </p:nvPicPr>
        <p:blipFill>
          <a:blip r:embed="rId2" cstate="print"/>
          <a:stretch>
            <a:fillRect/>
          </a:stretch>
        </p:blipFill>
        <p:spPr>
          <a:xfrm>
            <a:off x="9038590" y="6069329"/>
            <a:ext cx="1625600" cy="787400"/>
          </a:xfrm>
          <a:prstGeom prst="rect">
            <a:avLst/>
          </a:prstGeom>
        </p:spPr>
      </p:pic>
      <p:sp>
        <p:nvSpPr>
          <p:cNvPr id="4" name="Rectangle 3">
            <a:extLst>
              <a:ext uri="{FF2B5EF4-FFF2-40B4-BE49-F238E27FC236}">
                <a16:creationId xmlns:a16="http://schemas.microsoft.com/office/drawing/2014/main" id="{C0D8930B-B0DB-BA86-55F4-05A0EFBD4477}"/>
              </a:ext>
            </a:extLst>
          </p:cNvPr>
          <p:cNvSpPr txBox="1">
            <a:spLocks noChangeArrowheads="1"/>
          </p:cNvSpPr>
          <p:nvPr/>
        </p:nvSpPr>
        <p:spPr>
          <a:xfrm>
            <a:off x="838200" y="152400"/>
            <a:ext cx="10744200" cy="6618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panel = </a:t>
            </a:r>
            <a:r>
              <a:rPr lang="en-US" sz="2400" dirty="0" err="1">
                <a:latin typeface="Courier New" panose="02070309020205020404" pitchFamily="49" charset="0"/>
                <a:cs typeface="Courier New" panose="02070309020205020404" pitchFamily="49" charset="0"/>
              </a:rPr>
              <a:t>JPanel</a:t>
            </a:r>
            <a:r>
              <a:rPr lang="en-US" sz="2400" dirty="0">
                <a:latin typeface="Courier New" panose="02070309020205020404" pitchFamily="49" charset="0"/>
                <a:cs typeface="Courier New" panose="02070309020205020404" pitchFamily="49" charset="0"/>
              </a:rPr>
              <a:t>()</a:t>
            </a: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a:solidFill>
                  <a:schemeClr val="accent6"/>
                </a:solidFill>
                <a:latin typeface="Courier New" panose="02070309020205020404" pitchFamily="49" charset="0"/>
                <a:cs typeface="Courier New" panose="02070309020205020404" pitchFamily="49" charset="0"/>
              </a:rPr>
              <a:t>// code to define components in the panel, layout  </a:t>
            </a:r>
          </a:p>
          <a:p>
            <a:pPr marL="0" indent="0">
              <a:spcBef>
                <a:spcPts val="600"/>
              </a:spcBef>
              <a:buNone/>
            </a:pPr>
            <a:r>
              <a:rPr lang="en-US" sz="2400" dirty="0">
                <a:solidFill>
                  <a:schemeClr val="accent6"/>
                </a:solidFill>
                <a:latin typeface="Courier New" panose="02070309020205020404" pitchFamily="49" charset="0"/>
                <a:cs typeface="Courier New" panose="02070309020205020404" pitchFamily="49" charset="0"/>
              </a:rPr>
              <a:t>    // manager, etc.</a:t>
            </a: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button = </a:t>
            </a:r>
            <a:r>
              <a:rPr lang="en-US" sz="2400" dirty="0" err="1">
                <a:latin typeface="Courier New" panose="02070309020205020404" pitchFamily="49" charset="0"/>
                <a:cs typeface="Courier New" panose="02070309020205020404" pitchFamily="49" charset="0"/>
              </a:rPr>
              <a:t>JButton</a:t>
            </a:r>
            <a:r>
              <a:rPr lang="en-US" sz="2400" dirty="0">
                <a:latin typeface="Courier New" panose="02070309020205020404" pitchFamily="49" charset="0"/>
                <a:cs typeface="Courier New" panose="02070309020205020404" pitchFamily="49" charset="0"/>
              </a:rPr>
              <a:t>( “Hello” )</a:t>
            </a: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panel.add</a:t>
            </a:r>
            <a:r>
              <a:rPr lang="en-US" sz="2400" dirty="0">
                <a:latin typeface="Courier New" panose="02070309020205020404" pitchFamily="49" charset="0"/>
                <a:cs typeface="Courier New" panose="02070309020205020404" pitchFamily="49" charset="0"/>
              </a:rPr>
              <a:t>(button)</a:t>
            </a:r>
          </a:p>
          <a:p>
            <a:pPr marL="0" indent="0">
              <a:spcBef>
                <a:spcPts val="600"/>
              </a:spcBef>
              <a:buNone/>
            </a:pP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frame.contentPane</a:t>
            </a:r>
            <a:r>
              <a:rPr lang="en-US" sz="2400" dirty="0">
                <a:latin typeface="Courier New" panose="02070309020205020404" pitchFamily="49" charset="0"/>
                <a:cs typeface="Courier New" panose="02070309020205020404" pitchFamily="49" charset="0"/>
              </a:rPr>
              <a:t> = panel</a:t>
            </a:r>
          </a:p>
          <a:p>
            <a:pPr marL="0" indent="0">
              <a:spcBef>
                <a:spcPts val="600"/>
              </a:spcBef>
              <a:buNone/>
            </a:pPr>
            <a:endParaRPr lang="en-US" sz="2400" dirty="0">
              <a:latin typeface="Courier New" panose="02070309020205020404" pitchFamily="49" charset="0"/>
              <a:cs typeface="Courier New" panose="02070309020205020404" pitchFamily="49" charset="0"/>
            </a:endParaRP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frame.pack</a:t>
            </a:r>
            <a:r>
              <a:rPr lang="en-US" sz="2400" dirty="0">
                <a:latin typeface="Courier New" panose="02070309020205020404" pitchFamily="49" charset="0"/>
                <a:cs typeface="Courier New" panose="02070309020205020404" pitchFamily="49" charset="0"/>
              </a:rPr>
              <a:t>()</a:t>
            </a:r>
          </a:p>
          <a:p>
            <a:pPr marL="0" indent="0">
              <a:spcBef>
                <a:spcPts val="600"/>
              </a:spcBef>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frame.isVisible</a:t>
            </a:r>
            <a:r>
              <a:rPr lang="en-US" sz="2400" dirty="0">
                <a:latin typeface="Courier New" panose="02070309020205020404" pitchFamily="49" charset="0"/>
                <a:cs typeface="Courier New" panose="02070309020205020404" pitchFamily="49" charset="0"/>
              </a:rPr>
              <a:t> = true</a:t>
            </a:r>
          </a:p>
          <a:p>
            <a:pPr marL="0" indent="0">
              <a:spcBef>
                <a:spcPts val="600"/>
              </a:spcBef>
              <a:buNone/>
            </a:pP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697538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0CEE-1B45-78CF-0B96-93025DEEAD59}"/>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D2CA6D03-03F0-C9D9-61ED-2A81BE3B3E81}"/>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code to define menu items, etc.</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fileMenu</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JMenu</a:t>
            </a:r>
            <a:r>
              <a:rPr lang="en-US" sz="2400" dirty="0">
                <a:latin typeface="Courier New" panose="02070309020205020404" pitchFamily="49" charset="0"/>
                <a:cs typeface="Courier New" panose="02070309020205020404" pitchFamily="49" charset="0"/>
              </a:rPr>
              <a:t>( “File” )</a:t>
            </a:r>
          </a:p>
          <a:p>
            <a:pPr marL="0" indent="0">
              <a:buNone/>
            </a:pP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newMenuItem</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JMenuItem</a:t>
            </a:r>
            <a:r>
              <a:rPr lang="en-US" sz="2400" dirty="0">
                <a:latin typeface="Courier New" panose="02070309020205020404" pitchFamily="49" charset="0"/>
                <a:cs typeface="Courier New" panose="02070309020205020404" pitchFamily="49" charset="0"/>
              </a:rPr>
              <a:t>( “New” )</a:t>
            </a:r>
          </a:p>
          <a:p>
            <a:pPr marL="0" indent="0">
              <a:buNone/>
            </a:pP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openMenuItem</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JMenuItem</a:t>
            </a:r>
            <a:r>
              <a:rPr lang="en-US" sz="2400" dirty="0">
                <a:latin typeface="Courier New" panose="02070309020205020404" pitchFamily="49" charset="0"/>
                <a:cs typeface="Courier New" panose="02070309020205020404" pitchFamily="49" charset="0"/>
              </a:rPr>
              <a:t>( “Open”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err="1">
                <a:latin typeface="Courier New" panose="02070309020205020404" pitchFamily="49" charset="0"/>
                <a:cs typeface="Courier New" panose="02070309020205020404" pitchFamily="49" charset="0"/>
              </a:rPr>
              <a:t>fileMenu.add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newMenuItem</a:t>
            </a:r>
            <a:r>
              <a:rPr lang="en-US" sz="2400" dirty="0">
                <a:latin typeface="Courier New" panose="02070309020205020404" pitchFamily="49" charset="0"/>
                <a:cs typeface="Courier New" panose="02070309020205020404" pitchFamily="49" charset="0"/>
              </a:rPr>
              <a:t> )</a:t>
            </a:r>
          </a:p>
          <a:p>
            <a:pPr marL="0" indent="0">
              <a:buNone/>
            </a:pPr>
            <a:r>
              <a:rPr lang="en-US" sz="2400" dirty="0" err="1">
                <a:latin typeface="Courier New" panose="02070309020205020404" pitchFamily="49" charset="0"/>
                <a:cs typeface="Courier New" panose="02070309020205020404" pitchFamily="49" charset="0"/>
              </a:rPr>
              <a:t>fileMenu.add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openMenuItem</a:t>
            </a:r>
            <a:r>
              <a:rPr lang="en-US" sz="2400" dirty="0">
                <a:latin typeface="Courier New" panose="02070309020205020404" pitchFamily="49" charset="0"/>
                <a:cs typeface="Courier New" panose="02070309020205020404" pitchFamily="49" charset="0"/>
              </a:rPr>
              <a:t> )</a:t>
            </a:r>
          </a:p>
          <a:p>
            <a:pPr marL="0" indent="0">
              <a:buNone/>
            </a:pPr>
            <a:r>
              <a:rPr lang="en-US" sz="2400" dirty="0" err="1">
                <a:latin typeface="Courier New" panose="02070309020205020404" pitchFamily="49" charset="0"/>
                <a:cs typeface="Courier New" panose="02070309020205020404" pitchFamily="49" charset="0"/>
              </a:rPr>
              <a:t>menuBar.add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fileMenu</a:t>
            </a: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err="1">
                <a:latin typeface="Courier New" panose="02070309020205020404" pitchFamily="49" charset="0"/>
                <a:cs typeface="Courier New" panose="02070309020205020404" pitchFamily="49" charset="0"/>
              </a:rPr>
              <a:t>val</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editMenu</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JMenu</a:t>
            </a:r>
            <a:r>
              <a:rPr lang="en-US" sz="2400" dirty="0">
                <a:latin typeface="Courier New" panose="02070309020205020404" pitchFamily="49" charset="0"/>
                <a:cs typeface="Courier New" panose="02070309020205020404" pitchFamily="49" charset="0"/>
              </a:rPr>
              <a:t>( “Edit” )</a:t>
            </a:r>
          </a:p>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a:solidFill>
                  <a:schemeClr val="accent4"/>
                </a:solidFill>
                <a:latin typeface="Courier New" panose="02070309020205020404" pitchFamily="49" charset="0"/>
                <a:cs typeface="Courier New" panose="02070309020205020404" pitchFamily="49" charset="0"/>
              </a:rPr>
              <a: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err="1">
                <a:latin typeface="Courier New" panose="02070309020205020404" pitchFamily="49" charset="0"/>
                <a:cs typeface="Courier New" panose="02070309020205020404" pitchFamily="49" charset="0"/>
              </a:rPr>
              <a:t>menuBar.add</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editMenu</a:t>
            </a:r>
            <a:r>
              <a:rPr lang="en-US" sz="2400" dirty="0">
                <a:latin typeface="Courier New" panose="02070309020205020404" pitchFamily="49" charset="0"/>
                <a:cs typeface="Courier New" panose="02070309020205020404" pitchFamily="49" charset="0"/>
              </a:rPr>
              <a:t> )</a:t>
            </a:r>
          </a:p>
        </p:txBody>
      </p:sp>
      <p:sp>
        <p:nvSpPr>
          <p:cNvPr id="2" name="object 2">
            <a:extLst>
              <a:ext uri="{FF2B5EF4-FFF2-40B4-BE49-F238E27FC236}">
                <a16:creationId xmlns:a16="http://schemas.microsoft.com/office/drawing/2014/main" id="{4BC9939F-FFFB-D989-16BA-52A2BC396C69}"/>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Swing Menu Items</a:t>
            </a:r>
          </a:p>
        </p:txBody>
      </p:sp>
      <p:pic>
        <p:nvPicPr>
          <p:cNvPr id="4" name="object 4"/>
          <p:cNvPicPr/>
          <p:nvPr/>
        </p:nvPicPr>
        <p:blipFill>
          <a:blip r:embed="rId2" cstate="print"/>
          <a:stretch>
            <a:fillRect/>
          </a:stretch>
        </p:blipFill>
        <p:spPr>
          <a:xfrm>
            <a:off x="9042400" y="5802629"/>
            <a:ext cx="1625600" cy="1054100"/>
          </a:xfrm>
          <a:prstGeom prst="rect">
            <a:avLst/>
          </a:prstGeom>
        </p:spPr>
      </p:pic>
    </p:spTree>
    <p:extLst>
      <p:ext uri="{BB962C8B-B14F-4D97-AF65-F5344CB8AC3E}">
        <p14:creationId xmlns:p14="http://schemas.microsoft.com/office/powerpoint/2010/main" val="24209833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FA8B6-24DC-A25F-E8B0-24DD7155AC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2A41954-0121-ECEB-B701-AE3D5FA2298C}"/>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lang="en-CA" dirty="0"/>
              <a:t>Events</a:t>
            </a:r>
            <a:endParaRPr dirty="0"/>
          </a:p>
        </p:txBody>
      </p:sp>
      <p:sp>
        <p:nvSpPr>
          <p:cNvPr id="4" name="Content Placeholder 2">
            <a:extLst>
              <a:ext uri="{FF2B5EF4-FFF2-40B4-BE49-F238E27FC236}">
                <a16:creationId xmlns:a16="http://schemas.microsoft.com/office/drawing/2014/main" id="{3727808D-63B2-2A65-2DAB-C6CE39003B41}"/>
              </a:ext>
            </a:extLst>
          </p:cNvPr>
          <p:cNvSpPr>
            <a:spLocks noGrp="1"/>
          </p:cNvSpPr>
          <p:nvPr>
            <p:ph idx="1"/>
          </p:nvPr>
        </p:nvSpPr>
        <p:spPr>
          <a:xfrm>
            <a:off x="838200" y="1825625"/>
            <a:ext cx="10515600" cy="4351338"/>
          </a:xfrm>
        </p:spPr>
        <p:txBody>
          <a:bodyPr>
            <a:normAutofit/>
          </a:bodyPr>
          <a:lstStyle/>
          <a:p>
            <a:r>
              <a:rPr lang="en-US" dirty="0"/>
              <a:t>Interactive applications are event driven:</a:t>
            </a:r>
          </a:p>
          <a:p>
            <a:pPr lvl="1"/>
            <a:r>
              <a:rPr lang="en-US" dirty="0"/>
              <a:t>Receive an event (e.g., initiated from user)</a:t>
            </a:r>
          </a:p>
          <a:p>
            <a:pPr lvl="1"/>
            <a:r>
              <a:rPr lang="en-US" dirty="0"/>
              <a:t>Check event and system state</a:t>
            </a:r>
          </a:p>
          <a:p>
            <a:pPr lvl="1"/>
            <a:r>
              <a:rPr lang="en-US" dirty="0"/>
              <a:t>Respond by changing state and display</a:t>
            </a:r>
          </a:p>
          <a:p>
            <a:pPr lvl="1"/>
            <a:r>
              <a:rPr lang="en-US" dirty="0"/>
              <a:t>Return and wait for another event</a:t>
            </a:r>
          </a:p>
          <a:p>
            <a:r>
              <a:rPr lang="en-US" dirty="0"/>
              <a:t>Event handling is done via:</a:t>
            </a:r>
          </a:p>
          <a:p>
            <a:pPr lvl="1"/>
            <a:r>
              <a:rPr lang="en-US" dirty="0"/>
              <a:t>Explicit event loop, event queue, and dispatcher</a:t>
            </a:r>
          </a:p>
          <a:p>
            <a:pPr lvl="1"/>
            <a:r>
              <a:rPr lang="en-US" i="1" dirty="0"/>
              <a:t>Registered callback through listeners</a:t>
            </a:r>
          </a:p>
        </p:txBody>
      </p:sp>
    </p:spTree>
    <p:extLst>
      <p:ext uri="{BB962C8B-B14F-4D97-AF65-F5344CB8AC3E}">
        <p14:creationId xmlns:p14="http://schemas.microsoft.com/office/powerpoint/2010/main" val="36495180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4740A-09F7-FBBF-2CAD-077DDDFC2F2C}"/>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CC930587-C5B8-F772-4398-47EECC6E3E28}"/>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MyListener.kt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MyListener</a:t>
            </a:r>
            <a:r>
              <a:rPr lang="en-US" sz="2400" dirty="0">
                <a:latin typeface="Courier New" panose="02070309020205020404" pitchFamily="49" charset="0"/>
                <a:cs typeface="Courier New" panose="02070309020205020404" pitchFamily="49" charset="0"/>
              </a:rPr>
              <a:t> : ActionListener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actionPerformed</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ActionEvent</a:t>
            </a:r>
            <a:r>
              <a:rPr lang="en-US" sz="2400" dirty="0">
                <a:latin typeface="Courier New" panose="02070309020205020404" pitchFamily="49" charset="0"/>
                <a:cs typeface="Courier New" panose="02070309020205020404" pitchFamily="49" charset="0"/>
              </a:rPr>
              <a:t>) {</a:t>
            </a:r>
          </a:p>
          <a:p>
            <a:pPr marL="0" indent="0">
              <a:buNone/>
            </a:pPr>
            <a:r>
              <a:rPr lang="en-US" sz="2400" dirty="0">
                <a:solidFill>
                  <a:schemeClr val="accent6"/>
                </a:solidFill>
                <a:latin typeface="Courier New" panose="02070309020205020404" pitchFamily="49" charset="0"/>
                <a:cs typeface="Courier New" panose="02070309020205020404" pitchFamily="49" charset="0"/>
              </a:rPr>
              <a:t>        // react to event</a:t>
            </a:r>
          </a:p>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a:t>
            </a:r>
          </a:p>
          <a:p>
            <a:pPr marL="0" indent="0">
              <a:buNone/>
            </a:pPr>
            <a:r>
              <a:rPr lang="en-US" sz="2400" dirty="0">
                <a:latin typeface="Courier New" panose="02070309020205020404" pitchFamily="49" charset="0"/>
                <a:cs typeface="Courier New" panose="02070309020205020404" pitchFamily="49" charset="0"/>
              </a:rPr>
              <a:t>}</a:t>
            </a:r>
          </a:p>
        </p:txBody>
      </p:sp>
      <p:sp>
        <p:nvSpPr>
          <p:cNvPr id="2" name="object 2">
            <a:extLst>
              <a:ext uri="{FF2B5EF4-FFF2-40B4-BE49-F238E27FC236}">
                <a16:creationId xmlns:a16="http://schemas.microsoft.com/office/drawing/2014/main" id="{527C17E7-D8B6-6DB3-B8FF-AB2BDFEE7A52}"/>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Event Handling</a:t>
            </a:r>
          </a:p>
        </p:txBody>
      </p:sp>
    </p:spTree>
    <p:extLst>
      <p:ext uri="{BB962C8B-B14F-4D97-AF65-F5344CB8AC3E}">
        <p14:creationId xmlns:p14="http://schemas.microsoft.com/office/powerpoint/2010/main" val="38531526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7ED79-7E6D-AA87-9585-D3DB6748EF3F}"/>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A2B29905-96DF-3011-AB39-183EB388DF65}"/>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a:t>
            </a:r>
            <a:r>
              <a:rPr lang="en-US" sz="2400" dirty="0" err="1">
                <a:solidFill>
                  <a:schemeClr val="accent6"/>
                </a:solidFill>
                <a:latin typeface="Courier New" panose="02070309020205020404" pitchFamily="49" charset="0"/>
                <a:cs typeface="Courier New" panose="02070309020205020404" pitchFamily="49" charset="0"/>
              </a:rPr>
              <a:t>MyView.kt</a:t>
            </a: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MyListener</a:t>
            </a:r>
            <a:r>
              <a:rPr lang="en-US" sz="2400" dirty="0">
                <a:latin typeface="Courier New" panose="02070309020205020404" pitchFamily="49" charset="0"/>
                <a:cs typeface="Courier New" panose="02070309020205020404" pitchFamily="49" charset="0"/>
              </a:rPr>
              <a:t> : ActionListener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actionPerformed</a:t>
            </a:r>
            <a:r>
              <a:rPr lang="en-US" sz="2400" dirty="0">
                <a:latin typeface="Courier New" panose="02070309020205020404" pitchFamily="49" charset="0"/>
                <a:cs typeface="Courier New" panose="02070309020205020404" pitchFamily="49" charset="0"/>
              </a:rPr>
              <a:t>( e: </a:t>
            </a:r>
            <a:r>
              <a:rPr lang="en-US" sz="2400" dirty="0" err="1">
                <a:latin typeface="Courier New" panose="02070309020205020404" pitchFamily="49" charset="0"/>
                <a:cs typeface="Courier New" panose="02070309020205020404" pitchFamily="49" charset="0"/>
              </a:rPr>
              <a:t>ActionEvent</a:t>
            </a:r>
            <a:r>
              <a:rPr lang="en-US" sz="2400" dirty="0">
                <a:latin typeface="Courier New" panose="02070309020205020404" pitchFamily="49" charset="0"/>
                <a:cs typeface="Courier New" panose="02070309020205020404" pitchFamily="49" charset="0"/>
              </a:rPr>
              <a:t> ) {</a:t>
            </a:r>
          </a:p>
          <a:p>
            <a:pPr marL="0" indent="0">
              <a:buNone/>
            </a:pPr>
            <a:r>
              <a:rPr lang="en-US" sz="2400" dirty="0">
                <a:solidFill>
                  <a:schemeClr val="accent6"/>
                </a:solidFill>
                <a:latin typeface="Courier New" panose="02070309020205020404" pitchFamily="49" charset="0"/>
                <a:cs typeface="Courier New" panose="02070309020205020404" pitchFamily="49" charset="0"/>
              </a:rPr>
              <a:t>        // react to event</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MyView</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init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button.addActionListener</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MyListener</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p:txBody>
      </p:sp>
      <p:sp>
        <p:nvSpPr>
          <p:cNvPr id="2" name="object 2">
            <a:extLst>
              <a:ext uri="{FF2B5EF4-FFF2-40B4-BE49-F238E27FC236}">
                <a16:creationId xmlns:a16="http://schemas.microsoft.com/office/drawing/2014/main" id="{D4308A28-1F89-DD62-9C4B-321B2D119BEC}"/>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Implementing a Listener</a:t>
            </a:r>
          </a:p>
        </p:txBody>
      </p:sp>
    </p:spTree>
    <p:extLst>
      <p:ext uri="{BB962C8B-B14F-4D97-AF65-F5344CB8AC3E}">
        <p14:creationId xmlns:p14="http://schemas.microsoft.com/office/powerpoint/2010/main" val="41249343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7416A-F265-9B79-7E6E-E00EE3CE4DA3}"/>
            </a:ext>
          </a:extLst>
        </p:cNvPr>
        <p:cNvGrpSpPr/>
        <p:nvPr/>
      </p:nvGrpSpPr>
      <p:grpSpPr>
        <a:xfrm>
          <a:off x="0" y="0"/>
          <a:ext cx="0" cy="0"/>
          <a:chOff x="0" y="0"/>
          <a:chExt cx="0" cy="0"/>
        </a:xfrm>
      </p:grpSpPr>
      <p:sp>
        <p:nvSpPr>
          <p:cNvPr id="3" name="Rectangle 3">
            <a:extLst>
              <a:ext uri="{FF2B5EF4-FFF2-40B4-BE49-F238E27FC236}">
                <a16:creationId xmlns:a16="http://schemas.microsoft.com/office/drawing/2014/main" id="{2FA0C97E-0619-02EC-825F-795185E53F18}"/>
              </a:ext>
            </a:extLst>
          </p:cNvPr>
          <p:cNvSpPr txBox="1">
            <a:spLocks noChangeArrowheads="1"/>
          </p:cNvSpPr>
          <p:nvPr/>
        </p:nvSpPr>
        <p:spPr>
          <a:xfrm>
            <a:off x="838200" y="1143000"/>
            <a:ext cx="10515600" cy="562828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accent6"/>
                </a:solidFill>
                <a:latin typeface="Courier New" panose="02070309020205020404" pitchFamily="49" charset="0"/>
                <a:cs typeface="Courier New" panose="02070309020205020404" pitchFamily="49" charset="0"/>
              </a:rPr>
              <a:t>// without adapter class</a:t>
            </a:r>
          </a:p>
          <a:p>
            <a:pPr marL="0" indent="0">
              <a:buNone/>
            </a:pPr>
            <a:endParaRPr lang="en-US" sz="2400" dirty="0">
              <a:solidFill>
                <a:schemeClr val="accent6"/>
              </a:solidFill>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class </a:t>
            </a:r>
            <a:r>
              <a:rPr lang="en-US" sz="2400" dirty="0" err="1">
                <a:latin typeface="Courier New" panose="02070309020205020404" pitchFamily="49" charset="0"/>
                <a:cs typeface="Courier New" panose="02070309020205020404" pitchFamily="49" charset="0"/>
              </a:rPr>
              <a:t>MyWindowHandler</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WindowListener</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windowClosing</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WindowEvent</a:t>
            </a:r>
            <a:r>
              <a:rPr lang="en-US" sz="2400" dirty="0">
                <a:latin typeface="Courier New" panose="02070309020205020404" pitchFamily="49" charset="0"/>
                <a:cs typeface="Courier New" panose="02070309020205020404" pitchFamily="49" charset="0"/>
              </a:rPr>
              <a:t>) {</a:t>
            </a:r>
          </a:p>
          <a:p>
            <a:pPr marL="0" indent="0">
              <a:buNone/>
            </a:pPr>
            <a:r>
              <a:rPr lang="en-US" sz="2400" dirty="0">
                <a:solidFill>
                  <a:schemeClr val="accent6"/>
                </a:solidFill>
                <a:latin typeface="Courier New" panose="02070309020205020404" pitchFamily="49" charset="0"/>
                <a:cs typeface="Courier New" panose="02070309020205020404" pitchFamily="49" charset="0"/>
              </a:rPr>
              <a:t>        // respond to closing window</a:t>
            </a:r>
          </a:p>
          <a:p>
            <a:pPr marL="0" indent="0">
              <a:buNone/>
            </a:pPr>
            <a:r>
              <a:rPr lang="en-US"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windowOpened</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WindowEvent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windowClosed</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WindowEvent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windowIconified</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WindowEvent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windowDeiconified</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WindowEvent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windowActivated</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WindowEvent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    override fun </a:t>
            </a:r>
            <a:r>
              <a:rPr lang="en-US" sz="2400" dirty="0" err="1">
                <a:latin typeface="Courier New" panose="02070309020205020404" pitchFamily="49" charset="0"/>
                <a:cs typeface="Courier New" panose="02070309020205020404" pitchFamily="49" charset="0"/>
              </a:rPr>
              <a:t>windowDeactivated</a:t>
            </a:r>
            <a:r>
              <a:rPr lang="en-US" sz="2400" dirty="0">
                <a:latin typeface="Courier New" panose="02070309020205020404" pitchFamily="49" charset="0"/>
                <a:cs typeface="Courier New" panose="02070309020205020404" pitchFamily="49" charset="0"/>
              </a:rPr>
              <a:t>(e: </a:t>
            </a:r>
            <a:r>
              <a:rPr lang="en-US" sz="2400" dirty="0" err="1">
                <a:latin typeface="Courier New" panose="02070309020205020404" pitchFamily="49" charset="0"/>
                <a:cs typeface="Courier New" panose="02070309020205020404" pitchFamily="49" charset="0"/>
              </a:rPr>
              <a:t>WindowEvent</a:t>
            </a: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err="1">
                <a:latin typeface="Courier New" panose="02070309020205020404" pitchFamily="49" charset="0"/>
                <a:cs typeface="Courier New" panose="02070309020205020404" pitchFamily="49" charset="0"/>
              </a:rPr>
              <a:t>frame.addWindowListener</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MyWindowHandler</a:t>
            </a:r>
            <a:r>
              <a:rPr lang="en-US" sz="2400" dirty="0">
                <a:latin typeface="Courier New" panose="02070309020205020404" pitchFamily="49" charset="0"/>
                <a:cs typeface="Courier New" panose="02070309020205020404" pitchFamily="49" charset="0"/>
              </a:rPr>
              <a:t>())</a:t>
            </a:r>
          </a:p>
        </p:txBody>
      </p:sp>
      <p:sp>
        <p:nvSpPr>
          <p:cNvPr id="2" name="object 2">
            <a:extLst>
              <a:ext uri="{FF2B5EF4-FFF2-40B4-BE49-F238E27FC236}">
                <a16:creationId xmlns:a16="http://schemas.microsoft.com/office/drawing/2014/main" id="{4197B8DA-48C1-9E79-EA4D-D29EA1B81814}"/>
              </a:ext>
            </a:extLst>
          </p:cNvPr>
          <p:cNvSpPr txBox="1">
            <a:spLocks noGrp="1"/>
          </p:cNvSpPr>
          <p:nvPr>
            <p:ph type="title"/>
          </p:nvPr>
        </p:nvSpPr>
        <p:spPr>
          <a:xfrm>
            <a:off x="838200" y="256300"/>
            <a:ext cx="10515600" cy="566822"/>
          </a:xfrm>
          <a:prstGeom prst="rect">
            <a:avLst/>
          </a:prstGeom>
        </p:spPr>
        <p:txBody>
          <a:bodyPr vert="horz" wrap="square" lIns="0" tIns="12700" rIns="0" bIns="0" rtlCol="0">
            <a:spAutoFit/>
          </a:bodyPr>
          <a:lstStyle/>
          <a:p>
            <a:pPr marL="12700">
              <a:spcBef>
                <a:spcPts val="100"/>
              </a:spcBef>
            </a:pPr>
            <a:r>
              <a:rPr lang="en-CA" sz="4000" dirty="0"/>
              <a:t>Implementing a Listener</a:t>
            </a:r>
          </a:p>
        </p:txBody>
      </p:sp>
    </p:spTree>
    <p:extLst>
      <p:ext uri="{BB962C8B-B14F-4D97-AF65-F5344CB8AC3E}">
        <p14:creationId xmlns:p14="http://schemas.microsoft.com/office/powerpoint/2010/main" val="11011741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3E837-7423-143B-9CF8-E3F3EAA51E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5237134-51A0-E63D-D73F-A6DCD191DD7F}"/>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lang="en-CA" dirty="0"/>
              <a:t>More Information</a:t>
            </a:r>
            <a:endParaRPr dirty="0"/>
          </a:p>
        </p:txBody>
      </p:sp>
      <p:sp>
        <p:nvSpPr>
          <p:cNvPr id="4" name="Content Placeholder 2">
            <a:extLst>
              <a:ext uri="{FF2B5EF4-FFF2-40B4-BE49-F238E27FC236}">
                <a16:creationId xmlns:a16="http://schemas.microsoft.com/office/drawing/2014/main" id="{32649C8E-A733-CD29-74E8-448A87606D70}"/>
              </a:ext>
            </a:extLst>
          </p:cNvPr>
          <p:cNvSpPr>
            <a:spLocks noGrp="1"/>
          </p:cNvSpPr>
          <p:nvPr>
            <p:ph idx="1"/>
          </p:nvPr>
        </p:nvSpPr>
        <p:spPr>
          <a:xfrm>
            <a:off x="838200" y="1825624"/>
            <a:ext cx="10515600" cy="5032375"/>
          </a:xfrm>
        </p:spPr>
        <p:txBody>
          <a:bodyPr>
            <a:normAutofit/>
          </a:bodyPr>
          <a:lstStyle/>
          <a:p>
            <a:r>
              <a:rPr lang="en-US" dirty="0"/>
              <a:t>Books:</a:t>
            </a:r>
          </a:p>
          <a:p>
            <a:pPr lvl="1"/>
            <a:r>
              <a:rPr lang="en-US" dirty="0"/>
              <a:t>The Essence of Object-Oriented Programming with Java and UML</a:t>
            </a:r>
          </a:p>
          <a:p>
            <a:pPr lvl="2"/>
            <a:r>
              <a:rPr lang="en-US" dirty="0"/>
              <a:t>B. Wampler</a:t>
            </a:r>
          </a:p>
          <a:p>
            <a:pPr lvl="2"/>
            <a:r>
              <a:rPr lang="en-US" dirty="0"/>
              <a:t>Addison-Wesley, 2002</a:t>
            </a:r>
          </a:p>
          <a:p>
            <a:pPr lvl="1"/>
            <a:r>
              <a:rPr lang="en-US" dirty="0"/>
              <a:t>Java in a Nutshell</a:t>
            </a:r>
          </a:p>
          <a:p>
            <a:pPr lvl="2"/>
            <a:r>
              <a:rPr lang="en-US" dirty="0"/>
              <a:t>D. Flanagan </a:t>
            </a:r>
          </a:p>
          <a:p>
            <a:pPr lvl="2"/>
            <a:r>
              <a:rPr lang="en-US" dirty="0"/>
              <a:t>O’Reilly, 2005</a:t>
            </a:r>
          </a:p>
          <a:p>
            <a:pPr lvl="1"/>
            <a:r>
              <a:rPr lang="en-US" dirty="0"/>
              <a:t>Core Java 2: Fundamentals</a:t>
            </a:r>
          </a:p>
          <a:p>
            <a:pPr lvl="2"/>
            <a:r>
              <a:rPr lang="en-US" dirty="0"/>
              <a:t>C. Horstmann</a:t>
            </a:r>
          </a:p>
          <a:p>
            <a:pPr lvl="2"/>
            <a:r>
              <a:rPr lang="en-US" dirty="0"/>
              <a:t>Prentice-Hall, 2004</a:t>
            </a:r>
          </a:p>
        </p:txBody>
      </p:sp>
    </p:spTree>
    <p:extLst>
      <p:ext uri="{BB962C8B-B14F-4D97-AF65-F5344CB8AC3E}">
        <p14:creationId xmlns:p14="http://schemas.microsoft.com/office/powerpoint/2010/main" val="5139626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DFA1B-922E-68AC-BD37-809FC4C2322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FF2DDDF-2021-8FD6-271A-FD2CFB9EF507}"/>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lang="en-CA" dirty="0"/>
              <a:t>More Information</a:t>
            </a:r>
            <a:endParaRPr dirty="0"/>
          </a:p>
        </p:txBody>
      </p:sp>
      <p:sp>
        <p:nvSpPr>
          <p:cNvPr id="4" name="Content Placeholder 2">
            <a:extLst>
              <a:ext uri="{FF2B5EF4-FFF2-40B4-BE49-F238E27FC236}">
                <a16:creationId xmlns:a16="http://schemas.microsoft.com/office/drawing/2014/main" id="{1E3D1E9B-0540-A5D1-C1F0-1F314D7DAC42}"/>
              </a:ext>
            </a:extLst>
          </p:cNvPr>
          <p:cNvSpPr>
            <a:spLocks noGrp="1"/>
          </p:cNvSpPr>
          <p:nvPr>
            <p:ph idx="1"/>
          </p:nvPr>
        </p:nvSpPr>
        <p:spPr>
          <a:xfrm>
            <a:off x="838200" y="1825624"/>
            <a:ext cx="10515600" cy="5032375"/>
          </a:xfrm>
        </p:spPr>
        <p:txBody>
          <a:bodyPr>
            <a:normAutofit/>
          </a:bodyPr>
          <a:lstStyle/>
          <a:p>
            <a:r>
              <a:rPr lang="en-US" dirty="0"/>
              <a:t>Books:</a:t>
            </a:r>
          </a:p>
          <a:p>
            <a:pPr lvl="1"/>
            <a:r>
              <a:rPr lang="en-US" dirty="0"/>
              <a:t>Learning Java</a:t>
            </a:r>
          </a:p>
          <a:p>
            <a:pPr lvl="2"/>
            <a:r>
              <a:rPr lang="en-US" dirty="0"/>
              <a:t>P. Niemeyer and J. Knudsen </a:t>
            </a:r>
          </a:p>
          <a:p>
            <a:pPr lvl="2"/>
            <a:r>
              <a:rPr lang="en-US" dirty="0"/>
              <a:t>O’Reilly, 2005</a:t>
            </a:r>
          </a:p>
          <a:p>
            <a:pPr lvl="1"/>
            <a:r>
              <a:rPr lang="en-US" dirty="0"/>
              <a:t>UML Distilled</a:t>
            </a:r>
          </a:p>
          <a:p>
            <a:pPr lvl="2"/>
            <a:r>
              <a:rPr lang="en-US" dirty="0"/>
              <a:t>M. Fowler</a:t>
            </a:r>
          </a:p>
          <a:p>
            <a:pPr lvl="2"/>
            <a:r>
              <a:rPr lang="en-US" dirty="0"/>
              <a:t>Addison-Wesley, 2003</a:t>
            </a:r>
          </a:p>
          <a:p>
            <a:pPr lvl="1"/>
            <a:r>
              <a:rPr lang="en-US" dirty="0"/>
              <a:t>The Elements of UML 2.0 Style</a:t>
            </a:r>
          </a:p>
          <a:p>
            <a:pPr lvl="2"/>
            <a:r>
              <a:rPr lang="en-US" dirty="0"/>
              <a:t>S. W. Ambler </a:t>
            </a:r>
          </a:p>
          <a:p>
            <a:pPr lvl="2"/>
            <a:r>
              <a:rPr lang="en-US" dirty="0"/>
              <a:t>Cambridge, 2005</a:t>
            </a:r>
          </a:p>
        </p:txBody>
      </p:sp>
    </p:spTree>
    <p:extLst>
      <p:ext uri="{BB962C8B-B14F-4D97-AF65-F5344CB8AC3E}">
        <p14:creationId xmlns:p14="http://schemas.microsoft.com/office/powerpoint/2010/main" val="22759517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943F0-877A-DE50-7059-A6958BDAF27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CA2689C-2838-DCE1-6D95-5A9AC0A97215}"/>
              </a:ext>
            </a:extLst>
          </p:cNvPr>
          <p:cNvSpPr txBox="1">
            <a:spLocks noGrp="1"/>
          </p:cNvSpPr>
          <p:nvPr>
            <p:ph type="title"/>
          </p:nvPr>
        </p:nvSpPr>
        <p:spPr>
          <a:xfrm>
            <a:off x="838200" y="716795"/>
            <a:ext cx="10515600" cy="622222"/>
          </a:xfrm>
          <a:prstGeom prst="rect">
            <a:avLst/>
          </a:prstGeom>
        </p:spPr>
        <p:txBody>
          <a:bodyPr vert="horz" wrap="square" lIns="0" tIns="12700" rIns="0" bIns="0" rtlCol="0">
            <a:spAutoFit/>
          </a:bodyPr>
          <a:lstStyle/>
          <a:p>
            <a:pPr marL="12700">
              <a:spcBef>
                <a:spcPts val="100"/>
              </a:spcBef>
            </a:pPr>
            <a:r>
              <a:rPr lang="en-CA" dirty="0"/>
              <a:t>More Information</a:t>
            </a:r>
            <a:endParaRPr dirty="0"/>
          </a:p>
        </p:txBody>
      </p:sp>
      <p:sp>
        <p:nvSpPr>
          <p:cNvPr id="4" name="Content Placeholder 2">
            <a:extLst>
              <a:ext uri="{FF2B5EF4-FFF2-40B4-BE49-F238E27FC236}">
                <a16:creationId xmlns:a16="http://schemas.microsoft.com/office/drawing/2014/main" id="{EB48FAEA-DD54-0AE1-DE85-D906F712033F}"/>
              </a:ext>
            </a:extLst>
          </p:cNvPr>
          <p:cNvSpPr>
            <a:spLocks noGrp="1"/>
          </p:cNvSpPr>
          <p:nvPr>
            <p:ph idx="1"/>
          </p:nvPr>
        </p:nvSpPr>
        <p:spPr>
          <a:xfrm>
            <a:off x="838200" y="1825624"/>
            <a:ext cx="10515600" cy="5032375"/>
          </a:xfrm>
        </p:spPr>
        <p:txBody>
          <a:bodyPr>
            <a:normAutofit/>
          </a:bodyPr>
          <a:lstStyle/>
          <a:p>
            <a:r>
              <a:rPr lang="en-US" dirty="0"/>
              <a:t>Links:</a:t>
            </a:r>
          </a:p>
          <a:p>
            <a:pPr lvl="1"/>
            <a:r>
              <a:rPr lang="en-US" dirty="0"/>
              <a:t>The Swing Tutorial</a:t>
            </a:r>
          </a:p>
          <a:p>
            <a:pPr lvl="2"/>
            <a:r>
              <a:rPr lang="en-US" dirty="0">
                <a:hlinkClick r:id="rId2"/>
              </a:rPr>
              <a:t>https://docs.oracle.com/javase/tutorial/uiswing/</a:t>
            </a:r>
            <a:endParaRPr lang="en-US" dirty="0"/>
          </a:p>
          <a:p>
            <a:pPr lvl="1"/>
            <a:r>
              <a:rPr lang="en-US" dirty="0"/>
              <a:t>Java Standard Edition 6 API Specification</a:t>
            </a:r>
          </a:p>
          <a:p>
            <a:pPr lvl="2"/>
            <a:r>
              <a:rPr lang="en-US" dirty="0">
                <a:hlinkClick r:id="rId3"/>
              </a:rPr>
              <a:t>https://docs.oracle.com/javase/6/docs/api/</a:t>
            </a:r>
            <a:endParaRPr lang="en-US" dirty="0"/>
          </a:p>
          <a:p>
            <a:pPr lvl="1"/>
            <a:r>
              <a:rPr lang="en-US" dirty="0"/>
              <a:t>Java SE Application Design with MVC</a:t>
            </a:r>
          </a:p>
          <a:p>
            <a:pPr lvl="2"/>
            <a:r>
              <a:rPr lang="en-US" dirty="0">
                <a:hlinkClick r:id="rId4"/>
              </a:rPr>
              <a:t>https://www.oracle.com/technical-resources/articles/javase/application-design-with-mvc.html</a:t>
            </a:r>
            <a:endParaRPr lang="en-US" dirty="0"/>
          </a:p>
        </p:txBody>
      </p:sp>
    </p:spTree>
    <p:extLst>
      <p:ext uri="{BB962C8B-B14F-4D97-AF65-F5344CB8AC3E}">
        <p14:creationId xmlns:p14="http://schemas.microsoft.com/office/powerpoint/2010/main" val="1653658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4652</TotalTime>
  <Words>3260</Words>
  <Application>Microsoft Macintosh PowerPoint</Application>
  <PresentationFormat>Widescreen</PresentationFormat>
  <Paragraphs>681</Paragraphs>
  <Slides>71</Slides>
  <Notes>7</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71</vt:i4>
      </vt:variant>
    </vt:vector>
  </HeadingPairs>
  <TitlesOfParts>
    <vt:vector size="81" baseType="lpstr">
      <vt:lpstr>Arial MT</vt:lpstr>
      <vt:lpstr>Aptos</vt:lpstr>
      <vt:lpstr>Arial</vt:lpstr>
      <vt:lpstr>Corbel</vt:lpstr>
      <vt:lpstr>Courier New</vt:lpstr>
      <vt:lpstr>Gill Sans MT</vt:lpstr>
      <vt:lpstr>Times New Roman</vt:lpstr>
      <vt:lpstr>Trebuchet MS</vt:lpstr>
      <vt:lpstr>Verdana</vt:lpstr>
      <vt:lpstr>Office Theme</vt:lpstr>
      <vt:lpstr>MVC and Android</vt:lpstr>
      <vt:lpstr>Model/View/Controller Roles</vt:lpstr>
      <vt:lpstr>MVC Roles</vt:lpstr>
      <vt:lpstr>MVC Roles</vt:lpstr>
      <vt:lpstr>Views</vt:lpstr>
      <vt:lpstr>Views (i.e., observers, clients)</vt:lpstr>
      <vt:lpstr>PowerPoint Presentation</vt:lpstr>
      <vt:lpstr>PowerPoint Presentation</vt:lpstr>
      <vt:lpstr>Can create new, specific types of views without changing the model</vt:lpstr>
      <vt:lpstr>MVC Sequence</vt:lpstr>
      <vt:lpstr>MVC Design Issues</vt:lpstr>
      <vt:lpstr>“MV” Design</vt:lpstr>
      <vt:lpstr>Model-View Update Example</vt:lpstr>
      <vt:lpstr>Java Observer – java.util.Observable superclass</vt:lpstr>
      <vt:lpstr>Java Observer – java.util.Observer interface</vt:lpstr>
      <vt:lpstr>Model-View Update Example</vt:lpstr>
      <vt:lpstr>Model-View Update Example</vt:lpstr>
      <vt:lpstr>Model-View Update Example</vt:lpstr>
      <vt:lpstr>MVC Design</vt:lpstr>
      <vt:lpstr>MVC Framework</vt:lpstr>
      <vt:lpstr>Who is in Control?</vt:lpstr>
      <vt:lpstr>Framework</vt:lpstr>
      <vt:lpstr>Exercise</vt:lpstr>
      <vt:lpstr>Generic MVC Structure</vt:lpstr>
      <vt:lpstr>Generic Model</vt:lpstr>
      <vt:lpstr>Generic Model</vt:lpstr>
      <vt:lpstr>Generic Model</vt:lpstr>
      <vt:lpstr>Generic Controller</vt:lpstr>
      <vt:lpstr>Generic View</vt:lpstr>
      <vt:lpstr>Connecting MVC</vt:lpstr>
      <vt:lpstr>Multiple Views</vt:lpstr>
      <vt:lpstr>Generic MVC Flow</vt:lpstr>
      <vt:lpstr>“Code Reuse”</vt:lpstr>
      <vt:lpstr>Example Template</vt:lpstr>
      <vt:lpstr>MVC Responsibility Checklist Example</vt:lpstr>
      <vt:lpstr>Implementing MVC</vt:lpstr>
      <vt:lpstr>TView</vt:lpstr>
      <vt:lpstr>TModel</vt:lpstr>
      <vt:lpstr>PowerPoint Presentation</vt:lpstr>
      <vt:lpstr>PowerPoint Presentation</vt:lpstr>
      <vt:lpstr>Custom View</vt:lpstr>
      <vt:lpstr>Custom View</vt:lpstr>
      <vt:lpstr>Custom Model</vt:lpstr>
      <vt:lpstr>Custom Application</vt:lpstr>
      <vt:lpstr>Custom Application</vt:lpstr>
      <vt:lpstr>Custom User Interface</vt:lpstr>
      <vt:lpstr>Custom User Interface</vt:lpstr>
      <vt:lpstr>Custom User Interface</vt:lpstr>
      <vt:lpstr>Custom User Interface</vt:lpstr>
      <vt:lpstr>Custom User Interface</vt:lpstr>
      <vt:lpstr>UML Sequence Diagram</vt:lpstr>
      <vt:lpstr>Exercise</vt:lpstr>
      <vt:lpstr>Swing</vt:lpstr>
      <vt:lpstr>PowerPoint Presentation</vt:lpstr>
      <vt:lpstr>PowerPoint Presentation</vt:lpstr>
      <vt:lpstr>PowerPoint Presentation</vt:lpstr>
      <vt:lpstr>PowerPoint Presentation</vt:lpstr>
      <vt:lpstr>PowerPoint Presentation</vt:lpstr>
      <vt:lpstr>PowerPoint Presentation</vt:lpstr>
      <vt:lpstr>Main Window</vt:lpstr>
      <vt:lpstr>JFrame</vt:lpstr>
      <vt:lpstr>PowerPoint Presentation</vt:lpstr>
      <vt:lpstr>PowerPoint Presentation</vt:lpstr>
      <vt:lpstr>Swing Menu Items</vt:lpstr>
      <vt:lpstr>Events</vt:lpstr>
      <vt:lpstr>Event Handling</vt:lpstr>
      <vt:lpstr>Implementing a Listener</vt:lpstr>
      <vt:lpstr>Implementing a Listener</vt:lpstr>
      <vt:lpstr>More Information</vt:lpstr>
      <vt:lpstr>More Information</vt:lpstr>
      <vt:lpstr>More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MVC and Android</dc:title>
  <cp:lastModifiedBy>Raj Prasad</cp:lastModifiedBy>
  <cp:revision>60</cp:revision>
  <dcterms:created xsi:type="dcterms:W3CDTF">2025-01-24T21:24:37Z</dcterms:created>
  <dcterms:modified xsi:type="dcterms:W3CDTF">2026-05-11T21:12:15Z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2013-04-21T00:00:00Z</vt:filetime>
  </property>
  <property fmtid="{D5CDD505-2E9C-101B-9397-08002B2CF9AE}" pid="3" name="Creator">
    <vt:lpwstr>Impress</vt:lpwstr>
  </property>
  <property fmtid="{D5CDD505-2E9C-101B-9397-08002B2CF9AE}" pid="4" name="Producer">
    <vt:lpwstr>LibreOffice 3.6</vt:lpwstr>
  </property>
  <property fmtid="{D5CDD505-2E9C-101B-9397-08002B2CF9AE}" pid="5" name="LastSaved">
    <vt:filetime>2013-04-21T00:00:00Z</vt:filetime>
  </property>
</Properties>
</file>