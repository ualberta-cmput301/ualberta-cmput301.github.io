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omments/modernComment_2CA_35F4F5E3.xml" ContentType="application/vnd.ms-powerpoint.comments+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2B3_B267FD56.xml" ContentType="application/vnd.ms-powerpoint.comments+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comments/modernComment_2C5_6B4B9E5F.xml" ContentType="application/vnd.ms-powerpoint.comment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comments/modernComment_279_0.xml" ContentType="application/vnd.ms-powerpoint.comments+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comments/modernComment_2CB_33BEC78E.xml" ContentType="application/vnd.ms-powerpoint.comments+xml"/>
  <Override PartName="/ppt/comments/modernComment_2B5_8DE2D04D.xml" ContentType="application/vnd.ms-powerpoint.comments+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comments/modernComment_2B8_FB8F88B.xml" ContentType="application/vnd.ms-powerpoint.comments+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autoCompressPictures="0">
  <p:sldMasterIdLst>
    <p:sldMasterId id="2147483694" r:id="rId1"/>
  </p:sldMasterIdLst>
  <p:notesMasterIdLst>
    <p:notesMasterId r:id="rId93"/>
  </p:notesMasterIdLst>
  <p:handoutMasterIdLst>
    <p:handoutMasterId r:id="rId94"/>
  </p:handoutMasterIdLst>
  <p:sldIdLst>
    <p:sldId id="722" r:id="rId2"/>
    <p:sldId id="689" r:id="rId3"/>
    <p:sldId id="428" r:id="rId4"/>
    <p:sldId id="429" r:id="rId5"/>
    <p:sldId id="430" r:id="rId6"/>
    <p:sldId id="431" r:id="rId7"/>
    <p:sldId id="674" r:id="rId8"/>
    <p:sldId id="576" r:id="rId9"/>
    <p:sldId id="578" r:id="rId10"/>
    <p:sldId id="675" r:id="rId11"/>
    <p:sldId id="677" r:id="rId12"/>
    <p:sldId id="690" r:id="rId13"/>
    <p:sldId id="434" r:id="rId14"/>
    <p:sldId id="418" r:id="rId15"/>
    <p:sldId id="421" r:id="rId16"/>
    <p:sldId id="433" r:id="rId17"/>
    <p:sldId id="702" r:id="rId18"/>
    <p:sldId id="577" r:id="rId19"/>
    <p:sldId id="258" r:id="rId20"/>
    <p:sldId id="579" r:id="rId21"/>
    <p:sldId id="388" r:id="rId22"/>
    <p:sldId id="406" r:id="rId23"/>
    <p:sldId id="407" r:id="rId24"/>
    <p:sldId id="588" r:id="rId25"/>
    <p:sldId id="592" r:id="rId26"/>
    <p:sldId id="589" r:id="rId27"/>
    <p:sldId id="594" r:id="rId28"/>
    <p:sldId id="593" r:id="rId29"/>
    <p:sldId id="590" r:id="rId30"/>
    <p:sldId id="595" r:id="rId31"/>
    <p:sldId id="682" r:id="rId32"/>
    <p:sldId id="692" r:id="rId33"/>
    <p:sldId id="719" r:id="rId34"/>
    <p:sldId id="720" r:id="rId35"/>
    <p:sldId id="683" r:id="rId36"/>
    <p:sldId id="713" r:id="rId37"/>
    <p:sldId id="714" r:id="rId38"/>
    <p:sldId id="718" r:id="rId39"/>
    <p:sldId id="601" r:id="rId40"/>
    <p:sldId id="678" r:id="rId41"/>
    <p:sldId id="626" r:id="rId42"/>
    <p:sldId id="691" r:id="rId43"/>
    <p:sldId id="679" r:id="rId44"/>
    <p:sldId id="703" r:id="rId45"/>
    <p:sldId id="704" r:id="rId46"/>
    <p:sldId id="705" r:id="rId47"/>
    <p:sldId id="706" r:id="rId48"/>
    <p:sldId id="707" r:id="rId49"/>
    <p:sldId id="708" r:id="rId50"/>
    <p:sldId id="709" r:id="rId51"/>
    <p:sldId id="710" r:id="rId52"/>
    <p:sldId id="711" r:id="rId53"/>
    <p:sldId id="712" r:id="rId54"/>
    <p:sldId id="634" r:id="rId55"/>
    <p:sldId id="685" r:id="rId56"/>
    <p:sldId id="631" r:id="rId57"/>
    <p:sldId id="633" r:id="rId58"/>
    <p:sldId id="695" r:id="rId59"/>
    <p:sldId id="636" r:id="rId60"/>
    <p:sldId id="715" r:id="rId61"/>
    <p:sldId id="693" r:id="rId62"/>
    <p:sldId id="676" r:id="rId63"/>
    <p:sldId id="640" r:id="rId64"/>
    <p:sldId id="700" r:id="rId65"/>
    <p:sldId id="696" r:id="rId66"/>
    <p:sldId id="641" r:id="rId67"/>
    <p:sldId id="723" r:id="rId68"/>
    <p:sldId id="646" r:id="rId69"/>
    <p:sldId id="643" r:id="rId70"/>
    <p:sldId id="645" r:id="rId71"/>
    <p:sldId id="701" r:id="rId72"/>
    <p:sldId id="687" r:id="rId73"/>
    <p:sldId id="653" r:id="rId74"/>
    <p:sldId id="655" r:id="rId75"/>
    <p:sldId id="697" r:id="rId76"/>
    <p:sldId id="698" r:id="rId77"/>
    <p:sldId id="658" r:id="rId78"/>
    <p:sldId id="660" r:id="rId79"/>
    <p:sldId id="699" r:id="rId80"/>
    <p:sldId id="662" r:id="rId81"/>
    <p:sldId id="665" r:id="rId82"/>
    <p:sldId id="716" r:id="rId83"/>
    <p:sldId id="668" r:id="rId84"/>
    <p:sldId id="669" r:id="rId85"/>
    <p:sldId id="670" r:id="rId86"/>
    <p:sldId id="671" r:id="rId87"/>
    <p:sldId id="673" r:id="rId88"/>
    <p:sldId id="721" r:id="rId89"/>
    <p:sldId id="571" r:id="rId90"/>
    <p:sldId id="681" r:id="rId91"/>
    <p:sldId id="650" r:id="rId9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BA119B9E-6541-45A7-BDEA-DCDC2F042CA9}">
          <p14:sldIdLst>
            <p14:sldId id="722"/>
            <p14:sldId id="689"/>
            <p14:sldId id="428"/>
            <p14:sldId id="429"/>
            <p14:sldId id="430"/>
            <p14:sldId id="431"/>
            <p14:sldId id="674"/>
            <p14:sldId id="576"/>
            <p14:sldId id="578"/>
            <p14:sldId id="675"/>
            <p14:sldId id="677"/>
            <p14:sldId id="690"/>
            <p14:sldId id="434"/>
            <p14:sldId id="418"/>
            <p14:sldId id="421"/>
            <p14:sldId id="433"/>
            <p14:sldId id="702"/>
            <p14:sldId id="577"/>
            <p14:sldId id="258"/>
            <p14:sldId id="579"/>
            <p14:sldId id="388"/>
            <p14:sldId id="406"/>
            <p14:sldId id="407"/>
            <p14:sldId id="588"/>
            <p14:sldId id="592"/>
            <p14:sldId id="589"/>
            <p14:sldId id="594"/>
            <p14:sldId id="593"/>
            <p14:sldId id="590"/>
            <p14:sldId id="595"/>
            <p14:sldId id="682"/>
            <p14:sldId id="692"/>
            <p14:sldId id="719"/>
            <p14:sldId id="720"/>
            <p14:sldId id="683"/>
            <p14:sldId id="713"/>
            <p14:sldId id="714"/>
            <p14:sldId id="718"/>
            <p14:sldId id="601"/>
            <p14:sldId id="678"/>
            <p14:sldId id="626"/>
            <p14:sldId id="691"/>
            <p14:sldId id="679"/>
            <p14:sldId id="703"/>
            <p14:sldId id="704"/>
            <p14:sldId id="705"/>
            <p14:sldId id="706"/>
            <p14:sldId id="707"/>
            <p14:sldId id="708"/>
            <p14:sldId id="709"/>
            <p14:sldId id="710"/>
            <p14:sldId id="711"/>
            <p14:sldId id="712"/>
            <p14:sldId id="634"/>
            <p14:sldId id="685"/>
            <p14:sldId id="631"/>
            <p14:sldId id="633"/>
            <p14:sldId id="695"/>
            <p14:sldId id="636"/>
            <p14:sldId id="715"/>
            <p14:sldId id="693"/>
            <p14:sldId id="676"/>
            <p14:sldId id="640"/>
            <p14:sldId id="700"/>
            <p14:sldId id="696"/>
            <p14:sldId id="641"/>
            <p14:sldId id="723"/>
            <p14:sldId id="646"/>
            <p14:sldId id="643"/>
            <p14:sldId id="645"/>
            <p14:sldId id="701"/>
            <p14:sldId id="687"/>
            <p14:sldId id="653"/>
            <p14:sldId id="655"/>
            <p14:sldId id="697"/>
            <p14:sldId id="698"/>
            <p14:sldId id="658"/>
            <p14:sldId id="660"/>
            <p14:sldId id="699"/>
            <p14:sldId id="662"/>
            <p14:sldId id="665"/>
            <p14:sldId id="716"/>
            <p14:sldId id="668"/>
            <p14:sldId id="669"/>
            <p14:sldId id="670"/>
            <p14:sldId id="671"/>
            <p14:sldId id="673"/>
            <p14:sldId id="721"/>
            <p14:sldId id="571"/>
            <p14:sldId id="681"/>
            <p14:sldId id="650"/>
          </p14:sldIdLst>
        </p14:section>
      </p14:sectionLst>
    </p:ext>
    <p:ext uri="{EFAFB233-063F-42B5-8137-9DF3F51BA10A}">
      <p15:sldGuideLst xmlns:p15="http://schemas.microsoft.com/office/powerpoint/2012/main">
        <p15:guide id="1" orient="horz" pos="2704" userDrawn="1">
          <p15:clr>
            <a:srgbClr val="A4A3A4"/>
          </p15:clr>
        </p15:guide>
        <p15:guide id="2" pos="384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E338B3A-F700-9AA2-FFC6-00E52EB65A1C}" name="Raj Prasad" initials="RP" userId="S::rajneel1@ualberta.ca::2ffb932f-d3ed-435d-a89b-875a0c498748"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08000"/>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321" autoAdjust="0"/>
    <p:restoredTop sz="88192" autoAdjust="0"/>
  </p:normalViewPr>
  <p:slideViewPr>
    <p:cSldViewPr showGuides="1">
      <p:cViewPr varScale="1">
        <p:scale>
          <a:sx n="117" d="100"/>
          <a:sy n="117" d="100"/>
        </p:scale>
        <p:origin x="184" y="600"/>
      </p:cViewPr>
      <p:guideLst>
        <p:guide orient="horz" pos="2704"/>
        <p:guide pos="3840"/>
      </p:guideLst>
    </p:cSldViewPr>
  </p:slideViewPr>
  <p:outlineViewPr>
    <p:cViewPr>
      <p:scale>
        <a:sx n="33" d="100"/>
        <a:sy n="33" d="100"/>
      </p:scale>
      <p:origin x="0" y="0"/>
    </p:cViewPr>
    <p:sldLst>
      <p:sld r:id="rId1" collapse="1"/>
      <p:sld r:id="rId2" collapse="1"/>
    </p:sldLst>
  </p:outlineViewPr>
  <p:notesTextViewPr>
    <p:cViewPr>
      <p:scale>
        <a:sx n="100" d="100"/>
        <a:sy n="100" d="100"/>
      </p:scale>
      <p:origin x="0" y="0"/>
    </p:cViewPr>
  </p:notesTextViewPr>
  <p:sorterViewPr>
    <p:cViewPr>
      <p:scale>
        <a:sx n="66" d="100"/>
        <a:sy n="66" d="100"/>
      </p:scale>
      <p:origin x="0" y="7616"/>
    </p:cViewPr>
  </p:sorterViewPr>
  <p:notesViewPr>
    <p:cSldViewPr snapToGrid="0" snapToObjects="1" showGuides="1">
      <p:cViewPr varScale="1">
        <p:scale>
          <a:sx n="102" d="100"/>
          <a:sy n="102" d="100"/>
        </p:scale>
        <p:origin x="-2936" y="-11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presProps" Target="presProps.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handoutMaster" Target="handoutMasters/handoutMaster1.xml"/><Relationship Id="rId99" Type="http://schemas.microsoft.com/office/2018/10/relationships/authors" Target="author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notesMaster" Target="notesMasters/notesMaster1.xml"/><Relationship Id="rId98" Type="http://schemas.openxmlformats.org/officeDocument/2006/relationships/tableStyles" Target="tableStyles.xml"/></Relationships>
</file>

<file path=ppt/_rels/viewProps.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slide" Target="slides/slide78.xml"/></Relationships>
</file>

<file path=ppt/comments/modernComment_2B3_B267FD56.xml><?xml version="1.0" encoding="utf-8"?>
<p188:cmLst xmlns:a="http://schemas.openxmlformats.org/drawingml/2006/main" xmlns:r="http://schemas.openxmlformats.org/officeDocument/2006/relationships" xmlns:p188="http://schemas.microsoft.com/office/powerpoint/2018/8/main">
  <p188:cm id="{B8E7A79F-EDA2-7441-A8C5-3ABDC4C9A9B3}" authorId="{1E338B3A-F700-9AA2-FFC6-00E52EB65A1C}" created="2026-05-06T19:03:41.206">
    <ac:txMkLst xmlns:ac="http://schemas.microsoft.com/office/drawing/2013/main/command">
      <pc:docMk xmlns:pc="http://schemas.microsoft.com/office/powerpoint/2013/main/command"/>
      <pc:sldMk xmlns:pc="http://schemas.microsoft.com/office/powerpoint/2013/main/command" cId="2993159510" sldId="691"/>
      <ac:spMk id="484355" creationId="{00000000-0000-0000-0000-000000000000}"/>
      <ac:txMk cp="0" len="4">
        <ac:context len="271" hash="2840021448"/>
      </ac:txMk>
    </ac:txMkLst>
    <p188:pos x="917448" y="371256"/>
    <p188:txBody>
      <a:bodyPr/>
      <a:lstStyle/>
      <a:p>
        <a:r>
          <a:rPr lang="en-US"/>
          <a:t>Kotlin needs 'open' to allow subclassing - should this be noted in the slides?</a:t>
        </a:r>
      </a:p>
    </p188:txBody>
  </p188:cm>
</p188:cmLst>
</file>

<file path=ppt/comments/modernComment_2B5_8DE2D04D.xml><?xml version="1.0" encoding="utf-8"?>
<p188:cmLst xmlns:a="http://schemas.openxmlformats.org/drawingml/2006/main" xmlns:r="http://schemas.openxmlformats.org/officeDocument/2006/relationships" xmlns:p188="http://schemas.microsoft.com/office/powerpoint/2018/8/main">
  <p188:cm id="{FC647262-9B8C-124D-BB8D-7756AE2FA1C2}" authorId="{1E338B3A-F700-9AA2-FFC6-00E52EB65A1C}" created="2026-05-06T20:29:24.243">
    <pc:sldMkLst xmlns:pc="http://schemas.microsoft.com/office/powerpoint/2013/main/command">
      <pc:docMk/>
      <pc:sldMk cId="2380451917" sldId="693"/>
    </pc:sldMkLst>
    <p188:txBody>
      <a:bodyPr/>
      <a:lstStyle/>
      <a:p>
        <a:r>
          <a:rPr lang="en-US"/>
          <a:t>This section needs major revision: 
Java and Kotlin do not have the same subtleties</a:t>
        </a:r>
      </a:p>
    </p188:txBody>
  </p188:cm>
</p188:cmLst>
</file>

<file path=ppt/comments/modernComment_2B8_FB8F88B.xml><?xml version="1.0" encoding="utf-8"?>
<p188:cmLst xmlns:a="http://schemas.openxmlformats.org/drawingml/2006/main" xmlns:r="http://schemas.openxmlformats.org/officeDocument/2006/relationships" xmlns:p188="http://schemas.microsoft.com/office/powerpoint/2018/8/main">
  <p188:cm id="{4D9980A4-A3D0-F640-A580-26F453D0ECB9}" authorId="{1E338B3A-F700-9AA2-FFC6-00E52EB65A1C}" created="2026-05-06T21:17:25.203">
    <ac:deMkLst xmlns:ac="http://schemas.microsoft.com/office/drawing/2013/main/command">
      <pc:docMk xmlns:pc="http://schemas.microsoft.com/office/powerpoint/2013/main/command"/>
      <pc:sldMk xmlns:pc="http://schemas.microsoft.com/office/powerpoint/2013/main/command" cId="263780491" sldId="696"/>
      <ac:spMk id="508931" creationId="{00000000-0000-0000-0000-000000000000}"/>
    </ac:deMkLst>
    <p188:txBody>
      <a:bodyPr/>
      <a:lstStyle/>
      <a:p>
        <a:r>
          <a:rPr lang="en-US"/>
          <a:t>Double check code here - does this teach default constructor args cleanly? </a:t>
        </a:r>
      </a:p>
    </p188:txBody>
  </p188:cm>
  <p188:cm id="{A92BC3B2-5C8A-9748-834D-D2063BAC4035}" authorId="{1E338B3A-F700-9AA2-FFC6-00E52EB65A1C}" created="2026-05-06T21:22:25.171">
    <pc:sldMkLst xmlns:pc="http://schemas.microsoft.com/office/powerpoint/2013/main/command">
      <pc:docMk/>
      <pc:sldMk cId="263780491" sldId="696"/>
    </pc:sldMkLst>
    <p188:txBody>
      <a:bodyPr/>
      <a:lstStyle/>
      <a:p>
        <a:r>
          <a:rPr lang="en-US"/>
          <a:t>Removed old Slide 66: 
Kotlin usually uses default constructor parameters instead of separate overloaded constructors for simpler defaults. </a:t>
        </a:r>
      </a:p>
    </p188:txBody>
  </p188:cm>
</p188:cmLst>
</file>

<file path=ppt/comments/modernComment_2C5_6B4B9E5F.xml><?xml version="1.0" encoding="utf-8"?>
<p188:cmLst xmlns:a="http://schemas.openxmlformats.org/drawingml/2006/main" xmlns:r="http://schemas.openxmlformats.org/officeDocument/2006/relationships" xmlns:p188="http://schemas.microsoft.com/office/powerpoint/2018/8/main">
  <p188:cm id="{56B90B20-4B69-DC4E-8313-65377A5BF9F2}" authorId="{1E338B3A-F700-9AA2-FFC6-00E52EB65A1C}" created="2026-05-06T22:05:35.072">
    <pc:sldMkLst xmlns:pc="http://schemas.microsoft.com/office/powerpoint/2013/main/command">
      <pc:docMk/>
      <pc:sldMk cId="1800117855" sldId="709"/>
    </pc:sldMkLst>
    <p188:txBody>
      <a:bodyPr/>
      <a:lstStyle/>
      <a:p>
        <a:r>
          <a:rPr lang="en-US"/>
          <a:t>Getters/Setters Kotlin - need revision</a:t>
        </a:r>
      </a:p>
    </p188:txBody>
  </p188:cm>
</p188:cmLst>
</file>

<file path=ppt/comments/modernComment_2CA_35F4F5E3.xml><?xml version="1.0" encoding="utf-8"?>
<p188:cmLst xmlns:a="http://schemas.openxmlformats.org/drawingml/2006/main" xmlns:r="http://schemas.openxmlformats.org/officeDocument/2006/relationships" xmlns:p188="http://schemas.microsoft.com/office/powerpoint/2018/8/main">
  <p188:cm id="{805CE596-6A6C-954F-A432-B30BB0AE9083}" authorId="{1E338B3A-F700-9AA2-FFC6-00E52EB65A1C}" created="2026-05-06T18:31:27.644">
    <ac:deMkLst xmlns:ac="http://schemas.microsoft.com/office/drawing/2013/main/command">
      <pc:docMk xmlns:pc="http://schemas.microsoft.com/office/powerpoint/2013/main/command"/>
      <pc:sldMk xmlns:pc="http://schemas.microsoft.com/office/powerpoint/2013/main/command" cId="905246179" sldId="714"/>
      <ac:grpSpMk id="5" creationId="{1D3AE5AB-FC54-8F51-B2B4-7ADA9DFA0778}"/>
    </ac:deMkLst>
    <p188:txBody>
      <a:bodyPr/>
      <a:lstStyle/>
      <a:p>
        <a:r>
          <a:rPr lang="en-US"/>
          <a:t>Kotlin UML doesn't use void like Java; Kotlin uses Unit. However, Unit on Kotlin UML is uncommon and is usually omitted. 
Review later</a:t>
        </a:r>
      </a:p>
    </p188:txBody>
  </p188:cm>
</p188:cmLst>
</file>

<file path=ppt/comments/modernComment_2CB_33BEC78E.xml><?xml version="1.0" encoding="utf-8"?>
<p188:cmLst xmlns:a="http://schemas.openxmlformats.org/drawingml/2006/main" xmlns:r="http://schemas.openxmlformats.org/officeDocument/2006/relationships" xmlns:p188="http://schemas.microsoft.com/office/powerpoint/2018/8/main">
  <p188:cm id="{C65A0A4C-B900-704D-A193-524F5F87399B}" authorId="{1E338B3A-F700-9AA2-FFC6-00E52EB65A1C}" created="2026-05-06T20:27:47.976">
    <pc:sldMkLst xmlns:pc="http://schemas.microsoft.com/office/powerpoint/2013/main/command">
      <pc:docMk/>
      <pc:sldMk cId="868140942" sldId="715"/>
    </pc:sldMkLst>
    <p188:txBody>
      <a:bodyPr/>
      <a:lstStyle/>
      <a:p>
        <a:r>
          <a:rPr lang="en-US"/>
          <a:t>May need to edit the image because Kotlin doesn't have getters/setters. getName() could be a function within Employee? </a:t>
        </a:r>
      </a:p>
    </p188:txBody>
  </p188:cm>
</p188:cmLst>
</file>

<file path=ppt/comments/modernComment_279_0.xml><?xml version="1.0" encoding="utf-8"?>
<p188:cmLst xmlns:a="http://schemas.openxmlformats.org/drawingml/2006/main" xmlns:r="http://schemas.openxmlformats.org/officeDocument/2006/relationships" xmlns:p188="http://schemas.microsoft.com/office/powerpoint/2018/8/main">
  <p188:cm id="{1149E7A3-EA6B-8A49-9A20-50330ADD04E8}" authorId="{1E338B3A-F700-9AA2-FFC6-00E52EB65A1C}" created="2026-05-06T20:22:18.148">
    <pc:sldMkLst xmlns:pc="http://schemas.microsoft.com/office/powerpoint/2013/main/command">
      <pc:docMk/>
      <pc:sldMk cId="0" sldId="633"/>
    </pc:sldMkLst>
    <p188:txBody>
      <a:bodyPr/>
      <a:lstStyle/>
      <a:p>
        <a:r>
          <a:rPr lang="en-US"/>
          <a:t>Kotlin has its own Cloneable interface called Copyable, so this slide could just be 
interface Copyable { fun copy(): Copyable }
If needed, we can do this but the inheritance and cloning are good as-is for explanation to students</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96610"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Times" charset="0"/>
              </a:defRPr>
            </a:lvl1pPr>
          </a:lstStyle>
          <a:p>
            <a:endParaRPr lang="en-US"/>
          </a:p>
        </p:txBody>
      </p:sp>
      <p:sp>
        <p:nvSpPr>
          <p:cNvPr id="196611" name="Rectangle 3"/>
          <p:cNvSpPr>
            <a:spLocks noGrp="1" noChangeArrowheads="1"/>
          </p:cNvSpPr>
          <p:nvPr>
            <p:ph type="dt" sz="quarter"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endParaRPr lang="en-US"/>
          </a:p>
        </p:txBody>
      </p:sp>
      <p:sp>
        <p:nvSpPr>
          <p:cNvPr id="196612" name="Rectangle 4"/>
          <p:cNvSpPr>
            <a:spLocks noGrp="1" noChangeArrowheads="1"/>
          </p:cNvSpPr>
          <p:nvPr>
            <p:ph type="ftr" sz="quarter" idx="2"/>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Times" charset="0"/>
              </a:defRPr>
            </a:lvl1pPr>
          </a:lstStyle>
          <a:p>
            <a:endParaRPr lang="en-US"/>
          </a:p>
        </p:txBody>
      </p:sp>
      <p:sp>
        <p:nvSpPr>
          <p:cNvPr id="196613" name="Rectangle 5"/>
          <p:cNvSpPr>
            <a:spLocks noGrp="1" noChangeArrowheads="1"/>
          </p:cNvSpPr>
          <p:nvPr>
            <p:ph type="sldNum" sz="quarter" idx="3"/>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atin typeface="Times" charset="0"/>
              </a:defRPr>
            </a:lvl1pPr>
          </a:lstStyle>
          <a:p>
            <a:fld id="{C5A431B6-B77E-0E44-B4D9-F4ECB6A0B841}" type="slidenum">
              <a:rPr lang="en-US"/>
              <a:pPr/>
              <a:t>‹#›</a:t>
            </a:fld>
            <a:endParaRPr lang="en-US"/>
          </a:p>
        </p:txBody>
      </p:sp>
    </p:spTree>
    <p:extLst>
      <p:ext uri="{BB962C8B-B14F-4D97-AF65-F5344CB8AC3E}">
        <p14:creationId xmlns:p14="http://schemas.microsoft.com/office/powerpoint/2010/main" val="382392724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defRPr sz="1200">
                <a:latin typeface="Times" charset="0"/>
              </a:defRPr>
            </a:lvl1pPr>
          </a:lstStyle>
          <a:p>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algn="r">
              <a:defRPr sz="1200">
                <a:latin typeface="Times" charset="0"/>
              </a:defRPr>
            </a:lvl1pPr>
          </a:lstStyle>
          <a:p>
            <a:endParaRPr lang="en-US"/>
          </a:p>
        </p:txBody>
      </p:sp>
      <p:sp>
        <p:nvSpPr>
          <p:cNvPr id="41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a:extLst>
            <a:ext uri="{AF507438-7753-43e0-B8FC-AC1667EBCBE1}">
              <a14:hiddenEffects xmln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 xmlns:a14="http://schemas.microsoft.com/office/drawing/2010/main" val="1"/>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defRPr sz="1200">
                <a:latin typeface="Times" charset="0"/>
              </a:defRPr>
            </a:lvl1pPr>
          </a:lstStyle>
          <a:p>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91440" tIns="45720" rIns="91440" bIns="45720" numCol="1" anchor="b" anchorCtr="0" compatLnSpc="1">
            <a:prstTxWarp prst="textNoShape">
              <a:avLst/>
            </a:prstTxWarp>
          </a:bodyPr>
          <a:lstStyle>
            <a:lvl1pPr algn="r">
              <a:defRPr sz="1200">
                <a:latin typeface="Times" charset="0"/>
              </a:defRPr>
            </a:lvl1pPr>
          </a:lstStyle>
          <a:p>
            <a:fld id="{92420250-75BC-9E45-A2EC-31FD1AEF8259}" type="slidenum">
              <a:rPr lang="en-US"/>
              <a:pPr/>
              <a:t>‹#›</a:t>
            </a:fld>
            <a:endParaRPr lang="en-US"/>
          </a:p>
        </p:txBody>
      </p:sp>
    </p:spTree>
    <p:extLst>
      <p:ext uri="{BB962C8B-B14F-4D97-AF65-F5344CB8AC3E}">
        <p14:creationId xmlns:p14="http://schemas.microsoft.com/office/powerpoint/2010/main" val="3665475186"/>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buFontTx/>
      <a:buNone/>
      <a:defRPr sz="1200" kern="1200">
        <a:solidFill>
          <a:schemeClr val="tx1"/>
        </a:solidFill>
        <a:latin typeface="Verdana"/>
        <a:ea typeface="ＭＳ Ｐゴシック" charset="0"/>
        <a:cs typeface="Verdana"/>
      </a:defRPr>
    </a:lvl1pPr>
    <a:lvl2pPr marL="4572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2pPr>
    <a:lvl3pPr marL="9144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3pPr>
    <a:lvl4pPr marL="13716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4pPr>
    <a:lvl5pPr marL="1828800" algn="l" rtl="0" eaLnBrk="0" fontAlgn="base" hangingPunct="0">
      <a:spcBef>
        <a:spcPct val="30000"/>
      </a:spcBef>
      <a:spcAft>
        <a:spcPct val="0"/>
      </a:spcAft>
      <a:buChar char="–"/>
      <a:defRPr sz="1200" kern="1200">
        <a:solidFill>
          <a:schemeClr val="tx1"/>
        </a:solidFill>
        <a:latin typeface="Verdana"/>
        <a:ea typeface="ＭＳ Ｐゴシック" charset="0"/>
        <a:cs typeface="Verdana"/>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from problem to</a:t>
            </a:r>
            <a:r>
              <a:rPr lang="en-US" baseline="0" dirty="0"/>
              <a:t> computing solution</a:t>
            </a:r>
          </a:p>
          <a:p>
            <a:pPr marL="171450" indent="-171450">
              <a:buFontTx/>
              <a:buChar char="-"/>
            </a:pPr>
            <a:r>
              <a:rPr lang="en-US" baseline="0" dirty="0"/>
              <a:t>come up with some algorithms and data structures</a:t>
            </a:r>
          </a:p>
          <a:p>
            <a:pPr marL="171450" indent="-171450">
              <a:buFontTx/>
              <a:buChar char="-"/>
            </a:pPr>
            <a:r>
              <a:rPr lang="en-US" baseline="0" dirty="0"/>
              <a:t>expressed as code</a:t>
            </a:r>
          </a:p>
          <a:p>
            <a:pPr marL="171450" indent="-171450">
              <a:buFontTx/>
              <a:buChar char="-"/>
            </a:pPr>
            <a:r>
              <a:rPr lang="en-US" dirty="0"/>
              <a:t>code is king, since it runs</a:t>
            </a:r>
          </a:p>
          <a:p>
            <a:pPr marL="171450" indent="-171450">
              <a:buFontTx/>
              <a:buChar char="-"/>
            </a:pPr>
            <a:r>
              <a:rPr lang="en-US" dirty="0"/>
              <a:t>good ways to organize the code</a:t>
            </a:r>
          </a:p>
          <a:p>
            <a:pPr marL="171450" indent="-171450">
              <a:buFontTx/>
              <a:buChar char="-"/>
            </a:pPr>
            <a:r>
              <a:rPr lang="en-US" dirty="0"/>
              <a:t>over the years, different ways by different programming languages</a:t>
            </a:r>
          </a:p>
        </p:txBody>
      </p:sp>
      <p:sp>
        <p:nvSpPr>
          <p:cNvPr id="4" name="Slide Number Placeholder 3"/>
          <p:cNvSpPr>
            <a:spLocks noGrp="1"/>
          </p:cNvSpPr>
          <p:nvPr>
            <p:ph type="sldNum" sz="quarter" idx="10"/>
          </p:nvPr>
        </p:nvSpPr>
        <p:spPr/>
        <p:txBody>
          <a:bodyPr/>
          <a:lstStyle/>
          <a:p>
            <a:fld id="{92420250-75BC-9E45-A2EC-31FD1AEF8259}" type="slidenum">
              <a:rPr lang="en-US" smtClean="0"/>
              <a:pPr/>
              <a:t>2</a:t>
            </a:fld>
            <a:endParaRPr lang="en-US"/>
          </a:p>
        </p:txBody>
      </p:sp>
    </p:spTree>
    <p:extLst>
      <p:ext uri="{BB962C8B-B14F-4D97-AF65-F5344CB8AC3E}">
        <p14:creationId xmlns:p14="http://schemas.microsoft.com/office/powerpoint/2010/main" val="6647277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B596D5-5B47-F748-BCE3-308903A71B28}" type="slidenum">
              <a:rPr lang="en-US"/>
              <a:pPr/>
              <a:t>3</a:t>
            </a:fld>
            <a:endParaRPr lang="en-US"/>
          </a:p>
        </p:txBody>
      </p:sp>
      <p:sp>
        <p:nvSpPr>
          <p:cNvPr id="58163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1635" name="Rectangle 3"/>
          <p:cNvSpPr>
            <a:spLocks noGrp="1" noChangeArrowheads="1"/>
          </p:cNvSpPr>
          <p:nvPr>
            <p:ph type="body" idx="1"/>
          </p:nvPr>
        </p:nvSpPr>
        <p:spPr/>
        <p:txBody>
          <a:bodyPr/>
          <a:lstStyle/>
          <a:p>
            <a:r>
              <a:rPr lang="en-US" dirty="0"/>
              <a:t>late 1950s, early 1960s</a:t>
            </a:r>
          </a:p>
          <a:p>
            <a:endParaRPr lang="en-US" dirty="0"/>
          </a:p>
          <a:p>
            <a:r>
              <a:rPr lang="en-US" dirty="0"/>
              <a:t>subroutine calls not shown</a:t>
            </a:r>
          </a:p>
          <a:p>
            <a:endParaRPr lang="en-US" dirty="0"/>
          </a:p>
          <a:p>
            <a:r>
              <a:rPr lang="en-US" dirty="0"/>
              <a:t>global data</a:t>
            </a:r>
          </a:p>
          <a:p>
            <a:endParaRPr lang="en-US" dirty="0"/>
          </a:p>
          <a:p>
            <a:r>
              <a:rPr lang="en-US" dirty="0"/>
              <a:t>hierarchy of subroutines</a:t>
            </a:r>
          </a:p>
          <a:p>
            <a:pPr marL="171450" indent="-171450">
              <a:buFontTx/>
              <a:buChar char="-"/>
            </a:pPr>
            <a:r>
              <a:rPr lang="en-US" baseline="0" dirty="0"/>
              <a:t>top down design</a:t>
            </a:r>
          </a:p>
          <a:p>
            <a:pPr marL="171450" indent="-171450">
              <a:buFontTx/>
              <a:buChar char="-"/>
            </a:pPr>
            <a:r>
              <a:rPr lang="en-US" baseline="0" dirty="0"/>
              <a:t>bottom up design</a:t>
            </a:r>
          </a:p>
          <a:p>
            <a:pPr marL="171450" indent="-171450">
              <a:buFontTx/>
              <a:buChar char="-"/>
            </a:pPr>
            <a:endParaRPr lang="en-US" dirty="0"/>
          </a:p>
          <a:p>
            <a:r>
              <a:rPr lang="en-US" dirty="0"/>
              <a:t>suited for data processing programs</a:t>
            </a:r>
          </a:p>
          <a:p>
            <a:r>
              <a:rPr lang="en-US" dirty="0"/>
              <a:t>-</a:t>
            </a:r>
            <a:r>
              <a:rPr lang="en-US" baseline="0" dirty="0"/>
              <a:t> </a:t>
            </a:r>
            <a:r>
              <a:rPr lang="en-US" dirty="0"/>
              <a:t>initialize</a:t>
            </a:r>
            <a:r>
              <a:rPr lang="en-US" baseline="0" dirty="0"/>
              <a:t> data, input data, compute, report data</a:t>
            </a:r>
            <a:endParaRPr lang="en-US" dirty="0"/>
          </a:p>
          <a:p>
            <a:endParaRPr lang="en-US" dirty="0"/>
          </a:p>
          <a:p>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A657FD-8A32-1E4B-AE17-C51D8485EAB6}" type="slidenum">
              <a:rPr lang="en-US"/>
              <a:pPr/>
              <a:t>4</a:t>
            </a:fld>
            <a:endParaRPr lang="en-US"/>
          </a:p>
        </p:txBody>
      </p:sp>
      <p:sp>
        <p:nvSpPr>
          <p:cNvPr id="58265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2659" name="Rectangle 3"/>
          <p:cNvSpPr>
            <a:spLocks noGrp="1" noChangeArrowheads="1"/>
          </p:cNvSpPr>
          <p:nvPr>
            <p:ph type="body" idx="1"/>
          </p:nvPr>
        </p:nvSpPr>
        <p:spPr/>
        <p:txBody>
          <a:bodyPr/>
          <a:lstStyle/>
          <a:p>
            <a:r>
              <a:rPr lang="en-US" dirty="0"/>
              <a:t>1960s, early 1970s</a:t>
            </a:r>
          </a:p>
          <a:p>
            <a:endParaRPr lang="en-US" dirty="0"/>
          </a:p>
          <a:p>
            <a:r>
              <a:rPr lang="en-US" dirty="0"/>
              <a:t>local and global variables</a:t>
            </a:r>
          </a:p>
          <a:p>
            <a:r>
              <a:rPr lang="en-US" baseline="0" dirty="0"/>
              <a:t>local variable data not shown</a:t>
            </a:r>
          </a:p>
          <a:p>
            <a:endParaRPr lang="en-US" baseline="0" dirty="0"/>
          </a:p>
          <a:p>
            <a:r>
              <a:rPr lang="en-US" baseline="0" dirty="0"/>
              <a:t>scoping rules</a:t>
            </a:r>
          </a:p>
          <a:p>
            <a:endParaRPr lang="en-US" baseline="0" dirty="0"/>
          </a:p>
          <a:p>
            <a:r>
              <a:rPr lang="en-US" baseline="0" dirty="0"/>
              <a:t>concept of user-defined type for data (records)</a:t>
            </a:r>
          </a:p>
          <a:p>
            <a:pPr marL="171450" indent="-171450">
              <a:buFontTx/>
              <a:buChar char="-"/>
            </a:pPr>
            <a:r>
              <a:rPr lang="en-US" baseline="0" dirty="0"/>
              <a:t>mail address record type</a:t>
            </a:r>
          </a:p>
          <a:p>
            <a:pPr marL="171450" indent="-171450">
              <a:buFontTx/>
              <a:buChar char="-"/>
            </a:pPr>
            <a:r>
              <a:rPr lang="en-US" baseline="0" dirty="0"/>
              <a:t>declare variables of a type</a:t>
            </a:r>
          </a:p>
          <a:p>
            <a:pPr marL="171450" indent="-171450">
              <a:buFontTx/>
              <a:buChar char="-"/>
            </a:pPr>
            <a:r>
              <a:rPr lang="en-US" baseline="0" dirty="0"/>
              <a:t>dynamically create variables of a type</a:t>
            </a:r>
          </a:p>
          <a:p>
            <a:pPr marL="171450" indent="-171450">
              <a:buFontTx/>
              <a:buChar char="-"/>
            </a:pPr>
            <a:endParaRPr lang="en-US" baseline="0" dirty="0"/>
          </a:p>
          <a:p>
            <a:pPr marL="0" indent="0">
              <a:buFontTx/>
              <a:buNone/>
            </a:pPr>
            <a:r>
              <a:rPr lang="en-US" baseline="0" dirty="0"/>
              <a:t>single file</a:t>
            </a:r>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4EEC21E-BAA9-9748-884B-19FE28BD1CBA}" type="slidenum">
              <a:rPr lang="en-US"/>
              <a:pPr/>
              <a:t>5</a:t>
            </a:fld>
            <a:endParaRPr lang="en-US"/>
          </a:p>
        </p:txBody>
      </p:sp>
      <p:sp>
        <p:nvSpPr>
          <p:cNvPr id="58368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3683" name="Rectangle 3"/>
          <p:cNvSpPr>
            <a:spLocks noGrp="1" noChangeArrowheads="1"/>
          </p:cNvSpPr>
          <p:nvPr>
            <p:ph type="body" idx="1"/>
          </p:nvPr>
        </p:nvSpPr>
        <p:spPr/>
        <p:txBody>
          <a:bodyPr/>
          <a:lstStyle/>
          <a:p>
            <a:r>
              <a:rPr lang="en-US" dirty="0"/>
              <a:t>1970s</a:t>
            </a:r>
          </a:p>
          <a:p>
            <a:endParaRPr lang="en-US" dirty="0"/>
          </a:p>
          <a:p>
            <a:r>
              <a:rPr lang="en-US" dirty="0"/>
              <a:t>list of strings</a:t>
            </a:r>
          </a:p>
          <a:p>
            <a:endParaRPr lang="en-US" dirty="0"/>
          </a:p>
          <a:p>
            <a:r>
              <a:rPr lang="en-US" dirty="0"/>
              <a:t>also concept of user-defined type</a:t>
            </a:r>
          </a:p>
          <a:p>
            <a:pPr marL="171450" indent="-171450">
              <a:buFontTx/>
              <a:buChar char="-"/>
            </a:pPr>
            <a:r>
              <a:rPr lang="en-US" dirty="0"/>
              <a:t>multiple instances of a type</a:t>
            </a:r>
          </a:p>
          <a:p>
            <a:pPr marL="171450" indent="-171450">
              <a:buFontTx/>
              <a:buChar char="-"/>
            </a:pPr>
            <a:endParaRPr lang="en-US" dirty="0"/>
          </a:p>
          <a:p>
            <a:pPr marL="0" indent="0">
              <a:buFontTx/>
              <a:buNone/>
            </a:pPr>
            <a:r>
              <a:rPr lang="en-US" dirty="0" err="1"/>
              <a:t>typedef</a:t>
            </a:r>
            <a:endParaRPr lang="en-US" dirty="0"/>
          </a:p>
          <a:p>
            <a:pPr marL="0" indent="0">
              <a:buFontTx/>
              <a:buNone/>
            </a:pPr>
            <a:r>
              <a:rPr lang="en-US" dirty="0"/>
              <a:t>file with access routines that deal with data of a given type</a:t>
            </a:r>
          </a:p>
          <a:p>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79F4BCE-60E4-634B-BE6E-8B18885D48F3}" type="slidenum">
              <a:rPr lang="en-US"/>
              <a:pPr/>
              <a:t>6</a:t>
            </a:fld>
            <a:endParaRPr lang="en-US"/>
          </a:p>
        </p:txBody>
      </p:sp>
      <p:sp>
        <p:nvSpPr>
          <p:cNvPr id="58470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4707" name="Rectangle 3"/>
          <p:cNvSpPr>
            <a:spLocks noGrp="1" noChangeArrowheads="1"/>
          </p:cNvSpPr>
          <p:nvPr>
            <p:ph type="body" idx="1"/>
          </p:nvPr>
        </p:nvSpPr>
        <p:spPr/>
        <p:txBody>
          <a:bodyPr/>
          <a:lstStyle/>
          <a:p>
            <a:r>
              <a:rPr lang="en-US" dirty="0"/>
              <a:t>early 1970s, late 1980s, mid 1990s</a:t>
            </a:r>
          </a:p>
          <a:p>
            <a:endParaRPr lang="en-US" dirty="0"/>
          </a:p>
          <a:p>
            <a:r>
              <a:rPr lang="en-US" dirty="0"/>
              <a:t>multiple instances</a:t>
            </a:r>
          </a:p>
          <a:p>
            <a:endParaRPr lang="en-US" dirty="0"/>
          </a:p>
          <a:p>
            <a:r>
              <a:rPr lang="en-US" dirty="0"/>
              <a:t>inheritance</a:t>
            </a:r>
          </a:p>
          <a:p>
            <a:r>
              <a:rPr lang="en-US" dirty="0"/>
              <a:t>namespaces</a:t>
            </a:r>
            <a:r>
              <a:rPr lang="en-US" baseline="0" dirty="0"/>
              <a:t> and packages (not Perl package)</a:t>
            </a:r>
          </a:p>
          <a:p>
            <a:endParaRPr lang="en-US" baseline="0" dirty="0"/>
          </a:p>
          <a:p>
            <a:r>
              <a:rPr lang="en-US" dirty="0"/>
              <a:t>aspect</a:t>
            </a:r>
            <a:r>
              <a:rPr lang="en-US" baseline="0" dirty="0"/>
              <a:t> oriented programming</a:t>
            </a:r>
          </a:p>
          <a:p>
            <a:r>
              <a:rPr lang="en-US" baseline="0" dirty="0"/>
              <a:t>- not everything can be nicely broken up into classes</a:t>
            </a:r>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3B668F-0229-B044-929D-967F29B35AAB}" type="slidenum">
              <a:rPr lang="en-US"/>
              <a:pPr/>
              <a:t>7</a:t>
            </a:fld>
            <a:endParaRPr lang="en-US"/>
          </a:p>
        </p:txBody>
      </p:sp>
      <p:sp>
        <p:nvSpPr>
          <p:cNvPr id="69734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97347" name="Rectangle 3"/>
          <p:cNvSpPr>
            <a:spLocks noGrp="1" noChangeArrowheads="1"/>
          </p:cNvSpPr>
          <p:nvPr>
            <p:ph type="body" idx="1"/>
          </p:nvPr>
        </p:nvSpPr>
        <p:spPr/>
        <p:txBody>
          <a:bodyPr/>
          <a:lstStyle/>
          <a:p>
            <a:r>
              <a:rPr lang="en-US" dirty="0"/>
              <a:t>modularity principles</a:t>
            </a:r>
          </a:p>
          <a:p>
            <a:r>
              <a:rPr lang="en-US" dirty="0"/>
              <a:t>problem solving principles</a:t>
            </a:r>
          </a:p>
          <a:p>
            <a:r>
              <a:rPr lang="en-US" dirty="0"/>
              <a:t>- how to express problems (simplify,</a:t>
            </a:r>
            <a:r>
              <a:rPr lang="en-US" baseline="0" dirty="0"/>
              <a:t> breaking down)</a:t>
            </a:r>
            <a:endParaRPr lang="en-US" dirty="0"/>
          </a:p>
          <a:p>
            <a:endParaRPr lang="en-US" dirty="0"/>
          </a:p>
          <a:p>
            <a:r>
              <a:rPr lang="en-US" dirty="0"/>
              <a:t>AEDG</a:t>
            </a:r>
          </a:p>
          <a:p>
            <a:pPr marL="171450" indent="-171450">
              <a:buFontTx/>
              <a:buChar char="-"/>
            </a:pPr>
            <a:r>
              <a:rPr lang="en-US" dirty="0"/>
              <a:t>abstraction</a:t>
            </a:r>
          </a:p>
          <a:p>
            <a:pPr marL="171450" indent="-171450">
              <a:buFontTx/>
              <a:buChar char="-"/>
            </a:pPr>
            <a:r>
              <a:rPr lang="en-US" dirty="0"/>
              <a:t>encapsulation</a:t>
            </a:r>
          </a:p>
          <a:p>
            <a:pPr marL="171450" indent="-171450">
              <a:buFontTx/>
              <a:buChar char="-"/>
            </a:pPr>
            <a:r>
              <a:rPr lang="en-US" dirty="0"/>
              <a:t>decomposition</a:t>
            </a:r>
          </a:p>
          <a:p>
            <a:pPr marL="171450" indent="-171450">
              <a:buFontTx/>
              <a:buChar char="-"/>
            </a:pPr>
            <a:r>
              <a:rPr lang="en-US" dirty="0"/>
              <a:t>generalization</a:t>
            </a:r>
          </a:p>
          <a:p>
            <a:pPr marL="171450" indent="-171450">
              <a:buFontTx/>
              <a:buChar char="-"/>
            </a:pPr>
            <a:endParaRPr lang="en-US" dirty="0"/>
          </a:p>
          <a:p>
            <a:pPr marL="0" indent="0">
              <a:buFontTx/>
              <a:buNone/>
            </a:pPr>
            <a:r>
              <a:rPr lang="en-US" dirty="0"/>
              <a:t>human time expensive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3B73E62-6DFF-844B-90FC-EECE4058BB28}" type="slidenum">
              <a:rPr lang="en-US"/>
              <a:pPr/>
              <a:t>8</a:t>
            </a:fld>
            <a:endParaRPr lang="en-US"/>
          </a:p>
        </p:txBody>
      </p:sp>
      <p:sp>
        <p:nvSpPr>
          <p:cNvPr id="59597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95971" name="Rectangle 3"/>
          <p:cNvSpPr>
            <a:spLocks noGrp="1" noChangeArrowheads="1"/>
          </p:cNvSpPr>
          <p:nvPr>
            <p:ph type="body" idx="1"/>
          </p:nvPr>
        </p:nvSpPr>
        <p:spPr/>
        <p:txBody>
          <a:bodyPr/>
          <a:lstStyle/>
          <a:p>
            <a:r>
              <a:rPr lang="en-US" dirty="0"/>
              <a:t>modeling</a:t>
            </a:r>
          </a:p>
          <a:p>
            <a:pPr marL="171450" indent="-171450">
              <a:buFontTx/>
              <a:buChar char="-"/>
            </a:pPr>
            <a:r>
              <a:rPr lang="en-US" baseline="0" dirty="0"/>
              <a:t>deciding on the abstractions</a:t>
            </a:r>
          </a:p>
          <a:p>
            <a:pPr marL="171450" indent="-171450">
              <a:buFontTx/>
              <a:buChar char="-"/>
            </a:pPr>
            <a:r>
              <a:rPr lang="en-US" baseline="0" dirty="0"/>
              <a:t>what attributes and behavior they each have</a:t>
            </a:r>
          </a:p>
          <a:p>
            <a:pPr marL="171450" indent="-171450">
              <a:buFontTx/>
              <a:buChar char="-"/>
            </a:pPr>
            <a:r>
              <a:rPr lang="en-US" baseline="0" dirty="0"/>
              <a:t>what are the relationships between abstractions</a:t>
            </a:r>
          </a:p>
          <a:p>
            <a:pPr marL="171450" indent="-171450">
              <a:buFontTx/>
              <a:buChar char="-"/>
            </a:pPr>
            <a:r>
              <a:rPr lang="en-US" baseline="0" dirty="0"/>
              <a:t>depends on the application context</a:t>
            </a:r>
          </a:p>
          <a:p>
            <a:pPr marL="171450" indent="-171450">
              <a:buFontTx/>
              <a:buChar char="-"/>
            </a:pPr>
            <a:r>
              <a:rPr lang="en-US" baseline="0" dirty="0"/>
              <a:t>useful when talking to users, and between developers</a:t>
            </a:r>
          </a:p>
          <a:p>
            <a:pPr marL="171450" indent="-171450">
              <a:buFontTx/>
              <a:buChar char="-"/>
            </a:pPr>
            <a:r>
              <a:rPr lang="en-US" baseline="0" dirty="0"/>
              <a:t>why have Java, when we have assembler</a:t>
            </a:r>
            <a:endParaRPr lang="en-US" dirty="0"/>
          </a:p>
          <a:p>
            <a:endParaRPr lang="en-US" dirty="0"/>
          </a:p>
          <a:p>
            <a:r>
              <a:rPr lang="en-US" dirty="0"/>
              <a:t>examples</a:t>
            </a:r>
          </a:p>
          <a:p>
            <a:pPr marL="171450" indent="-171450">
              <a:buFontTx/>
              <a:buChar char="-"/>
            </a:pPr>
            <a:r>
              <a:rPr lang="en-US" dirty="0"/>
              <a:t>in C, Person</a:t>
            </a:r>
            <a:r>
              <a:rPr lang="en-US" baseline="0" dirty="0"/>
              <a:t> </a:t>
            </a:r>
            <a:r>
              <a:rPr lang="en-US" baseline="0" dirty="0" err="1"/>
              <a:t>typedef</a:t>
            </a:r>
            <a:endParaRPr lang="en-US" baseline="0" dirty="0"/>
          </a:p>
          <a:p>
            <a:pPr marL="171450" indent="-171450">
              <a:buFontTx/>
              <a:buChar char="-"/>
            </a:pPr>
            <a:endParaRPr lang="en-US" baseline="0" dirty="0"/>
          </a:p>
          <a:p>
            <a:pPr marL="0" indent="0">
              <a:buFontTx/>
              <a:buNone/>
            </a:pPr>
            <a:r>
              <a:rPr lang="en-US" dirty="0"/>
              <a:t>“All models are wrong. Some are useful.”</a:t>
            </a:r>
            <a:br>
              <a:rPr lang="en-US" dirty="0"/>
            </a:br>
            <a:r>
              <a:rPr lang="en-US" dirty="0"/>
              <a:t>— George Box</a:t>
            </a:r>
          </a:p>
          <a:p>
            <a:pPr marL="0" indent="0">
              <a:buFontTx/>
              <a:buNone/>
            </a:pPr>
            <a:endParaRPr lang="en-US" dirty="0"/>
          </a:p>
          <a:p>
            <a:pPr marL="0" indent="0">
              <a:buFontTx/>
              <a:buNone/>
            </a:pPr>
            <a:r>
              <a:rPr lang="en-US" dirty="0"/>
              <a:t>(abstract</a:t>
            </a:r>
            <a:r>
              <a:rPr lang="en-US" baseline="0" dirty="0"/>
              <a:t> data) type</a:t>
            </a:r>
            <a:endParaRPr lang="en-US" dirty="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6EE3C97-526F-6A47-9804-1431E06AB19D}" type="slidenum">
              <a:rPr lang="en-US"/>
              <a:pPr/>
              <a:t>9</a:t>
            </a:fld>
            <a:endParaRPr lang="en-US"/>
          </a:p>
        </p:txBody>
      </p:sp>
      <p:sp>
        <p:nvSpPr>
          <p:cNvPr id="59801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98019" name="Rectangle 3"/>
          <p:cNvSpPr>
            <a:spLocks noGrp="1" noChangeArrowheads="1"/>
          </p:cNvSpPr>
          <p:nvPr>
            <p:ph type="body" idx="1"/>
          </p:nvPr>
        </p:nvSpPr>
        <p:spPr/>
        <p:txBody>
          <a:bodyPr/>
          <a:lstStyle/>
          <a:p>
            <a:r>
              <a:rPr lang="en-US" dirty="0"/>
              <a:t>examples</a:t>
            </a:r>
          </a:p>
          <a:p>
            <a:pPr marL="171450" indent="-171450">
              <a:buFontTx/>
              <a:buChar char="-"/>
            </a:pPr>
            <a:r>
              <a:rPr lang="en-US" dirty="0"/>
              <a:t>in C, Person module (</a:t>
            </a:r>
            <a:r>
              <a:rPr lang="en-US" dirty="0" err="1"/>
              <a:t>typedef</a:t>
            </a:r>
            <a:r>
              <a:rPr lang="en-US" dirty="0"/>
              <a:t> and access functions)</a:t>
            </a:r>
          </a:p>
          <a:p>
            <a:pPr marL="171450" indent="-171450">
              <a:buFontTx/>
              <a:buChar char="-"/>
            </a:pPr>
            <a:r>
              <a:rPr lang="en-US" dirty="0"/>
              <a:t>in Java, Person</a:t>
            </a:r>
            <a:r>
              <a:rPr lang="en-US" baseline="0" dirty="0"/>
              <a:t> class (with constructor and access methods)</a:t>
            </a:r>
          </a:p>
          <a:p>
            <a:pPr marL="171450" indent="-171450">
              <a:buFontTx/>
              <a:buChar char="-"/>
            </a:pPr>
            <a:endParaRPr lang="en-US" baseline="0" dirty="0"/>
          </a:p>
          <a:p>
            <a:pPr marL="0" indent="0">
              <a:buFontTx/>
              <a:buNone/>
            </a:pPr>
            <a:r>
              <a:rPr lang="en-US" baseline="0" dirty="0"/>
              <a:t>making abstractions repeatable, reusable</a:t>
            </a:r>
          </a:p>
          <a:p>
            <a:pPr marL="0" indent="0">
              <a:buFontTx/>
              <a:buNone/>
            </a:pPr>
            <a:endParaRPr lang="en-US" baseline="0" dirty="0"/>
          </a:p>
          <a:p>
            <a:pPr marL="0" indent="0">
              <a:buFontTx/>
              <a:buNone/>
            </a:pPr>
            <a:r>
              <a:rPr lang="en-US" baseline="0" dirty="0"/>
              <a:t>black box</a:t>
            </a:r>
          </a:p>
          <a:p>
            <a:pPr marL="171450" indent="-171450">
              <a:buFontTx/>
              <a:buChar char="-"/>
            </a:pPr>
            <a:r>
              <a:rPr lang="en-US" baseline="0" dirty="0"/>
              <a:t>hide data away</a:t>
            </a:r>
          </a:p>
          <a:p>
            <a:pPr marL="171450" indent="-171450">
              <a:buFontTx/>
              <a:buChar char="-"/>
            </a:pPr>
            <a:r>
              <a:rPr lang="en-US" baseline="0" dirty="0"/>
              <a:t>only access functions can </a:t>
            </a:r>
            <a:r>
              <a:rPr lang="en-US" baseline="0"/>
              <a:t>modify it</a:t>
            </a:r>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examples</a:t>
            </a:r>
          </a:p>
          <a:p>
            <a:pPr marL="171450" indent="-171450">
              <a:buFontTx/>
              <a:buChar char="-"/>
            </a:pPr>
            <a:r>
              <a:rPr lang="en-US" dirty="0"/>
              <a:t>layers</a:t>
            </a:r>
          </a:p>
          <a:p>
            <a:pPr marL="171450" indent="-171450">
              <a:buFontTx/>
              <a:buChar char="-"/>
            </a:pPr>
            <a:r>
              <a:rPr lang="en-US" dirty="0"/>
              <a:t>in C, files containing functions,</a:t>
            </a:r>
            <a:r>
              <a:rPr lang="en-US" baseline="0" dirty="0"/>
              <a:t> </a:t>
            </a:r>
            <a:r>
              <a:rPr lang="en-US" baseline="0" dirty="0" err="1"/>
              <a:t>struct</a:t>
            </a:r>
            <a:r>
              <a:rPr lang="en-US" baseline="0" dirty="0"/>
              <a:t> containing fields, some being pointers</a:t>
            </a:r>
          </a:p>
          <a:p>
            <a:pPr marL="171450" indent="-171450">
              <a:buFontTx/>
              <a:buChar char="-"/>
            </a:pPr>
            <a:r>
              <a:rPr lang="en-US" baseline="0" dirty="0"/>
              <a:t>in Java, objects containing objects</a:t>
            </a:r>
          </a:p>
          <a:p>
            <a:pPr marL="171450" indent="-171450">
              <a:buFontTx/>
              <a:buChar char="-"/>
            </a:pPr>
            <a:endParaRPr lang="en-US" baseline="0" dirty="0"/>
          </a:p>
          <a:p>
            <a:pPr marL="0" indent="0">
              <a:buFontTx/>
              <a:buNone/>
            </a:pPr>
            <a:r>
              <a:rPr lang="en-US" baseline="0" dirty="0"/>
              <a:t>decomposition into modules</a:t>
            </a:r>
          </a:p>
        </p:txBody>
      </p:sp>
      <p:sp>
        <p:nvSpPr>
          <p:cNvPr id="4" name="Slide Number Placeholder 3"/>
          <p:cNvSpPr>
            <a:spLocks noGrp="1"/>
          </p:cNvSpPr>
          <p:nvPr>
            <p:ph type="sldNum" sz="quarter" idx="10"/>
          </p:nvPr>
        </p:nvSpPr>
        <p:spPr/>
        <p:txBody>
          <a:bodyPr/>
          <a:lstStyle/>
          <a:p>
            <a:fld id="{92420250-75BC-9E45-A2EC-31FD1AEF8259}" type="slidenum">
              <a:rPr lang="en-US" smtClean="0"/>
              <a:pPr/>
              <a:t>10</a:t>
            </a:fld>
            <a:endParaRPr lang="en-US"/>
          </a:p>
        </p:txBody>
      </p:sp>
    </p:spTree>
    <p:extLst>
      <p:ext uri="{BB962C8B-B14F-4D97-AF65-F5344CB8AC3E}">
        <p14:creationId xmlns:p14="http://schemas.microsoft.com/office/powerpoint/2010/main" val="296316016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examples</a:t>
            </a:r>
          </a:p>
          <a:p>
            <a:pPr marL="171450" indent="-171450">
              <a:buFontTx/>
              <a:buChar char="-"/>
            </a:pPr>
            <a:r>
              <a:rPr lang="en-US" dirty="0"/>
              <a:t>common</a:t>
            </a:r>
            <a:r>
              <a:rPr lang="en-US" baseline="0" dirty="0"/>
              <a:t> subroutine (library)</a:t>
            </a:r>
          </a:p>
          <a:p>
            <a:pPr marL="171450" indent="-171450">
              <a:buFontTx/>
              <a:buChar char="-"/>
            </a:pPr>
            <a:r>
              <a:rPr lang="en-US" baseline="0" dirty="0"/>
              <a:t>superclass and inheritance</a:t>
            </a:r>
          </a:p>
          <a:p>
            <a:pPr marL="171450" indent="-171450">
              <a:buFontTx/>
              <a:buChar char="-"/>
            </a:pPr>
            <a:r>
              <a:rPr lang="en-US" baseline="0" dirty="0"/>
              <a:t>framework</a:t>
            </a:r>
          </a:p>
          <a:p>
            <a:pPr marL="171450" indent="-171450">
              <a:buFontTx/>
              <a:buChar char="-"/>
            </a:pPr>
            <a:r>
              <a:rPr lang="en-US" baseline="0" dirty="0"/>
              <a:t>game engine</a:t>
            </a:r>
            <a:endParaRPr lang="en-US" dirty="0"/>
          </a:p>
        </p:txBody>
      </p:sp>
      <p:sp>
        <p:nvSpPr>
          <p:cNvPr id="4" name="Slide Number Placeholder 3"/>
          <p:cNvSpPr>
            <a:spLocks noGrp="1"/>
          </p:cNvSpPr>
          <p:nvPr>
            <p:ph type="sldNum" sz="quarter" idx="10"/>
          </p:nvPr>
        </p:nvSpPr>
        <p:spPr/>
        <p:txBody>
          <a:bodyPr/>
          <a:lstStyle/>
          <a:p>
            <a:fld id="{92420250-75BC-9E45-A2EC-31FD1AEF8259}" type="slidenum">
              <a:rPr lang="en-US" smtClean="0"/>
              <a:pPr/>
              <a:t>11</a:t>
            </a:fld>
            <a:endParaRPr lang="en-US"/>
          </a:p>
        </p:txBody>
      </p:sp>
    </p:spTree>
    <p:extLst>
      <p:ext uri="{BB962C8B-B14F-4D97-AF65-F5344CB8AC3E}">
        <p14:creationId xmlns:p14="http://schemas.microsoft.com/office/powerpoint/2010/main" val="7268699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90378BA-5C12-964C-BECF-CA14D61D69F0}" type="slidenum">
              <a:rPr lang="en-US"/>
              <a:pPr/>
              <a:t>13</a:t>
            </a:fld>
            <a:endParaRPr lang="en-US"/>
          </a:p>
        </p:txBody>
      </p:sp>
      <p:sp>
        <p:nvSpPr>
          <p:cNvPr id="58573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5731" name="Rectangle 3"/>
          <p:cNvSpPr>
            <a:spLocks noGrp="1" noChangeArrowheads="1"/>
          </p:cNvSpPr>
          <p:nvPr>
            <p:ph type="body" idx="1"/>
          </p:nvPr>
        </p:nvSpPr>
        <p:spPr/>
        <p:txBody>
          <a:bodyPr/>
          <a:lstStyle/>
          <a:p>
            <a:r>
              <a:rPr lang="en-US" dirty="0"/>
              <a:t>problem solving by modeling not just coding</a:t>
            </a:r>
          </a:p>
          <a:p>
            <a:pPr marL="171450" indent="-171450">
              <a:buFontTx/>
              <a:buChar char="-"/>
            </a:pPr>
            <a:r>
              <a:rPr lang="en-US" dirty="0"/>
              <a:t>abstraction</a:t>
            </a:r>
          </a:p>
          <a:p>
            <a:pPr marL="171450" indent="-171450">
              <a:buFontTx/>
              <a:buChar char="-"/>
            </a:pPr>
            <a:r>
              <a:rPr lang="en-US" dirty="0"/>
              <a:t>encapsulation</a:t>
            </a:r>
          </a:p>
          <a:p>
            <a:pPr marL="171450" indent="-171450">
              <a:buFontTx/>
              <a:buChar char="-"/>
            </a:pPr>
            <a:r>
              <a:rPr lang="en-US" dirty="0"/>
              <a:t>decomposition</a:t>
            </a:r>
          </a:p>
          <a:p>
            <a:pPr marL="171450" indent="-171450">
              <a:buFontTx/>
              <a:buChar char="-"/>
            </a:pPr>
            <a:r>
              <a:rPr lang="en-US" dirty="0"/>
              <a:t>generalization</a:t>
            </a:r>
          </a:p>
          <a:p>
            <a:pPr marL="171450" indent="-171450">
              <a:buFontTx/>
              <a:buChar char="-"/>
            </a:pPr>
            <a:endParaRPr lang="en-US" dirty="0"/>
          </a:p>
          <a:p>
            <a:pPr marL="171450" indent="-171450">
              <a:buFontTx/>
              <a:buChar char="-"/>
            </a:pPr>
            <a:r>
              <a:rPr lang="en-US" dirty="0"/>
              <a:t>don’t need OO language to implement</a:t>
            </a:r>
            <a:r>
              <a:rPr lang="en-US" baseline="0" dirty="0"/>
              <a:t> OO models, but easier</a:t>
            </a:r>
            <a:endParaRPr lang="en-US" dirty="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1870640-01AB-5040-B6E4-DE38BB0A66D0}" type="slidenum">
              <a:rPr lang="en-US"/>
              <a:pPr/>
              <a:t>14</a:t>
            </a:fld>
            <a:endParaRPr lang="en-US"/>
          </a:p>
        </p:txBody>
      </p:sp>
      <p:sp>
        <p:nvSpPr>
          <p:cNvPr id="58777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77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E085AEA-AC9D-7C4F-ACC7-DDF3A61541F2}" type="slidenum">
              <a:rPr lang="en-US"/>
              <a:pPr/>
              <a:t>15</a:t>
            </a:fld>
            <a:endParaRPr lang="en-US"/>
          </a:p>
        </p:txBody>
      </p:sp>
      <p:sp>
        <p:nvSpPr>
          <p:cNvPr id="58880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88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BF71396-6ED1-484F-866A-68C26D31D8B7}" type="slidenum">
              <a:rPr lang="en-US"/>
              <a:pPr/>
              <a:t>16</a:t>
            </a:fld>
            <a:endParaRPr lang="en-US"/>
          </a:p>
        </p:txBody>
      </p:sp>
      <p:sp>
        <p:nvSpPr>
          <p:cNvPr id="58982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89827" name="Rectangle 3"/>
          <p:cNvSpPr>
            <a:spLocks noGrp="1" noChangeArrowheads="1"/>
          </p:cNvSpPr>
          <p:nvPr>
            <p:ph type="body" idx="1"/>
          </p:nvPr>
        </p:nvSpPr>
        <p:spPr/>
        <p:txBody>
          <a:bodyPr/>
          <a:lstStyle/>
          <a:p>
            <a:r>
              <a:rPr lang="en-US" dirty="0"/>
              <a:t>Three Amigos</a:t>
            </a:r>
          </a:p>
          <a:p>
            <a:endParaRPr lang="en-US" dirty="0"/>
          </a:p>
          <a:p>
            <a:r>
              <a:rPr lang="en-US" dirty="0"/>
              <a:t>diagrams</a:t>
            </a:r>
          </a:p>
          <a:p>
            <a:endParaRPr lang="en-US" dirty="0"/>
          </a:p>
          <a:p>
            <a:endParaRPr lang="en-US"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CA95FF4E-C0A5-6142-B4B8-0762EB4D2FA4}" type="slidenum">
              <a:rPr lang="en-US"/>
              <a:pPr/>
              <a:t>18</a:t>
            </a:fld>
            <a:endParaRPr lang="en-US"/>
          </a:p>
        </p:txBody>
      </p:sp>
      <p:sp>
        <p:nvSpPr>
          <p:cNvPr id="59699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96995" name="Rectangle 3"/>
          <p:cNvSpPr>
            <a:spLocks noGrp="1" noChangeArrowheads="1"/>
          </p:cNvSpPr>
          <p:nvPr>
            <p:ph type="body" idx="1"/>
          </p:nvPr>
        </p:nvSpPr>
        <p:spPr/>
        <p:txBody>
          <a:bodyPr/>
          <a:lstStyle/>
          <a:p>
            <a:r>
              <a:rPr lang="en-US" dirty="0"/>
              <a:t>object</a:t>
            </a:r>
          </a:p>
          <a:p>
            <a:pPr marL="171450" indent="-171450">
              <a:buFontTx/>
              <a:buChar char="-"/>
            </a:pPr>
            <a:r>
              <a:rPr lang="en-US" dirty="0"/>
              <a:t>e.g., frame, with specific size and position</a:t>
            </a:r>
          </a:p>
          <a:p>
            <a:pPr marL="171450" indent="-171450">
              <a:buFontTx/>
              <a:buChar char="-"/>
            </a:pPr>
            <a:r>
              <a:rPr lang="en-US" dirty="0"/>
              <a:t>multiple</a:t>
            </a:r>
          </a:p>
          <a:p>
            <a:pPr marL="171450" indent="-171450">
              <a:buFontTx/>
              <a:buChar char="-"/>
            </a:pPr>
            <a:endParaRPr lang="en-US" dirty="0"/>
          </a:p>
          <a:p>
            <a:pPr marL="0" indent="0">
              <a:buFontTx/>
              <a:buNone/>
            </a:pPr>
            <a:r>
              <a:rPr lang="en-US" dirty="0"/>
              <a:t>class</a:t>
            </a:r>
          </a:p>
          <a:p>
            <a:pPr marL="171450" indent="-171450">
              <a:buFontTx/>
              <a:buChar char="-"/>
            </a:pPr>
            <a:r>
              <a:rPr lang="en-US" dirty="0"/>
              <a:t>e.g.,</a:t>
            </a:r>
            <a:r>
              <a:rPr lang="en-US" baseline="0" dirty="0"/>
              <a:t> Frame class, ask class to make a frame object</a:t>
            </a:r>
          </a:p>
          <a:p>
            <a:pPr marL="171450" indent="-171450">
              <a:buFontTx/>
              <a:buChar char="-"/>
            </a:pPr>
            <a:r>
              <a:rPr lang="en-US" baseline="0" dirty="0"/>
              <a:t>represents an abstraction</a:t>
            </a:r>
            <a:endParaRPr lang="en-US"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F2C0047-FB75-D74B-A7AA-DFF475B88F88}" type="slidenum">
              <a:rPr lang="en-US"/>
              <a:pPr/>
              <a:t>19</a:t>
            </a:fld>
            <a:endParaRPr lang="en-US"/>
          </a:p>
        </p:txBody>
      </p:sp>
      <p:sp>
        <p:nvSpPr>
          <p:cNvPr id="717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7171" name="Rectangle 3"/>
          <p:cNvSpPr>
            <a:spLocks noGrp="1" noChangeArrowheads="1"/>
          </p:cNvSpPr>
          <p:nvPr>
            <p:ph type="body" idx="1"/>
          </p:nvPr>
        </p:nvSpPr>
        <p:spPr/>
        <p:txBody>
          <a:bodyPr/>
          <a:lstStyle/>
          <a:p>
            <a:r>
              <a:rPr lang="en-US" dirty="0"/>
              <a:t>UML class diagram</a:t>
            </a:r>
          </a:p>
          <a:p>
            <a:endParaRPr lang="en-US" dirty="0"/>
          </a:p>
          <a:p>
            <a:r>
              <a:rPr lang="en-US" dirty="0"/>
              <a:t>compartments</a:t>
            </a:r>
          </a:p>
          <a:p>
            <a:endParaRPr lang="en-US" dirty="0"/>
          </a:p>
          <a:p>
            <a:r>
              <a:rPr lang="en-US" dirty="0"/>
              <a:t>class name is singular</a:t>
            </a:r>
          </a:p>
          <a:p>
            <a:pPr marL="171450" indent="-171450">
              <a:buFontTx/>
              <a:buChar char="-"/>
            </a:pPr>
            <a:r>
              <a:rPr lang="en-US" dirty="0"/>
              <a:t>wrench factory, not wrenches factory</a:t>
            </a:r>
          </a:p>
          <a:p>
            <a:pPr marL="171450" indent="-171450">
              <a:buFontTx/>
              <a:buChar char="-"/>
            </a:pPr>
            <a:endParaRPr lang="en-US" dirty="0"/>
          </a:p>
          <a:p>
            <a:pPr marL="0" indent="0">
              <a:buFontTx/>
              <a:buNone/>
            </a:pPr>
            <a:r>
              <a:rPr lang="en-US" dirty="0"/>
              <a:t>analysis version of a class</a:t>
            </a:r>
          </a:p>
          <a:p>
            <a:pPr marL="0" indent="0">
              <a:buFontTx/>
              <a:buNone/>
            </a:pPr>
            <a:r>
              <a:rPr lang="en-US" dirty="0"/>
              <a:t>- list</a:t>
            </a:r>
            <a:r>
              <a:rPr lang="en-US" baseline="0" dirty="0"/>
              <a:t> just high-level names of attributes (Location) and operations (Move)</a:t>
            </a:r>
            <a:endParaRPr lang="en-US"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A592599-9E0B-D84E-9168-E9D6738BBE6E}" type="slidenum">
              <a:rPr lang="en-US"/>
              <a:pPr/>
              <a:t>20</a:t>
            </a:fld>
            <a:endParaRPr lang="en-US"/>
          </a:p>
        </p:txBody>
      </p:sp>
      <p:sp>
        <p:nvSpPr>
          <p:cNvPr id="59904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99043" name="Rectangle 3"/>
          <p:cNvSpPr>
            <a:spLocks noGrp="1" noChangeArrowheads="1"/>
          </p:cNvSpPr>
          <p:nvPr>
            <p:ph type="body" idx="1"/>
          </p:nvPr>
        </p:nvSpPr>
        <p:spPr/>
        <p:txBody>
          <a:bodyPr/>
          <a:lstStyle/>
          <a:p>
            <a:r>
              <a:rPr lang="en-US" dirty="0"/>
              <a:t>interface is a contract</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F760F42-994C-1E45-8CC3-478FBF0C734C}" type="slidenum">
              <a:rPr lang="en-US"/>
              <a:pPr/>
              <a:t>21</a:t>
            </a:fld>
            <a:endParaRPr lang="en-US"/>
          </a:p>
        </p:txBody>
      </p:sp>
      <p:sp>
        <p:nvSpPr>
          <p:cNvPr id="60006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00067" name="Rectangle 3"/>
          <p:cNvSpPr>
            <a:spLocks noGrp="1" noChangeArrowheads="1"/>
          </p:cNvSpPr>
          <p:nvPr>
            <p:ph type="body" idx="1"/>
          </p:nvPr>
        </p:nvSpPr>
        <p:spPr/>
        <p:txBody>
          <a:bodyPr/>
          <a:lstStyle/>
          <a:p>
            <a:r>
              <a:rPr lang="en-US" dirty="0"/>
              <a:t>could also have private methods</a:t>
            </a:r>
          </a:p>
          <a:p>
            <a:endParaRPr lang="en-US" dirty="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F69AE66-CF9F-0841-A159-092370C87863}" type="slidenum">
              <a:rPr lang="en-US"/>
              <a:pPr/>
              <a:t>22</a:t>
            </a:fld>
            <a:endParaRPr lang="en-US"/>
          </a:p>
        </p:txBody>
      </p:sp>
      <p:sp>
        <p:nvSpPr>
          <p:cNvPr id="60109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01091" name="Rectangle 3"/>
          <p:cNvSpPr>
            <a:spLocks noGrp="1" noChangeArrowheads="1"/>
          </p:cNvSpPr>
          <p:nvPr>
            <p:ph type="body" idx="1"/>
          </p:nvPr>
        </p:nvSpPr>
        <p:spPr/>
        <p:txBody>
          <a:bodyPr/>
          <a:lstStyle/>
          <a:p>
            <a:r>
              <a:rPr lang="en-US" dirty="0"/>
              <a:t>force space reasons, might break some coding convention</a:t>
            </a:r>
          </a:p>
          <a:p>
            <a:endParaRPr lang="en-US" dirty="0"/>
          </a:p>
          <a:p>
            <a:r>
              <a:rPr lang="en-US" dirty="0"/>
              <a:t>can</a:t>
            </a:r>
            <a:r>
              <a:rPr lang="en-US" baseline="0" dirty="0"/>
              <a:t> mix order of private and public definitions</a:t>
            </a:r>
            <a:endParaRPr lang="en-US" dirty="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89C13E5-39FE-564F-BF5D-B44AD1766B36}" type="slidenum">
              <a:rPr lang="en-US"/>
              <a:pPr/>
              <a:t>23</a:t>
            </a:fld>
            <a:endParaRPr lang="en-US"/>
          </a:p>
        </p:txBody>
      </p:sp>
      <p:sp>
        <p:nvSpPr>
          <p:cNvPr id="60211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02115" name="Rectangle 3"/>
          <p:cNvSpPr>
            <a:spLocks noGrp="1" noChangeArrowheads="1"/>
          </p:cNvSpPr>
          <p:nvPr>
            <p:ph type="body" idx="1"/>
          </p:nvPr>
        </p:nvSpPr>
        <p:spPr/>
        <p:txBody>
          <a:bodyPr/>
          <a:lstStyle/>
          <a:p>
            <a:r>
              <a:rPr lang="en-US" dirty="0"/>
              <a:t># protected</a:t>
            </a:r>
          </a:p>
          <a:p>
            <a:r>
              <a:rPr lang="en-US" dirty="0"/>
              <a:t>~ package</a:t>
            </a:r>
          </a:p>
          <a:p>
            <a:endParaRPr lang="en-US" dirty="0"/>
          </a:p>
          <a:p>
            <a:r>
              <a:rPr lang="en-US" dirty="0"/>
              <a:t>Pascal style declarations</a:t>
            </a:r>
          </a:p>
          <a:p>
            <a:endParaRPr lang="en-US" dirty="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4CAC127-5AC6-D646-8C5C-F9E653D81D17}" type="slidenum">
              <a:rPr lang="en-US"/>
              <a:pPr/>
              <a:t>24</a:t>
            </a:fld>
            <a:endParaRPr lang="en-US"/>
          </a:p>
        </p:txBody>
      </p:sp>
      <p:sp>
        <p:nvSpPr>
          <p:cNvPr id="61337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13379" name="Rectangle 3"/>
          <p:cNvSpPr>
            <a:spLocks noGrp="1" noChangeArrowheads="1"/>
          </p:cNvSpPr>
          <p:nvPr>
            <p:ph type="body" idx="1"/>
          </p:nvPr>
        </p:nvSpPr>
        <p:spPr/>
        <p:txBody>
          <a:bodyPr/>
          <a:lstStyle/>
          <a:p>
            <a:r>
              <a:rPr lang="en-US" dirty="0"/>
              <a:t>some pairing relationship</a:t>
            </a:r>
          </a:p>
          <a:p>
            <a:endParaRPr lang="en-US" dirty="0"/>
          </a:p>
          <a:p>
            <a:r>
              <a:rPr lang="en-US" dirty="0"/>
              <a:t>three kinds of relationships</a:t>
            </a:r>
          </a:p>
          <a:p>
            <a:pPr marL="171450" indent="-171450">
              <a:buFontTx/>
              <a:buChar char="-"/>
            </a:pPr>
            <a:r>
              <a:rPr lang="en-US" dirty="0"/>
              <a:t>association</a:t>
            </a:r>
          </a:p>
          <a:p>
            <a:pPr marL="171450" indent="-171450">
              <a:buFontTx/>
              <a:buChar char="-"/>
            </a:pPr>
            <a:r>
              <a:rPr lang="en-US" dirty="0"/>
              <a:t>aggregation</a:t>
            </a:r>
          </a:p>
          <a:p>
            <a:pPr marL="171450" indent="-171450">
              <a:buFontTx/>
              <a:buChar char="-"/>
            </a:pPr>
            <a:r>
              <a:rPr lang="en-US" dirty="0"/>
              <a:t>composition</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9EA49C5-F2D9-284A-9DFA-BA6146BD5108}" type="slidenum">
              <a:rPr lang="en-US"/>
              <a:pPr/>
              <a:t>25</a:t>
            </a:fld>
            <a:endParaRPr lang="en-US"/>
          </a:p>
        </p:txBody>
      </p:sp>
      <p:sp>
        <p:nvSpPr>
          <p:cNvPr id="61849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18499" name="Rectangle 3"/>
          <p:cNvSpPr>
            <a:spLocks noGrp="1" noChangeArrowheads="1"/>
          </p:cNvSpPr>
          <p:nvPr>
            <p:ph type="body" idx="1"/>
          </p:nvPr>
        </p:nvSpPr>
        <p:spPr/>
        <p:txBody>
          <a:bodyPr/>
          <a:lstStyle/>
          <a:p>
            <a:r>
              <a:rPr lang="en-US" dirty="0"/>
              <a:t>color used here just for highlighting</a:t>
            </a:r>
          </a:p>
          <a:p>
            <a:endParaRPr lang="en-US" dirty="0"/>
          </a:p>
          <a:p>
            <a:r>
              <a:rPr lang="en-US" dirty="0"/>
              <a:t>multiplicities</a:t>
            </a:r>
            <a:r>
              <a:rPr lang="en-US" baseline="0" dirty="0"/>
              <a:t> (*, 1, 0..1, 1..*, n, etc.)</a:t>
            </a:r>
            <a:endParaRPr lang="en-US" dirty="0"/>
          </a:p>
          <a:p>
            <a:r>
              <a:rPr lang="en-US" dirty="0"/>
              <a:t>direction (left to right</a:t>
            </a:r>
            <a:r>
              <a:rPr lang="en-US" baseline="0" dirty="0"/>
              <a:t> by convention, or add direction arrow on label)</a:t>
            </a:r>
          </a:p>
          <a:p>
            <a:r>
              <a:rPr lang="en-US" baseline="0" dirty="0"/>
              <a:t>role name</a:t>
            </a:r>
          </a:p>
          <a:p>
            <a:r>
              <a:rPr lang="en-US" baseline="0" dirty="0"/>
              <a:t>navigability (arrow on line)</a:t>
            </a:r>
            <a:endParaRPr lang="en-US" dirty="0"/>
          </a:p>
          <a:p>
            <a:endParaRPr lang="en-US" dirty="0"/>
          </a:p>
          <a:p>
            <a:r>
              <a:rPr lang="en-US" dirty="0"/>
              <a:t>e.g., Professor teaches Course</a:t>
            </a:r>
          </a:p>
          <a:p>
            <a:pPr marL="171450" indent="-171450">
              <a:buFontTx/>
              <a:buChar char="-"/>
            </a:pPr>
            <a:r>
              <a:rPr lang="en-US" dirty="0"/>
              <a:t>not</a:t>
            </a:r>
            <a:r>
              <a:rPr lang="en-US" baseline="0" dirty="0"/>
              <a:t> UML but ovals for objects</a:t>
            </a:r>
            <a:endParaRPr lang="en-US" dirty="0"/>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draw distinct objects and map to classes</a:t>
            </a:r>
          </a:p>
          <a:p>
            <a:pPr marL="171450" marR="0" indent="-171450" algn="l" defTabSz="914400" rtl="0" eaLnBrk="0" fontAlgn="base" latinLnBrk="0" hangingPunct="0">
              <a:lnSpc>
                <a:spcPct val="100000"/>
              </a:lnSpc>
              <a:spcBef>
                <a:spcPct val="30000"/>
              </a:spcBef>
              <a:spcAft>
                <a:spcPct val="0"/>
              </a:spcAft>
              <a:buClrTx/>
              <a:buSzTx/>
              <a:buFontTx/>
              <a:buChar char="-"/>
              <a:tabLst/>
              <a:defRPr/>
            </a:pPr>
            <a:r>
              <a:rPr lang="en-US" dirty="0"/>
              <a:t>draw association</a:t>
            </a:r>
          </a:p>
          <a:p>
            <a:pPr marL="171450" indent="-171450">
              <a:buFontTx/>
              <a:buChar char="-"/>
            </a:pPr>
            <a:endParaRPr lang="en-US" dirty="0"/>
          </a:p>
          <a:p>
            <a:pPr marL="0" indent="0">
              <a:buFontTx/>
              <a:buNone/>
            </a:pPr>
            <a:r>
              <a:rPr lang="en-US" dirty="0"/>
              <a:t>e.g., Professor assists Course</a:t>
            </a:r>
          </a:p>
          <a:p>
            <a:pPr marL="171450" indent="-171450">
              <a:buFontTx/>
              <a:buChar char="-"/>
            </a:pPr>
            <a:r>
              <a:rPr lang="en-US" baseline="0" dirty="0"/>
              <a:t>multiple associations between two classes</a:t>
            </a:r>
          </a:p>
          <a:p>
            <a:pPr marL="171450" indent="-171450">
              <a:buFontTx/>
              <a:buChar char="-"/>
            </a:pPr>
            <a:r>
              <a:rPr lang="en-US" baseline="0" dirty="0"/>
              <a:t>draw association</a:t>
            </a:r>
          </a:p>
          <a:p>
            <a:pPr marL="171450" indent="-171450">
              <a:buFontTx/>
              <a:buChar char="-"/>
            </a:pPr>
            <a:r>
              <a:rPr lang="en-US" baseline="0" dirty="0"/>
              <a:t>draw instructor and assistant role names</a:t>
            </a:r>
            <a:endParaRPr lang="en-US" dirty="0"/>
          </a:p>
          <a:p>
            <a:endParaRPr lang="en-US" dirty="0"/>
          </a:p>
          <a:p>
            <a:r>
              <a:rPr lang="en-US" dirty="0"/>
              <a:t>e.g., Professor mentors Professor</a:t>
            </a:r>
          </a:p>
          <a:p>
            <a:pPr marL="171450" indent="-171450">
              <a:buFontTx/>
              <a:buChar char="-"/>
            </a:pPr>
            <a:r>
              <a:rPr lang="en-US" dirty="0"/>
              <a:t>recursive</a:t>
            </a:r>
            <a:r>
              <a:rPr lang="en-US" baseline="0" dirty="0"/>
              <a:t> association (two different objects)</a:t>
            </a:r>
          </a:p>
          <a:p>
            <a:pPr marL="171450" indent="-171450">
              <a:buFontTx/>
              <a:buChar char="-"/>
            </a:pPr>
            <a:r>
              <a:rPr lang="en-US" baseline="0" dirty="0"/>
              <a:t>draw advisor and mentee role names</a:t>
            </a:r>
          </a:p>
          <a:p>
            <a:pPr marL="0" indent="0">
              <a:buFontTx/>
              <a:buNone/>
            </a:pPr>
            <a:endParaRPr lang="en-US" dirty="0"/>
          </a:p>
          <a:p>
            <a:r>
              <a:rPr lang="en-US" dirty="0"/>
              <a:t>initially</a:t>
            </a:r>
            <a:r>
              <a:rPr lang="en-US" baseline="0" dirty="0"/>
              <a:t> draw association, then refine</a:t>
            </a:r>
            <a:endParaRPr lang="en-US" dirty="0"/>
          </a:p>
          <a:p>
            <a:endParaRPr lang="en-US" dirty="0"/>
          </a:p>
          <a:p>
            <a:r>
              <a:rPr lang="en-US" dirty="0"/>
              <a:t>how to implement?</a:t>
            </a:r>
          </a:p>
          <a:p>
            <a:endParaRPr lang="en-US" dirty="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C36B1D-9277-D745-90AC-CCE6F46C79CC}" type="slidenum">
              <a:rPr lang="en-US"/>
              <a:pPr/>
              <a:t>26</a:t>
            </a:fld>
            <a:endParaRPr lang="en-US"/>
          </a:p>
        </p:txBody>
      </p:sp>
      <p:sp>
        <p:nvSpPr>
          <p:cNvPr id="61440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144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8E8A50A-B70A-A349-848B-8E7D5B536DE6}" type="slidenum">
              <a:rPr lang="en-US"/>
              <a:pPr/>
              <a:t>27</a:t>
            </a:fld>
            <a:endParaRPr lang="en-US"/>
          </a:p>
        </p:txBody>
      </p:sp>
      <p:sp>
        <p:nvSpPr>
          <p:cNvPr id="62054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20547" name="Rectangle 3"/>
          <p:cNvSpPr>
            <a:spLocks noGrp="1" noChangeArrowheads="1"/>
          </p:cNvSpPr>
          <p:nvPr>
            <p:ph type="body" idx="1"/>
          </p:nvPr>
        </p:nvSpPr>
        <p:spPr/>
        <p:txBody>
          <a:bodyPr/>
          <a:lstStyle/>
          <a:p>
            <a:r>
              <a:rPr lang="en-US" dirty="0"/>
              <a:t>no need for private details</a:t>
            </a:r>
          </a:p>
          <a:p>
            <a:endParaRPr lang="en-US" dirty="0"/>
          </a:p>
          <a:p>
            <a:r>
              <a:rPr lang="en-US" dirty="0"/>
              <a:t>omitted public details in UML class</a:t>
            </a:r>
          </a:p>
          <a:p>
            <a:endParaRPr lang="en-US" dirty="0"/>
          </a:p>
          <a:p>
            <a:r>
              <a:rPr lang="en-US" dirty="0"/>
              <a:t>why have a Section class</a:t>
            </a:r>
          </a:p>
          <a:p>
            <a:endParaRPr lang="en-US" dirty="0"/>
          </a:p>
          <a:p>
            <a:r>
              <a:rPr lang="en-US" dirty="0"/>
              <a:t>abstraction</a:t>
            </a:r>
          </a:p>
          <a:p>
            <a:r>
              <a:rPr lang="en-US" dirty="0"/>
              <a:t>encapsulation</a:t>
            </a:r>
          </a:p>
          <a:p>
            <a:r>
              <a:rPr lang="en-US" dirty="0"/>
              <a:t>- could change </a:t>
            </a:r>
            <a:r>
              <a:rPr lang="en-US" dirty="0" err="1"/>
              <a:t>ArrayList</a:t>
            </a:r>
            <a:r>
              <a:rPr lang="en-US" dirty="0"/>
              <a:t> in the future</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FA8B344-8A38-7942-AC01-6EB4629D0DE7}" type="slidenum">
              <a:rPr lang="en-US"/>
              <a:pPr/>
              <a:t>28</a:t>
            </a:fld>
            <a:endParaRPr lang="en-US"/>
          </a:p>
        </p:txBody>
      </p:sp>
      <p:sp>
        <p:nvSpPr>
          <p:cNvPr id="61952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19523" name="Rectangle 3"/>
          <p:cNvSpPr>
            <a:spLocks noGrp="1" noChangeArrowheads="1"/>
          </p:cNvSpPr>
          <p:nvPr>
            <p:ph type="body" idx="1"/>
          </p:nvPr>
        </p:nvSpPr>
        <p:spPr/>
        <p:txBody>
          <a:bodyPr/>
          <a:lstStyle/>
          <a:p>
            <a:r>
              <a:rPr lang="en-US" dirty="0"/>
              <a:t>no</a:t>
            </a:r>
            <a:r>
              <a:rPr lang="en-US" baseline="0" dirty="0"/>
              <a:t> need for private details</a:t>
            </a:r>
            <a:endParaRPr lang="en-US" dirty="0"/>
          </a:p>
          <a:p>
            <a:endParaRPr lang="en-US" dirty="0"/>
          </a:p>
          <a:p>
            <a:r>
              <a:rPr lang="en-US" dirty="0"/>
              <a:t>open</a:t>
            </a:r>
            <a:r>
              <a:rPr lang="en-US" baseline="0" dirty="0"/>
              <a:t> diamond on the whole</a:t>
            </a:r>
            <a:endParaRPr lang="en-US" dirty="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DFF5581-5397-4242-86C9-E103095B292D}" type="slidenum">
              <a:rPr lang="en-US"/>
              <a:pPr/>
              <a:t>29</a:t>
            </a:fld>
            <a:endParaRPr lang="en-US"/>
          </a:p>
        </p:txBody>
      </p:sp>
      <p:sp>
        <p:nvSpPr>
          <p:cNvPr id="61542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15427" name="Rectangle 3"/>
          <p:cNvSpPr>
            <a:spLocks noGrp="1" noChangeArrowheads="1"/>
          </p:cNvSpPr>
          <p:nvPr>
            <p:ph type="body" idx="1"/>
          </p:nvPr>
        </p:nvSpPr>
        <p:spPr/>
        <p:txBody>
          <a:bodyPr/>
          <a:lstStyle/>
          <a:p>
            <a:r>
              <a:rPr lang="en-US" dirty="0"/>
              <a:t>contained parts referred as a single unit</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44E1D9-715A-2948-B335-0DAA8376291F}" type="slidenum">
              <a:rPr lang="en-US"/>
              <a:pPr/>
              <a:t>30</a:t>
            </a:fld>
            <a:endParaRPr lang="en-US"/>
          </a:p>
        </p:txBody>
      </p:sp>
      <p:sp>
        <p:nvSpPr>
          <p:cNvPr id="62157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21571" name="Rectangle 3"/>
          <p:cNvSpPr>
            <a:spLocks noGrp="1" noChangeArrowheads="1"/>
          </p:cNvSpPr>
          <p:nvPr>
            <p:ph type="body" idx="1"/>
          </p:nvPr>
        </p:nvSpPr>
        <p:spPr/>
        <p:txBody>
          <a:bodyPr/>
          <a:lstStyle/>
          <a:p>
            <a:r>
              <a:rPr lang="en-US" dirty="0"/>
              <a:t>exclusive on the object, not the class</a:t>
            </a:r>
          </a:p>
          <a:p>
            <a:endParaRPr lang="en-US" dirty="0"/>
          </a:p>
          <a:p>
            <a:r>
              <a:rPr lang="en-US" dirty="0"/>
              <a:t>Rectangle class that has two point objects</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evolution during design</a:t>
            </a:r>
          </a:p>
        </p:txBody>
      </p:sp>
      <p:sp>
        <p:nvSpPr>
          <p:cNvPr id="4" name="Slide Number Placeholder 3"/>
          <p:cNvSpPr>
            <a:spLocks noGrp="1"/>
          </p:cNvSpPr>
          <p:nvPr>
            <p:ph type="sldNum" sz="quarter" idx="10"/>
          </p:nvPr>
        </p:nvSpPr>
        <p:spPr/>
        <p:txBody>
          <a:bodyPr/>
          <a:lstStyle/>
          <a:p>
            <a:fld id="{92420250-75BC-9E45-A2EC-31FD1AEF8259}" type="slidenum">
              <a:rPr lang="en-US" smtClean="0"/>
              <a:pPr/>
              <a:t>31</a:t>
            </a:fld>
            <a:endParaRPr lang="en-US"/>
          </a:p>
        </p:txBody>
      </p:sp>
    </p:spTree>
    <p:extLst>
      <p:ext uri="{BB962C8B-B14F-4D97-AF65-F5344CB8AC3E}">
        <p14:creationId xmlns:p14="http://schemas.microsoft.com/office/powerpoint/2010/main" val="4624532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F47200-E76F-D173-4135-105C788DAF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B05FE-E137-6080-CE05-BFAA60699648}"/>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F4B3A8D1-E280-D68A-6119-B61D6DA21572}"/>
              </a:ext>
            </a:extLst>
          </p:cNvPr>
          <p:cNvSpPr>
            <a:spLocks noGrp="1"/>
          </p:cNvSpPr>
          <p:nvPr>
            <p:ph type="body" idx="1"/>
          </p:nvPr>
        </p:nvSpPr>
        <p:spPr/>
        <p:txBody>
          <a:bodyPr/>
          <a:lstStyle/>
          <a:p>
            <a:r>
              <a:rPr lang="en-US" dirty="0"/>
              <a:t>evolution during design</a:t>
            </a:r>
          </a:p>
        </p:txBody>
      </p:sp>
      <p:sp>
        <p:nvSpPr>
          <p:cNvPr id="4" name="Slide Number Placeholder 3">
            <a:extLst>
              <a:ext uri="{FF2B5EF4-FFF2-40B4-BE49-F238E27FC236}">
                <a16:creationId xmlns:a16="http://schemas.microsoft.com/office/drawing/2014/main" id="{E61253AF-E0AD-A9BA-62D8-144B7B0A525D}"/>
              </a:ext>
            </a:extLst>
          </p:cNvPr>
          <p:cNvSpPr>
            <a:spLocks noGrp="1"/>
          </p:cNvSpPr>
          <p:nvPr>
            <p:ph type="sldNum" sz="quarter" idx="10"/>
          </p:nvPr>
        </p:nvSpPr>
        <p:spPr/>
        <p:txBody>
          <a:bodyPr/>
          <a:lstStyle/>
          <a:p>
            <a:fld id="{92420250-75BC-9E45-A2EC-31FD1AEF8259}" type="slidenum">
              <a:rPr lang="en-US" smtClean="0"/>
              <a:pPr/>
              <a:t>33</a:t>
            </a:fld>
            <a:endParaRPr lang="en-US"/>
          </a:p>
        </p:txBody>
      </p:sp>
    </p:spTree>
    <p:extLst>
      <p:ext uri="{BB962C8B-B14F-4D97-AF65-F5344CB8AC3E}">
        <p14:creationId xmlns:p14="http://schemas.microsoft.com/office/powerpoint/2010/main" val="742349190"/>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A08E4D-0ADA-7357-C297-623D6272351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EF0C608-85A0-F678-D6C5-474A7E26EBB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38B9D66D-273E-2A08-FFAD-D957AEB010BA}"/>
              </a:ext>
            </a:extLst>
          </p:cNvPr>
          <p:cNvSpPr>
            <a:spLocks noGrp="1"/>
          </p:cNvSpPr>
          <p:nvPr>
            <p:ph type="body" idx="1"/>
          </p:nvPr>
        </p:nvSpPr>
        <p:spPr/>
        <p:txBody>
          <a:bodyPr/>
          <a:lstStyle/>
          <a:p>
            <a:r>
              <a:rPr lang="en-US" dirty="0"/>
              <a:t>evolution during design</a:t>
            </a:r>
          </a:p>
        </p:txBody>
      </p:sp>
      <p:sp>
        <p:nvSpPr>
          <p:cNvPr id="4" name="Slide Number Placeholder 3">
            <a:extLst>
              <a:ext uri="{FF2B5EF4-FFF2-40B4-BE49-F238E27FC236}">
                <a16:creationId xmlns:a16="http://schemas.microsoft.com/office/drawing/2014/main" id="{C52BC62A-6F1D-61DE-030B-7CBCE3E7D442}"/>
              </a:ext>
            </a:extLst>
          </p:cNvPr>
          <p:cNvSpPr>
            <a:spLocks noGrp="1"/>
          </p:cNvSpPr>
          <p:nvPr>
            <p:ph type="sldNum" sz="quarter" idx="10"/>
          </p:nvPr>
        </p:nvSpPr>
        <p:spPr/>
        <p:txBody>
          <a:bodyPr/>
          <a:lstStyle/>
          <a:p>
            <a:fld id="{92420250-75BC-9E45-A2EC-31FD1AEF8259}" type="slidenum">
              <a:rPr lang="en-US" smtClean="0"/>
              <a:pPr/>
              <a:t>34</a:t>
            </a:fld>
            <a:endParaRPr lang="en-US"/>
          </a:p>
        </p:txBody>
      </p:sp>
    </p:spTree>
    <p:extLst>
      <p:ext uri="{BB962C8B-B14F-4D97-AF65-F5344CB8AC3E}">
        <p14:creationId xmlns:p14="http://schemas.microsoft.com/office/powerpoint/2010/main" val="35110308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2420250-75BC-9E45-A2EC-31FD1AEF8259}" type="slidenum">
              <a:rPr lang="en-US" smtClean="0"/>
              <a:pPr/>
              <a:t>35</a:t>
            </a:fld>
            <a:endParaRPr lang="en-US"/>
          </a:p>
        </p:txBody>
      </p:sp>
    </p:spTree>
    <p:extLst>
      <p:ext uri="{BB962C8B-B14F-4D97-AF65-F5344CB8AC3E}">
        <p14:creationId xmlns:p14="http://schemas.microsoft.com/office/powerpoint/2010/main" val="122948139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6173AF-6169-534C-921F-FDBAF82A64B4}" type="slidenum">
              <a:rPr lang="en-US"/>
              <a:pPr/>
              <a:t>39</a:t>
            </a:fld>
            <a:endParaRPr lang="en-US"/>
          </a:p>
        </p:txBody>
      </p:sp>
      <p:sp>
        <p:nvSpPr>
          <p:cNvPr id="62259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2259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D1E345-2833-1A44-A3E3-F04CAC878283}" type="slidenum">
              <a:rPr lang="en-US"/>
              <a:pPr/>
              <a:t>40</a:t>
            </a:fld>
            <a:endParaRPr lang="en-US"/>
          </a:p>
        </p:txBody>
      </p:sp>
      <p:sp>
        <p:nvSpPr>
          <p:cNvPr id="70861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70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83FEDD79-896F-8F4B-BB71-CDEBAABC32A6}" type="slidenum">
              <a:rPr lang="en-US"/>
              <a:pPr/>
              <a:t>41</a:t>
            </a:fld>
            <a:endParaRPr lang="en-US"/>
          </a:p>
        </p:txBody>
      </p:sp>
      <p:sp>
        <p:nvSpPr>
          <p:cNvPr id="62464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246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9B6799-461B-B74F-838F-C1181ADB0160}" type="slidenum">
              <a:rPr lang="en-US"/>
              <a:pPr/>
              <a:t>42</a:t>
            </a:fld>
            <a:endParaRPr lang="en-US"/>
          </a:p>
        </p:txBody>
      </p:sp>
      <p:sp>
        <p:nvSpPr>
          <p:cNvPr id="64409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4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C72214-E804-8444-9EAC-A6DDE20EDD73}" type="slidenum">
              <a:rPr lang="en-US"/>
              <a:pPr/>
              <a:t>43</a:t>
            </a:fld>
            <a:endParaRPr lang="en-US"/>
          </a:p>
        </p:txBody>
      </p:sp>
      <p:sp>
        <p:nvSpPr>
          <p:cNvPr id="70963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709635" name="Rectangle 3"/>
          <p:cNvSpPr>
            <a:spLocks noGrp="1" noChangeArrowheads="1"/>
          </p:cNvSpPr>
          <p:nvPr>
            <p:ph type="body" idx="1"/>
          </p:nvPr>
        </p:nvSpPr>
        <p:spPr/>
        <p:txBody>
          <a:bodyPr/>
          <a:lstStyle/>
          <a:p>
            <a:r>
              <a:rPr lang="en-US" dirty="0"/>
              <a:t>usual style is to draw the superclass up top and subclasses below</a:t>
            </a:r>
          </a:p>
          <a:p>
            <a:endParaRPr lang="en-US" dirty="0"/>
          </a:p>
          <a:p>
            <a:r>
              <a:rPr lang="en-US" dirty="0"/>
              <a:t>in Java, can have only one superclass of a class,</a:t>
            </a:r>
            <a:r>
              <a:rPr lang="en-US" baseline="0" dirty="0"/>
              <a:t> so inheritance hierarchy is a tree</a:t>
            </a:r>
          </a:p>
          <a:p>
            <a:r>
              <a:rPr lang="en-US" baseline="0" dirty="0"/>
              <a:t>what class is implicitly at the root of the inheritance hierarchy? Object class</a:t>
            </a:r>
          </a:p>
          <a:p>
            <a:endParaRPr lang="en-US" baseline="0" dirty="0"/>
          </a:p>
          <a:p>
            <a:r>
              <a:rPr lang="en-US" baseline="0" dirty="0"/>
              <a:t>final classes cannot be extended</a:t>
            </a:r>
            <a:endParaRPr lang="en-US" dirty="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927DB1-EF3F-8640-BDDE-B4933B2D3E75}" type="slidenum">
              <a:rPr lang="en-US"/>
              <a:pPr/>
              <a:t>44</a:t>
            </a:fld>
            <a:endParaRPr lang="en-US"/>
          </a:p>
        </p:txBody>
      </p:sp>
      <p:sp>
        <p:nvSpPr>
          <p:cNvPr id="63897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38979" name="Rectangle 3"/>
          <p:cNvSpPr>
            <a:spLocks noGrp="1" noChangeArrowheads="1"/>
          </p:cNvSpPr>
          <p:nvPr>
            <p:ph type="body" idx="1"/>
          </p:nvPr>
        </p:nvSpPr>
        <p:spPr/>
        <p:txBody>
          <a:bodyPr/>
          <a:lstStyle/>
          <a:p>
            <a:r>
              <a:rPr lang="en-US" dirty="0"/>
              <a:t>major</a:t>
            </a:r>
            <a:r>
              <a:rPr lang="en-US" baseline="0" dirty="0"/>
              <a:t> design blunders</a:t>
            </a:r>
          </a:p>
          <a:p>
            <a:pPr marL="171450" indent="-171450">
              <a:buFontTx/>
              <a:buChar char="-"/>
            </a:pPr>
            <a:r>
              <a:rPr lang="en-US" baseline="0" dirty="0"/>
              <a:t>could lead to problems further down the road (less flexible)</a:t>
            </a:r>
          </a:p>
          <a:p>
            <a:pPr marL="171450" indent="-171450">
              <a:buFontTx/>
              <a:buChar char="-"/>
            </a:pPr>
            <a:r>
              <a:rPr lang="en-US" baseline="0" dirty="0"/>
              <a:t>probably why Java has only single implementation inheritance</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4927DB1-EF3F-8640-BDDE-B4933B2D3E75}" type="slidenum">
              <a:rPr lang="en-US"/>
              <a:pPr/>
              <a:t>45</a:t>
            </a:fld>
            <a:endParaRPr lang="en-US"/>
          </a:p>
        </p:txBody>
      </p:sp>
      <p:sp>
        <p:nvSpPr>
          <p:cNvPr id="63897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38979" name="Rectangle 3"/>
          <p:cNvSpPr>
            <a:spLocks noGrp="1" noChangeArrowheads="1"/>
          </p:cNvSpPr>
          <p:nvPr>
            <p:ph type="body" idx="1"/>
          </p:nvPr>
        </p:nvSpPr>
        <p:spPr/>
        <p:txBody>
          <a:bodyPr/>
          <a:lstStyle/>
          <a:p>
            <a:r>
              <a:rPr lang="en-US" dirty="0"/>
              <a:t>for appropriate inheritance</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7FE4207-C46B-EA42-992F-423094AADBFA}" type="slidenum">
              <a:rPr lang="en-US"/>
              <a:pPr/>
              <a:t>46</a:t>
            </a:fld>
            <a:endParaRPr lang="en-US"/>
          </a:p>
        </p:txBody>
      </p:sp>
      <p:sp>
        <p:nvSpPr>
          <p:cNvPr id="64000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0003" name="Rectangle 3"/>
          <p:cNvSpPr>
            <a:spLocks noGrp="1" noChangeArrowheads="1"/>
          </p:cNvSpPr>
          <p:nvPr>
            <p:ph type="body" idx="1"/>
          </p:nvPr>
        </p:nvSpPr>
        <p:spPr/>
        <p:txBody>
          <a:bodyPr/>
          <a:lstStyle/>
          <a:p>
            <a:r>
              <a:rPr lang="en-US" dirty="0"/>
              <a:t>empty method for “hides”</a:t>
            </a:r>
          </a:p>
          <a:p>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r>
              <a:rPr lang="en-US" dirty="0"/>
              <a:t>Java compiler won’t complain</a:t>
            </a:r>
            <a:r>
              <a:rPr lang="en-US" baseline="0" dirty="0"/>
              <a:t> if you force it</a:t>
            </a:r>
            <a:endParaRPr lang="en-US" dirty="0"/>
          </a:p>
          <a:p>
            <a:endParaRPr lang="en-US"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9B9CCE-B628-A147-B7E3-2F8091936C50}" type="slidenum">
              <a:rPr lang="en-US"/>
              <a:pPr/>
              <a:t>47</a:t>
            </a:fld>
            <a:endParaRPr lang="en-US"/>
          </a:p>
        </p:txBody>
      </p:sp>
      <p:sp>
        <p:nvSpPr>
          <p:cNvPr id="64102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1027" name="Rectangle 3"/>
          <p:cNvSpPr>
            <a:spLocks noGrp="1" noChangeArrowheads="1"/>
          </p:cNvSpPr>
          <p:nvPr>
            <p:ph type="body" idx="1"/>
          </p:nvPr>
        </p:nvSpPr>
        <p:spPr/>
        <p:txBody>
          <a:bodyPr/>
          <a:lstStyle/>
          <a:p>
            <a:r>
              <a:rPr lang="en-US" dirty="0"/>
              <a:t>how to fix?</a:t>
            </a: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EBE763D-F700-3841-AE64-5F681C7511DA}" type="slidenum">
              <a:rPr lang="en-US"/>
              <a:pPr/>
              <a:t>48</a:t>
            </a:fld>
            <a:endParaRPr lang="en-US"/>
          </a:p>
        </p:txBody>
      </p:sp>
      <p:sp>
        <p:nvSpPr>
          <p:cNvPr id="64205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2051" name="Rectangle 3"/>
          <p:cNvSpPr>
            <a:spLocks noGrp="1" noChangeArrowheads="1"/>
          </p:cNvSpPr>
          <p:nvPr>
            <p:ph type="body" idx="1"/>
          </p:nvPr>
        </p:nvSpPr>
        <p:spPr/>
        <p:txBody>
          <a:bodyPr/>
          <a:lstStyle/>
          <a:p>
            <a:r>
              <a:rPr lang="en-US" dirty="0" err="1"/>
              <a:t>ArrayList</a:t>
            </a:r>
            <a:r>
              <a:rPr lang="en-US" dirty="0"/>
              <a:t> is a collection class, contains Object</a:t>
            </a:r>
            <a:r>
              <a:rPr lang="en-US" baseline="0" dirty="0"/>
              <a:t> </a:t>
            </a:r>
            <a:endParaRPr lang="en-US" dirty="0"/>
          </a:p>
          <a:p>
            <a:endParaRPr lang="en-US" dirty="0"/>
          </a:p>
          <a:p>
            <a:r>
              <a:rPr lang="en-US" dirty="0"/>
              <a:t>every</a:t>
            </a:r>
            <a:r>
              <a:rPr lang="en-US" baseline="0" dirty="0"/>
              <a:t> class implicitly a subclass of Object class</a:t>
            </a:r>
            <a:endParaRPr lang="en-US" dirty="0"/>
          </a:p>
          <a:p>
            <a:endParaRPr lang="en-US" dirty="0"/>
          </a:p>
          <a:p>
            <a:r>
              <a:rPr lang="en-US" dirty="0"/>
              <a:t>maybe</a:t>
            </a:r>
            <a:r>
              <a:rPr lang="en-US" baseline="0" dirty="0"/>
              <a:t> natural, but perfectly wrong</a:t>
            </a:r>
            <a:endParaRPr lang="en-US" dirty="0"/>
          </a:p>
          <a:p>
            <a:pPr marL="171450" indent="-171450">
              <a:buFontTx/>
              <a:buChar char="-"/>
            </a:pPr>
            <a:r>
              <a:rPr lang="en-US" dirty="0"/>
              <a:t>methods take</a:t>
            </a:r>
            <a:r>
              <a:rPr lang="en-US" baseline="0" dirty="0"/>
              <a:t> Objects and return Objects, lots of casting needed by developer using </a:t>
            </a:r>
            <a:r>
              <a:rPr lang="en-US" baseline="0" dirty="0" err="1"/>
              <a:t>ProjectTeam</a:t>
            </a:r>
            <a:r>
              <a:rPr lang="en-US" baseline="0" dirty="0"/>
              <a:t> to downcast Objects into </a:t>
            </a:r>
            <a:r>
              <a:rPr lang="en-US" baseline="0" dirty="0" err="1"/>
              <a:t>TeamMembers</a:t>
            </a:r>
            <a:endParaRPr lang="en-US" baseline="0" dirty="0"/>
          </a:p>
          <a:p>
            <a:pPr marL="171450" indent="-171450">
              <a:buFontTx/>
              <a:buChar char="-"/>
            </a:pPr>
            <a:r>
              <a:rPr lang="en-US" baseline="0" dirty="0"/>
              <a:t>also could use </a:t>
            </a:r>
            <a:r>
              <a:rPr lang="en-US" baseline="0" dirty="0" err="1"/>
              <a:t>ProjectTeam</a:t>
            </a:r>
            <a:r>
              <a:rPr lang="en-US" baseline="0" dirty="0"/>
              <a:t> anywhere you can use </a:t>
            </a:r>
            <a:r>
              <a:rPr lang="en-US" baseline="0" dirty="0" err="1"/>
              <a:t>ArrayList</a:t>
            </a:r>
            <a:endParaRPr lang="en-US" baseline="0" dirty="0"/>
          </a:p>
          <a:p>
            <a:pPr marL="171450" indent="-171450">
              <a:buFontTx/>
              <a:buChar char="-"/>
            </a:pPr>
            <a:r>
              <a:rPr lang="en-US" baseline="0" dirty="0"/>
              <a:t>what about </a:t>
            </a:r>
            <a:r>
              <a:rPr lang="en-US" baseline="0" dirty="0" err="1"/>
              <a:t>ArrayList</a:t>
            </a:r>
            <a:r>
              <a:rPr lang="en-US" baseline="0" dirty="0"/>
              <a:t>&lt;</a:t>
            </a:r>
            <a:r>
              <a:rPr lang="en-US" baseline="0" dirty="0" err="1"/>
              <a:t>TeamMember</a:t>
            </a:r>
            <a:r>
              <a:rPr lang="en-US" baseline="0" dirty="0"/>
              <a:t>&gt; parameterized type</a:t>
            </a:r>
          </a:p>
          <a:p>
            <a:pPr marL="171450" indent="-171450">
              <a:buFontTx/>
              <a:buChar char="-"/>
            </a:pPr>
            <a:r>
              <a:rPr lang="en-US" baseline="0" dirty="0"/>
              <a:t>implementation detail that could change, so hide it, not reveal it</a:t>
            </a:r>
          </a:p>
          <a:p>
            <a:pPr marL="171450" indent="-171450">
              <a:buFontTx/>
              <a:buChar char="-"/>
            </a:pPr>
            <a:r>
              <a:rPr lang="en-US" baseline="0" dirty="0"/>
              <a:t>suppose </a:t>
            </a:r>
            <a:r>
              <a:rPr lang="en-US" baseline="0" dirty="0" err="1"/>
              <a:t>ArrayList</a:t>
            </a:r>
            <a:r>
              <a:rPr lang="en-US" baseline="0" dirty="0"/>
              <a:t> implementation changes</a:t>
            </a:r>
            <a:endParaRPr lang="en-US" dirty="0"/>
          </a:p>
          <a:p>
            <a:endParaRPr lang="en-US" dirty="0"/>
          </a:p>
          <a:p>
            <a:r>
              <a:rPr lang="en-US" dirty="0"/>
              <a:t>in Java, Stack inherits from Vector</a:t>
            </a:r>
          </a:p>
          <a:p>
            <a:r>
              <a:rPr lang="en-US" dirty="0"/>
              <a:t>- Java designers have made mistakes,</a:t>
            </a:r>
            <a:r>
              <a:rPr lang="en-US" baseline="0" dirty="0"/>
              <a:t> but now we’re stuck with it</a:t>
            </a:r>
            <a:endParaRPr lang="en-US" dirty="0"/>
          </a:p>
          <a:p>
            <a:endParaRPr lang="en-US" dirty="0"/>
          </a:p>
          <a:p>
            <a:r>
              <a:rPr lang="en-US" dirty="0"/>
              <a:t>be very careful with implementation inheritance</a:t>
            </a:r>
          </a:p>
          <a:p>
            <a:pPr marL="171450" indent="-171450">
              <a:buFontTx/>
              <a:buChar char="-"/>
            </a:pPr>
            <a:r>
              <a:rPr lang="en-US" dirty="0"/>
              <a:t>probably why Java only has single implementation</a:t>
            </a:r>
            <a:r>
              <a:rPr lang="en-US" baseline="0" dirty="0"/>
              <a:t> inheritance</a:t>
            </a:r>
          </a:p>
          <a:p>
            <a:pPr marL="171450" indent="-171450">
              <a:buFontTx/>
              <a:buChar char="-"/>
            </a:pPr>
            <a:r>
              <a:rPr lang="en-US" baseline="0" dirty="0"/>
              <a:t>don’t squander it</a:t>
            </a:r>
          </a:p>
          <a:p>
            <a:pPr marL="0" indent="0">
              <a:buFontTx/>
              <a:buNone/>
            </a:pPr>
            <a:endParaRPr lang="en-US" dirty="0"/>
          </a:p>
          <a:p>
            <a:pPr marL="0" indent="0">
              <a:buFontTx/>
              <a:buNone/>
            </a:pPr>
            <a:r>
              <a:rPr lang="en-US" dirty="0"/>
              <a:t>no physical constraints or laws of nature, so we use design principles</a:t>
            </a:r>
          </a:p>
          <a:p>
            <a:pPr marL="0" indent="0">
              <a:buFontTx/>
              <a:buNone/>
            </a:pPr>
            <a:r>
              <a:rPr lang="en-US" dirty="0"/>
              <a:t>- not like a poor</a:t>
            </a:r>
            <a:r>
              <a:rPr lang="en-US" baseline="0" dirty="0"/>
              <a:t> design leads to increased friction, causing your design to overheat</a:t>
            </a:r>
            <a:endParaRPr lang="en-US" dirty="0"/>
          </a:p>
          <a:p>
            <a:pPr marL="0" indent="0">
              <a:buFontTx/>
              <a:buNone/>
            </a:pPr>
            <a:r>
              <a:rPr lang="en-US" dirty="0"/>
              <a:t>- thinking</a:t>
            </a:r>
            <a:r>
              <a:rPr lang="en-US" baseline="0" dirty="0"/>
              <a:t> about reuse or flexibility</a:t>
            </a:r>
            <a:endParaRPr lang="en-US" dirty="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CD6630-9A9A-694F-BB8A-505B54C02DBF}" type="slidenum">
              <a:rPr lang="en-US"/>
              <a:pPr/>
              <a:t>49</a:t>
            </a:fld>
            <a:endParaRPr lang="en-US"/>
          </a:p>
        </p:txBody>
      </p:sp>
      <p:sp>
        <p:nvSpPr>
          <p:cNvPr id="64307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307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39B6799-461B-B74F-838F-C1181ADB0160}" type="slidenum">
              <a:rPr lang="en-US"/>
              <a:pPr/>
              <a:t>50</a:t>
            </a:fld>
            <a:endParaRPr lang="en-US"/>
          </a:p>
        </p:txBody>
      </p:sp>
      <p:sp>
        <p:nvSpPr>
          <p:cNvPr id="64409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40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70441B1-7CFC-664F-AA88-4E6CFE7D8BE8}" type="slidenum">
              <a:rPr lang="en-US"/>
              <a:pPr/>
              <a:t>51</a:t>
            </a:fld>
            <a:endParaRPr lang="en-US"/>
          </a:p>
        </p:txBody>
      </p:sp>
      <p:sp>
        <p:nvSpPr>
          <p:cNvPr id="64512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5123" name="Rectangle 3"/>
          <p:cNvSpPr>
            <a:spLocks noGrp="1" noChangeArrowheads="1"/>
          </p:cNvSpPr>
          <p:nvPr>
            <p:ph type="body" idx="1"/>
          </p:nvPr>
        </p:nvSpPr>
        <p:spPr/>
        <p:txBody>
          <a:bodyPr/>
          <a:lstStyle/>
          <a:p>
            <a:r>
              <a:rPr lang="en-US" dirty="0"/>
              <a:t>do nothing or assert or throw exception</a:t>
            </a:r>
          </a:p>
          <a:p>
            <a:endParaRPr lang="en-US" dirty="0"/>
          </a:p>
          <a:p>
            <a:r>
              <a:rPr lang="en-US" dirty="0"/>
              <a:t>overriding method must match name and argument types</a:t>
            </a:r>
          </a:p>
          <a:p>
            <a:r>
              <a:rPr lang="en-US" dirty="0"/>
              <a:t>return type may be subtype</a:t>
            </a:r>
          </a:p>
          <a:p>
            <a:endParaRPr lang="en-US" dirty="0"/>
          </a:p>
          <a:p>
            <a:r>
              <a:rPr lang="en-US" dirty="0"/>
              <a:t>@Override</a:t>
            </a:r>
          </a:p>
          <a:p>
            <a:r>
              <a:rPr lang="en-US" dirty="0"/>
              <a:t>- optional Java annotation</a:t>
            </a:r>
          </a:p>
          <a:p>
            <a:r>
              <a:rPr lang="en-US" dirty="0"/>
              <a:t>- what if misspell </a:t>
            </a:r>
            <a:r>
              <a:rPr lang="en-US" dirty="0" err="1"/>
              <a:t>setSize</a:t>
            </a:r>
            <a:endParaRPr lang="en-US" dirty="0"/>
          </a:p>
          <a:p>
            <a:endParaRPr lang="en-US" dirty="0"/>
          </a:p>
          <a:p>
            <a:r>
              <a:rPr lang="en-US" dirty="0"/>
              <a:t>cannot override</a:t>
            </a:r>
          </a:p>
          <a:p>
            <a:r>
              <a:rPr lang="en-US" dirty="0"/>
              <a:t>- private methods of superclass</a:t>
            </a:r>
          </a:p>
          <a:p>
            <a:r>
              <a:rPr lang="en-US" dirty="0"/>
              <a:t>- final methods</a:t>
            </a:r>
          </a:p>
          <a:p>
            <a:r>
              <a:rPr lang="en-US" dirty="0"/>
              <a:t>- constructors</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874C4A3-79D3-4747-8F06-3F02FFEC0E61}" type="slidenum">
              <a:rPr lang="en-US"/>
              <a:pPr/>
              <a:t>52</a:t>
            </a:fld>
            <a:endParaRPr lang="en-US"/>
          </a:p>
        </p:txBody>
      </p:sp>
      <p:sp>
        <p:nvSpPr>
          <p:cNvPr id="64614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6147" name="Rectangle 3"/>
          <p:cNvSpPr>
            <a:spLocks noGrp="1" noChangeArrowheads="1"/>
          </p:cNvSpPr>
          <p:nvPr>
            <p:ph type="body" idx="1"/>
          </p:nvPr>
        </p:nvSpPr>
        <p:spPr/>
        <p:txBody>
          <a:bodyPr/>
          <a:lstStyle/>
          <a:p>
            <a:r>
              <a:rPr lang="en-US" dirty="0"/>
              <a:t>just</a:t>
            </a:r>
            <a:r>
              <a:rPr lang="en-US" baseline="0" dirty="0"/>
              <a:t> like </a:t>
            </a:r>
            <a:r>
              <a:rPr lang="en-US" baseline="0" dirty="0" err="1"/>
              <a:t>ProjectTeam</a:t>
            </a:r>
            <a:r>
              <a:rPr lang="en-US" baseline="0" dirty="0"/>
              <a:t> has-a </a:t>
            </a:r>
            <a:r>
              <a:rPr lang="en-US" baseline="0" dirty="0" err="1"/>
              <a:t>ArrayList</a:t>
            </a:r>
            <a:r>
              <a:rPr lang="en-US" baseline="0" dirty="0"/>
              <a:t>, not is-a </a:t>
            </a:r>
            <a:r>
              <a:rPr lang="en-US" baseline="0" dirty="0" err="1"/>
              <a:t>ArrayList</a:t>
            </a:r>
            <a:endParaRPr lang="en-US" baseline="0" dirty="0"/>
          </a:p>
          <a:p>
            <a:endParaRPr lang="en-US" baseline="0" dirty="0"/>
          </a:p>
          <a:p>
            <a:r>
              <a:rPr lang="en-US" baseline="0" dirty="0"/>
              <a:t>some redundancy</a:t>
            </a:r>
          </a:p>
          <a:p>
            <a:endParaRPr lang="en-US" baseline="0" dirty="0"/>
          </a:p>
          <a:p>
            <a:r>
              <a:rPr lang="en-US" baseline="0" dirty="0"/>
              <a:t>wrapping approach</a:t>
            </a:r>
            <a:endParaRPr lang="en-US" dirty="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CDA7936-D1A2-4947-9A77-16A03FAB904D}" type="slidenum">
              <a:rPr lang="en-US"/>
              <a:pPr/>
              <a:t>53</a:t>
            </a:fld>
            <a:endParaRPr lang="en-US"/>
          </a:p>
        </p:txBody>
      </p:sp>
      <p:sp>
        <p:nvSpPr>
          <p:cNvPr id="64717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47171" name="Rectangle 3"/>
          <p:cNvSpPr>
            <a:spLocks noGrp="1" noChangeArrowheads="1"/>
          </p:cNvSpPr>
          <p:nvPr>
            <p:ph type="body" idx="1"/>
          </p:nvPr>
        </p:nvSpPr>
        <p:spPr/>
        <p:txBody>
          <a:bodyPr/>
          <a:lstStyle/>
          <a:p>
            <a:r>
              <a:rPr lang="en-US" dirty="0"/>
              <a:t>revise inheritance hierarchy</a:t>
            </a:r>
          </a:p>
          <a:p>
            <a:endParaRPr lang="en-US" dirty="0"/>
          </a:p>
          <a:p>
            <a:endParaRPr lang="en-US" dirty="0"/>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A38B49B-9EEC-3D43-B74E-35F386A32BA5}" type="slidenum">
              <a:rPr lang="en-US"/>
              <a:pPr/>
              <a:t>54</a:t>
            </a:fld>
            <a:endParaRPr lang="en-US"/>
          </a:p>
        </p:txBody>
      </p:sp>
      <p:sp>
        <p:nvSpPr>
          <p:cNvPr id="65536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55363" name="Rectangle 3"/>
          <p:cNvSpPr>
            <a:spLocks noGrp="1" noChangeArrowheads="1"/>
          </p:cNvSpPr>
          <p:nvPr>
            <p:ph type="body" idx="1"/>
          </p:nvPr>
        </p:nvSpPr>
        <p:spPr/>
        <p:txBody>
          <a:bodyPr/>
          <a:lstStyle/>
          <a:p>
            <a:r>
              <a:rPr lang="en-US" dirty="0"/>
              <a:t>no body to abstract methods</a:t>
            </a:r>
          </a:p>
          <a:p>
            <a:pPr marL="171450" indent="-171450">
              <a:buFontTx/>
              <a:buChar char="-"/>
            </a:pPr>
            <a:r>
              <a:rPr lang="en-US" dirty="0"/>
              <a:t>abstract superclass says something in common about subclasses of</a:t>
            </a:r>
            <a:r>
              <a:rPr lang="en-US" baseline="0" dirty="0"/>
              <a:t> it, and subclasses will provide the details</a:t>
            </a:r>
            <a:endParaRPr lang="en-US" dirty="0"/>
          </a:p>
          <a:p>
            <a:endParaRPr lang="en-US" dirty="0"/>
          </a:p>
          <a:p>
            <a:r>
              <a:rPr lang="en-US" dirty="0"/>
              <a:t>not much to inherit, except</a:t>
            </a:r>
            <a:r>
              <a:rPr lang="en-US" baseline="0" dirty="0"/>
              <a:t> the method signatures, no method bodies here</a:t>
            </a:r>
          </a:p>
          <a:p>
            <a:endParaRPr lang="en-US" baseline="0" dirty="0"/>
          </a:p>
          <a:p>
            <a:r>
              <a:rPr lang="en-US" baseline="0" dirty="0"/>
              <a:t>pure abstract class</a:t>
            </a:r>
          </a:p>
          <a:p>
            <a:pPr marL="171450" indent="-171450">
              <a:buFontTx/>
              <a:buChar char="-"/>
            </a:pPr>
            <a:r>
              <a:rPr lang="en-US" baseline="0" dirty="0"/>
              <a:t>all abstract methods</a:t>
            </a:r>
          </a:p>
          <a:p>
            <a:pPr marL="171450" indent="-171450">
              <a:buFontTx/>
              <a:buChar char="-"/>
            </a:pPr>
            <a:r>
              <a:rPr lang="en-US" baseline="0" dirty="0"/>
              <a:t>often no state</a:t>
            </a:r>
          </a:p>
          <a:p>
            <a:pPr marL="171450" indent="-171450">
              <a:buFontTx/>
              <a:buChar char="-"/>
            </a:pPr>
            <a:endParaRPr lang="en-US" baseline="0" dirty="0"/>
          </a:p>
          <a:p>
            <a:pPr marL="0" indent="0">
              <a:buFontTx/>
              <a:buNone/>
            </a:pPr>
            <a:r>
              <a:rPr lang="en-US" baseline="0" dirty="0"/>
              <a:t>leads to slightly different kind of inheritance, known as interface inheritance</a:t>
            </a:r>
          </a:p>
          <a:p>
            <a:pPr marL="0" indent="0">
              <a:buFontTx/>
              <a:buNone/>
            </a:pPr>
            <a:r>
              <a:rPr lang="en-US" baseline="0" dirty="0"/>
              <a:t>- generalize or share only the method signatures</a:t>
            </a:r>
            <a:endParaRPr lang="en-US" dirty="0"/>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FD1E345-2833-1A44-A3E3-F04CAC878283}" type="slidenum">
              <a:rPr lang="en-US"/>
              <a:pPr/>
              <a:t>55</a:t>
            </a:fld>
            <a:endParaRPr lang="en-US"/>
          </a:p>
        </p:txBody>
      </p:sp>
      <p:sp>
        <p:nvSpPr>
          <p:cNvPr id="70861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7086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46ABA72-FA66-1247-B6FC-EFDB73FA0234}" type="slidenum">
              <a:rPr lang="en-US"/>
              <a:pPr/>
              <a:t>56</a:t>
            </a:fld>
            <a:endParaRPr lang="en-US"/>
          </a:p>
        </p:txBody>
      </p:sp>
      <p:sp>
        <p:nvSpPr>
          <p:cNvPr id="65229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52291" name="Rectangle 3"/>
          <p:cNvSpPr>
            <a:spLocks noGrp="1" noChangeArrowheads="1"/>
          </p:cNvSpPr>
          <p:nvPr>
            <p:ph type="body" idx="1"/>
          </p:nvPr>
        </p:nvSpPr>
        <p:spPr/>
        <p:txBody>
          <a:bodyPr/>
          <a:lstStyle/>
          <a:p>
            <a:r>
              <a:rPr lang="en-US" dirty="0"/>
              <a:t>implements (can do)</a:t>
            </a:r>
          </a:p>
          <a:p>
            <a:endParaRPr lang="en-US" dirty="0"/>
          </a:p>
          <a:p>
            <a:r>
              <a:rPr lang="en-US" dirty="0"/>
              <a:t>in Java 8, implementation can be constants and default methods that do not refer to state</a:t>
            </a:r>
          </a:p>
          <a:p>
            <a:endParaRPr lang="en-US" dirty="0"/>
          </a:p>
          <a:p>
            <a:r>
              <a:rPr lang="en-US" dirty="0"/>
              <a:t>methods are implicitly public and abstract</a:t>
            </a:r>
          </a:p>
          <a:p>
            <a:endParaRPr lang="en-US" dirty="0"/>
          </a:p>
          <a:p>
            <a:endParaRPr lang="en-US" dirty="0"/>
          </a:p>
          <a:p>
            <a:endParaRPr lang="en-US" dirty="0"/>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9DE0135-8467-B042-A6EB-324227F2D13C}" type="slidenum">
              <a:rPr lang="en-US"/>
              <a:pPr/>
              <a:t>57</a:t>
            </a:fld>
            <a:endParaRPr lang="en-US"/>
          </a:p>
        </p:txBody>
      </p:sp>
      <p:sp>
        <p:nvSpPr>
          <p:cNvPr id="65433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543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50C6B8-E0EB-0A48-9D1C-E9842338963D}" type="slidenum">
              <a:rPr lang="en-US"/>
              <a:pPr/>
              <a:t>58</a:t>
            </a:fld>
            <a:endParaRPr lang="en-US"/>
          </a:p>
        </p:txBody>
      </p:sp>
      <p:sp>
        <p:nvSpPr>
          <p:cNvPr id="65331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53315" name="Rectangle 3"/>
          <p:cNvSpPr>
            <a:spLocks noGrp="1" noChangeArrowheads="1"/>
          </p:cNvSpPr>
          <p:nvPr>
            <p:ph type="body" idx="1"/>
          </p:nvPr>
        </p:nvSpPr>
        <p:spPr/>
        <p:txBody>
          <a:bodyPr/>
          <a:lstStyle/>
          <a:p>
            <a:r>
              <a:rPr lang="en-US" dirty="0"/>
              <a:t>lollipop</a:t>
            </a:r>
            <a:r>
              <a:rPr lang="en-US" baseline="0" dirty="0"/>
              <a:t> notation obsolete</a:t>
            </a:r>
            <a:endParaRPr lang="en-US" dirty="0"/>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2ED5450-5F7D-4040-94ED-1594B62786B6}" type="slidenum">
              <a:rPr lang="en-US"/>
              <a:pPr/>
              <a:t>59</a:t>
            </a:fld>
            <a:endParaRPr lang="en-US"/>
          </a:p>
        </p:txBody>
      </p:sp>
      <p:sp>
        <p:nvSpPr>
          <p:cNvPr id="65741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57411" name="Rectangle 3"/>
          <p:cNvSpPr>
            <a:spLocks noGrp="1" noChangeArrowheads="1"/>
          </p:cNvSpPr>
          <p:nvPr>
            <p:ph type="body" idx="1"/>
          </p:nvPr>
        </p:nvSpPr>
        <p:spPr/>
        <p:txBody>
          <a:bodyPr/>
          <a:lstStyle/>
          <a:p>
            <a:r>
              <a:rPr lang="en-US" dirty="0"/>
              <a:t>extends (is a kind of) vs implements (can do)</a:t>
            </a:r>
          </a:p>
          <a:p>
            <a:endParaRPr lang="en-US" dirty="0"/>
          </a:p>
          <a:p>
            <a:r>
              <a:rPr lang="en-US" dirty="0"/>
              <a:t>abstract class may provide partial common implementation</a:t>
            </a:r>
          </a:p>
          <a:p>
            <a:r>
              <a:rPr lang="en-US" dirty="0"/>
              <a:t>- I know what you should do, and I know how you should do it in some cases</a:t>
            </a:r>
          </a:p>
          <a:p>
            <a:r>
              <a:rPr lang="en-US" dirty="0"/>
              <a:t>interface no implementation</a:t>
            </a:r>
          </a:p>
          <a:p>
            <a:r>
              <a:rPr lang="en-US" dirty="0"/>
              <a:t>- I don't care how you do it, but here's </a:t>
            </a:r>
            <a:r>
              <a:rPr lang="en-US"/>
              <a:t>what you need to do</a:t>
            </a:r>
            <a:endParaRPr lang="en-US" dirty="0"/>
          </a:p>
          <a:p>
            <a:endParaRPr lang="en-US" dirty="0"/>
          </a:p>
          <a:p>
            <a:r>
              <a:rPr lang="en-US" dirty="0"/>
              <a:t>abstract class can have constructors, but cannot be instantiated</a:t>
            </a:r>
          </a:p>
          <a:p>
            <a:endParaRPr lang="en-US" dirty="0"/>
          </a:p>
          <a:p>
            <a:r>
              <a:rPr lang="en-US" dirty="0"/>
              <a:t>abstract class may implement interfaces</a:t>
            </a:r>
          </a:p>
          <a:p>
            <a:endParaRPr lang="en-US" dirty="0"/>
          </a:p>
          <a:p>
            <a:r>
              <a:rPr lang="en-US" dirty="0"/>
              <a:t>good idea to break</a:t>
            </a:r>
          </a:p>
          <a:p>
            <a:endParaRPr lang="en-US" dirty="0"/>
          </a:p>
          <a:p>
            <a:r>
              <a:rPr lang="en-US" dirty="0"/>
              <a:t>adding an</a:t>
            </a:r>
            <a:r>
              <a:rPr lang="en-US" baseline="0" dirty="0"/>
              <a:t> abstract method to an abstract class is also similar</a:t>
            </a:r>
          </a:p>
          <a:p>
            <a:r>
              <a:rPr lang="en-US" baseline="0" dirty="0"/>
              <a:t>adding a non-abstract method, no breaking</a:t>
            </a:r>
          </a:p>
          <a:p>
            <a:endParaRPr lang="en-US" dirty="0"/>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420250-75BC-9E45-A2EC-31FD1AEF8259}" type="slidenum">
              <a:rPr lang="en-US" smtClean="0"/>
              <a:pPr/>
              <a:t>60</a:t>
            </a:fld>
            <a:endParaRPr lang="en-US"/>
          </a:p>
        </p:txBody>
      </p:sp>
    </p:spTree>
    <p:extLst>
      <p:ext uri="{BB962C8B-B14F-4D97-AF65-F5344CB8AC3E}">
        <p14:creationId xmlns:p14="http://schemas.microsoft.com/office/powerpoint/2010/main" val="3824726609"/>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6E88DB8-0C31-0A4E-9CFC-75EDFB1E2F97}" type="slidenum">
              <a:rPr lang="en-US"/>
              <a:pPr/>
              <a:t>62</a:t>
            </a:fld>
            <a:endParaRPr lang="en-US"/>
          </a:p>
        </p:txBody>
      </p:sp>
      <p:sp>
        <p:nvSpPr>
          <p:cNvPr id="701442" name="Rectangle 2"/>
          <p:cNvSpPr>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sp>
      <p:sp>
        <p:nvSpPr>
          <p:cNvPr id="701443" name="Rectangle 3"/>
          <p:cNvSpPr>
            <a:spLocks noGrp="1" noChangeArrowheads="1"/>
          </p:cNvSpPr>
          <p:nvPr>
            <p:ph type="body" idx="1"/>
          </p:nvPr>
        </p:nvSpPr>
        <p:spPr bwMode="auto">
          <a:xfrm>
            <a:off x="914400" y="4343400"/>
            <a:ext cx="5029200" cy="4114800"/>
          </a:xfrm>
          <a:prstGeom prst="rect">
            <a:avLst/>
          </a:prstGeom>
          <a:solidFill>
            <a:srgbClr val="FFFFFF"/>
          </a:solidFill>
          <a:ln>
            <a:solidFill>
              <a:srgbClr val="000000"/>
            </a:solidFill>
            <a:miter lim="800000"/>
            <a:headEnd/>
            <a:tailEnd/>
          </a:ln>
          <a:extLst>
            <a:ext uri="{FAA26D3D-D897-4be2-8F04-BA451C77F1D7}">
              <ma14:placeholderFlag xmlns="" xmlns:ma14="http://schemas.microsoft.com/office/mac/drawingml/2011/main" val="1"/>
            </a:ext>
          </a:extLst>
        </p:spPr>
        <p:txBody>
          <a:bodyPr/>
          <a:lstStyle/>
          <a:p>
            <a:r>
              <a:rPr lang="en-US" dirty="0"/>
              <a:t>what</a:t>
            </a:r>
            <a:r>
              <a:rPr lang="en-US" baseline="0" dirty="0"/>
              <a:t> if call to send()</a:t>
            </a:r>
          </a:p>
          <a:p>
            <a:endParaRPr lang="en-US" baseline="0" dirty="0"/>
          </a:p>
          <a:p>
            <a:r>
              <a:rPr lang="en-US" baseline="0" dirty="0"/>
              <a:t>what is the value of </a:t>
            </a:r>
            <a:r>
              <a:rPr lang="en-US" baseline="0" dirty="0" err="1"/>
              <a:t>argRef</a:t>
            </a:r>
            <a:r>
              <a:rPr lang="en-US" baseline="0" dirty="0"/>
              <a:t>?</a:t>
            </a:r>
          </a:p>
          <a:p>
            <a:r>
              <a:rPr lang="en-US" baseline="0" dirty="0"/>
              <a:t>null? no change? neither?</a:t>
            </a:r>
          </a:p>
          <a:p>
            <a:endParaRPr lang="en-US" baseline="0" dirty="0"/>
          </a:p>
          <a:p>
            <a:r>
              <a:rPr lang="en-US" baseline="0" dirty="0"/>
              <a:t>no change to </a:t>
            </a:r>
            <a:r>
              <a:rPr lang="en-US" baseline="0" dirty="0" err="1"/>
              <a:t>argRef</a:t>
            </a:r>
            <a:endParaRPr lang="en-US" baseline="0" dirty="0"/>
          </a:p>
          <a:p>
            <a:endParaRPr lang="en-US" baseline="0" dirty="0"/>
          </a:p>
          <a:p>
            <a:r>
              <a:rPr lang="en-US" baseline="0" dirty="0"/>
              <a:t>can change the object, but not the reference</a:t>
            </a:r>
          </a:p>
          <a:p>
            <a:endParaRPr lang="en-US" dirty="0"/>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A446CA-C726-644A-A4C1-0315C84FCDE6}" type="slidenum">
              <a:rPr lang="en-US"/>
              <a:pPr/>
              <a:t>63</a:t>
            </a:fld>
            <a:endParaRPr lang="en-US"/>
          </a:p>
        </p:txBody>
      </p:sp>
      <p:sp>
        <p:nvSpPr>
          <p:cNvPr id="50995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09955" name="Rectangle 3"/>
          <p:cNvSpPr>
            <a:spLocks noGrp="1" noChangeArrowheads="1"/>
          </p:cNvSpPr>
          <p:nvPr>
            <p:ph type="body" idx="1"/>
          </p:nvPr>
        </p:nvSpPr>
        <p:spPr/>
        <p:txBody>
          <a:bodyPr/>
          <a:lstStyle/>
          <a:p>
            <a:r>
              <a:rPr lang="en-US" dirty="0"/>
              <a:t>initializing</a:t>
            </a: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A446CA-C726-644A-A4C1-0315C84FCDE6}" type="slidenum">
              <a:rPr lang="en-US"/>
              <a:pPr/>
              <a:t>64</a:t>
            </a:fld>
            <a:endParaRPr lang="en-US"/>
          </a:p>
        </p:txBody>
      </p:sp>
      <p:sp>
        <p:nvSpPr>
          <p:cNvPr id="50995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09955" name="Rectangle 3"/>
          <p:cNvSpPr>
            <a:spLocks noGrp="1" noChangeArrowheads="1"/>
          </p:cNvSpPr>
          <p:nvPr>
            <p:ph type="body" idx="1"/>
          </p:nvPr>
        </p:nvSpPr>
        <p:spPr/>
        <p:txBody>
          <a:bodyPr/>
          <a:lstStyle/>
          <a:p>
            <a:r>
              <a:rPr lang="en-US" dirty="0"/>
              <a:t>implicit call to super() no parameter</a:t>
            </a: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AA446CA-C726-644A-A4C1-0315C84FCDE6}" type="slidenum">
              <a:rPr lang="en-US"/>
              <a:pPr/>
              <a:t>65</a:t>
            </a:fld>
            <a:endParaRPr lang="en-US"/>
          </a:p>
        </p:txBody>
      </p:sp>
      <p:sp>
        <p:nvSpPr>
          <p:cNvPr id="50995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09955" name="Rectangle 3"/>
          <p:cNvSpPr>
            <a:spLocks noGrp="1" noChangeArrowheads="1"/>
          </p:cNvSpPr>
          <p:nvPr>
            <p:ph type="body" idx="1"/>
          </p:nvPr>
        </p:nvSpPr>
        <p:spPr/>
        <p:txBody>
          <a:bodyPr/>
          <a:lstStyle/>
          <a:p>
            <a:r>
              <a:rPr lang="en-US" dirty="0"/>
              <a:t>super() with no arguments</a:t>
            </a:r>
            <a:r>
              <a:rPr lang="en-US" baseline="0" dirty="0"/>
              <a:t> never need to say it</a:t>
            </a:r>
            <a:endParaRPr lang="en-US" dirty="0"/>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CF5633-AA81-B748-9827-95DF3852DD94}" type="slidenum">
              <a:rPr lang="en-US"/>
              <a:pPr/>
              <a:t>66</a:t>
            </a:fld>
            <a:endParaRPr lang="en-US"/>
          </a:p>
        </p:txBody>
      </p:sp>
      <p:sp>
        <p:nvSpPr>
          <p:cNvPr id="66150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61507" name="Rectangle 3"/>
          <p:cNvSpPr>
            <a:spLocks noGrp="1" noChangeArrowheads="1"/>
          </p:cNvSpPr>
          <p:nvPr>
            <p:ph type="body" idx="1"/>
          </p:nvPr>
        </p:nvSpPr>
        <p:spPr/>
        <p:txBody>
          <a:bodyPr/>
          <a:lstStyle/>
          <a:p>
            <a:r>
              <a:rPr lang="en-US" dirty="0"/>
              <a:t>using</a:t>
            </a:r>
            <a:r>
              <a:rPr lang="en-US" baseline="0" dirty="0"/>
              <a:t> shadowing of variables not a good idea </a:t>
            </a:r>
            <a:endParaRPr lang="en-US" dirty="0"/>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EF6455-753C-7344-9239-BDCCDBC39556}"/>
            </a:ext>
          </a:extLst>
        </p:cNvPr>
        <p:cNvGrpSpPr/>
        <p:nvPr/>
      </p:nvGrpSpPr>
      <p:grpSpPr>
        <a:xfrm>
          <a:off x="0" y="0"/>
          <a:ext cx="0" cy="0"/>
          <a:chOff x="0" y="0"/>
          <a:chExt cx="0" cy="0"/>
        </a:xfrm>
      </p:grpSpPr>
      <p:sp>
        <p:nvSpPr>
          <p:cNvPr id="7" name="Rectangle 7">
            <a:extLst>
              <a:ext uri="{FF2B5EF4-FFF2-40B4-BE49-F238E27FC236}">
                <a16:creationId xmlns:a16="http://schemas.microsoft.com/office/drawing/2014/main" id="{609BE0EC-2F59-4129-8281-53BC95E5F241}"/>
              </a:ext>
            </a:extLst>
          </p:cNvPr>
          <p:cNvSpPr>
            <a:spLocks noGrp="1" noChangeArrowheads="1"/>
          </p:cNvSpPr>
          <p:nvPr>
            <p:ph type="sldNum" sz="quarter" idx="5"/>
          </p:nvPr>
        </p:nvSpPr>
        <p:spPr>
          <a:ln/>
        </p:spPr>
        <p:txBody>
          <a:bodyPr/>
          <a:lstStyle/>
          <a:p>
            <a:fld id="{9FCF5633-AA81-B748-9827-95DF3852DD94}" type="slidenum">
              <a:rPr lang="en-US"/>
              <a:pPr/>
              <a:t>67</a:t>
            </a:fld>
            <a:endParaRPr lang="en-US"/>
          </a:p>
        </p:txBody>
      </p:sp>
      <p:sp>
        <p:nvSpPr>
          <p:cNvPr id="661506" name="Rectangle 2">
            <a:extLst>
              <a:ext uri="{FF2B5EF4-FFF2-40B4-BE49-F238E27FC236}">
                <a16:creationId xmlns:a16="http://schemas.microsoft.com/office/drawing/2014/main" id="{88112AE3-E4E4-6FCA-9043-390B33B49222}"/>
              </a:ext>
            </a:extLst>
          </p:cNvPr>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61507" name="Rectangle 3">
            <a:extLst>
              <a:ext uri="{FF2B5EF4-FFF2-40B4-BE49-F238E27FC236}">
                <a16:creationId xmlns:a16="http://schemas.microsoft.com/office/drawing/2014/main" id="{F0091910-6604-393D-338F-E89FCBCDAB95}"/>
              </a:ext>
            </a:extLst>
          </p:cNvPr>
          <p:cNvSpPr>
            <a:spLocks noGrp="1" noChangeArrowheads="1"/>
          </p:cNvSpPr>
          <p:nvPr>
            <p:ph type="body" idx="1"/>
          </p:nvPr>
        </p:nvSpPr>
        <p:spPr/>
        <p:txBody>
          <a:bodyPr/>
          <a:lstStyle/>
          <a:p>
            <a:r>
              <a:rPr lang="en-US" dirty="0"/>
              <a:t>using</a:t>
            </a:r>
            <a:r>
              <a:rPr lang="en-US" baseline="0" dirty="0"/>
              <a:t> shadowing of variables not a good idea</a:t>
            </a:r>
            <a:endParaRPr lang="en-US" dirty="0"/>
          </a:p>
        </p:txBody>
      </p:sp>
    </p:spTree>
    <p:extLst>
      <p:ext uri="{BB962C8B-B14F-4D97-AF65-F5344CB8AC3E}">
        <p14:creationId xmlns:p14="http://schemas.microsoft.com/office/powerpoint/2010/main" val="340708354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B9B54AD9-7509-7B40-A8BF-1747FF1D72E0}" type="slidenum">
              <a:rPr lang="en-US"/>
              <a:pPr/>
              <a:t>68</a:t>
            </a:fld>
            <a:endParaRPr lang="en-US"/>
          </a:p>
        </p:txBody>
      </p:sp>
      <p:sp>
        <p:nvSpPr>
          <p:cNvPr id="66662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66627" name="Rectangle 3"/>
          <p:cNvSpPr>
            <a:spLocks noGrp="1" noChangeArrowheads="1"/>
          </p:cNvSpPr>
          <p:nvPr>
            <p:ph type="body" idx="1"/>
          </p:nvPr>
        </p:nvSpPr>
        <p:spPr/>
        <p:txBody>
          <a:bodyPr/>
          <a:lstStyle/>
          <a:p>
            <a:endParaRPr lang="en-US" baseline="0" dirty="0"/>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A1EC068-86BB-2149-9D94-366710ABB546}" type="slidenum">
              <a:rPr lang="en-US"/>
              <a:pPr/>
              <a:t>69</a:t>
            </a:fld>
            <a:endParaRPr lang="en-US"/>
          </a:p>
        </p:txBody>
      </p:sp>
      <p:sp>
        <p:nvSpPr>
          <p:cNvPr id="66355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63555" name="Rectangle 3"/>
          <p:cNvSpPr>
            <a:spLocks noGrp="1" noChangeArrowheads="1"/>
          </p:cNvSpPr>
          <p:nvPr>
            <p:ph type="body" idx="1"/>
          </p:nvPr>
        </p:nvSpPr>
        <p:spPr/>
        <p:txBody>
          <a:bodyPr/>
          <a:lstStyle/>
          <a:p>
            <a:r>
              <a:rPr lang="en-US" dirty="0"/>
              <a:t>default no argument constructor</a:t>
            </a:r>
          </a:p>
        </p:txBody>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035AE4-B320-DD4D-B0C7-284D371145FC}" type="slidenum">
              <a:rPr lang="en-US"/>
              <a:pPr/>
              <a:t>70</a:t>
            </a:fld>
            <a:endParaRPr lang="en-US"/>
          </a:p>
        </p:txBody>
      </p:sp>
      <p:sp>
        <p:nvSpPr>
          <p:cNvPr id="66560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65603" name="Rectangle 3"/>
          <p:cNvSpPr>
            <a:spLocks noGrp="1" noChangeArrowheads="1"/>
          </p:cNvSpPr>
          <p:nvPr>
            <p:ph type="body" idx="1"/>
          </p:nvPr>
        </p:nvSpPr>
        <p:spPr/>
        <p:txBody>
          <a:bodyPr/>
          <a:lstStyle/>
          <a:p>
            <a:r>
              <a:rPr lang="en-US" dirty="0" err="1"/>
              <a:t>downcasting</a:t>
            </a:r>
            <a:r>
              <a:rPr lang="en-US" dirty="0"/>
              <a:t> generally frowned upon, symptom of a bad design or bad use of the language</a:t>
            </a:r>
          </a:p>
          <a:p>
            <a:endParaRPr lang="en-US" dirty="0"/>
          </a:p>
          <a:p>
            <a:r>
              <a:rPr lang="en-US" dirty="0"/>
              <a:t>come back to Java constructs as</a:t>
            </a:r>
            <a:r>
              <a:rPr lang="en-US" baseline="0" dirty="0"/>
              <a:t> we need them</a:t>
            </a:r>
          </a:p>
          <a:p>
            <a:pPr marL="171450" indent="-171450">
              <a:buFontTx/>
              <a:buChar char="-"/>
            </a:pPr>
            <a:r>
              <a:rPr lang="en-US" baseline="0" dirty="0"/>
              <a:t>not a course on Java</a:t>
            </a:r>
          </a:p>
          <a:p>
            <a:pPr marL="171450" indent="-171450">
              <a:buFontTx/>
              <a:buChar char="-"/>
            </a:pPr>
            <a:r>
              <a:rPr lang="en-US" baseline="0" dirty="0"/>
              <a:t>if you learning Java now, good practice for learning a new language on your own</a:t>
            </a:r>
          </a:p>
          <a:p>
            <a:endParaRPr lang="en-US" baseline="0" dirty="0"/>
          </a:p>
          <a:p>
            <a:r>
              <a:rPr lang="en-US" baseline="0" dirty="0"/>
              <a:t>anyone use regular expressions for pattern matching in Java?</a:t>
            </a:r>
          </a:p>
        </p:txBody>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CD3F375-48EC-414B-89D7-B5C3F4A77C8D}" type="slidenum">
              <a:rPr lang="en-US"/>
              <a:pPr/>
              <a:t>72</a:t>
            </a:fld>
            <a:endParaRPr lang="en-US"/>
          </a:p>
        </p:txBody>
      </p:sp>
      <p:sp>
        <p:nvSpPr>
          <p:cNvPr id="59289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592899" name="Rectangle 3"/>
          <p:cNvSpPr>
            <a:spLocks noGrp="1" noChangeArrowheads="1"/>
          </p:cNvSpPr>
          <p:nvPr>
            <p:ph type="body" idx="1"/>
          </p:nvPr>
        </p:nvSpPr>
        <p:spPr/>
        <p:txBody>
          <a:bodyPr/>
          <a:lstStyle/>
          <a:p>
            <a:r>
              <a:rPr lang="en-US" dirty="0"/>
              <a:t>requirements to code?</a:t>
            </a:r>
          </a:p>
          <a:p>
            <a:r>
              <a:rPr lang="en-US" dirty="0"/>
              <a:t>requirements to test cases?</a:t>
            </a:r>
          </a:p>
          <a:p>
            <a:r>
              <a:rPr lang="en-US" dirty="0"/>
              <a:t>requirements to class diagrams?</a:t>
            </a:r>
          </a:p>
          <a:p>
            <a:r>
              <a:rPr lang="en-US" dirty="0"/>
              <a:t>requirements to CRC</a:t>
            </a:r>
            <a:r>
              <a:rPr lang="en-US" baseline="0" dirty="0"/>
              <a:t> cards?</a:t>
            </a:r>
            <a:endParaRPr lang="en-US" dirty="0"/>
          </a:p>
          <a:p>
            <a:endParaRPr lang="en-US" dirty="0"/>
          </a:p>
          <a:p>
            <a:r>
              <a:rPr lang="en-US" dirty="0"/>
              <a:t>how to fit UML into</a:t>
            </a:r>
            <a:r>
              <a:rPr lang="en-US" baseline="0" dirty="0"/>
              <a:t> development process?</a:t>
            </a:r>
          </a:p>
          <a:p>
            <a:pPr marL="171450" indent="-171450">
              <a:buFontTx/>
              <a:buChar char="-"/>
            </a:pPr>
            <a:r>
              <a:rPr lang="en-US" baseline="0" dirty="0"/>
              <a:t>some might find it hard to think about the diagrams first</a:t>
            </a:r>
          </a:p>
          <a:p>
            <a:pPr marL="171450" indent="-171450">
              <a:buFontTx/>
              <a:buChar char="-"/>
            </a:pPr>
            <a:r>
              <a:rPr lang="en-US" baseline="0" dirty="0"/>
              <a:t>holy grail to only model and generate the code</a:t>
            </a:r>
          </a:p>
          <a:p>
            <a:pPr marL="171450" indent="-171450">
              <a:buFontTx/>
              <a:buChar char="-"/>
            </a:pPr>
            <a:r>
              <a:rPr lang="en-US" baseline="0" dirty="0"/>
              <a:t>or only UML for documenting through reverse engineering</a:t>
            </a:r>
            <a:endParaRPr lang="en-US" dirty="0"/>
          </a:p>
          <a:p>
            <a:endParaRPr lang="en-US" dirty="0"/>
          </a:p>
          <a:p>
            <a:r>
              <a:rPr lang="en-US" dirty="0"/>
              <a:t>essential</a:t>
            </a:r>
            <a:r>
              <a:rPr lang="en-US" baseline="0" dirty="0"/>
              <a:t> are</a:t>
            </a:r>
            <a:r>
              <a:rPr lang="en-US" dirty="0"/>
              <a:t> class diagrams</a:t>
            </a:r>
          </a:p>
          <a:p>
            <a:endParaRPr lang="en-US" dirty="0"/>
          </a:p>
          <a:p>
            <a:r>
              <a:rPr lang="en-US" dirty="0"/>
              <a:t>some people only use this part of UML</a:t>
            </a:r>
          </a:p>
        </p:txBody>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1731B6C-EABA-9945-970F-850BD765B171}" type="slidenum">
              <a:rPr lang="en-US"/>
              <a:pPr/>
              <a:t>73</a:t>
            </a:fld>
            <a:endParaRPr lang="en-US"/>
          </a:p>
        </p:txBody>
      </p:sp>
      <p:sp>
        <p:nvSpPr>
          <p:cNvPr id="66867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68675" name="Rectangle 3"/>
          <p:cNvSpPr>
            <a:spLocks noGrp="1" noChangeArrowheads="1"/>
          </p:cNvSpPr>
          <p:nvPr>
            <p:ph type="body" idx="1"/>
          </p:nvPr>
        </p:nvSpPr>
        <p:spPr/>
        <p:txBody>
          <a:bodyPr/>
          <a:lstStyle/>
          <a:p>
            <a:r>
              <a:rPr lang="en-US" dirty="0"/>
              <a:t>CRC before class diagram</a:t>
            </a:r>
          </a:p>
          <a:p>
            <a:endParaRPr lang="en-US" dirty="0"/>
          </a:p>
          <a:p>
            <a:r>
              <a:rPr lang="en-US" dirty="0"/>
              <a:t>document with UML class diagram afterwards</a:t>
            </a:r>
          </a:p>
          <a:p>
            <a:r>
              <a:rPr lang="en-US" dirty="0"/>
              <a:t>- sometimes document with UML after the code is written</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D9248A-75A6-E543-AA70-3CE08DE94BD0}" type="slidenum">
              <a:rPr lang="en-US"/>
              <a:pPr/>
              <a:t>74</a:t>
            </a:fld>
            <a:endParaRPr lang="en-US"/>
          </a:p>
        </p:txBody>
      </p:sp>
      <p:sp>
        <p:nvSpPr>
          <p:cNvPr id="67072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0723" name="Rectangle 3"/>
          <p:cNvSpPr>
            <a:spLocks noGrp="1" noChangeArrowheads="1"/>
          </p:cNvSpPr>
          <p:nvPr>
            <p:ph type="body" idx="1"/>
          </p:nvPr>
        </p:nvSpPr>
        <p:spPr/>
        <p:txBody>
          <a:bodyPr/>
          <a:lstStyle/>
          <a:p>
            <a:r>
              <a:rPr lang="en-US" dirty="0"/>
              <a:t>nouns? verbs?</a:t>
            </a:r>
          </a:p>
        </p:txBody>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D9248A-75A6-E543-AA70-3CE08DE94BD0}" type="slidenum">
              <a:rPr lang="en-US"/>
              <a:pPr/>
              <a:t>75</a:t>
            </a:fld>
            <a:endParaRPr lang="en-US"/>
          </a:p>
        </p:txBody>
      </p:sp>
      <p:sp>
        <p:nvSpPr>
          <p:cNvPr id="67072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0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A2D9248A-75A6-E543-AA70-3CE08DE94BD0}" type="slidenum">
              <a:rPr lang="en-US"/>
              <a:pPr/>
              <a:t>76</a:t>
            </a:fld>
            <a:endParaRPr lang="en-US"/>
          </a:p>
        </p:txBody>
      </p:sp>
      <p:sp>
        <p:nvSpPr>
          <p:cNvPr id="67072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072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4F261AC-D16D-E74B-B77D-7254E6685917}" type="slidenum">
              <a:rPr lang="en-US"/>
              <a:pPr/>
              <a:t>77</a:t>
            </a:fld>
            <a:endParaRPr lang="en-US"/>
          </a:p>
        </p:txBody>
      </p:sp>
      <p:sp>
        <p:nvSpPr>
          <p:cNvPr id="67379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3795" name="Rectangle 3"/>
          <p:cNvSpPr>
            <a:spLocks noGrp="1" noChangeArrowheads="1"/>
          </p:cNvSpPr>
          <p:nvPr>
            <p:ph type="body" idx="1"/>
          </p:nvPr>
        </p:nvSpPr>
        <p:spPr/>
        <p:txBody>
          <a:bodyPr/>
          <a:lstStyle/>
          <a:p>
            <a:r>
              <a:rPr lang="en-US" dirty="0"/>
              <a:t>problem</a:t>
            </a:r>
            <a:r>
              <a:rPr lang="en-US" baseline="0" dirty="0"/>
              <a:t> and solution domain</a:t>
            </a:r>
          </a:p>
          <a:p>
            <a:r>
              <a:rPr lang="en-US" baseline="0" dirty="0"/>
              <a:t>- technology independent and dependent</a:t>
            </a:r>
            <a:endParaRPr lang="en-US" dirty="0"/>
          </a:p>
          <a:p>
            <a:endParaRPr lang="en-US" dirty="0"/>
          </a:p>
          <a:p>
            <a:r>
              <a:rPr lang="en-US" dirty="0"/>
              <a:t>OOD</a:t>
            </a:r>
          </a:p>
          <a:p>
            <a:endParaRPr lang="en-US" dirty="0"/>
          </a:p>
          <a:p>
            <a:r>
              <a:rPr lang="en-US" dirty="0" err="1"/>
              <a:t>BorrowingService</a:t>
            </a:r>
            <a:r>
              <a:rPr lang="en-US" dirty="0"/>
              <a:t> control object</a:t>
            </a:r>
          </a:p>
        </p:txBody>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45CA0A-0A3D-F848-8786-FDE917A02A89}" type="slidenum">
              <a:rPr lang="en-US"/>
              <a:pPr/>
              <a:t>78</a:t>
            </a:fld>
            <a:endParaRPr lang="en-US"/>
          </a:p>
        </p:txBody>
      </p:sp>
      <p:sp>
        <p:nvSpPr>
          <p:cNvPr id="67584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5843" name="Rectangle 3"/>
          <p:cNvSpPr>
            <a:spLocks noGrp="1" noChangeArrowheads="1"/>
          </p:cNvSpPr>
          <p:nvPr>
            <p:ph type="body" idx="1"/>
          </p:nvPr>
        </p:nvSpPr>
        <p:spPr/>
        <p:txBody>
          <a:bodyPr/>
          <a:lstStyle/>
          <a:p>
            <a:r>
              <a:rPr lang="en-US" dirty="0"/>
              <a:t>index cards keep classes from getting too big</a:t>
            </a:r>
          </a:p>
        </p:txBody>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B45CA0A-0A3D-F848-8786-FDE917A02A89}" type="slidenum">
              <a:rPr lang="en-US"/>
              <a:pPr/>
              <a:t>79</a:t>
            </a:fld>
            <a:endParaRPr lang="en-US"/>
          </a:p>
        </p:txBody>
      </p:sp>
      <p:sp>
        <p:nvSpPr>
          <p:cNvPr id="67584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5843" name="Rectangle 3"/>
          <p:cNvSpPr>
            <a:spLocks noGrp="1" noChangeArrowheads="1"/>
          </p:cNvSpPr>
          <p:nvPr>
            <p:ph type="body" idx="1"/>
          </p:nvPr>
        </p:nvSpPr>
        <p:spPr/>
        <p:txBody>
          <a:bodyPr/>
          <a:lstStyle/>
          <a:p>
            <a:r>
              <a:rPr lang="en-US" dirty="0"/>
              <a:t>should a Book</a:t>
            </a:r>
            <a:r>
              <a:rPr lang="en-US" baseline="0" dirty="0"/>
              <a:t> </a:t>
            </a:r>
            <a:r>
              <a:rPr lang="en-US" dirty="0"/>
              <a:t>collaborate with or know about a Library</a:t>
            </a:r>
          </a:p>
          <a:p>
            <a:endParaRPr lang="en-US" dirty="0"/>
          </a:p>
          <a:p>
            <a:r>
              <a:rPr lang="en-US" dirty="0"/>
              <a:t>should book</a:t>
            </a:r>
            <a:r>
              <a:rPr lang="en-US" baseline="0" dirty="0"/>
              <a:t> keep track of who is borrowing it?</a:t>
            </a:r>
          </a:p>
          <a:p>
            <a:endParaRPr lang="en-US" baseline="0" dirty="0"/>
          </a:p>
          <a:p>
            <a:r>
              <a:rPr lang="en-US" baseline="0" dirty="0"/>
              <a:t>developing a bank machine</a:t>
            </a:r>
          </a:p>
          <a:p>
            <a:pPr marL="171450" indent="-171450">
              <a:buFontTx/>
              <a:buChar char="-"/>
            </a:pPr>
            <a:r>
              <a:rPr lang="en-US" baseline="0" dirty="0"/>
              <a:t>what cards do we need</a:t>
            </a:r>
          </a:p>
          <a:p>
            <a:pPr marL="171450" indent="-171450">
              <a:buFontTx/>
              <a:buChar char="-"/>
            </a:pPr>
            <a:r>
              <a:rPr lang="en-US" baseline="0" dirty="0"/>
              <a:t>Bank, Account, Display, </a:t>
            </a:r>
            <a:r>
              <a:rPr lang="en-US" baseline="0" dirty="0" err="1"/>
              <a:t>KeyPad</a:t>
            </a:r>
            <a:r>
              <a:rPr lang="en-US" baseline="0" dirty="0"/>
              <a:t>, </a:t>
            </a:r>
            <a:r>
              <a:rPr lang="en-US" baseline="0" dirty="0" err="1"/>
              <a:t>CardReader</a:t>
            </a:r>
            <a:r>
              <a:rPr lang="en-US" baseline="0" dirty="0"/>
              <a:t>, </a:t>
            </a:r>
            <a:r>
              <a:rPr lang="en-US" baseline="0" dirty="0" err="1"/>
              <a:t>CashDispenser</a:t>
            </a:r>
            <a:r>
              <a:rPr lang="en-US" baseline="0" dirty="0"/>
              <a:t>, </a:t>
            </a:r>
            <a:r>
              <a:rPr lang="en-US" baseline="0" dirty="0" err="1"/>
              <a:t>DepositSlot</a:t>
            </a:r>
            <a:r>
              <a:rPr lang="en-US" baseline="0" dirty="0"/>
              <a:t>, </a:t>
            </a:r>
            <a:r>
              <a:rPr lang="en-US" baseline="0" dirty="0" err="1"/>
              <a:t>ReceiptSlot</a:t>
            </a:r>
            <a:endParaRPr lang="en-US" baseline="0" dirty="0"/>
          </a:p>
          <a:p>
            <a:pPr marL="171450" indent="-171450">
              <a:buFontTx/>
              <a:buChar char="-"/>
            </a:pPr>
            <a:r>
              <a:rPr lang="en-US" baseline="0" dirty="0"/>
              <a:t>what happens when we want to make a deposit</a:t>
            </a:r>
            <a:endParaRPr lang="en-US" dirty="0"/>
          </a:p>
        </p:txBody>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6AEC807D-5C71-2347-B6C4-CC5A530F2F04}" type="slidenum">
              <a:rPr lang="en-US"/>
              <a:pPr/>
              <a:t>80</a:t>
            </a:fld>
            <a:endParaRPr lang="en-US"/>
          </a:p>
        </p:txBody>
      </p:sp>
      <p:sp>
        <p:nvSpPr>
          <p:cNvPr id="67789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77891" name="Rectangle 3"/>
          <p:cNvSpPr>
            <a:spLocks noGrp="1" noChangeArrowheads="1"/>
          </p:cNvSpPr>
          <p:nvPr>
            <p:ph type="body" idx="1"/>
          </p:nvPr>
        </p:nvSpPr>
        <p:spPr/>
        <p:txBody>
          <a:bodyPr/>
          <a:lstStyle/>
          <a:p>
            <a:r>
              <a:rPr lang="en-US" dirty="0"/>
              <a:t>consider book borrowing</a:t>
            </a:r>
            <a:r>
              <a:rPr lang="en-US" baseline="0" dirty="0"/>
              <a:t> scenario, if I was a book, then</a:t>
            </a:r>
          </a:p>
          <a:p>
            <a:endParaRPr lang="en-US" baseline="0" dirty="0"/>
          </a:p>
          <a:p>
            <a:r>
              <a:rPr lang="en-US" baseline="0" dirty="0"/>
              <a:t>consider book returning scenario</a:t>
            </a:r>
            <a:endParaRPr lang="en-US" dirty="0"/>
          </a:p>
        </p:txBody>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5BFD196-E1A7-794D-94F0-2C28B4D746F4}" type="slidenum">
              <a:rPr lang="en-US"/>
              <a:pPr/>
              <a:t>81</a:t>
            </a:fld>
            <a:endParaRPr lang="en-US"/>
          </a:p>
        </p:txBody>
      </p:sp>
      <p:sp>
        <p:nvSpPr>
          <p:cNvPr id="68096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80963" name="Rectangle 3"/>
          <p:cNvSpPr>
            <a:spLocks noGrp="1" noChangeArrowheads="1"/>
          </p:cNvSpPr>
          <p:nvPr>
            <p:ph type="body" idx="1"/>
          </p:nvPr>
        </p:nvSpPr>
        <p:spPr/>
        <p:txBody>
          <a:bodyPr/>
          <a:lstStyle/>
          <a:p>
            <a:r>
              <a:rPr lang="en-US" dirty="0"/>
              <a:t>each object should “do something” to justify itself</a:t>
            </a:r>
          </a:p>
        </p:txBody>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2420250-75BC-9E45-A2EC-31FD1AEF8259}" type="slidenum">
              <a:rPr lang="en-US" smtClean="0"/>
              <a:pPr/>
              <a:t>82</a:t>
            </a:fld>
            <a:endParaRPr lang="en-US"/>
          </a:p>
        </p:txBody>
      </p:sp>
    </p:spTree>
    <p:extLst>
      <p:ext uri="{BB962C8B-B14F-4D97-AF65-F5344CB8AC3E}">
        <p14:creationId xmlns:p14="http://schemas.microsoft.com/office/powerpoint/2010/main" val="2307859927"/>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DE02640-91DA-DB49-A787-E841833C483C}" type="slidenum">
              <a:rPr lang="en-US"/>
              <a:pPr/>
              <a:t>83</a:t>
            </a:fld>
            <a:endParaRPr lang="en-US"/>
          </a:p>
        </p:txBody>
      </p:sp>
      <p:sp>
        <p:nvSpPr>
          <p:cNvPr id="68403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84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4DB92141-726D-094F-B54D-21C740282AF8}" type="slidenum">
              <a:rPr lang="en-US"/>
              <a:pPr/>
              <a:t>84</a:t>
            </a:fld>
            <a:endParaRPr lang="en-US"/>
          </a:p>
        </p:txBody>
      </p:sp>
      <p:sp>
        <p:nvSpPr>
          <p:cNvPr id="68505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85059" name="Rectangle 3"/>
          <p:cNvSpPr>
            <a:spLocks noGrp="1" noChangeArrowheads="1"/>
          </p:cNvSpPr>
          <p:nvPr>
            <p:ph type="body" idx="1"/>
          </p:nvPr>
        </p:nvSpPr>
        <p:spPr/>
        <p:txBody>
          <a:bodyPr/>
          <a:lstStyle/>
          <a:p>
            <a:r>
              <a:rPr lang="en-US" dirty="0"/>
              <a:t>boundary objects very technology</a:t>
            </a:r>
            <a:r>
              <a:rPr lang="en-US" baseline="0" dirty="0"/>
              <a:t> specific</a:t>
            </a:r>
            <a:endParaRPr lang="en-US" dirty="0"/>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3B1AE37-0A4F-914E-B3E1-DA5778C0CDCE}" type="slidenum">
              <a:rPr lang="en-US"/>
              <a:pPr/>
              <a:t>85</a:t>
            </a:fld>
            <a:endParaRPr lang="en-US"/>
          </a:p>
        </p:txBody>
      </p:sp>
      <p:sp>
        <p:nvSpPr>
          <p:cNvPr id="686082"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86083" name="Rectangle 3"/>
          <p:cNvSpPr>
            <a:spLocks noGrp="1" noChangeArrowheads="1"/>
          </p:cNvSpPr>
          <p:nvPr>
            <p:ph type="body" idx="1"/>
          </p:nvPr>
        </p:nvSpPr>
        <p:spPr/>
        <p:txBody>
          <a:bodyPr/>
          <a:lstStyle/>
          <a:p>
            <a:r>
              <a:rPr lang="en-US" dirty="0"/>
              <a:t>conventions on class, object, method names</a:t>
            </a:r>
          </a:p>
          <a:p>
            <a:endParaRPr lang="en-US" dirty="0"/>
          </a:p>
          <a:p>
            <a:r>
              <a:rPr lang="en-US" dirty="0"/>
              <a:t>blob classes</a:t>
            </a:r>
            <a:endParaRPr lang="en-US" baseline="0" dirty="0"/>
          </a:p>
          <a:p>
            <a:pPr marL="171450" indent="-171450">
              <a:buFontTx/>
              <a:buChar char="-"/>
            </a:pPr>
            <a:r>
              <a:rPr lang="en-US" baseline="0" dirty="0"/>
              <a:t>difficult to make changes</a:t>
            </a:r>
          </a:p>
          <a:p>
            <a:pPr marL="171450" indent="-171450">
              <a:buFontTx/>
              <a:buChar char="-"/>
            </a:pPr>
            <a:r>
              <a:rPr lang="en-US" baseline="0" dirty="0"/>
              <a:t>bottleneck in team development</a:t>
            </a:r>
          </a:p>
          <a:p>
            <a:pPr marL="171450" indent="-171450">
              <a:buFontTx/>
              <a:buChar char="-"/>
            </a:pPr>
            <a:endParaRPr lang="en-US" baseline="0" dirty="0"/>
          </a:p>
          <a:p>
            <a:pPr marL="0" indent="0">
              <a:buFontTx/>
              <a:buNone/>
            </a:pPr>
            <a:r>
              <a:rPr lang="en-US" baseline="0" dirty="0"/>
              <a:t>other principles</a:t>
            </a:r>
          </a:p>
          <a:p>
            <a:pPr marL="171450" indent="-171450">
              <a:buFontTx/>
              <a:buChar char="-"/>
            </a:pPr>
            <a:r>
              <a:rPr lang="en-US" baseline="0" dirty="0"/>
              <a:t>dependency inversion</a:t>
            </a:r>
          </a:p>
          <a:p>
            <a:pPr marL="171450" indent="-171450">
              <a:buFontTx/>
              <a:buChar char="-"/>
            </a:pPr>
            <a:r>
              <a:rPr lang="en-US" baseline="0" dirty="0"/>
              <a:t>law of </a:t>
            </a:r>
            <a:r>
              <a:rPr lang="en-US" baseline="0"/>
              <a:t>demeter</a:t>
            </a:r>
            <a:endParaRPr lang="en-US" dirty="0"/>
          </a:p>
        </p:txBody>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3C874C-629D-6E40-BEF6-97D54BEB4698}" type="slidenum">
              <a:rPr lang="en-US"/>
              <a:pPr/>
              <a:t>86</a:t>
            </a:fld>
            <a:endParaRPr lang="en-US"/>
          </a:p>
        </p:txBody>
      </p:sp>
      <p:sp>
        <p:nvSpPr>
          <p:cNvPr id="687106"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87107" name="Rectangle 3"/>
          <p:cNvSpPr>
            <a:spLocks noGrp="1" noChangeArrowheads="1"/>
          </p:cNvSpPr>
          <p:nvPr>
            <p:ph type="body" idx="1"/>
          </p:nvPr>
        </p:nvSpPr>
        <p:spPr/>
        <p:txBody>
          <a:bodyPr/>
          <a:lstStyle/>
          <a:p>
            <a:endParaRPr lang="en-US" dirty="0"/>
          </a:p>
        </p:txBody>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D0E3DEA-A167-2744-BE09-ED2F56E0916B}" type="slidenum">
              <a:rPr lang="en-US"/>
              <a:pPr/>
              <a:t>87</a:t>
            </a:fld>
            <a:endParaRPr lang="en-US"/>
          </a:p>
        </p:txBody>
      </p:sp>
      <p:sp>
        <p:nvSpPr>
          <p:cNvPr id="689154"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89155" name="Rectangle 3"/>
          <p:cNvSpPr>
            <a:spLocks noGrp="1" noChangeArrowheads="1"/>
          </p:cNvSpPr>
          <p:nvPr>
            <p:ph type="body" idx="1"/>
          </p:nvPr>
        </p:nvSpPr>
        <p:spPr/>
        <p:txBody>
          <a:bodyPr/>
          <a:lstStyle/>
          <a:p>
            <a:r>
              <a:rPr lang="en-US" dirty="0"/>
              <a:t>simple</a:t>
            </a:r>
            <a:r>
              <a:rPr lang="en-US" baseline="0" dirty="0"/>
              <a:t> does not mean fewest classes</a:t>
            </a:r>
          </a:p>
          <a:p>
            <a:pPr marL="171450" indent="-171450">
              <a:buFontTx/>
              <a:buChar char="-"/>
            </a:pPr>
            <a:r>
              <a:rPr lang="en-US" baseline="0" dirty="0"/>
              <a:t>learn to type</a:t>
            </a:r>
          </a:p>
          <a:p>
            <a:pPr marL="171450" indent="-171450">
              <a:buFontTx/>
              <a:buChar char="-"/>
            </a:pPr>
            <a:r>
              <a:rPr lang="en-US" baseline="0" dirty="0"/>
              <a:t>use an IDE to quickly create code</a:t>
            </a:r>
          </a:p>
          <a:p>
            <a:pPr marL="0" indent="0">
              <a:buFontTx/>
              <a:buNone/>
            </a:pPr>
            <a:endParaRPr lang="en-US" baseline="0" dirty="0"/>
          </a:p>
          <a:p>
            <a:r>
              <a:rPr lang="en-US" sz="1200" kern="1200" dirty="0">
                <a:solidFill>
                  <a:schemeClr val="tx1"/>
                </a:solidFill>
                <a:latin typeface="Verdana"/>
                <a:ea typeface="ＭＳ Ｐゴシック" charset="0"/>
                <a:cs typeface="Verdana"/>
              </a:rPr>
              <a:t>“For every complex problem there is an answer that is clear, simple, and wrong.”</a:t>
            </a:r>
          </a:p>
          <a:p>
            <a:r>
              <a:rPr lang="en-US" sz="1200" kern="1200" dirty="0">
                <a:solidFill>
                  <a:schemeClr val="tx1"/>
                </a:solidFill>
                <a:latin typeface="Verdana"/>
                <a:ea typeface="ＭＳ Ｐゴシック" charset="0"/>
                <a:cs typeface="Verdana"/>
              </a:rPr>
              <a:t>-- H.L.</a:t>
            </a:r>
            <a:r>
              <a:rPr lang="en-US" sz="1200" kern="1200" baseline="0" dirty="0">
                <a:solidFill>
                  <a:schemeClr val="tx1"/>
                </a:solidFill>
                <a:latin typeface="Verdana"/>
                <a:ea typeface="ＭＳ Ｐゴシック" charset="0"/>
                <a:cs typeface="Verdana"/>
              </a:rPr>
              <a:t> Mencken</a:t>
            </a:r>
          </a:p>
          <a:p>
            <a:endParaRPr lang="en-US" sz="1200" kern="1200" dirty="0">
              <a:solidFill>
                <a:schemeClr val="tx1"/>
              </a:solidFill>
              <a:latin typeface="Verdana"/>
              <a:ea typeface="ＭＳ Ｐゴシック" charset="0"/>
              <a:cs typeface="Verdana"/>
            </a:endParaRPr>
          </a:p>
          <a:p>
            <a:pPr marL="0" indent="0">
              <a:buFontTx/>
              <a:buNone/>
            </a:pPr>
            <a:r>
              <a:rPr lang="en-US" baseline="0" dirty="0"/>
              <a:t>but sometimes need to be expeditious</a:t>
            </a:r>
          </a:p>
          <a:p>
            <a:pPr marL="0" indent="0">
              <a:buFontTx/>
              <a:buNone/>
            </a:pPr>
            <a:endParaRPr lang="en-US" dirty="0"/>
          </a:p>
        </p:txBody>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0280EE6-4668-8F48-AA6C-297873FB6A42}" type="slidenum">
              <a:rPr lang="en-US"/>
              <a:pPr/>
              <a:t>89</a:t>
            </a:fld>
            <a:endParaRPr lang="en-US"/>
          </a:p>
        </p:txBody>
      </p:sp>
      <p:sp>
        <p:nvSpPr>
          <p:cNvPr id="690178"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901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CDE0EFE-EB57-7640-92CC-B24B38C8CFE1}" type="slidenum">
              <a:rPr lang="en-US"/>
              <a:pPr/>
              <a:t>91</a:t>
            </a:fld>
            <a:endParaRPr lang="en-US"/>
          </a:p>
        </p:txBody>
      </p:sp>
      <p:sp>
        <p:nvSpPr>
          <p:cNvPr id="693250" name="Rectangle 2"/>
          <p:cNvSpPr>
            <a:spLocks noGrp="1" noRot="1" noChangeAspect="1" noChangeArrowheads="1" noTextEdit="1"/>
          </p:cNvSpPr>
          <p:nvPr>
            <p:ph type="sldImg"/>
          </p:nvPr>
        </p:nvSpPr>
        <p:spPr>
          <a:xfrm>
            <a:off x="381000" y="685800"/>
            <a:ext cx="6096000" cy="3429000"/>
          </a:xfrm>
          <a:ln/>
          <a:extLst>
            <a:ext uri="{FAA26D3D-D897-4be2-8F04-BA451C77F1D7}">
              <ma14:placeholderFlag xmlns="" xmlns:ma14="http://schemas.microsoft.com/office/mac/drawingml/2011/main" val="1"/>
            </a:ext>
          </a:extLst>
        </p:spPr>
      </p:sp>
      <p:sp>
        <p:nvSpPr>
          <p:cNvPr id="693251"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E02A5D4-95A7-4A4D-9D8D-26116681B0C1}" type="slidenum">
              <a:rPr lang="en-US" smtClean="0"/>
              <a:pPr/>
              <a:t>‹#›</a:t>
            </a:fld>
            <a:endParaRPr lang="en-US"/>
          </a:p>
        </p:txBody>
      </p:sp>
    </p:spTree>
    <p:extLst>
      <p:ext uri="{BB962C8B-B14F-4D97-AF65-F5344CB8AC3E}">
        <p14:creationId xmlns:p14="http://schemas.microsoft.com/office/powerpoint/2010/main" val="132174873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3F25697-57D3-0D49-8FC5-4BE2D6D757CB}" type="slidenum">
              <a:rPr lang="en-US" smtClean="0"/>
              <a:pPr/>
              <a:t>‹#›</a:t>
            </a:fld>
            <a:endParaRPr lang="en-US"/>
          </a:p>
        </p:txBody>
      </p:sp>
    </p:spTree>
    <p:extLst>
      <p:ext uri="{BB962C8B-B14F-4D97-AF65-F5344CB8AC3E}">
        <p14:creationId xmlns:p14="http://schemas.microsoft.com/office/powerpoint/2010/main" val="21265804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693E2C0-D7FA-E54A-B614-B3CE362612AF}" type="slidenum">
              <a:rPr lang="en-US" smtClean="0"/>
              <a:pPr/>
              <a:t>‹#›</a:t>
            </a:fld>
            <a:endParaRPr lang="en-US"/>
          </a:p>
        </p:txBody>
      </p:sp>
    </p:spTree>
    <p:extLst>
      <p:ext uri="{BB962C8B-B14F-4D97-AF65-F5344CB8AC3E}">
        <p14:creationId xmlns:p14="http://schemas.microsoft.com/office/powerpoint/2010/main" val="5126509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3B6D7AA-085D-764E-988C-639E24B42A98}" type="slidenum">
              <a:rPr lang="en-US" smtClean="0"/>
              <a:pPr/>
              <a:t>‹#›</a:t>
            </a:fld>
            <a:endParaRPr lang="en-US"/>
          </a:p>
        </p:txBody>
      </p:sp>
    </p:spTree>
    <p:extLst>
      <p:ext uri="{BB962C8B-B14F-4D97-AF65-F5344CB8AC3E}">
        <p14:creationId xmlns:p14="http://schemas.microsoft.com/office/powerpoint/2010/main" val="32395725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C460CFF-1675-D349-9885-2B0AA2B11B5F}" type="slidenum">
              <a:rPr lang="en-US" smtClean="0"/>
              <a:pPr/>
              <a:t>‹#›</a:t>
            </a:fld>
            <a:endParaRPr lang="en-US"/>
          </a:p>
        </p:txBody>
      </p:sp>
    </p:spTree>
    <p:extLst>
      <p:ext uri="{BB962C8B-B14F-4D97-AF65-F5344CB8AC3E}">
        <p14:creationId xmlns:p14="http://schemas.microsoft.com/office/powerpoint/2010/main" val="107510072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19785B9-7DA6-4949-94F9-30207D4E55FF}" type="slidenum">
              <a:rPr lang="en-US" smtClean="0"/>
              <a:pPr/>
              <a:t>‹#›</a:t>
            </a:fld>
            <a:endParaRPr lang="en-US"/>
          </a:p>
        </p:txBody>
      </p:sp>
    </p:spTree>
    <p:extLst>
      <p:ext uri="{BB962C8B-B14F-4D97-AF65-F5344CB8AC3E}">
        <p14:creationId xmlns:p14="http://schemas.microsoft.com/office/powerpoint/2010/main" val="339137130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871AB0C-01C6-F641-856F-96979BC7415E}" type="slidenum">
              <a:rPr lang="en-US" smtClean="0"/>
              <a:pPr/>
              <a:t>‹#›</a:t>
            </a:fld>
            <a:endParaRPr lang="en-US"/>
          </a:p>
        </p:txBody>
      </p:sp>
    </p:spTree>
    <p:extLst>
      <p:ext uri="{BB962C8B-B14F-4D97-AF65-F5344CB8AC3E}">
        <p14:creationId xmlns:p14="http://schemas.microsoft.com/office/powerpoint/2010/main" val="31798814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64F1142-D89B-0B49-A0B8-52750FEBCB74}" type="slidenum">
              <a:rPr lang="en-US" smtClean="0"/>
              <a:pPr/>
              <a:t>‹#›</a:t>
            </a:fld>
            <a:endParaRPr lang="en-US"/>
          </a:p>
        </p:txBody>
      </p:sp>
    </p:spTree>
    <p:extLst>
      <p:ext uri="{BB962C8B-B14F-4D97-AF65-F5344CB8AC3E}">
        <p14:creationId xmlns:p14="http://schemas.microsoft.com/office/powerpoint/2010/main" val="41520774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C7665F-6CE3-0045-A4EF-A0FF1F49BA2C}" type="slidenum">
              <a:rPr lang="en-US" smtClean="0"/>
              <a:pPr/>
              <a:t>‹#›</a:t>
            </a:fld>
            <a:endParaRPr lang="en-US"/>
          </a:p>
        </p:txBody>
      </p:sp>
    </p:spTree>
    <p:extLst>
      <p:ext uri="{BB962C8B-B14F-4D97-AF65-F5344CB8AC3E}">
        <p14:creationId xmlns:p14="http://schemas.microsoft.com/office/powerpoint/2010/main" val="3456538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49D0749-538E-B04A-9F86-210588AC1AE1}" type="slidenum">
              <a:rPr lang="en-US" smtClean="0"/>
              <a:pPr/>
              <a:t>‹#›</a:t>
            </a:fld>
            <a:endParaRPr lang="en-US"/>
          </a:p>
        </p:txBody>
      </p:sp>
    </p:spTree>
    <p:extLst>
      <p:ext uri="{BB962C8B-B14F-4D97-AF65-F5344CB8AC3E}">
        <p14:creationId xmlns:p14="http://schemas.microsoft.com/office/powerpoint/2010/main" val="118075355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00965C9-0E0F-6B4F-9C91-3119AB48B518}" type="slidenum">
              <a:rPr lang="en-US" smtClean="0"/>
              <a:pPr/>
              <a:t>‹#›</a:t>
            </a:fld>
            <a:endParaRPr lang="en-US"/>
          </a:p>
        </p:txBody>
      </p:sp>
    </p:spTree>
    <p:extLst>
      <p:ext uri="{BB962C8B-B14F-4D97-AF65-F5344CB8AC3E}">
        <p14:creationId xmlns:p14="http://schemas.microsoft.com/office/powerpoint/2010/main" val="15331444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1F390D-54DF-D64B-8010-E61C9237D5A2}" type="slidenum">
              <a:rPr lang="en-US" smtClean="0"/>
              <a:pPr/>
              <a:t>‹#›</a:t>
            </a:fld>
            <a:endParaRPr lang="en-US"/>
          </a:p>
        </p:txBody>
      </p:sp>
    </p:spTree>
    <p:extLst>
      <p:ext uri="{BB962C8B-B14F-4D97-AF65-F5344CB8AC3E}">
        <p14:creationId xmlns:p14="http://schemas.microsoft.com/office/powerpoint/2010/main" val="2478962778"/>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4" r:id="rId10"/>
    <p:sldLayoutId id="2147483705"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developer.android.com/kotlin"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hyperlink" Target="https://dev.to/martinhaeusler/kotlin---the-good-the-bad-and-the-ugly-3jfo" TargetMode="Externa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3.sv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microsoft.com/office/2018/10/relationships/comments" Target="../comments/modernComment_2CA_35F4F5E3.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microsoft.com/office/2018/10/relationships/comments" Target="../comments/modernComment_2B3_B267FD56.xml"/><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microsoft.com/office/2018/10/relationships/comments" Target="../comments/modernComment_2C5_6B4B9E5F.xml"/><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microsoft.com/office/2018/10/relationships/comments" Target="../comments/modernComment_279_0.xml"/><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microsoft.com/office/2018/10/relationships/comments" Target="../comments/modernComment_2CB_33BEC78E.xml"/><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1.xml.rels><?xml version="1.0" encoding="UTF-8" standalone="yes"?>
<Relationships xmlns="http://schemas.openxmlformats.org/package/2006/relationships"><Relationship Id="rId2" Type="http://schemas.microsoft.com/office/2018/10/relationships/comments" Target="../comments/modernComment_2B5_8DE2D04D.xml"/><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microsoft.com/office/2018/10/relationships/comments" Target="../comments/modernComment_2B8_FB8F88B.xml"/><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89.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www.holub.com/uml/" TargetMode="External"/><Relationship Id="rId2" Type="http://schemas.openxmlformats.org/officeDocument/2006/relationships/notesSlide" Target="../notesSlides/notesSlide80.xml"/><Relationship Id="rId1" Type="http://schemas.openxmlformats.org/officeDocument/2006/relationships/slideLayout" Target="../slideLayouts/slideLayout2.xml"/><Relationship Id="rId6" Type="http://schemas.openxmlformats.org/officeDocument/2006/relationships/hyperlink" Target="https://login.ezproxy.library.ualberta.ca/login?url=https://ebookcentral.proquest.com/lib/ualberta/detail.action?docID=297134" TargetMode="External"/><Relationship Id="rId5" Type="http://schemas.openxmlformats.org/officeDocument/2006/relationships/hyperlink" Target="https://login.ezproxy.library.ualberta.ca/login?url=https://go.oreilly.com/university-of-alberta/library/view/-/0201750449/?ar" TargetMode="External"/><Relationship Id="rId4" Type="http://schemas.openxmlformats.org/officeDocument/2006/relationships/hyperlink" Target="https://login.ezproxy.library.ualberta.ca/login?url=https://go.oreilly.com/university-of-alberta/library/view/-/0201702525/?ar"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BE5A1-D681-F83A-1E09-3A34736D0D92}"/>
              </a:ext>
            </a:extLst>
          </p:cNvPr>
          <p:cNvSpPr>
            <a:spLocks noGrp="1"/>
          </p:cNvSpPr>
          <p:nvPr>
            <p:ph type="ctrTitle"/>
          </p:nvPr>
        </p:nvSpPr>
        <p:spPr>
          <a:xfrm>
            <a:off x="-1" y="939892"/>
            <a:ext cx="12192000" cy="2387600"/>
          </a:xfrm>
        </p:spPr>
        <p:txBody>
          <a:bodyPr>
            <a:normAutofit/>
          </a:bodyPr>
          <a:lstStyle/>
          <a:p>
            <a:r>
              <a:rPr lang="en-US" dirty="0"/>
              <a:t>Objects, UML, and Kotlin</a:t>
            </a:r>
            <a:endParaRPr lang="en-CA" dirty="0"/>
          </a:p>
        </p:txBody>
      </p:sp>
      <p:sp>
        <p:nvSpPr>
          <p:cNvPr id="3" name="Subtitle 2">
            <a:extLst>
              <a:ext uri="{FF2B5EF4-FFF2-40B4-BE49-F238E27FC236}">
                <a16:creationId xmlns:a16="http://schemas.microsoft.com/office/drawing/2014/main" id="{E36CDD20-8240-91D2-CA62-7FAF83ECCDCA}"/>
              </a:ext>
            </a:extLst>
          </p:cNvPr>
          <p:cNvSpPr>
            <a:spLocks noGrp="1"/>
          </p:cNvSpPr>
          <p:nvPr>
            <p:ph type="subTitle" idx="1"/>
          </p:nvPr>
        </p:nvSpPr>
        <p:spPr>
          <a:xfrm>
            <a:off x="1524000" y="3602038"/>
            <a:ext cx="9144000" cy="1866074"/>
          </a:xfrm>
        </p:spPr>
        <p:txBody>
          <a:bodyPr>
            <a:noAutofit/>
          </a:bodyPr>
          <a:lstStyle/>
          <a:p>
            <a:pPr>
              <a:lnSpc>
                <a:spcPct val="50000"/>
              </a:lnSpc>
            </a:pPr>
            <a:r>
              <a:rPr lang="en-US" sz="1800" dirty="0"/>
              <a:t>Abram Hindle				Henry Tang</a:t>
            </a:r>
          </a:p>
          <a:p>
            <a:pPr>
              <a:lnSpc>
                <a:spcPct val="50000"/>
              </a:lnSpc>
            </a:pPr>
            <a:r>
              <a:rPr lang="en-US" sz="1800" dirty="0"/>
              <a:t>hindle1@ualberta.ca</a:t>
            </a:r>
            <a:r>
              <a:rPr lang="en-US" sz="1800" dirty="0">
                <a:solidFill>
                  <a:srgbClr val="0070C0"/>
                </a:solidFill>
              </a:rPr>
              <a:t>			</a:t>
            </a:r>
            <a:r>
              <a:rPr lang="en-US" sz="1800" dirty="0"/>
              <a:t>hktang@ualberta.ca</a:t>
            </a:r>
          </a:p>
          <a:p>
            <a:pPr>
              <a:lnSpc>
                <a:spcPct val="50000"/>
              </a:lnSpc>
            </a:pPr>
            <a:r>
              <a:rPr lang="en-US" sz="1800" dirty="0"/>
              <a:t>Department of Computing Science</a:t>
            </a:r>
          </a:p>
          <a:p>
            <a:pPr>
              <a:lnSpc>
                <a:spcPct val="50000"/>
              </a:lnSpc>
            </a:pPr>
            <a:r>
              <a:rPr lang="en-US" sz="1800" dirty="0"/>
              <a:t>University of Alberta</a:t>
            </a:r>
          </a:p>
          <a:p>
            <a:pPr>
              <a:lnSpc>
                <a:spcPct val="50000"/>
              </a:lnSpc>
            </a:pPr>
            <a:endParaRPr lang="en-US" sz="1800" dirty="0"/>
          </a:p>
          <a:p>
            <a:pPr>
              <a:lnSpc>
                <a:spcPct val="50000"/>
              </a:lnSpc>
            </a:pPr>
            <a:r>
              <a:rPr lang="en-US" sz="1800" dirty="0"/>
              <a:t>CMPUT  301 – Introduction to Software Engineering</a:t>
            </a:r>
          </a:p>
          <a:p>
            <a:pPr>
              <a:lnSpc>
                <a:spcPct val="50000"/>
              </a:lnSpc>
            </a:pPr>
            <a:r>
              <a:rPr lang="en-CA" sz="1800" dirty="0"/>
              <a:t>Slides adapted from Dr. Hazel Campbell, Dr. Ken Wong</a:t>
            </a:r>
            <a:endParaRPr lang="en-US" sz="1800" dirty="0"/>
          </a:p>
        </p:txBody>
      </p:sp>
      <p:pic>
        <p:nvPicPr>
          <p:cNvPr id="6" name="UA-COLOUR.png" descr="UA-COLOUR.png">
            <a:extLst>
              <a:ext uri="{FF2B5EF4-FFF2-40B4-BE49-F238E27FC236}">
                <a16:creationId xmlns:a16="http://schemas.microsoft.com/office/drawing/2014/main" id="{685CE709-56F6-C1CA-7176-E9AE3428D1CA}"/>
              </a:ext>
            </a:extLst>
          </p:cNvPr>
          <p:cNvPicPr>
            <a:picLocks noChangeAspect="1"/>
          </p:cNvPicPr>
          <p:nvPr/>
        </p:nvPicPr>
        <p:blipFill>
          <a:blip r:embed="rId2"/>
          <a:stretch>
            <a:fillRect/>
          </a:stretch>
        </p:blipFill>
        <p:spPr>
          <a:xfrm>
            <a:off x="4175831" y="5532346"/>
            <a:ext cx="3840339" cy="900357"/>
          </a:xfrm>
          <a:prstGeom prst="rect">
            <a:avLst/>
          </a:prstGeom>
          <a:ln w="12700">
            <a:miter lim="400000"/>
          </a:ln>
        </p:spPr>
      </p:pic>
      <p:sp>
        <p:nvSpPr>
          <p:cNvPr id="5" name="TextBox 4">
            <a:extLst>
              <a:ext uri="{FF2B5EF4-FFF2-40B4-BE49-F238E27FC236}">
                <a16:creationId xmlns:a16="http://schemas.microsoft.com/office/drawing/2014/main" id="{90A96C20-FFFD-6997-461D-735F88863728}"/>
              </a:ext>
            </a:extLst>
          </p:cNvPr>
          <p:cNvSpPr txBox="1"/>
          <p:nvPr/>
        </p:nvSpPr>
        <p:spPr>
          <a:xfrm>
            <a:off x="-777" y="6596390"/>
            <a:ext cx="12190477" cy="261610"/>
          </a:xfrm>
          <a:prstGeom prst="rect">
            <a:avLst/>
          </a:prstGeom>
          <a:noFill/>
        </p:spPr>
        <p:txBody>
          <a:bodyPr wrap="square">
            <a:spAutoFit/>
          </a:bodyPr>
          <a:lstStyle/>
          <a:p>
            <a:r>
              <a:rPr lang="en-US" sz="1100" dirty="0">
                <a:solidFill>
                  <a:schemeClr val="bg1">
                    <a:lumMod val="50000"/>
                  </a:schemeClr>
                </a:solidFill>
                <a:latin typeface="Gill Sans MT" charset="0"/>
              </a:rPr>
              <a:t>Images reproduced in these slides have been included under section 29 of the Copyright Act, as fair dealing for research, private study, criticism, or review. Further distribution or uses may infringe copyright.</a:t>
            </a:r>
          </a:p>
        </p:txBody>
      </p:sp>
    </p:spTree>
    <p:extLst>
      <p:ext uri="{BB962C8B-B14F-4D97-AF65-F5344CB8AC3E}">
        <p14:creationId xmlns:p14="http://schemas.microsoft.com/office/powerpoint/2010/main" val="39910543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Modeling Principles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3693E2C0-D7FA-E54A-B614-B3CE362612AF}" type="slidenum">
              <a:rPr lang="en-US" smtClean="0"/>
              <a:pPr/>
              <a:t>2</a:t>
            </a:fld>
            <a:endParaRPr lang="en-US"/>
          </a:p>
        </p:txBody>
      </p:sp>
    </p:spTree>
    <p:extLst>
      <p:ext uri="{BB962C8B-B14F-4D97-AF65-F5344CB8AC3E}">
        <p14:creationId xmlns:p14="http://schemas.microsoft.com/office/powerpoint/2010/main" val="131826582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7" name="Rectangle 3"/>
          <p:cNvSpPr>
            <a:spLocks noGrp="1" noChangeArrowheads="1"/>
          </p:cNvSpPr>
          <p:nvPr>
            <p:ph idx="1"/>
          </p:nvPr>
        </p:nvSpPr>
        <p:spPr>
          <a:xfrm>
            <a:off x="838200" y="1825625"/>
            <a:ext cx="5220000" cy="4351338"/>
          </a:xfrm>
        </p:spPr>
        <p:txBody>
          <a:bodyPr/>
          <a:lstStyle/>
          <a:p>
            <a:r>
              <a:rPr lang="en-US" dirty="0"/>
              <a:t>COBOL, Fortran:</a:t>
            </a:r>
            <a:endParaRPr lang="en-US" sz="2400" dirty="0"/>
          </a:p>
          <a:p>
            <a:pPr lvl="1"/>
            <a:r>
              <a:rPr lang="en-US" sz="2400" dirty="0"/>
              <a:t>Subprograms (subroutines) access global data</a:t>
            </a:r>
          </a:p>
          <a:p>
            <a:pPr lvl="1"/>
            <a:r>
              <a:rPr lang="en-US" dirty="0"/>
              <a:t>B</a:t>
            </a:r>
            <a:r>
              <a:rPr lang="en-US" sz="2400" dirty="0"/>
              <a:t>reak up system into subroutines</a:t>
            </a:r>
          </a:p>
        </p:txBody>
      </p:sp>
      <p:sp>
        <p:nvSpPr>
          <p:cNvPr id="246786" name="Rectangle 2"/>
          <p:cNvSpPr>
            <a:spLocks noGrp="1" noChangeArrowheads="1"/>
          </p:cNvSpPr>
          <p:nvPr>
            <p:ph type="title"/>
          </p:nvPr>
        </p:nvSpPr>
        <p:spPr/>
        <p:txBody>
          <a:bodyPr/>
          <a:lstStyle/>
          <a:p>
            <a:r>
              <a:rPr lang="en-US" dirty="0"/>
              <a:t>Language Evolution</a:t>
            </a:r>
          </a:p>
        </p:txBody>
      </p:sp>
      <p:sp>
        <p:nvSpPr>
          <p:cNvPr id="12" name="Slide Number Placeholder 6"/>
          <p:cNvSpPr>
            <a:spLocks noGrp="1"/>
          </p:cNvSpPr>
          <p:nvPr>
            <p:ph type="sldNum" sz="quarter" idx="12"/>
          </p:nvPr>
        </p:nvSpPr>
        <p:spPr/>
        <p:txBody>
          <a:bodyPr/>
          <a:lstStyle/>
          <a:p>
            <a:fld id="{1FA995AC-5603-A04A-A465-FD6902962DC3}" type="slidenum">
              <a:rPr lang="en-US"/>
              <a:pPr/>
              <a:t>3</a:t>
            </a:fld>
            <a:endParaRPr lang="en-US"/>
          </a:p>
        </p:txBody>
      </p:sp>
      <p:grpSp>
        <p:nvGrpSpPr>
          <p:cNvPr id="2" name="Group 1">
            <a:extLst>
              <a:ext uri="{FF2B5EF4-FFF2-40B4-BE49-F238E27FC236}">
                <a16:creationId xmlns:a16="http://schemas.microsoft.com/office/drawing/2014/main" id="{660B7429-A83A-752A-24AA-2594E858C785}"/>
              </a:ext>
            </a:extLst>
          </p:cNvPr>
          <p:cNvGrpSpPr/>
          <p:nvPr/>
        </p:nvGrpSpPr>
        <p:grpSpPr>
          <a:xfrm>
            <a:off x="6960096" y="1825625"/>
            <a:ext cx="2736304" cy="2476763"/>
            <a:chOff x="6888088" y="2492896"/>
            <a:chExt cx="2736304" cy="2476763"/>
          </a:xfrm>
        </p:grpSpPr>
        <p:grpSp>
          <p:nvGrpSpPr>
            <p:cNvPr id="21" name="Group 20"/>
            <p:cNvGrpSpPr/>
            <p:nvPr/>
          </p:nvGrpSpPr>
          <p:grpSpPr>
            <a:xfrm>
              <a:off x="7392144" y="2492896"/>
              <a:ext cx="1728192" cy="432048"/>
              <a:chOff x="5868144" y="1412776"/>
              <a:chExt cx="1728192" cy="432048"/>
            </a:xfrm>
          </p:grpSpPr>
          <p:sp>
            <p:nvSpPr>
              <p:cNvPr id="19" name="Oval 18"/>
              <p:cNvSpPr/>
              <p:nvPr/>
            </p:nvSpPr>
            <p:spPr>
              <a:xfrm>
                <a:off x="5868144" y="1412776"/>
                <a:ext cx="1728192" cy="432048"/>
              </a:xfrm>
              <a:prstGeom prst="ellipse">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Verdana"/>
                  <a:cs typeface="Verdana"/>
                </a:endParaRPr>
              </a:p>
            </p:txBody>
          </p:sp>
          <p:sp>
            <p:nvSpPr>
              <p:cNvPr id="20" name="TextBox 19"/>
              <p:cNvSpPr txBox="1"/>
              <p:nvPr/>
            </p:nvSpPr>
            <p:spPr>
              <a:xfrm>
                <a:off x="6383884" y="1444134"/>
                <a:ext cx="647934" cy="369332"/>
              </a:xfrm>
              <a:prstGeom prst="rect">
                <a:avLst/>
              </a:prstGeom>
              <a:noFill/>
            </p:spPr>
            <p:txBody>
              <a:bodyPr wrap="none" rtlCol="0">
                <a:spAutoFit/>
              </a:bodyPr>
              <a:lstStyle/>
              <a:p>
                <a:r>
                  <a:rPr lang="en-US" dirty="0"/>
                  <a:t>Data</a:t>
                </a:r>
              </a:p>
            </p:txBody>
          </p:sp>
        </p:grpSp>
        <p:sp>
          <p:nvSpPr>
            <p:cNvPr id="246801" name="Text Box 17"/>
            <p:cNvSpPr txBox="1">
              <a:spLocks noChangeArrowheads="1"/>
            </p:cNvSpPr>
            <p:nvPr/>
          </p:nvSpPr>
          <p:spPr bwMode="auto">
            <a:xfrm>
              <a:off x="7481814" y="4600327"/>
              <a:ext cx="147348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t>Subprograms</a:t>
              </a:r>
            </a:p>
          </p:txBody>
        </p:sp>
        <p:cxnSp>
          <p:nvCxnSpPr>
            <p:cNvPr id="8" name="Straight Arrow Connector 7"/>
            <p:cNvCxnSpPr>
              <a:stCxn id="15" idx="0"/>
              <a:endCxn id="19" idx="3"/>
            </p:cNvCxnSpPr>
            <p:nvPr/>
          </p:nvCxnSpPr>
          <p:spPr>
            <a:xfrm flipV="1">
              <a:off x="7212124" y="2861672"/>
              <a:ext cx="433108"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13" name="Straight Arrow Connector 12"/>
            <p:cNvCxnSpPr>
              <a:stCxn id="30" idx="0"/>
              <a:endCxn id="19" idx="5"/>
            </p:cNvCxnSpPr>
            <p:nvPr/>
          </p:nvCxnSpPr>
          <p:spPr>
            <a:xfrm flipH="1" flipV="1">
              <a:off x="8867248" y="2861672"/>
              <a:ext cx="433108"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18" name="Group 17"/>
            <p:cNvGrpSpPr/>
            <p:nvPr/>
          </p:nvGrpSpPr>
          <p:grpSpPr>
            <a:xfrm>
              <a:off x="6888088" y="4005064"/>
              <a:ext cx="648072" cy="504056"/>
              <a:chOff x="5364088" y="4581128"/>
              <a:chExt cx="648072" cy="504056"/>
            </a:xfrm>
          </p:grpSpPr>
          <p:sp>
            <p:nvSpPr>
              <p:cNvPr id="15" name="Rectangle 14"/>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17" name="Straight Connector 16"/>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3" name="Group 22"/>
            <p:cNvGrpSpPr/>
            <p:nvPr/>
          </p:nvGrpSpPr>
          <p:grpSpPr>
            <a:xfrm>
              <a:off x="8976320" y="4005064"/>
              <a:ext cx="648072" cy="504056"/>
              <a:chOff x="7452320" y="3573016"/>
              <a:chExt cx="648072" cy="504056"/>
            </a:xfrm>
          </p:grpSpPr>
          <p:sp>
            <p:nvSpPr>
              <p:cNvPr id="30" name="Rectangle 29"/>
              <p:cNvSpPr/>
              <p:nvPr/>
            </p:nvSpPr>
            <p:spPr>
              <a:xfrm>
                <a:off x="7452320" y="3573016"/>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Connector 30"/>
              <p:cNvCxnSpPr/>
              <p:nvPr/>
            </p:nvCxnSpPr>
            <p:spPr>
              <a:xfrm>
                <a:off x="7452320" y="3645024"/>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10" name="Rectangle 2"/>
          <p:cNvSpPr>
            <a:spLocks noGrp="1" noChangeArrowheads="1"/>
          </p:cNvSpPr>
          <p:nvPr>
            <p:ph type="title"/>
          </p:nvPr>
        </p:nvSpPr>
        <p:spPr/>
        <p:txBody>
          <a:bodyPr/>
          <a:lstStyle/>
          <a:p>
            <a:r>
              <a:rPr lang="en-US" dirty="0"/>
              <a:t>Language Evolution</a:t>
            </a:r>
          </a:p>
        </p:txBody>
      </p:sp>
      <p:sp>
        <p:nvSpPr>
          <p:cNvPr id="247811" name="Rectangle 3"/>
          <p:cNvSpPr>
            <a:spLocks noGrp="1" noChangeArrowheads="1"/>
          </p:cNvSpPr>
          <p:nvPr>
            <p:ph idx="1"/>
          </p:nvPr>
        </p:nvSpPr>
        <p:spPr>
          <a:xfrm>
            <a:off x="838200" y="1825625"/>
            <a:ext cx="5220000" cy="4351338"/>
          </a:xfrm>
        </p:spPr>
        <p:txBody>
          <a:bodyPr/>
          <a:lstStyle/>
          <a:p>
            <a:r>
              <a:rPr lang="en-US" dirty="0" err="1"/>
              <a:t>Algol</a:t>
            </a:r>
            <a:r>
              <a:rPr lang="en-US" dirty="0"/>
              <a:t>, Pascal:</a:t>
            </a:r>
            <a:endParaRPr lang="en-US" sz="2400" dirty="0"/>
          </a:p>
          <a:p>
            <a:pPr lvl="1"/>
            <a:r>
              <a:rPr lang="en-US" sz="2400" dirty="0"/>
              <a:t>(Nested) procedures with block structured scope</a:t>
            </a:r>
          </a:p>
          <a:p>
            <a:pPr lvl="1"/>
            <a:r>
              <a:rPr lang="en-US" sz="2400" dirty="0"/>
              <a:t>Break up system into nested</a:t>
            </a:r>
            <a:r>
              <a:rPr lang="en-US" dirty="0"/>
              <a:t> </a:t>
            </a:r>
            <a:r>
              <a:rPr lang="en-US" sz="2400" dirty="0"/>
              <a:t>procedures</a:t>
            </a:r>
          </a:p>
        </p:txBody>
      </p:sp>
      <p:sp>
        <p:nvSpPr>
          <p:cNvPr id="21" name="Slide Number Placeholder 6"/>
          <p:cNvSpPr>
            <a:spLocks noGrp="1"/>
          </p:cNvSpPr>
          <p:nvPr>
            <p:ph type="sldNum" sz="quarter" idx="12"/>
          </p:nvPr>
        </p:nvSpPr>
        <p:spPr/>
        <p:txBody>
          <a:bodyPr/>
          <a:lstStyle/>
          <a:p>
            <a:fld id="{B40E4F59-A245-9243-98A9-F02AA628360E}" type="slidenum">
              <a:rPr lang="en-US"/>
              <a:pPr/>
              <a:t>4</a:t>
            </a:fld>
            <a:endParaRPr lang="en-US"/>
          </a:p>
        </p:txBody>
      </p:sp>
      <p:grpSp>
        <p:nvGrpSpPr>
          <p:cNvPr id="2" name="Group 1">
            <a:extLst>
              <a:ext uri="{FF2B5EF4-FFF2-40B4-BE49-F238E27FC236}">
                <a16:creationId xmlns:a16="http://schemas.microsoft.com/office/drawing/2014/main" id="{01BB8888-DE27-D4CE-8E86-4FB47ACD0974}"/>
              </a:ext>
            </a:extLst>
          </p:cNvPr>
          <p:cNvGrpSpPr/>
          <p:nvPr/>
        </p:nvGrpSpPr>
        <p:grpSpPr>
          <a:xfrm>
            <a:off x="6744072" y="1825625"/>
            <a:ext cx="3168352" cy="3763615"/>
            <a:chOff x="6672064" y="2492896"/>
            <a:chExt cx="3168352" cy="3763615"/>
          </a:xfrm>
        </p:grpSpPr>
        <p:sp>
          <p:nvSpPr>
            <p:cNvPr id="247833" name="Text Box 25"/>
            <p:cNvSpPr txBox="1">
              <a:spLocks noChangeArrowheads="1"/>
            </p:cNvSpPr>
            <p:nvPr/>
          </p:nvSpPr>
          <p:spPr bwMode="auto">
            <a:xfrm>
              <a:off x="7263019" y="5887179"/>
              <a:ext cx="1986441"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t>Nested procedures</a:t>
              </a:r>
            </a:p>
          </p:txBody>
        </p:sp>
        <p:grpSp>
          <p:nvGrpSpPr>
            <p:cNvPr id="22" name="Group 21"/>
            <p:cNvGrpSpPr/>
            <p:nvPr/>
          </p:nvGrpSpPr>
          <p:grpSpPr>
            <a:xfrm>
              <a:off x="7392144" y="2492896"/>
              <a:ext cx="1728192" cy="432048"/>
              <a:chOff x="5868144" y="1412776"/>
              <a:chExt cx="1728192" cy="432048"/>
            </a:xfrm>
          </p:grpSpPr>
          <p:sp>
            <p:nvSpPr>
              <p:cNvPr id="23" name="Oval 22"/>
              <p:cNvSpPr/>
              <p:nvPr/>
            </p:nvSpPr>
            <p:spPr>
              <a:xfrm>
                <a:off x="5868144" y="1412776"/>
                <a:ext cx="1728192" cy="432048"/>
              </a:xfrm>
              <a:prstGeom prst="ellipse">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Verdana"/>
                  <a:cs typeface="Verdana"/>
                </a:endParaRPr>
              </a:p>
            </p:txBody>
          </p:sp>
          <p:sp>
            <p:nvSpPr>
              <p:cNvPr id="24" name="TextBox 23"/>
              <p:cNvSpPr txBox="1"/>
              <p:nvPr/>
            </p:nvSpPr>
            <p:spPr>
              <a:xfrm>
                <a:off x="6383884" y="1444134"/>
                <a:ext cx="647934" cy="369332"/>
              </a:xfrm>
              <a:prstGeom prst="rect">
                <a:avLst/>
              </a:prstGeom>
              <a:noFill/>
            </p:spPr>
            <p:txBody>
              <a:bodyPr wrap="none" rtlCol="0">
                <a:spAutoFit/>
              </a:bodyPr>
              <a:lstStyle/>
              <a:p>
                <a:r>
                  <a:rPr lang="en-US" dirty="0"/>
                  <a:t>Data</a:t>
                </a:r>
              </a:p>
            </p:txBody>
          </p:sp>
        </p:grpSp>
        <p:cxnSp>
          <p:nvCxnSpPr>
            <p:cNvPr id="25" name="Straight Arrow Connector 24"/>
            <p:cNvCxnSpPr>
              <a:stCxn id="28" idx="0"/>
              <a:endCxn id="23" idx="3"/>
            </p:cNvCxnSpPr>
            <p:nvPr/>
          </p:nvCxnSpPr>
          <p:spPr>
            <a:xfrm flipV="1">
              <a:off x="7212124" y="2861672"/>
              <a:ext cx="433108"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6" name="Straight Arrow Connector 25"/>
            <p:cNvCxnSpPr>
              <a:stCxn id="31" idx="0"/>
              <a:endCxn id="23" idx="5"/>
            </p:cNvCxnSpPr>
            <p:nvPr/>
          </p:nvCxnSpPr>
          <p:spPr>
            <a:xfrm flipH="1" flipV="1">
              <a:off x="8867248" y="2861672"/>
              <a:ext cx="433108"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6672064" y="4005064"/>
              <a:ext cx="1080120" cy="122413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Connector 28"/>
            <p:cNvCxnSpPr/>
            <p:nvPr/>
          </p:nvCxnSpPr>
          <p:spPr>
            <a:xfrm>
              <a:off x="6672064" y="4077072"/>
              <a:ext cx="1080120"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8760296" y="4005064"/>
              <a:ext cx="1080120" cy="1800200"/>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2" name="Straight Connector 31"/>
            <p:cNvCxnSpPr/>
            <p:nvPr/>
          </p:nvCxnSpPr>
          <p:spPr>
            <a:xfrm>
              <a:off x="8760296" y="4077072"/>
              <a:ext cx="1080120"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nvGrpSpPr>
            <p:cNvPr id="33" name="Group 32"/>
            <p:cNvGrpSpPr/>
            <p:nvPr/>
          </p:nvGrpSpPr>
          <p:grpSpPr>
            <a:xfrm>
              <a:off x="7932204" y="4005064"/>
              <a:ext cx="648072" cy="504056"/>
              <a:chOff x="5364088" y="4581128"/>
              <a:chExt cx="648072" cy="504056"/>
            </a:xfrm>
          </p:grpSpPr>
          <p:sp>
            <p:nvSpPr>
              <p:cNvPr id="34" name="Rectangle 33"/>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3" name="Straight Arrow Connector 2"/>
            <p:cNvCxnSpPr>
              <a:stCxn id="34" idx="0"/>
              <a:endCxn id="23" idx="4"/>
            </p:cNvCxnSpPr>
            <p:nvPr/>
          </p:nvCxnSpPr>
          <p:spPr>
            <a:xfrm flipV="1">
              <a:off x="8256240" y="2924944"/>
              <a:ext cx="0" cy="108012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47" name="Group 46"/>
            <p:cNvGrpSpPr/>
            <p:nvPr/>
          </p:nvGrpSpPr>
          <p:grpSpPr>
            <a:xfrm>
              <a:off x="6888088" y="4293096"/>
              <a:ext cx="648072" cy="504056"/>
              <a:chOff x="5364088" y="4581128"/>
              <a:chExt cx="648072" cy="504056"/>
            </a:xfrm>
          </p:grpSpPr>
          <p:sp>
            <p:nvSpPr>
              <p:cNvPr id="48" name="Rectangle 47"/>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49" name="Straight Connector 48"/>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4" name="Group 53"/>
            <p:cNvGrpSpPr/>
            <p:nvPr/>
          </p:nvGrpSpPr>
          <p:grpSpPr>
            <a:xfrm>
              <a:off x="8976320" y="4293096"/>
              <a:ext cx="648072" cy="504056"/>
              <a:chOff x="5364088" y="4581128"/>
              <a:chExt cx="648072" cy="504056"/>
            </a:xfrm>
          </p:grpSpPr>
          <p:sp>
            <p:nvSpPr>
              <p:cNvPr id="55" name="Rectangle 54"/>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6" name="Straight Connector 55"/>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57" name="Group 56"/>
            <p:cNvGrpSpPr/>
            <p:nvPr/>
          </p:nvGrpSpPr>
          <p:grpSpPr>
            <a:xfrm>
              <a:off x="8976320" y="5013176"/>
              <a:ext cx="648072" cy="504056"/>
              <a:chOff x="5364088" y="4581128"/>
              <a:chExt cx="648072" cy="504056"/>
            </a:xfrm>
          </p:grpSpPr>
          <p:sp>
            <p:nvSpPr>
              <p:cNvPr id="58" name="Rectangle 57"/>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59" name="Straight Connector 58"/>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8834" name="Rectangle 2"/>
          <p:cNvSpPr>
            <a:spLocks noGrp="1" noChangeArrowheads="1"/>
          </p:cNvSpPr>
          <p:nvPr>
            <p:ph type="title"/>
          </p:nvPr>
        </p:nvSpPr>
        <p:spPr/>
        <p:txBody>
          <a:bodyPr/>
          <a:lstStyle/>
          <a:p>
            <a:r>
              <a:rPr lang="en-US" dirty="0"/>
              <a:t>Language Evolution</a:t>
            </a:r>
          </a:p>
        </p:txBody>
      </p:sp>
      <p:sp>
        <p:nvSpPr>
          <p:cNvPr id="248835" name="Rectangle 3"/>
          <p:cNvSpPr>
            <a:spLocks noGrp="1" noChangeArrowheads="1"/>
          </p:cNvSpPr>
          <p:nvPr>
            <p:ph idx="1"/>
          </p:nvPr>
        </p:nvSpPr>
        <p:spPr>
          <a:xfrm>
            <a:off x="838200" y="1825625"/>
            <a:ext cx="5220000" cy="4351338"/>
          </a:xfrm>
        </p:spPr>
        <p:txBody>
          <a:bodyPr/>
          <a:lstStyle/>
          <a:p>
            <a:r>
              <a:rPr lang="en-US" dirty="0"/>
              <a:t>Modula-2, C:</a:t>
            </a:r>
            <a:endParaRPr lang="en-US" sz="2400" dirty="0"/>
          </a:p>
          <a:p>
            <a:pPr lvl="1"/>
            <a:r>
              <a:rPr lang="en-US" dirty="0"/>
              <a:t>M</a:t>
            </a:r>
            <a:r>
              <a:rPr lang="en-US" sz="2400" dirty="0"/>
              <a:t>odules (files) of related data and functions</a:t>
            </a:r>
          </a:p>
          <a:p>
            <a:pPr lvl="1"/>
            <a:r>
              <a:rPr lang="en-US" dirty="0"/>
              <a:t>B</a:t>
            </a:r>
            <a:r>
              <a:rPr lang="en-US" sz="2400" dirty="0"/>
              <a:t>reak up system into modules (e.g., abstract data types)</a:t>
            </a:r>
          </a:p>
        </p:txBody>
      </p:sp>
      <p:sp>
        <p:nvSpPr>
          <p:cNvPr id="18" name="Slide Number Placeholder 6"/>
          <p:cNvSpPr>
            <a:spLocks noGrp="1"/>
          </p:cNvSpPr>
          <p:nvPr>
            <p:ph type="sldNum" sz="quarter" idx="12"/>
          </p:nvPr>
        </p:nvSpPr>
        <p:spPr/>
        <p:txBody>
          <a:bodyPr/>
          <a:lstStyle/>
          <a:p>
            <a:fld id="{20893F68-A078-D144-84AF-CCEEF728855A}" type="slidenum">
              <a:rPr lang="en-US"/>
              <a:pPr/>
              <a:t>5</a:t>
            </a:fld>
            <a:endParaRPr lang="en-US"/>
          </a:p>
        </p:txBody>
      </p:sp>
      <p:grpSp>
        <p:nvGrpSpPr>
          <p:cNvPr id="2" name="Group 1">
            <a:extLst>
              <a:ext uri="{FF2B5EF4-FFF2-40B4-BE49-F238E27FC236}">
                <a16:creationId xmlns:a16="http://schemas.microsoft.com/office/drawing/2014/main" id="{55632669-5F17-6C84-05F0-3458C0584075}"/>
              </a:ext>
            </a:extLst>
          </p:cNvPr>
          <p:cNvGrpSpPr/>
          <p:nvPr/>
        </p:nvGrpSpPr>
        <p:grpSpPr>
          <a:xfrm>
            <a:off x="6745288" y="2379804"/>
            <a:ext cx="4608512" cy="2993412"/>
            <a:chOff x="5879976" y="2276872"/>
            <a:chExt cx="4608512" cy="2993412"/>
          </a:xfrm>
        </p:grpSpPr>
        <p:sp>
          <p:nvSpPr>
            <p:cNvPr id="42" name="Rectangle 41"/>
            <p:cNvSpPr/>
            <p:nvPr/>
          </p:nvSpPr>
          <p:spPr>
            <a:xfrm>
              <a:off x="8472264" y="2276872"/>
              <a:ext cx="2016224" cy="2520280"/>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0" name="Rectangle 39"/>
            <p:cNvSpPr/>
            <p:nvPr/>
          </p:nvSpPr>
          <p:spPr>
            <a:xfrm>
              <a:off x="5879976" y="2276872"/>
              <a:ext cx="2448272" cy="2520280"/>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48855" name="Text Box 23"/>
            <p:cNvSpPr txBox="1">
              <a:spLocks noChangeArrowheads="1"/>
            </p:cNvSpPr>
            <p:nvPr/>
          </p:nvSpPr>
          <p:spPr bwMode="auto">
            <a:xfrm>
              <a:off x="7824192" y="4900952"/>
              <a:ext cx="1002197"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t>Modules</a:t>
              </a:r>
            </a:p>
          </p:txBody>
        </p:sp>
        <p:grpSp>
          <p:nvGrpSpPr>
            <p:cNvPr id="19" name="Group 18"/>
            <p:cNvGrpSpPr/>
            <p:nvPr/>
          </p:nvGrpSpPr>
          <p:grpSpPr>
            <a:xfrm>
              <a:off x="6240016" y="2492896"/>
              <a:ext cx="1728192" cy="432048"/>
              <a:chOff x="5868144" y="1412776"/>
              <a:chExt cx="1728192" cy="432048"/>
            </a:xfrm>
          </p:grpSpPr>
          <p:sp>
            <p:nvSpPr>
              <p:cNvPr id="20" name="Oval 19"/>
              <p:cNvSpPr/>
              <p:nvPr/>
            </p:nvSpPr>
            <p:spPr>
              <a:xfrm>
                <a:off x="5868144" y="1412776"/>
                <a:ext cx="1728192" cy="432048"/>
              </a:xfrm>
              <a:prstGeom prst="ellipse">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Verdana"/>
                  <a:cs typeface="Verdana"/>
                </a:endParaRPr>
              </a:p>
            </p:txBody>
          </p:sp>
          <p:sp>
            <p:nvSpPr>
              <p:cNvPr id="21" name="TextBox 20"/>
              <p:cNvSpPr txBox="1"/>
              <p:nvPr/>
            </p:nvSpPr>
            <p:spPr>
              <a:xfrm>
                <a:off x="6383884" y="1444134"/>
                <a:ext cx="647934" cy="369332"/>
              </a:xfrm>
              <a:prstGeom prst="rect">
                <a:avLst/>
              </a:prstGeom>
              <a:noFill/>
            </p:spPr>
            <p:txBody>
              <a:bodyPr wrap="none" rtlCol="0">
                <a:spAutoFit/>
              </a:bodyPr>
              <a:lstStyle/>
              <a:p>
                <a:r>
                  <a:rPr lang="en-US" dirty="0"/>
                  <a:t>Data</a:t>
                </a:r>
              </a:p>
            </p:txBody>
          </p:sp>
        </p:grpSp>
        <p:cxnSp>
          <p:nvCxnSpPr>
            <p:cNvPr id="22" name="Straight Arrow Connector 21"/>
            <p:cNvCxnSpPr>
              <a:stCxn id="25" idx="0"/>
              <a:endCxn id="20" idx="3"/>
            </p:cNvCxnSpPr>
            <p:nvPr/>
          </p:nvCxnSpPr>
          <p:spPr>
            <a:xfrm flipV="1">
              <a:off x="6348028" y="2861672"/>
              <a:ext cx="145076"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3" name="Straight Arrow Connector 22"/>
            <p:cNvCxnSpPr>
              <a:stCxn id="28" idx="0"/>
              <a:endCxn id="20" idx="5"/>
            </p:cNvCxnSpPr>
            <p:nvPr/>
          </p:nvCxnSpPr>
          <p:spPr>
            <a:xfrm flipH="1" flipV="1">
              <a:off x="7715120" y="2861672"/>
              <a:ext cx="145076"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24" name="Group 23"/>
            <p:cNvGrpSpPr/>
            <p:nvPr/>
          </p:nvGrpSpPr>
          <p:grpSpPr>
            <a:xfrm>
              <a:off x="6023992" y="4005064"/>
              <a:ext cx="648072" cy="504056"/>
              <a:chOff x="5364088" y="4581128"/>
              <a:chExt cx="648072" cy="504056"/>
            </a:xfrm>
          </p:grpSpPr>
          <p:sp>
            <p:nvSpPr>
              <p:cNvPr id="25" name="Rectangle 24"/>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6" name="Straight Connector 25"/>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7" name="Group 26"/>
            <p:cNvGrpSpPr/>
            <p:nvPr/>
          </p:nvGrpSpPr>
          <p:grpSpPr>
            <a:xfrm>
              <a:off x="7536160" y="4005064"/>
              <a:ext cx="648072" cy="504056"/>
              <a:chOff x="7452320" y="3573016"/>
              <a:chExt cx="648072" cy="504056"/>
            </a:xfrm>
          </p:grpSpPr>
          <p:sp>
            <p:nvSpPr>
              <p:cNvPr id="28" name="Rectangle 27"/>
              <p:cNvSpPr/>
              <p:nvPr/>
            </p:nvSpPr>
            <p:spPr>
              <a:xfrm>
                <a:off x="7452320" y="3573016"/>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9" name="Straight Connector 28"/>
              <p:cNvCxnSpPr/>
              <p:nvPr/>
            </p:nvCxnSpPr>
            <p:spPr>
              <a:xfrm>
                <a:off x="7452320" y="3645024"/>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0" name="Group 29"/>
            <p:cNvGrpSpPr/>
            <p:nvPr/>
          </p:nvGrpSpPr>
          <p:grpSpPr>
            <a:xfrm>
              <a:off x="8616280" y="2492896"/>
              <a:ext cx="1728192" cy="432048"/>
              <a:chOff x="5868144" y="1412776"/>
              <a:chExt cx="1728192" cy="432048"/>
            </a:xfrm>
          </p:grpSpPr>
          <p:sp>
            <p:nvSpPr>
              <p:cNvPr id="31" name="Oval 30"/>
              <p:cNvSpPr/>
              <p:nvPr/>
            </p:nvSpPr>
            <p:spPr>
              <a:xfrm>
                <a:off x="5868144" y="1412776"/>
                <a:ext cx="1728192" cy="432048"/>
              </a:xfrm>
              <a:prstGeom prst="ellipse">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Verdana"/>
                  <a:cs typeface="Verdana"/>
                </a:endParaRPr>
              </a:p>
            </p:txBody>
          </p:sp>
          <p:sp>
            <p:nvSpPr>
              <p:cNvPr id="32" name="TextBox 31"/>
              <p:cNvSpPr txBox="1"/>
              <p:nvPr/>
            </p:nvSpPr>
            <p:spPr>
              <a:xfrm>
                <a:off x="6383884" y="1444134"/>
                <a:ext cx="647934" cy="369332"/>
              </a:xfrm>
              <a:prstGeom prst="rect">
                <a:avLst/>
              </a:prstGeom>
              <a:noFill/>
            </p:spPr>
            <p:txBody>
              <a:bodyPr wrap="none" rtlCol="0">
                <a:spAutoFit/>
              </a:bodyPr>
              <a:lstStyle/>
              <a:p>
                <a:r>
                  <a:rPr lang="en-US" dirty="0"/>
                  <a:t>Data</a:t>
                </a:r>
              </a:p>
            </p:txBody>
          </p:sp>
        </p:grpSp>
        <p:grpSp>
          <p:nvGrpSpPr>
            <p:cNvPr id="33" name="Group 32"/>
            <p:cNvGrpSpPr/>
            <p:nvPr/>
          </p:nvGrpSpPr>
          <p:grpSpPr>
            <a:xfrm>
              <a:off x="9156340" y="4005064"/>
              <a:ext cx="648072" cy="504056"/>
              <a:chOff x="7452320" y="3573016"/>
              <a:chExt cx="648072" cy="504056"/>
            </a:xfrm>
          </p:grpSpPr>
          <p:sp>
            <p:nvSpPr>
              <p:cNvPr id="34" name="Rectangle 33"/>
              <p:cNvSpPr/>
              <p:nvPr/>
            </p:nvSpPr>
            <p:spPr>
              <a:xfrm>
                <a:off x="7452320" y="3573016"/>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5" name="Straight Connector 34"/>
              <p:cNvCxnSpPr/>
              <p:nvPr/>
            </p:nvCxnSpPr>
            <p:spPr>
              <a:xfrm>
                <a:off x="7452320" y="3645024"/>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36" name="Straight Arrow Connector 35"/>
            <p:cNvCxnSpPr>
              <a:stCxn id="34" idx="0"/>
              <a:endCxn id="31" idx="4"/>
            </p:cNvCxnSpPr>
            <p:nvPr/>
          </p:nvCxnSpPr>
          <p:spPr>
            <a:xfrm flipV="1">
              <a:off x="9480376" y="2924944"/>
              <a:ext cx="0" cy="108012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8" name="Rectangle 2"/>
          <p:cNvSpPr>
            <a:spLocks noGrp="1" noChangeArrowheads="1"/>
          </p:cNvSpPr>
          <p:nvPr>
            <p:ph type="title"/>
          </p:nvPr>
        </p:nvSpPr>
        <p:spPr/>
        <p:txBody>
          <a:bodyPr/>
          <a:lstStyle/>
          <a:p>
            <a:r>
              <a:rPr lang="en-US"/>
              <a:t>Language Evolution</a:t>
            </a:r>
          </a:p>
        </p:txBody>
      </p:sp>
      <p:sp>
        <p:nvSpPr>
          <p:cNvPr id="249859" name="Rectangle 3"/>
          <p:cNvSpPr>
            <a:spLocks noGrp="1" noChangeArrowheads="1"/>
          </p:cNvSpPr>
          <p:nvPr>
            <p:ph idx="1"/>
          </p:nvPr>
        </p:nvSpPr>
        <p:spPr>
          <a:xfrm>
            <a:off x="838200" y="1825625"/>
            <a:ext cx="5220000" cy="4351338"/>
          </a:xfrm>
        </p:spPr>
        <p:txBody>
          <a:bodyPr/>
          <a:lstStyle/>
          <a:p>
            <a:r>
              <a:rPr lang="en-US" dirty="0"/>
              <a:t>Smalltalk, C++, Java:</a:t>
            </a:r>
            <a:endParaRPr lang="en-US" sz="2400" dirty="0"/>
          </a:p>
          <a:p>
            <a:pPr lvl="1"/>
            <a:r>
              <a:rPr lang="en-US" dirty="0"/>
              <a:t>C</a:t>
            </a:r>
            <a:r>
              <a:rPr lang="en-US" sz="2400" dirty="0"/>
              <a:t>lasses with data and methods</a:t>
            </a:r>
          </a:p>
          <a:p>
            <a:pPr lvl="1"/>
            <a:r>
              <a:rPr lang="en-US" dirty="0"/>
              <a:t>C</a:t>
            </a:r>
            <a:r>
              <a:rPr lang="en-US" sz="2400" dirty="0"/>
              <a:t>lasses as “factories”</a:t>
            </a:r>
            <a:r>
              <a:rPr lang="en-CA" sz="2400" dirty="0">
                <a:latin typeface="Arial"/>
              </a:rPr>
              <a:t> </a:t>
            </a:r>
            <a:r>
              <a:rPr lang="en-US" sz="2400" dirty="0"/>
              <a:t>for objects</a:t>
            </a:r>
          </a:p>
          <a:p>
            <a:pPr lvl="1"/>
            <a:r>
              <a:rPr lang="en-US" sz="2400" dirty="0"/>
              <a:t>Break up system into classes</a:t>
            </a:r>
          </a:p>
        </p:txBody>
      </p:sp>
      <p:sp>
        <p:nvSpPr>
          <p:cNvPr id="18" name="Slide Number Placeholder 6"/>
          <p:cNvSpPr>
            <a:spLocks noGrp="1"/>
          </p:cNvSpPr>
          <p:nvPr>
            <p:ph type="sldNum" sz="quarter" idx="12"/>
          </p:nvPr>
        </p:nvSpPr>
        <p:spPr/>
        <p:txBody>
          <a:bodyPr/>
          <a:lstStyle/>
          <a:p>
            <a:fld id="{FF392783-36F8-B245-9AAC-949A140EC72D}" type="slidenum">
              <a:rPr lang="en-US"/>
              <a:pPr/>
              <a:t>6</a:t>
            </a:fld>
            <a:endParaRPr lang="en-US"/>
          </a:p>
        </p:txBody>
      </p:sp>
      <p:grpSp>
        <p:nvGrpSpPr>
          <p:cNvPr id="2" name="Group 1">
            <a:extLst>
              <a:ext uri="{FF2B5EF4-FFF2-40B4-BE49-F238E27FC236}">
                <a16:creationId xmlns:a16="http://schemas.microsoft.com/office/drawing/2014/main" id="{5BB22822-319B-1ADD-ADB6-11ED9CCF4C8D}"/>
              </a:ext>
            </a:extLst>
          </p:cNvPr>
          <p:cNvGrpSpPr/>
          <p:nvPr/>
        </p:nvGrpSpPr>
        <p:grpSpPr>
          <a:xfrm>
            <a:off x="6457056" y="2276872"/>
            <a:ext cx="4967536" cy="3240360"/>
            <a:chOff x="5591944" y="2168860"/>
            <a:chExt cx="4967536" cy="3240360"/>
          </a:xfrm>
        </p:grpSpPr>
        <p:sp>
          <p:nvSpPr>
            <p:cNvPr id="40" name="Rectangle 39"/>
            <p:cNvSpPr/>
            <p:nvPr/>
          </p:nvSpPr>
          <p:spPr>
            <a:xfrm>
              <a:off x="5591944" y="2168860"/>
              <a:ext cx="4967536" cy="2772308"/>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9" name="Rectangle 18"/>
            <p:cNvSpPr/>
            <p:nvPr/>
          </p:nvSpPr>
          <p:spPr>
            <a:xfrm>
              <a:off x="8363744" y="2276872"/>
              <a:ext cx="2016224" cy="2520280"/>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0" name="Rectangle 19"/>
            <p:cNvSpPr/>
            <p:nvPr/>
          </p:nvSpPr>
          <p:spPr>
            <a:xfrm>
              <a:off x="5771456" y="2276872"/>
              <a:ext cx="2448272" cy="2520280"/>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grpSp>
          <p:nvGrpSpPr>
            <p:cNvPr id="21" name="Group 20"/>
            <p:cNvGrpSpPr/>
            <p:nvPr/>
          </p:nvGrpSpPr>
          <p:grpSpPr>
            <a:xfrm>
              <a:off x="6240016" y="2492896"/>
              <a:ext cx="1728192" cy="432048"/>
              <a:chOff x="5868144" y="1412776"/>
              <a:chExt cx="1728192" cy="432048"/>
            </a:xfrm>
          </p:grpSpPr>
          <p:sp>
            <p:nvSpPr>
              <p:cNvPr id="22" name="Oval 21"/>
              <p:cNvSpPr/>
              <p:nvPr/>
            </p:nvSpPr>
            <p:spPr>
              <a:xfrm>
                <a:off x="5868144" y="1412776"/>
                <a:ext cx="1728192" cy="432048"/>
              </a:xfrm>
              <a:prstGeom prst="ellipse">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Verdana"/>
                  <a:cs typeface="Verdana"/>
                </a:endParaRPr>
              </a:p>
            </p:txBody>
          </p:sp>
          <p:sp>
            <p:nvSpPr>
              <p:cNvPr id="23" name="TextBox 22"/>
              <p:cNvSpPr txBox="1"/>
              <p:nvPr/>
            </p:nvSpPr>
            <p:spPr>
              <a:xfrm>
                <a:off x="6383884" y="1444134"/>
                <a:ext cx="647934" cy="369332"/>
              </a:xfrm>
              <a:prstGeom prst="rect">
                <a:avLst/>
              </a:prstGeom>
              <a:noFill/>
            </p:spPr>
            <p:txBody>
              <a:bodyPr wrap="none" rtlCol="0">
                <a:spAutoFit/>
              </a:bodyPr>
              <a:lstStyle/>
              <a:p>
                <a:r>
                  <a:rPr lang="en-US" dirty="0"/>
                  <a:t>Data</a:t>
                </a:r>
              </a:p>
            </p:txBody>
          </p:sp>
        </p:grpSp>
        <p:cxnSp>
          <p:nvCxnSpPr>
            <p:cNvPr id="24" name="Straight Arrow Connector 23"/>
            <p:cNvCxnSpPr>
              <a:stCxn id="27" idx="0"/>
              <a:endCxn id="22" idx="3"/>
            </p:cNvCxnSpPr>
            <p:nvPr/>
          </p:nvCxnSpPr>
          <p:spPr>
            <a:xfrm flipV="1">
              <a:off x="6348028" y="2861672"/>
              <a:ext cx="145076"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cxnSp>
          <p:nvCxnSpPr>
            <p:cNvPr id="25" name="Straight Arrow Connector 24"/>
            <p:cNvCxnSpPr>
              <a:stCxn id="30" idx="0"/>
              <a:endCxn id="22" idx="5"/>
            </p:cNvCxnSpPr>
            <p:nvPr/>
          </p:nvCxnSpPr>
          <p:spPr>
            <a:xfrm flipH="1" flipV="1">
              <a:off x="7715120" y="2861672"/>
              <a:ext cx="145076" cy="1143392"/>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grpSp>
          <p:nvGrpSpPr>
            <p:cNvPr id="26" name="Group 25"/>
            <p:cNvGrpSpPr/>
            <p:nvPr/>
          </p:nvGrpSpPr>
          <p:grpSpPr>
            <a:xfrm>
              <a:off x="6023992" y="4005064"/>
              <a:ext cx="648072" cy="504056"/>
              <a:chOff x="5364088" y="4581128"/>
              <a:chExt cx="648072" cy="504056"/>
            </a:xfrm>
          </p:grpSpPr>
          <p:sp>
            <p:nvSpPr>
              <p:cNvPr id="27" name="Rectangle 26"/>
              <p:cNvSpPr/>
              <p:nvPr/>
            </p:nvSpPr>
            <p:spPr>
              <a:xfrm>
                <a:off x="5364088" y="4581128"/>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28" name="Straight Connector 27"/>
              <p:cNvCxnSpPr/>
              <p:nvPr/>
            </p:nvCxnSpPr>
            <p:spPr>
              <a:xfrm>
                <a:off x="5364088" y="4653136"/>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29" name="Group 28"/>
            <p:cNvGrpSpPr/>
            <p:nvPr/>
          </p:nvGrpSpPr>
          <p:grpSpPr>
            <a:xfrm>
              <a:off x="7536160" y="4005064"/>
              <a:ext cx="648072" cy="504056"/>
              <a:chOff x="7452320" y="3573016"/>
              <a:chExt cx="648072" cy="504056"/>
            </a:xfrm>
          </p:grpSpPr>
          <p:sp>
            <p:nvSpPr>
              <p:cNvPr id="30" name="Rectangle 29"/>
              <p:cNvSpPr/>
              <p:nvPr/>
            </p:nvSpPr>
            <p:spPr>
              <a:xfrm>
                <a:off x="7452320" y="3573016"/>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1" name="Straight Connector 30"/>
              <p:cNvCxnSpPr/>
              <p:nvPr/>
            </p:nvCxnSpPr>
            <p:spPr>
              <a:xfrm>
                <a:off x="7452320" y="3645024"/>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grpSp>
          <p:nvGrpSpPr>
            <p:cNvPr id="32" name="Group 31"/>
            <p:cNvGrpSpPr/>
            <p:nvPr/>
          </p:nvGrpSpPr>
          <p:grpSpPr>
            <a:xfrm>
              <a:off x="8616280" y="2492896"/>
              <a:ext cx="1728192" cy="432048"/>
              <a:chOff x="5868144" y="1412776"/>
              <a:chExt cx="1728192" cy="432048"/>
            </a:xfrm>
          </p:grpSpPr>
          <p:sp>
            <p:nvSpPr>
              <p:cNvPr id="33" name="Oval 32"/>
              <p:cNvSpPr/>
              <p:nvPr/>
            </p:nvSpPr>
            <p:spPr>
              <a:xfrm>
                <a:off x="5868144" y="1412776"/>
                <a:ext cx="1728192" cy="432048"/>
              </a:xfrm>
              <a:prstGeom prst="ellipse">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b="1" dirty="0">
                  <a:ln w="10541" cmpd="sng">
                    <a:solidFill>
                      <a:srgbClr val="7D7D7D">
                        <a:tint val="100000"/>
                        <a:shade val="100000"/>
                        <a:satMod val="110000"/>
                      </a:srgbClr>
                    </a:solidFill>
                    <a:prstDash val="solid"/>
                  </a:ln>
                  <a:gradFill>
                    <a:gsLst>
                      <a:gs pos="0">
                        <a:srgbClr val="FFFFFF">
                          <a:tint val="40000"/>
                          <a:satMod val="250000"/>
                        </a:srgbClr>
                      </a:gs>
                      <a:gs pos="9000">
                        <a:srgbClr val="FFFFFF">
                          <a:tint val="52000"/>
                          <a:satMod val="300000"/>
                        </a:srgbClr>
                      </a:gs>
                      <a:gs pos="50000">
                        <a:srgbClr val="FFFFFF">
                          <a:shade val="20000"/>
                          <a:satMod val="300000"/>
                        </a:srgbClr>
                      </a:gs>
                      <a:gs pos="79000">
                        <a:srgbClr val="FFFFFF">
                          <a:tint val="52000"/>
                          <a:satMod val="300000"/>
                        </a:srgbClr>
                      </a:gs>
                      <a:gs pos="100000">
                        <a:srgbClr val="FFFFFF">
                          <a:tint val="40000"/>
                          <a:satMod val="250000"/>
                        </a:srgbClr>
                      </a:gs>
                    </a:gsLst>
                    <a:lin ang="5400000"/>
                  </a:gradFill>
                  <a:latin typeface="Verdana"/>
                  <a:cs typeface="Verdana"/>
                </a:endParaRPr>
              </a:p>
            </p:txBody>
          </p:sp>
          <p:sp>
            <p:nvSpPr>
              <p:cNvPr id="34" name="TextBox 33"/>
              <p:cNvSpPr txBox="1"/>
              <p:nvPr/>
            </p:nvSpPr>
            <p:spPr>
              <a:xfrm>
                <a:off x="6383884" y="1444134"/>
                <a:ext cx="647934" cy="369332"/>
              </a:xfrm>
              <a:prstGeom prst="rect">
                <a:avLst/>
              </a:prstGeom>
              <a:noFill/>
            </p:spPr>
            <p:txBody>
              <a:bodyPr wrap="none" rtlCol="0">
                <a:spAutoFit/>
              </a:bodyPr>
              <a:lstStyle/>
              <a:p>
                <a:r>
                  <a:rPr lang="en-US" dirty="0"/>
                  <a:t>Data</a:t>
                </a:r>
              </a:p>
            </p:txBody>
          </p:sp>
        </p:grpSp>
        <p:grpSp>
          <p:nvGrpSpPr>
            <p:cNvPr id="35" name="Group 34"/>
            <p:cNvGrpSpPr/>
            <p:nvPr/>
          </p:nvGrpSpPr>
          <p:grpSpPr>
            <a:xfrm>
              <a:off x="9156340" y="4005064"/>
              <a:ext cx="648072" cy="504056"/>
              <a:chOff x="7452320" y="3573016"/>
              <a:chExt cx="648072" cy="504056"/>
            </a:xfrm>
          </p:grpSpPr>
          <p:sp>
            <p:nvSpPr>
              <p:cNvPr id="36" name="Rectangle 35"/>
              <p:cNvSpPr/>
              <p:nvPr/>
            </p:nvSpPr>
            <p:spPr>
              <a:xfrm>
                <a:off x="7452320" y="3573016"/>
                <a:ext cx="648072" cy="504056"/>
              </a:xfrm>
              <a:prstGeom prst="rect">
                <a:avLst/>
              </a:prstGeom>
              <a:solidFill>
                <a:srgbClr val="CCFFCC"/>
              </a:solidFill>
              <a:ln w="19050" cmpd="sng">
                <a:solidFill>
                  <a:schemeClr val="tx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cxnSp>
            <p:nvCxnSpPr>
              <p:cNvPr id="37" name="Straight Connector 36"/>
              <p:cNvCxnSpPr/>
              <p:nvPr/>
            </p:nvCxnSpPr>
            <p:spPr>
              <a:xfrm>
                <a:off x="7452320" y="3645024"/>
                <a:ext cx="648072" cy="0"/>
              </a:xfrm>
              <a:prstGeom prst="line">
                <a:avLst/>
              </a:prstGeom>
              <a:ln w="12700" cmpd="sng">
                <a:solidFill>
                  <a:schemeClr val="tx1"/>
                </a:solidFill>
              </a:ln>
            </p:spPr>
            <p:style>
              <a:lnRef idx="2">
                <a:schemeClr val="accent1"/>
              </a:lnRef>
              <a:fillRef idx="0">
                <a:schemeClr val="accent1"/>
              </a:fillRef>
              <a:effectRef idx="1">
                <a:schemeClr val="accent1"/>
              </a:effectRef>
              <a:fontRef idx="minor">
                <a:schemeClr val="tx1"/>
              </a:fontRef>
            </p:style>
          </p:cxnSp>
        </p:grpSp>
        <p:cxnSp>
          <p:nvCxnSpPr>
            <p:cNvPr id="38" name="Straight Arrow Connector 37"/>
            <p:cNvCxnSpPr>
              <a:stCxn id="36" idx="0"/>
              <a:endCxn id="33" idx="4"/>
            </p:cNvCxnSpPr>
            <p:nvPr/>
          </p:nvCxnSpPr>
          <p:spPr>
            <a:xfrm flipV="1">
              <a:off x="9480376" y="2924944"/>
              <a:ext cx="0" cy="1080120"/>
            </a:xfrm>
            <a:prstGeom prst="straightConnector1">
              <a:avLst/>
            </a:prstGeom>
            <a:ln w="19050" cmpd="sng">
              <a:solidFill>
                <a:schemeClr val="tx1"/>
              </a:solidFill>
              <a:tailEnd type="arrow"/>
            </a:ln>
          </p:spPr>
          <p:style>
            <a:lnRef idx="2">
              <a:schemeClr val="accent1"/>
            </a:lnRef>
            <a:fillRef idx="0">
              <a:schemeClr val="accent1"/>
            </a:fillRef>
            <a:effectRef idx="1">
              <a:schemeClr val="accent1"/>
            </a:effectRef>
            <a:fontRef idx="minor">
              <a:schemeClr val="tx1"/>
            </a:fontRef>
          </p:style>
        </p:cxnSp>
        <p:sp>
          <p:nvSpPr>
            <p:cNvPr id="39" name="Text Box 23"/>
            <p:cNvSpPr txBox="1">
              <a:spLocks noChangeArrowheads="1"/>
            </p:cNvSpPr>
            <p:nvPr/>
          </p:nvSpPr>
          <p:spPr bwMode="auto">
            <a:xfrm>
              <a:off x="7068635" y="5039888"/>
              <a:ext cx="2226892"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t>Classes and packages</a:t>
              </a: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5298" name="Rectangle 2"/>
          <p:cNvSpPr>
            <a:spLocks noGrp="1" noChangeArrowheads="1"/>
          </p:cNvSpPr>
          <p:nvPr>
            <p:ph type="title"/>
          </p:nvPr>
        </p:nvSpPr>
        <p:spPr/>
        <p:txBody>
          <a:bodyPr/>
          <a:lstStyle/>
          <a:p>
            <a:r>
              <a:rPr lang="en-US" dirty="0"/>
              <a:t>Discussion</a:t>
            </a:r>
          </a:p>
        </p:txBody>
      </p:sp>
      <p:sp>
        <p:nvSpPr>
          <p:cNvPr id="695299" name="Rectangle 3"/>
          <p:cNvSpPr>
            <a:spLocks noGrp="1" noChangeArrowheads="1"/>
          </p:cNvSpPr>
          <p:nvPr>
            <p:ph idx="1"/>
          </p:nvPr>
        </p:nvSpPr>
        <p:spPr/>
        <p:txBody>
          <a:bodyPr/>
          <a:lstStyle/>
          <a:p>
            <a:r>
              <a:rPr lang="en-US" dirty="0"/>
              <a:t>Question:</a:t>
            </a:r>
          </a:p>
          <a:p>
            <a:pPr lvl="1"/>
            <a:r>
              <a:rPr lang="en-US" dirty="0"/>
              <a:t>What software engineering design principles drove programming language evolution?</a:t>
            </a:r>
          </a:p>
          <a:p>
            <a:pPr lvl="1"/>
            <a:r>
              <a:rPr lang="en-US" dirty="0">
                <a:hlinkClick r:id="rId3"/>
              </a:rPr>
              <a:t>https://developer.android.com/kotlin</a:t>
            </a:r>
            <a:r>
              <a:rPr lang="en-US" dirty="0"/>
              <a:t> </a:t>
            </a:r>
          </a:p>
          <a:p>
            <a:pPr lvl="1"/>
            <a:r>
              <a:rPr lang="en-US" dirty="0">
                <a:hlinkClick r:id="rId4"/>
              </a:rPr>
              <a:t>https://dev.to/martinhaeusler/kotlin---te-good-the-bad-and-the-ugly-3jfo</a:t>
            </a:r>
            <a:r>
              <a:rPr lang="en-US" dirty="0"/>
              <a:t> </a:t>
            </a:r>
          </a:p>
        </p:txBody>
      </p:sp>
      <p:sp>
        <p:nvSpPr>
          <p:cNvPr id="4" name="Slide Number Placeholder 5"/>
          <p:cNvSpPr>
            <a:spLocks noGrp="1"/>
          </p:cNvSpPr>
          <p:nvPr>
            <p:ph type="sldNum" sz="quarter" idx="12"/>
          </p:nvPr>
        </p:nvSpPr>
        <p:spPr/>
        <p:txBody>
          <a:bodyPr/>
          <a:lstStyle/>
          <a:p>
            <a:fld id="{4BB5FC31-C641-484E-B65F-3523A93ED5E3}" type="slidenum">
              <a:rPr lang="en-US"/>
              <a:pPr/>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8818" name="Rectangle 2"/>
          <p:cNvSpPr>
            <a:spLocks noGrp="1" noChangeArrowheads="1"/>
          </p:cNvSpPr>
          <p:nvPr>
            <p:ph type="title"/>
          </p:nvPr>
        </p:nvSpPr>
        <p:spPr/>
        <p:txBody>
          <a:bodyPr/>
          <a:lstStyle/>
          <a:p>
            <a:r>
              <a:rPr lang="en-US"/>
              <a:t>Abstraction</a:t>
            </a:r>
          </a:p>
        </p:txBody>
      </p:sp>
      <p:sp>
        <p:nvSpPr>
          <p:cNvPr id="418819" name="Rectangle 3"/>
          <p:cNvSpPr>
            <a:spLocks noGrp="1" noChangeArrowheads="1"/>
          </p:cNvSpPr>
          <p:nvPr>
            <p:ph idx="1"/>
          </p:nvPr>
        </p:nvSpPr>
        <p:spPr/>
        <p:txBody>
          <a:bodyPr/>
          <a:lstStyle/>
          <a:p>
            <a:r>
              <a:rPr lang="en-US" dirty="0"/>
              <a:t>Simplifying to its essentials the description of a real-world entity or concept</a:t>
            </a:r>
          </a:p>
          <a:p>
            <a:pPr lvl="1"/>
            <a:r>
              <a:rPr lang="en-US" dirty="0"/>
              <a:t>Coping with complexity</a:t>
            </a:r>
          </a:p>
          <a:p>
            <a:pPr lvl="1"/>
            <a:r>
              <a:rPr lang="en-US" dirty="0"/>
              <a:t>“Selective ignorance”</a:t>
            </a:r>
          </a:p>
          <a:p>
            <a:r>
              <a:rPr lang="en-US" dirty="0"/>
              <a:t>Modeling the problem space</a:t>
            </a:r>
          </a:p>
          <a:p>
            <a:pPr lvl="1"/>
            <a:r>
              <a:rPr lang="en-US" dirty="0"/>
              <a:t>E.g., a “Person” abstraction</a:t>
            </a:r>
          </a:p>
        </p:txBody>
      </p:sp>
      <p:sp>
        <p:nvSpPr>
          <p:cNvPr id="4" name="Slide Number Placeholder 5"/>
          <p:cNvSpPr>
            <a:spLocks noGrp="1"/>
          </p:cNvSpPr>
          <p:nvPr>
            <p:ph type="sldNum" sz="quarter" idx="12"/>
          </p:nvPr>
        </p:nvSpPr>
        <p:spPr/>
        <p:txBody>
          <a:bodyPr/>
          <a:lstStyle/>
          <a:p>
            <a:fld id="{60D6756B-BA98-D445-8947-EDFD106E08A9}" type="slidenum">
              <a:rPr lang="en-US"/>
              <a:pPr/>
              <a:t>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188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0866" name="Rectangle 2"/>
          <p:cNvSpPr>
            <a:spLocks noGrp="1" noChangeArrowheads="1"/>
          </p:cNvSpPr>
          <p:nvPr>
            <p:ph type="title"/>
          </p:nvPr>
        </p:nvSpPr>
        <p:spPr/>
        <p:txBody>
          <a:bodyPr/>
          <a:lstStyle/>
          <a:p>
            <a:r>
              <a:rPr lang="en-US"/>
              <a:t>Encapsulation</a:t>
            </a:r>
          </a:p>
        </p:txBody>
      </p:sp>
      <p:sp>
        <p:nvSpPr>
          <p:cNvPr id="420867" name="Rectangle 3"/>
          <p:cNvSpPr>
            <a:spLocks noGrp="1" noChangeArrowheads="1"/>
          </p:cNvSpPr>
          <p:nvPr>
            <p:ph idx="1"/>
          </p:nvPr>
        </p:nvSpPr>
        <p:spPr/>
        <p:txBody>
          <a:bodyPr>
            <a:normAutofit/>
          </a:bodyPr>
          <a:lstStyle/>
          <a:p>
            <a:r>
              <a:rPr lang="en-US" dirty="0"/>
              <a:t>Bundling data with access functions</a:t>
            </a:r>
          </a:p>
          <a:p>
            <a:pPr lvl="1"/>
            <a:r>
              <a:rPr lang="en-US" dirty="0"/>
              <a:t>Distinguishing “what” from “how”</a:t>
            </a:r>
          </a:p>
          <a:p>
            <a:pPr lvl="1"/>
            <a:r>
              <a:rPr lang="en-US" dirty="0"/>
              <a:t>“Need to know” restricted access</a:t>
            </a:r>
          </a:p>
          <a:p>
            <a:pPr lvl="1"/>
            <a:r>
              <a:rPr lang="en-US" dirty="0"/>
              <a:t>Maintaining integrity</a:t>
            </a:r>
          </a:p>
          <a:p>
            <a:r>
              <a:rPr lang="en-US" dirty="0"/>
              <a:t>Information hiding criterion</a:t>
            </a:r>
          </a:p>
          <a:p>
            <a:pPr lvl="1"/>
            <a:r>
              <a:rPr lang="en-US" dirty="0"/>
              <a:t>Hide changeable internal details from the outside world, but reveal assumptions through interface</a:t>
            </a:r>
          </a:p>
          <a:p>
            <a:pPr lvl="1"/>
            <a:r>
              <a:rPr lang="en-US" dirty="0"/>
              <a:t>E.g., a “Person” abstract data type </a:t>
            </a:r>
          </a:p>
        </p:txBody>
      </p:sp>
      <p:sp>
        <p:nvSpPr>
          <p:cNvPr id="4" name="Slide Number Placeholder 5"/>
          <p:cNvSpPr>
            <a:spLocks noGrp="1"/>
          </p:cNvSpPr>
          <p:nvPr>
            <p:ph type="sldNum" sz="quarter" idx="12"/>
          </p:nvPr>
        </p:nvSpPr>
        <p:spPr/>
        <p:txBody>
          <a:bodyPr/>
          <a:lstStyle/>
          <a:p>
            <a:fld id="{3F1FF85D-71C2-5E42-AC04-4082E8BB6E86}" type="slidenum">
              <a:rPr lang="en-US"/>
              <a:pPr/>
              <a:t>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0867">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0867">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2086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9394" name="Rectangle 2"/>
          <p:cNvSpPr>
            <a:spLocks noGrp="1" noChangeArrowheads="1"/>
          </p:cNvSpPr>
          <p:nvPr>
            <p:ph type="title"/>
          </p:nvPr>
        </p:nvSpPr>
        <p:spPr/>
        <p:txBody>
          <a:bodyPr/>
          <a:lstStyle/>
          <a:p>
            <a:r>
              <a:rPr lang="en-US"/>
              <a:t>Decomposition</a:t>
            </a:r>
          </a:p>
        </p:txBody>
      </p:sp>
      <p:sp>
        <p:nvSpPr>
          <p:cNvPr id="699395" name="Rectangle 3"/>
          <p:cNvSpPr>
            <a:spLocks noGrp="1" noChangeArrowheads="1"/>
          </p:cNvSpPr>
          <p:nvPr>
            <p:ph idx="1"/>
          </p:nvPr>
        </p:nvSpPr>
        <p:spPr/>
        <p:txBody>
          <a:bodyPr/>
          <a:lstStyle/>
          <a:p>
            <a:r>
              <a:rPr lang="en-US" dirty="0"/>
              <a:t>Dividing whole things into parts</a:t>
            </a:r>
          </a:p>
          <a:p>
            <a:pPr lvl="1"/>
            <a:r>
              <a:rPr lang="en-US" dirty="0"/>
              <a:t>Or composing whole things out of parts</a:t>
            </a:r>
          </a:p>
          <a:p>
            <a:pPr lvl="1"/>
            <a:r>
              <a:rPr lang="en-US" dirty="0"/>
              <a:t>“Separation of concerns”</a:t>
            </a:r>
          </a:p>
          <a:p>
            <a:r>
              <a:rPr lang="en-US" dirty="0"/>
              <a:t>Data parts</a:t>
            </a:r>
          </a:p>
          <a:p>
            <a:pPr lvl="1"/>
            <a:r>
              <a:rPr lang="en-US" dirty="0"/>
              <a:t>Fixed or dynamic number</a:t>
            </a:r>
          </a:p>
          <a:p>
            <a:pPr lvl="1"/>
            <a:r>
              <a:rPr lang="en-US" dirty="0"/>
              <a:t>Sharing of parts</a:t>
            </a:r>
          </a:p>
          <a:p>
            <a:pPr lvl="1"/>
            <a:r>
              <a:rPr lang="en-US" dirty="0"/>
              <a:t>Lifetime of parts</a:t>
            </a:r>
          </a:p>
        </p:txBody>
      </p:sp>
      <p:sp>
        <p:nvSpPr>
          <p:cNvPr id="4" name="Slide Number Placeholder 5"/>
          <p:cNvSpPr>
            <a:spLocks noGrp="1"/>
          </p:cNvSpPr>
          <p:nvPr>
            <p:ph type="sldNum" sz="quarter" idx="12"/>
          </p:nvPr>
        </p:nvSpPr>
        <p:spPr/>
        <p:txBody>
          <a:bodyPr/>
          <a:lstStyle/>
          <a:p>
            <a:fld id="{D4299FE9-69C9-9447-B9F5-9D271018BAF8}" type="slidenum">
              <a:rPr lang="en-US"/>
              <a:pPr/>
              <a:t>10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9939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939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9939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939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2466" name="Rectangle 2"/>
          <p:cNvSpPr>
            <a:spLocks noGrp="1" noChangeArrowheads="1"/>
          </p:cNvSpPr>
          <p:nvPr>
            <p:ph type="title"/>
          </p:nvPr>
        </p:nvSpPr>
        <p:spPr/>
        <p:txBody>
          <a:bodyPr/>
          <a:lstStyle/>
          <a:p>
            <a:r>
              <a:rPr lang="en-US"/>
              <a:t>Generalization</a:t>
            </a:r>
          </a:p>
        </p:txBody>
      </p:sp>
      <p:sp>
        <p:nvSpPr>
          <p:cNvPr id="702467" name="Rectangle 3"/>
          <p:cNvSpPr>
            <a:spLocks noGrp="1" noChangeArrowheads="1"/>
          </p:cNvSpPr>
          <p:nvPr>
            <p:ph idx="1"/>
          </p:nvPr>
        </p:nvSpPr>
        <p:spPr/>
        <p:txBody>
          <a:bodyPr/>
          <a:lstStyle/>
          <a:p>
            <a:r>
              <a:rPr lang="en-US" dirty="0"/>
              <a:t>From specific cases, looking for commonalities that can be factored out</a:t>
            </a:r>
          </a:p>
          <a:p>
            <a:pPr lvl="1"/>
            <a:r>
              <a:rPr lang="en-US" dirty="0"/>
              <a:t>Reusing common designs</a:t>
            </a:r>
          </a:p>
          <a:p>
            <a:pPr lvl="1"/>
            <a:r>
              <a:rPr lang="en-US" dirty="0"/>
              <a:t>Reducing redundant code</a:t>
            </a:r>
          </a:p>
          <a:p>
            <a:r>
              <a:rPr lang="en-US" dirty="0"/>
              <a:t>Making systems flexible and extensible</a:t>
            </a:r>
          </a:p>
        </p:txBody>
      </p:sp>
      <p:sp>
        <p:nvSpPr>
          <p:cNvPr id="4" name="Slide Number Placeholder 5"/>
          <p:cNvSpPr>
            <a:spLocks noGrp="1"/>
          </p:cNvSpPr>
          <p:nvPr>
            <p:ph type="sldNum" sz="quarter" idx="12"/>
          </p:nvPr>
        </p:nvSpPr>
        <p:spPr/>
        <p:txBody>
          <a:bodyPr/>
          <a:lstStyle/>
          <a:p>
            <a:fld id="{F9A645EB-4EBB-8141-9379-25623AC48631}" type="slidenum">
              <a:rPr lang="en-US"/>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Object-Oriented Models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3693E2C0-D7FA-E54A-B614-B3CE362612AF}" type="slidenum">
              <a:rPr lang="en-US" smtClean="0"/>
              <a:pPr/>
              <a:t>12</a:t>
            </a:fld>
            <a:endParaRPr lang="en-US"/>
          </a:p>
        </p:txBody>
      </p:sp>
    </p:spTree>
    <p:extLst>
      <p:ext uri="{BB962C8B-B14F-4D97-AF65-F5344CB8AC3E}">
        <p14:creationId xmlns:p14="http://schemas.microsoft.com/office/powerpoint/2010/main" val="183373129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50" name="Rectangle 2"/>
          <p:cNvSpPr>
            <a:spLocks noGrp="1" noChangeArrowheads="1"/>
          </p:cNvSpPr>
          <p:nvPr>
            <p:ph type="title"/>
          </p:nvPr>
        </p:nvSpPr>
        <p:spPr/>
        <p:txBody>
          <a:bodyPr/>
          <a:lstStyle/>
          <a:p>
            <a:r>
              <a:rPr lang="en-US"/>
              <a:t>Object-Oriented Models</a:t>
            </a:r>
          </a:p>
        </p:txBody>
      </p:sp>
      <p:sp>
        <p:nvSpPr>
          <p:cNvPr id="258051" name="Rectangle 3"/>
          <p:cNvSpPr>
            <a:spLocks noGrp="1" noChangeArrowheads="1"/>
          </p:cNvSpPr>
          <p:nvPr>
            <p:ph idx="1"/>
          </p:nvPr>
        </p:nvSpPr>
        <p:spPr/>
        <p:txBody>
          <a:bodyPr/>
          <a:lstStyle/>
          <a:p>
            <a:r>
              <a:rPr lang="en-US" dirty="0"/>
              <a:t>Implementing OO models:</a:t>
            </a:r>
          </a:p>
          <a:p>
            <a:pPr lvl="1"/>
            <a:r>
              <a:rPr lang="en-US" dirty="0"/>
              <a:t>OO programming languages</a:t>
            </a:r>
          </a:p>
          <a:p>
            <a:pPr lvl="2"/>
            <a:r>
              <a:rPr lang="en-US" dirty="0"/>
              <a:t>E.g., Kotlin, Java, C++</a:t>
            </a:r>
          </a:p>
          <a:p>
            <a:r>
              <a:rPr lang="en-US" dirty="0"/>
              <a:t>Expressing OO models:</a:t>
            </a:r>
          </a:p>
          <a:p>
            <a:pPr lvl="1"/>
            <a:r>
              <a:rPr lang="en-US" dirty="0"/>
              <a:t>OO design notations</a:t>
            </a:r>
          </a:p>
          <a:p>
            <a:pPr lvl="2"/>
            <a:r>
              <a:rPr lang="en-US" dirty="0"/>
              <a:t>E.g., UML</a:t>
            </a:r>
          </a:p>
        </p:txBody>
      </p:sp>
      <p:sp>
        <p:nvSpPr>
          <p:cNvPr id="4" name="Slide Number Placeholder 5"/>
          <p:cNvSpPr>
            <a:spLocks noGrp="1"/>
          </p:cNvSpPr>
          <p:nvPr>
            <p:ph type="sldNum" sz="quarter" idx="12"/>
          </p:nvPr>
        </p:nvSpPr>
        <p:spPr/>
        <p:txBody>
          <a:bodyPr/>
          <a:lstStyle/>
          <a:p>
            <a:fld id="{D24B4B25-2942-3244-9556-05D9202B1EDD}" type="slidenum">
              <a:rPr lang="en-US"/>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2" name="Rectangle 2"/>
          <p:cNvSpPr>
            <a:spLocks noGrp="1" noChangeArrowheads="1"/>
          </p:cNvSpPr>
          <p:nvPr>
            <p:ph type="title"/>
          </p:nvPr>
        </p:nvSpPr>
        <p:spPr/>
        <p:txBody>
          <a:bodyPr/>
          <a:lstStyle/>
          <a:p>
            <a:r>
              <a:rPr lang="en-US" dirty="0"/>
              <a:t>Kotlin</a:t>
            </a:r>
          </a:p>
        </p:txBody>
      </p:sp>
      <p:sp>
        <p:nvSpPr>
          <p:cNvPr id="235523" name="Rectangle 3"/>
          <p:cNvSpPr>
            <a:spLocks noGrp="1" noChangeArrowheads="1"/>
          </p:cNvSpPr>
          <p:nvPr>
            <p:ph idx="1"/>
          </p:nvPr>
        </p:nvSpPr>
        <p:spPr/>
        <p:txBody>
          <a:bodyPr/>
          <a:lstStyle/>
          <a:p>
            <a:r>
              <a:rPr lang="en-US" dirty="0"/>
              <a:t>Principal designer:</a:t>
            </a:r>
          </a:p>
          <a:p>
            <a:pPr lvl="1"/>
            <a:r>
              <a:rPr lang="en-US" dirty="0"/>
              <a:t>Andrey Breslav, JetBrains</a:t>
            </a:r>
          </a:p>
          <a:p>
            <a:r>
              <a:rPr lang="en-US" dirty="0"/>
              <a:t>Language goals:</a:t>
            </a:r>
          </a:p>
          <a:p>
            <a:pPr lvl="1"/>
            <a:r>
              <a:rPr lang="en-US" dirty="0"/>
              <a:t>Concise, readable, pragmatic</a:t>
            </a:r>
          </a:p>
          <a:p>
            <a:pPr lvl="1"/>
            <a:r>
              <a:rPr lang="en-US" dirty="0"/>
              <a:t>Object-oriented with functional features</a:t>
            </a:r>
          </a:p>
          <a:p>
            <a:pPr lvl="1"/>
            <a:r>
              <a:rPr lang="en-US" dirty="0"/>
              <a:t>Robust and safer through null safety</a:t>
            </a:r>
          </a:p>
          <a:p>
            <a:pPr lvl="1"/>
            <a:r>
              <a:rPr lang="en-CA" dirty="0"/>
              <a:t>Multiplatform support: JVM, Android, JavaScript, Native</a:t>
            </a:r>
          </a:p>
        </p:txBody>
      </p:sp>
      <p:sp>
        <p:nvSpPr>
          <p:cNvPr id="6" name="Slide Number Placeholder 6"/>
          <p:cNvSpPr>
            <a:spLocks noGrp="1"/>
          </p:cNvSpPr>
          <p:nvPr>
            <p:ph type="sldNum" sz="quarter" idx="12"/>
          </p:nvPr>
        </p:nvSpPr>
        <p:spPr/>
        <p:txBody>
          <a:bodyPr/>
          <a:lstStyle/>
          <a:p>
            <a:fld id="{1146FD50-7BDA-534C-BCCE-C3C8018B0A93}" type="slidenum">
              <a:rPr lang="en-US" smtClean="0"/>
              <a:pPr/>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642" name="Rectangle 50"/>
          <p:cNvSpPr>
            <a:spLocks noGrp="1" noChangeArrowheads="1"/>
          </p:cNvSpPr>
          <p:nvPr>
            <p:ph type="title"/>
          </p:nvPr>
        </p:nvSpPr>
        <p:spPr/>
        <p:txBody>
          <a:bodyPr/>
          <a:lstStyle/>
          <a:p>
            <a:r>
              <a:rPr lang="en-US" dirty="0"/>
              <a:t>Kotlin</a:t>
            </a:r>
          </a:p>
        </p:txBody>
      </p:sp>
      <p:sp>
        <p:nvSpPr>
          <p:cNvPr id="238643" name="Rectangle 51"/>
          <p:cNvSpPr>
            <a:spLocks noGrp="1" noChangeArrowheads="1"/>
          </p:cNvSpPr>
          <p:nvPr>
            <p:ph idx="1"/>
          </p:nvPr>
        </p:nvSpPr>
        <p:spPr/>
        <p:txBody>
          <a:bodyPr/>
          <a:lstStyle/>
          <a:p>
            <a:r>
              <a:rPr lang="en-US" dirty="0"/>
              <a:t>Language design inspired by:</a:t>
            </a:r>
          </a:p>
        </p:txBody>
      </p:sp>
      <p:sp>
        <p:nvSpPr>
          <p:cNvPr id="33" name="Slide Number Placeholder 5"/>
          <p:cNvSpPr>
            <a:spLocks noGrp="1"/>
          </p:cNvSpPr>
          <p:nvPr>
            <p:ph type="sldNum" sz="quarter" idx="12"/>
          </p:nvPr>
        </p:nvSpPr>
        <p:spPr/>
        <p:txBody>
          <a:bodyPr/>
          <a:lstStyle/>
          <a:p>
            <a:fld id="{D4786930-D57C-A84F-9D1D-F98C65DE68EC}" type="slidenum">
              <a:rPr lang="en-US"/>
              <a:pPr/>
              <a:t>15</a:t>
            </a:fld>
            <a:endParaRPr lang="en-US"/>
          </a:p>
        </p:txBody>
      </p:sp>
      <p:graphicFrame>
        <p:nvGraphicFramePr>
          <p:cNvPr id="238641" name="Group 49"/>
          <p:cNvGraphicFramePr>
            <a:graphicFrameLocks noGrp="1"/>
          </p:cNvGraphicFramePr>
          <p:nvPr>
            <p:extLst>
              <p:ext uri="{D42A27DB-BD31-4B8C-83A1-F6EECF244321}">
                <p14:modId xmlns:p14="http://schemas.microsoft.com/office/powerpoint/2010/main" val="218792478"/>
              </p:ext>
            </p:extLst>
          </p:nvPr>
        </p:nvGraphicFramePr>
        <p:xfrm>
          <a:off x="2922290" y="2667001"/>
          <a:ext cx="6347420" cy="3566160"/>
        </p:xfrm>
        <a:graphic>
          <a:graphicData uri="http://schemas.openxmlformats.org/drawingml/2006/table">
            <a:tbl>
              <a:tblPr>
                <a:tableStyleId>{793D81CF-94F2-401A-BA57-92F5A7B2D0C5}</a:tableStyleId>
              </a:tblPr>
              <a:tblGrid>
                <a:gridCol w="2351219">
                  <a:extLst>
                    <a:ext uri="{9D8B030D-6E8A-4147-A177-3AD203B41FA5}">
                      <a16:colId xmlns:a16="http://schemas.microsoft.com/office/drawing/2014/main" val="20000"/>
                    </a:ext>
                  </a:extLst>
                </a:gridCol>
                <a:gridCol w="3996201">
                  <a:extLst>
                    <a:ext uri="{9D8B030D-6E8A-4147-A177-3AD203B41FA5}">
                      <a16:colId xmlns:a16="http://schemas.microsoft.com/office/drawing/2014/main" val="20001"/>
                    </a:ext>
                  </a:extLst>
                </a:gridCol>
              </a:tblGrid>
              <a:tr h="180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charset="0"/>
                          <a:ea typeface="ＭＳ Ｐゴシック" charset="0"/>
                        </a:rPr>
                        <a:t>Language</a:t>
                      </a:r>
                    </a:p>
                  </a:txBody>
                  <a:tcPr horzOverflow="overflow">
                    <a:solidFill>
                      <a:schemeClr val="bg1">
                        <a:lumMod val="75000"/>
                      </a:schemeClr>
                    </a:solidFill>
                  </a:tcPr>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Verdana" charset="0"/>
                          <a:ea typeface="ＭＳ Ｐゴシック" charset="0"/>
                        </a:rPr>
                        <a:t>Feature</a:t>
                      </a:r>
                    </a:p>
                  </a:txBody>
                  <a:tcPr horzOverflow="overflow">
                    <a:solidFill>
                      <a:schemeClr val="bg1">
                        <a:lumMod val="75000"/>
                      </a:schemeClr>
                    </a:solidFill>
                  </a:tcPr>
                </a:tc>
                <a:extLst>
                  <a:ext uri="{0D108BD9-81ED-4DB2-BD59-A6C34878D82A}">
                    <a16:rowId xmlns:a16="http://schemas.microsoft.com/office/drawing/2014/main" val="920907760"/>
                  </a:ext>
                </a:extLst>
              </a:tr>
              <a:tr h="180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Java</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JVM compatibility, tooling ecosystem, uses classes, interfaces, exceptions</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extLst>
                  <a:ext uri="{0D108BD9-81ED-4DB2-BD59-A6C34878D82A}">
                    <a16:rowId xmlns:a16="http://schemas.microsoft.com/office/drawing/2014/main" val="10000"/>
                  </a:ext>
                </a:extLst>
              </a:tr>
              <a:tr h="438150">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Scala</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Object-oriented + functional programming features</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extLst>
                  <a:ext uri="{0D108BD9-81ED-4DB2-BD59-A6C34878D82A}">
                    <a16:rowId xmlns:a16="http://schemas.microsoft.com/office/drawing/2014/main" val="10001"/>
                  </a:ext>
                </a:extLst>
              </a:tr>
              <a:tr h="434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C#</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Properties, null-safety style, modern concise syntax</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extLst>
                  <a:ext uri="{0D108BD9-81ED-4DB2-BD59-A6C34878D82A}">
                    <a16:rowId xmlns:a16="http://schemas.microsoft.com/office/drawing/2014/main" val="10002"/>
                  </a:ext>
                </a:extLst>
              </a:tr>
              <a:tr h="436563">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Groovy</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Concise JVM language features, scripting-like convenience</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extLst>
                  <a:ext uri="{0D108BD9-81ED-4DB2-BD59-A6C34878D82A}">
                    <a16:rowId xmlns:a16="http://schemas.microsoft.com/office/drawing/2014/main" val="10003"/>
                  </a:ext>
                </a:extLst>
              </a:tr>
              <a:tr h="434975">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JavaScript</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tc>
                  <a:txBody>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1800" b="0" u="none" strike="noStrike" cap="none" normalizeH="0" baseline="0" dirty="0">
                          <a:ln>
                            <a:noFill/>
                          </a:ln>
                          <a:solidFill>
                            <a:schemeClr val="tx1"/>
                          </a:solidFill>
                          <a:effectLst/>
                        </a:rPr>
                        <a:t>Multiplatform/web support and familiar modern syntax</a:t>
                      </a:r>
                      <a:endParaRPr kumimoji="0" lang="en-US" sz="1800" b="0" i="0" u="none" strike="noStrike" cap="none" normalizeH="0" baseline="0" dirty="0">
                        <a:ln>
                          <a:noFill/>
                        </a:ln>
                        <a:solidFill>
                          <a:schemeClr val="tx1"/>
                        </a:solidFill>
                        <a:effectLst/>
                        <a:latin typeface="Verdana" charset="0"/>
                        <a:ea typeface="ＭＳ Ｐゴシック" charset="0"/>
                      </a:endParaRPr>
                    </a:p>
                  </a:txBody>
                  <a:tcPr horzOverflow="overflow"/>
                </a:tc>
                <a:extLst>
                  <a:ext uri="{0D108BD9-81ED-4DB2-BD59-A6C34878D82A}">
                    <a16:rowId xmlns:a16="http://schemas.microsoft.com/office/drawing/2014/main" val="10004"/>
                  </a:ext>
                </a:extLst>
              </a:tr>
            </a:tbl>
          </a:graphicData>
        </a:graphic>
      </p:graphicFrame>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6" name="Rectangle 2"/>
          <p:cNvSpPr>
            <a:spLocks noGrp="1" noChangeArrowheads="1"/>
          </p:cNvSpPr>
          <p:nvPr>
            <p:ph type="title"/>
          </p:nvPr>
        </p:nvSpPr>
        <p:spPr>
          <a:xfrm>
            <a:off x="838200" y="467830"/>
            <a:ext cx="9938320" cy="1143000"/>
          </a:xfrm>
        </p:spPr>
        <p:txBody>
          <a:bodyPr>
            <a:normAutofit/>
          </a:bodyPr>
          <a:lstStyle/>
          <a:p>
            <a:r>
              <a:rPr lang="en-US" dirty="0"/>
              <a:t>Unified Modeling Language (UML)</a:t>
            </a:r>
          </a:p>
        </p:txBody>
      </p:sp>
      <p:sp>
        <p:nvSpPr>
          <p:cNvPr id="257027" name="Rectangle 3"/>
          <p:cNvSpPr>
            <a:spLocks noGrp="1" noChangeArrowheads="1"/>
          </p:cNvSpPr>
          <p:nvPr>
            <p:ph idx="1"/>
          </p:nvPr>
        </p:nvSpPr>
        <p:spPr/>
        <p:txBody>
          <a:bodyPr>
            <a:normAutofit/>
          </a:bodyPr>
          <a:lstStyle/>
          <a:p>
            <a:r>
              <a:rPr lang="en-US" dirty="0"/>
              <a:t>Principal designers:</a:t>
            </a:r>
          </a:p>
          <a:p>
            <a:pPr lvl="1"/>
            <a:r>
              <a:rPr lang="en-US" dirty="0"/>
              <a:t>Grady </a:t>
            </a:r>
            <a:r>
              <a:rPr lang="en-US" dirty="0" err="1"/>
              <a:t>Booch</a:t>
            </a:r>
            <a:r>
              <a:rPr lang="en-US" dirty="0"/>
              <a:t>, </a:t>
            </a:r>
            <a:r>
              <a:rPr lang="en-US" dirty="0" err="1"/>
              <a:t>Ivar</a:t>
            </a:r>
            <a:r>
              <a:rPr lang="en-US" dirty="0"/>
              <a:t> Jacobson, James </a:t>
            </a:r>
            <a:r>
              <a:rPr lang="en-US" dirty="0" err="1"/>
              <a:t>Rumbaugh</a:t>
            </a:r>
            <a:endParaRPr lang="en-US" dirty="0"/>
          </a:p>
          <a:p>
            <a:r>
              <a:rPr lang="en-US" dirty="0"/>
              <a:t>Language goals:</a:t>
            </a:r>
          </a:p>
          <a:p>
            <a:pPr lvl="1"/>
            <a:r>
              <a:rPr lang="en-US" dirty="0"/>
              <a:t>Express object-oriented designs visually</a:t>
            </a:r>
          </a:p>
          <a:p>
            <a:pPr lvl="1"/>
            <a:r>
              <a:rPr lang="en-US" dirty="0"/>
              <a:t>Programming language independent</a:t>
            </a:r>
          </a:p>
          <a:p>
            <a:pPr lvl="1"/>
            <a:r>
              <a:rPr lang="en-US" dirty="0"/>
              <a:t>Communicate, evaluate, and reuse designs</a:t>
            </a:r>
          </a:p>
          <a:p>
            <a:pPr lvl="1"/>
            <a:r>
              <a:rPr lang="en-US" dirty="0"/>
              <a:t>Make design intent more explicit</a:t>
            </a:r>
          </a:p>
          <a:p>
            <a:r>
              <a:rPr lang="en-US" dirty="0"/>
              <a:t>Allows thought about design before coding</a:t>
            </a:r>
          </a:p>
          <a:p>
            <a:pPr lvl="1"/>
            <a:endParaRPr lang="en-US" dirty="0"/>
          </a:p>
          <a:p>
            <a:pPr lvl="1"/>
            <a:endParaRPr lang="en-US" dirty="0"/>
          </a:p>
          <a:p>
            <a:pPr lvl="1"/>
            <a:endParaRPr lang="en-US" dirty="0"/>
          </a:p>
        </p:txBody>
      </p:sp>
      <p:sp>
        <p:nvSpPr>
          <p:cNvPr id="7" name="Slide Number Placeholder 5"/>
          <p:cNvSpPr>
            <a:spLocks noGrp="1"/>
          </p:cNvSpPr>
          <p:nvPr>
            <p:ph type="sldNum" sz="quarter" idx="12"/>
          </p:nvPr>
        </p:nvSpPr>
        <p:spPr/>
        <p:txBody>
          <a:bodyPr/>
          <a:lstStyle/>
          <a:p>
            <a:fld id="{7F1F4861-C549-DF4F-873E-053AFA560A15}" type="slidenum">
              <a:rPr lang="en-US"/>
              <a:pPr/>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UML?</a:t>
            </a:r>
          </a:p>
        </p:txBody>
      </p:sp>
      <p:pic>
        <p:nvPicPr>
          <p:cNvPr id="5" name="Content Placeholder 4" descr="Oracle+Architecture.png"/>
          <p:cNvPicPr>
            <a:picLocks noGrp="1" noChangeAspect="1"/>
          </p:cNvPicPr>
          <p:nvPr>
            <p:ph idx="1"/>
          </p:nvPr>
        </p:nvPicPr>
        <p:blipFill>
          <a:blip r:embed="rId2">
            <a:extLst>
              <a:ext uri="{28A0092B-C50C-407E-A947-70E740481C1C}">
                <a14:useLocalDpi xmlns:a14="http://schemas.microsoft.com/office/drawing/2010/main" val="0"/>
              </a:ext>
            </a:extLst>
          </a:blip>
          <a:srcRect t="1448" b="1448"/>
          <a:stretch>
            <a:fillRect/>
          </a:stretch>
        </p:blipFill>
        <p:spPr>
          <a:xfrm>
            <a:off x="2702376" y="1556792"/>
            <a:ext cx="7498080" cy="4800600"/>
          </a:xfrm>
        </p:spPr>
      </p:pic>
      <p:sp>
        <p:nvSpPr>
          <p:cNvPr id="4" name="Slide Number Placeholder 3"/>
          <p:cNvSpPr>
            <a:spLocks noGrp="1"/>
          </p:cNvSpPr>
          <p:nvPr>
            <p:ph type="sldNum" sz="quarter" idx="12"/>
          </p:nvPr>
        </p:nvSpPr>
        <p:spPr/>
        <p:txBody>
          <a:bodyPr/>
          <a:lstStyle/>
          <a:p>
            <a:fld id="{D3F25697-57D3-0D49-8FC5-4BE2D6D757CB}" type="slidenum">
              <a:rPr lang="en-US" smtClean="0"/>
              <a:pPr/>
              <a:t>17</a:t>
            </a:fld>
            <a:endParaRPr lang="en-US"/>
          </a:p>
        </p:txBody>
      </p:sp>
    </p:spTree>
    <p:extLst>
      <p:ext uri="{BB962C8B-B14F-4D97-AF65-F5344CB8AC3E}">
        <p14:creationId xmlns:p14="http://schemas.microsoft.com/office/powerpoint/2010/main" val="73252877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42" name="Rectangle 2"/>
          <p:cNvSpPr>
            <a:spLocks noGrp="1" noChangeArrowheads="1"/>
          </p:cNvSpPr>
          <p:nvPr>
            <p:ph type="title"/>
          </p:nvPr>
        </p:nvSpPr>
        <p:spPr/>
        <p:txBody>
          <a:bodyPr/>
          <a:lstStyle/>
          <a:p>
            <a:r>
              <a:rPr lang="en-US" dirty="0"/>
              <a:t>Abstraction</a:t>
            </a:r>
          </a:p>
        </p:txBody>
      </p:sp>
      <p:sp>
        <p:nvSpPr>
          <p:cNvPr id="419843" name="Rectangle 3"/>
          <p:cNvSpPr>
            <a:spLocks noGrp="1" noChangeArrowheads="1"/>
          </p:cNvSpPr>
          <p:nvPr>
            <p:ph idx="1"/>
          </p:nvPr>
        </p:nvSpPr>
        <p:spPr/>
        <p:txBody>
          <a:bodyPr/>
          <a:lstStyle/>
          <a:p>
            <a:r>
              <a:rPr lang="en-US" dirty="0"/>
              <a:t>Object:</a:t>
            </a:r>
          </a:p>
          <a:p>
            <a:pPr lvl="1"/>
            <a:r>
              <a:rPr lang="en-US" dirty="0"/>
              <a:t>An entity with specific attribute values (state), behavior, and identity</a:t>
            </a:r>
          </a:p>
          <a:p>
            <a:pPr lvl="1"/>
            <a:r>
              <a:rPr lang="en-US" dirty="0"/>
              <a:t>Typically instantiated from a class</a:t>
            </a:r>
          </a:p>
          <a:p>
            <a:r>
              <a:rPr lang="en-US" dirty="0"/>
              <a:t>Class:</a:t>
            </a:r>
          </a:p>
          <a:p>
            <a:pPr lvl="1"/>
            <a:r>
              <a:rPr lang="en-US" dirty="0"/>
              <a:t>Associated type of an object</a:t>
            </a:r>
          </a:p>
          <a:p>
            <a:pPr lvl="1"/>
            <a:r>
              <a:rPr lang="en-US" dirty="0"/>
              <a:t>Defines attributes and methods</a:t>
            </a:r>
          </a:p>
        </p:txBody>
      </p:sp>
      <p:sp>
        <p:nvSpPr>
          <p:cNvPr id="4" name="Slide Number Placeholder 5"/>
          <p:cNvSpPr>
            <a:spLocks noGrp="1"/>
          </p:cNvSpPr>
          <p:nvPr>
            <p:ph type="sldNum" sz="quarter" idx="12"/>
          </p:nvPr>
        </p:nvSpPr>
        <p:spPr/>
        <p:txBody>
          <a:bodyPr/>
          <a:lstStyle/>
          <a:p>
            <a:fld id="{0C6F5522-AA1E-6A4A-87C8-14F0AFFFFBC7}" type="slidenum">
              <a:rPr lang="en-US"/>
              <a:pPr/>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p:txBody>
          <a:bodyPr/>
          <a:lstStyle/>
          <a:p>
            <a:r>
              <a:rPr lang="en-US" dirty="0"/>
              <a:t>Kotlin and UML Class</a:t>
            </a:r>
          </a:p>
        </p:txBody>
      </p:sp>
      <p:sp>
        <p:nvSpPr>
          <p:cNvPr id="6147" name="Rectangle 3"/>
          <p:cNvSpPr>
            <a:spLocks noGrp="1" noChangeArrowheads="1"/>
          </p:cNvSpPr>
          <p:nvPr>
            <p:ph idx="1"/>
          </p:nvPr>
        </p:nvSpPr>
        <p:spPr/>
        <p:txBody>
          <a:bodyPr/>
          <a:lstStyle/>
          <a:p>
            <a:r>
              <a:rPr lang="en-US" sz="1800" dirty="0">
                <a:latin typeface="Courier" charset="0"/>
              </a:rPr>
              <a:t>class Frame { </a:t>
            </a:r>
            <a:r>
              <a:rPr lang="en-US" sz="1800" dirty="0">
                <a:solidFill>
                  <a:srgbClr val="008000"/>
                </a:solidFill>
                <a:latin typeface="Courier" charset="0"/>
              </a:rPr>
              <a:t>// version 0</a:t>
            </a:r>
            <a:br>
              <a:rPr lang="en-US" sz="1800" dirty="0">
                <a:latin typeface="Courier" charset="0"/>
              </a:rPr>
            </a:br>
            <a:r>
              <a:rPr lang="en-US" sz="1800" dirty="0">
                <a:latin typeface="Courier" charset="0"/>
              </a:rPr>
              <a:t>    </a:t>
            </a:r>
            <a:r>
              <a:rPr lang="en-US" sz="1800" dirty="0">
                <a:solidFill>
                  <a:srgbClr val="008000"/>
                </a:solidFill>
                <a:latin typeface="Courier" charset="0"/>
              </a:rPr>
              <a:t>// represents a ‘window’</a:t>
            </a:r>
            <a:br>
              <a:rPr lang="en-US" sz="1800" dirty="0">
                <a:solidFill>
                  <a:srgbClr val="008000"/>
                </a:solidFill>
                <a:latin typeface="Courier" charset="0"/>
              </a:rPr>
            </a:br>
            <a:r>
              <a:rPr lang="en-US" sz="1800" dirty="0">
                <a:solidFill>
                  <a:srgbClr val="008000"/>
                </a:solidFill>
                <a:latin typeface="Courier" charset="0"/>
              </a:rPr>
              <a:t>    /* body of class definition goes here */</a:t>
            </a:r>
            <a:br>
              <a:rPr lang="en-US" sz="1800" dirty="0">
                <a:solidFill>
                  <a:schemeClr val="hlink"/>
                </a:solidFill>
                <a:latin typeface="Courier" charset="0"/>
              </a:rPr>
            </a:br>
            <a:r>
              <a:rPr lang="en-US" sz="1800" dirty="0">
                <a:latin typeface="Courier" charset="0"/>
              </a:rPr>
              <a:t>}</a:t>
            </a:r>
            <a:endParaRPr lang="en-US" dirty="0"/>
          </a:p>
        </p:txBody>
      </p:sp>
      <p:sp>
        <p:nvSpPr>
          <p:cNvPr id="9" name="Slide Number Placeholder 5"/>
          <p:cNvSpPr>
            <a:spLocks noGrp="1"/>
          </p:cNvSpPr>
          <p:nvPr>
            <p:ph type="sldNum" sz="quarter" idx="12"/>
          </p:nvPr>
        </p:nvSpPr>
        <p:spPr/>
        <p:txBody>
          <a:bodyPr/>
          <a:lstStyle/>
          <a:p>
            <a:fld id="{44B28BED-2BD4-BF4F-9BE9-95E016DEC78C}" type="slidenum">
              <a:rPr lang="en-US"/>
              <a:pPr/>
              <a:t>19</a:t>
            </a:fld>
            <a:endParaRPr lang="en-US"/>
          </a:p>
        </p:txBody>
      </p:sp>
      <p:grpSp>
        <p:nvGrpSpPr>
          <p:cNvPr id="2" name="Group 1">
            <a:extLst>
              <a:ext uri="{FF2B5EF4-FFF2-40B4-BE49-F238E27FC236}">
                <a16:creationId xmlns:a16="http://schemas.microsoft.com/office/drawing/2014/main" id="{702F3F81-00D8-70D9-47E0-543783EE856D}"/>
              </a:ext>
            </a:extLst>
          </p:cNvPr>
          <p:cNvGrpSpPr/>
          <p:nvPr/>
        </p:nvGrpSpPr>
        <p:grpSpPr>
          <a:xfrm>
            <a:off x="3154363" y="3755504"/>
            <a:ext cx="5883274" cy="1921907"/>
            <a:chOff x="3405486" y="3755504"/>
            <a:chExt cx="5883274" cy="1921907"/>
          </a:xfrm>
        </p:grpSpPr>
        <p:sp>
          <p:nvSpPr>
            <p:cNvPr id="6149" name="Rectangle 5"/>
            <p:cNvSpPr>
              <a:spLocks noChangeArrowheads="1"/>
            </p:cNvSpPr>
            <p:nvPr/>
          </p:nvSpPr>
          <p:spPr bwMode="auto">
            <a:xfrm>
              <a:off x="3497560" y="3755504"/>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Frame</a:t>
              </a:r>
            </a:p>
          </p:txBody>
        </p:sp>
        <p:sp>
          <p:nvSpPr>
            <p:cNvPr id="6150" name="Rectangle 6"/>
            <p:cNvSpPr>
              <a:spLocks noChangeArrowheads="1"/>
            </p:cNvSpPr>
            <p:nvPr/>
          </p:nvSpPr>
          <p:spPr bwMode="auto">
            <a:xfrm>
              <a:off x="7536160" y="3755504"/>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Frame</a:t>
              </a:r>
            </a:p>
          </p:txBody>
        </p:sp>
        <p:sp>
          <p:nvSpPr>
            <p:cNvPr id="6151" name="Rectangle 7"/>
            <p:cNvSpPr>
              <a:spLocks noChangeArrowheads="1"/>
            </p:cNvSpPr>
            <p:nvPr/>
          </p:nvSpPr>
          <p:spPr bwMode="auto">
            <a:xfrm>
              <a:off x="7536160" y="4365104"/>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6152" name="Rectangle 8"/>
            <p:cNvSpPr>
              <a:spLocks noChangeArrowheads="1"/>
            </p:cNvSpPr>
            <p:nvPr/>
          </p:nvSpPr>
          <p:spPr bwMode="auto">
            <a:xfrm>
              <a:off x="7536160" y="4653136"/>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6153" name="Text Box 9"/>
            <p:cNvSpPr txBox="1">
              <a:spLocks noChangeArrowheads="1"/>
            </p:cNvSpPr>
            <p:nvPr/>
          </p:nvSpPr>
          <p:spPr bwMode="auto">
            <a:xfrm>
              <a:off x="3405486" y="5308079"/>
              <a:ext cx="2094099"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t>UML class notation</a:t>
              </a:r>
            </a:p>
          </p:txBody>
        </p:sp>
      </p:gr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1890" name="Rectangle 2"/>
          <p:cNvSpPr>
            <a:spLocks noGrp="1" noChangeArrowheads="1"/>
          </p:cNvSpPr>
          <p:nvPr>
            <p:ph type="title"/>
          </p:nvPr>
        </p:nvSpPr>
        <p:spPr/>
        <p:txBody>
          <a:bodyPr/>
          <a:lstStyle/>
          <a:p>
            <a:r>
              <a:rPr lang="en-US" dirty="0"/>
              <a:t>Encapsulation</a:t>
            </a:r>
          </a:p>
        </p:txBody>
      </p:sp>
      <p:sp>
        <p:nvSpPr>
          <p:cNvPr id="421891" name="Rectangle 3"/>
          <p:cNvSpPr>
            <a:spLocks noGrp="1" noChangeArrowheads="1"/>
          </p:cNvSpPr>
          <p:nvPr>
            <p:ph idx="1"/>
          </p:nvPr>
        </p:nvSpPr>
        <p:spPr/>
        <p:txBody>
          <a:bodyPr/>
          <a:lstStyle/>
          <a:p>
            <a:r>
              <a:rPr lang="en-US" dirty="0"/>
              <a:t>Class:</a:t>
            </a:r>
          </a:p>
          <a:p>
            <a:pPr lvl="1"/>
            <a:r>
              <a:rPr lang="en-US" dirty="0"/>
              <a:t>Access control for attributes and methods</a:t>
            </a:r>
          </a:p>
          <a:p>
            <a:pPr lvl="2"/>
            <a:r>
              <a:rPr lang="en-US" dirty="0"/>
              <a:t>E.g., public (by default in Kotlin) or private</a:t>
            </a:r>
          </a:p>
          <a:p>
            <a:pPr lvl="1"/>
            <a:r>
              <a:rPr lang="en-US" dirty="0"/>
              <a:t>Access is not the same as visibility</a:t>
            </a:r>
          </a:p>
          <a:p>
            <a:pPr lvl="1"/>
            <a:r>
              <a:rPr lang="en-US" dirty="0"/>
              <a:t>“Design by contract”</a:t>
            </a:r>
          </a:p>
          <a:p>
            <a:pPr lvl="2"/>
            <a:r>
              <a:rPr lang="en-US" dirty="0"/>
              <a:t>Public interface represents a contract between the developer who implements the class and the developer who uses the class</a:t>
            </a:r>
          </a:p>
        </p:txBody>
      </p:sp>
      <p:sp>
        <p:nvSpPr>
          <p:cNvPr id="4" name="Slide Number Placeholder 5"/>
          <p:cNvSpPr>
            <a:spLocks noGrp="1"/>
          </p:cNvSpPr>
          <p:nvPr>
            <p:ph type="sldNum" sz="quarter" idx="12"/>
          </p:nvPr>
        </p:nvSpPr>
        <p:spPr/>
        <p:txBody>
          <a:bodyPr/>
          <a:lstStyle/>
          <a:p>
            <a:fld id="{1B51561C-9EB0-874B-83E5-12F615111F2F}" type="slidenum">
              <a:rPr lang="en-US"/>
              <a:pPr/>
              <a:t>20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2189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2189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30" name="Rectangle 2"/>
          <p:cNvSpPr>
            <a:spLocks noGrp="1" noChangeArrowheads="1"/>
          </p:cNvSpPr>
          <p:nvPr>
            <p:ph type="title"/>
          </p:nvPr>
        </p:nvSpPr>
        <p:spPr/>
        <p:txBody>
          <a:bodyPr/>
          <a:lstStyle/>
          <a:p>
            <a:r>
              <a:rPr lang="en-US" dirty="0"/>
              <a:t>Kotlin Class</a:t>
            </a:r>
          </a:p>
        </p:txBody>
      </p:sp>
      <p:sp>
        <p:nvSpPr>
          <p:cNvPr id="201731" name="Rectangle 3"/>
          <p:cNvSpPr>
            <a:spLocks noGrp="1" noChangeArrowheads="1"/>
          </p:cNvSpPr>
          <p:nvPr>
            <p:ph idx="1"/>
          </p:nvPr>
        </p:nvSpPr>
        <p:spPr>
          <a:xfrm>
            <a:off x="838200" y="1690688"/>
            <a:ext cx="10515600" cy="4351338"/>
          </a:xfrm>
        </p:spPr>
        <p:txBody>
          <a:bodyPr/>
          <a:lstStyle/>
          <a:p>
            <a:r>
              <a:rPr lang="en-US" sz="1800" dirty="0">
                <a:latin typeface="Courier" charset="0"/>
              </a:rPr>
              <a:t>class Frame { </a:t>
            </a:r>
            <a:r>
              <a:rPr lang="en-US" sz="1800" dirty="0">
                <a:solidFill>
                  <a:srgbClr val="008000"/>
                </a:solidFill>
                <a:latin typeface="Courier" charset="0"/>
              </a:rPr>
              <a:t>// version 1</a:t>
            </a:r>
            <a:br>
              <a:rPr lang="en-US" sz="1800" dirty="0">
                <a:latin typeface="Courier" charset="0"/>
              </a:rPr>
            </a:br>
            <a:r>
              <a:rPr lang="en-US" sz="1800" dirty="0">
                <a:latin typeface="Courier" charset="0"/>
              </a:rPr>
              <a:t>    </a:t>
            </a:r>
            <a:r>
              <a:rPr lang="en-US" sz="1800" dirty="0">
                <a:solidFill>
                  <a:srgbClr val="008000"/>
                </a:solidFill>
                <a:latin typeface="Courier" charset="0"/>
              </a:rPr>
              <a:t>// private implementation</a:t>
            </a:r>
            <a:br>
              <a:rPr lang="en-US" sz="1800" dirty="0">
                <a:latin typeface="Courier" charset="0"/>
              </a:rPr>
            </a:br>
            <a:br>
              <a:rPr lang="en-US" sz="1800" dirty="0">
                <a:latin typeface="Courier" charset="0"/>
              </a:rPr>
            </a:br>
            <a:r>
              <a:rPr lang="en-US" sz="1800" dirty="0">
                <a:latin typeface="Courier" charset="0"/>
              </a:rPr>
              <a:t>    private var </a:t>
            </a:r>
            <a:r>
              <a:rPr lang="en-US" sz="1800" i="1" dirty="0" err="1">
                <a:latin typeface="Courier" charset="0"/>
              </a:rPr>
              <a:t>variablename</a:t>
            </a:r>
            <a:r>
              <a:rPr lang="en-US" sz="1800" i="1" dirty="0">
                <a:latin typeface="Courier" charset="0"/>
              </a:rPr>
              <a:t>: </a:t>
            </a:r>
            <a:r>
              <a:rPr lang="en-US" sz="1800" i="1" dirty="0" err="1">
                <a:latin typeface="Courier" charset="0"/>
              </a:rPr>
              <a:t>DataType</a:t>
            </a:r>
            <a:br>
              <a:rPr lang="en-US" sz="1800" dirty="0">
                <a:latin typeface="Courier" charset="0"/>
              </a:rPr>
            </a:br>
            <a:br>
              <a:rPr lang="en-US" sz="1800" dirty="0">
                <a:latin typeface="Courier" charset="0"/>
              </a:rPr>
            </a:br>
            <a:r>
              <a:rPr lang="en-US" sz="1800" dirty="0">
                <a:latin typeface="Courier" charset="0"/>
              </a:rPr>
              <a:t>    </a:t>
            </a:r>
            <a:r>
              <a:rPr lang="en-US" sz="1800" dirty="0">
                <a:solidFill>
                  <a:srgbClr val="008000"/>
                </a:solidFill>
                <a:latin typeface="Courier" charset="0"/>
              </a:rPr>
              <a:t>// public interface</a:t>
            </a:r>
            <a:r>
              <a:rPr lang="en-US" sz="1800" dirty="0">
                <a:solidFill>
                  <a:schemeClr val="accent2"/>
                </a:solidFill>
                <a:latin typeface="Courier" charset="0"/>
              </a:rPr>
              <a:t> </a:t>
            </a:r>
            <a:br>
              <a:rPr lang="en-US" sz="1800" dirty="0">
                <a:latin typeface="Courier" charset="0"/>
              </a:rPr>
            </a:br>
            <a:br>
              <a:rPr lang="en-US" sz="1800" dirty="0">
                <a:latin typeface="Courier" charset="0"/>
              </a:rPr>
            </a:br>
            <a:r>
              <a:rPr lang="en-US" sz="1800" dirty="0">
                <a:latin typeface="Courier" charset="0"/>
              </a:rPr>
              <a:t>    constructor( </a:t>
            </a:r>
            <a:r>
              <a:rPr lang="en-US" sz="1800" i="1" dirty="0">
                <a:latin typeface="Courier" charset="0"/>
              </a:rPr>
              <a:t>arguments: </a:t>
            </a:r>
            <a:r>
              <a:rPr lang="en-US" sz="1800" i="1" dirty="0" err="1">
                <a:latin typeface="Courier" charset="0"/>
              </a:rPr>
              <a:t>ArgumentType</a:t>
            </a:r>
            <a:r>
              <a:rPr lang="en-US" sz="1800" dirty="0">
                <a:latin typeface="Courier" charset="0"/>
              </a:rPr>
              <a:t> ) {</a:t>
            </a:r>
            <a:br>
              <a:rPr lang="en-US" sz="1800" dirty="0">
                <a:latin typeface="Courier" charset="0"/>
              </a:rPr>
            </a:br>
            <a:r>
              <a:rPr lang="en-US" sz="1800" dirty="0">
                <a:latin typeface="Courier" charset="0"/>
              </a:rPr>
              <a:t>        </a:t>
            </a:r>
            <a:r>
              <a:rPr lang="en-US" sz="1800" dirty="0">
                <a:solidFill>
                  <a:srgbClr val="008000"/>
                </a:solidFill>
                <a:latin typeface="Courier" charset="0"/>
              </a:rPr>
              <a:t>// implementation of constructor</a:t>
            </a:r>
            <a:br>
              <a:rPr lang="en-US" sz="1800" dirty="0">
                <a:latin typeface="Courier" charset="0"/>
              </a:rPr>
            </a:br>
            <a:r>
              <a:rPr lang="en-US" sz="1800" dirty="0">
                <a:latin typeface="Courier" charset="0"/>
              </a:rPr>
              <a:t>    }</a:t>
            </a:r>
            <a:br>
              <a:rPr lang="en-US" sz="1800" dirty="0">
                <a:latin typeface="Courier" charset="0"/>
              </a:rPr>
            </a:br>
            <a:br>
              <a:rPr lang="en-US" sz="1800" dirty="0">
                <a:latin typeface="Courier" charset="0"/>
              </a:rPr>
            </a:br>
            <a:r>
              <a:rPr lang="en-US" sz="1800" dirty="0">
                <a:latin typeface="Courier" charset="0"/>
              </a:rPr>
              <a:t>    fun </a:t>
            </a:r>
            <a:r>
              <a:rPr lang="en-US" sz="1800" i="1" dirty="0" err="1">
                <a:latin typeface="Courier" charset="0"/>
              </a:rPr>
              <a:t>methodname</a:t>
            </a:r>
            <a:r>
              <a:rPr lang="en-US" sz="1800" dirty="0">
                <a:latin typeface="Courier" charset="0"/>
              </a:rPr>
              <a:t>( </a:t>
            </a:r>
            <a:r>
              <a:rPr lang="en-US" sz="1800" i="1" dirty="0" err="1">
                <a:latin typeface="Courier" charset="0"/>
              </a:rPr>
              <a:t>ArgumentType</a:t>
            </a:r>
            <a:r>
              <a:rPr lang="en-US" sz="1800" dirty="0">
                <a:latin typeface="Courier" charset="0"/>
              </a:rPr>
              <a:t> ): </a:t>
            </a:r>
            <a:r>
              <a:rPr lang="en-US" sz="1800" dirty="0" err="1">
                <a:latin typeface="Courier" charset="0"/>
              </a:rPr>
              <a:t>ReturnType</a:t>
            </a:r>
            <a:r>
              <a:rPr lang="en-US" sz="1800" dirty="0">
                <a:latin typeface="Courier" charset="0"/>
              </a:rPr>
              <a:t> {</a:t>
            </a:r>
            <a:br>
              <a:rPr lang="en-US" sz="1800" dirty="0">
                <a:latin typeface="Courier" charset="0"/>
              </a:rPr>
            </a:br>
            <a:r>
              <a:rPr lang="en-US" sz="1800" dirty="0">
                <a:latin typeface="Courier" charset="0"/>
              </a:rPr>
              <a:t>        </a:t>
            </a:r>
            <a:r>
              <a:rPr lang="en-US" sz="1800" dirty="0">
                <a:solidFill>
                  <a:srgbClr val="008000"/>
                </a:solidFill>
                <a:latin typeface="Courier" charset="0"/>
              </a:rPr>
              <a:t>// implementation of method</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a:t>
            </a:r>
            <a:endParaRPr lang="en-US" dirty="0"/>
          </a:p>
        </p:txBody>
      </p:sp>
      <p:sp>
        <p:nvSpPr>
          <p:cNvPr id="4" name="Slide Number Placeholder 5"/>
          <p:cNvSpPr>
            <a:spLocks noGrp="1"/>
          </p:cNvSpPr>
          <p:nvPr>
            <p:ph type="sldNum" sz="quarter" idx="12"/>
          </p:nvPr>
        </p:nvSpPr>
        <p:spPr/>
        <p:txBody>
          <a:bodyPr/>
          <a:lstStyle/>
          <a:p>
            <a:fld id="{FDA0ACB5-7896-6144-B6FB-FAF6D1C2A998}" type="slidenum">
              <a:rPr lang="en-US"/>
              <a:pPr/>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2" name="Rectangle 2"/>
          <p:cNvSpPr>
            <a:spLocks noGrp="1" noChangeArrowheads="1"/>
          </p:cNvSpPr>
          <p:nvPr>
            <p:ph type="title"/>
          </p:nvPr>
        </p:nvSpPr>
        <p:spPr/>
        <p:txBody>
          <a:bodyPr/>
          <a:lstStyle/>
          <a:p>
            <a:r>
              <a:rPr lang="en-US" dirty="0"/>
              <a:t>Kotlin Class</a:t>
            </a:r>
          </a:p>
        </p:txBody>
      </p:sp>
      <p:sp>
        <p:nvSpPr>
          <p:cNvPr id="220163" name="Rectangle 3"/>
          <p:cNvSpPr>
            <a:spLocks noGrp="1" noChangeArrowheads="1"/>
          </p:cNvSpPr>
          <p:nvPr>
            <p:ph idx="1"/>
          </p:nvPr>
        </p:nvSpPr>
        <p:spPr>
          <a:xfrm>
            <a:off x="839416" y="1690688"/>
            <a:ext cx="8320968" cy="4800600"/>
          </a:xfrm>
        </p:spPr>
        <p:txBody>
          <a:bodyPr>
            <a:normAutofit lnSpcReduction="10000"/>
          </a:bodyPr>
          <a:lstStyle/>
          <a:p>
            <a:r>
              <a:rPr lang="en-US" sz="1800" dirty="0">
                <a:latin typeface="Courier" charset="0"/>
              </a:rPr>
              <a:t>class Frame (</a:t>
            </a:r>
            <a:br>
              <a:rPr lang="en-US" sz="1800" dirty="0">
                <a:latin typeface="Courier" charset="0"/>
              </a:rPr>
            </a:br>
            <a:r>
              <a:rPr lang="en-US" sz="1800" dirty="0">
                <a:latin typeface="Courier" charset="0"/>
              </a:rPr>
              <a:t>    private </a:t>
            </a:r>
            <a:r>
              <a:rPr lang="en-US" sz="1800" dirty="0" err="1">
                <a:latin typeface="Courier" charset="0"/>
              </a:rPr>
              <a:t>val</a:t>
            </a:r>
            <a:r>
              <a:rPr lang="en-US" sz="1800" dirty="0">
                <a:latin typeface="Courier" charset="0"/>
              </a:rPr>
              <a:t> name: String,</a:t>
            </a:r>
            <a:br>
              <a:rPr lang="en-US" sz="1800" dirty="0">
                <a:latin typeface="Courier" charset="0"/>
              </a:rPr>
            </a:br>
            <a:r>
              <a:rPr lang="en-US" sz="1800" dirty="0">
                <a:latin typeface="Courier" charset="0"/>
              </a:rPr>
              <a:t>    private var y: Int,</a:t>
            </a:r>
            <a:br>
              <a:rPr lang="en-US" sz="1800" dirty="0">
                <a:latin typeface="Courier" charset="0"/>
              </a:rPr>
            </a:br>
            <a:r>
              <a:rPr lang="en-US" sz="1800" dirty="0">
                <a:latin typeface="Courier" charset="0"/>
              </a:rPr>
              <a:t>    private var x: Int,</a:t>
            </a:r>
            <a:br>
              <a:rPr lang="en-US" sz="1800" dirty="0">
                <a:latin typeface="Courier" charset="0"/>
              </a:rPr>
            </a:br>
            <a:r>
              <a:rPr lang="en-US" sz="1800" dirty="0">
                <a:latin typeface="Courier" charset="0"/>
              </a:rPr>
              <a:t>    private var height: Int,</a:t>
            </a:r>
            <a:br>
              <a:rPr lang="en-US" sz="1800" dirty="0">
                <a:latin typeface="Courier" charset="0"/>
              </a:rPr>
            </a:br>
            <a:r>
              <a:rPr lang="en-US" sz="1800" dirty="0">
                <a:latin typeface="Courier" charset="0"/>
              </a:rPr>
              <a:t>    private var width: Int</a:t>
            </a:r>
            <a:br>
              <a:rPr lang="en-US" sz="1800" dirty="0">
                <a:latin typeface="Courier" charset="0"/>
              </a:rPr>
            </a:br>
            <a:r>
              <a:rPr lang="en-US" sz="1800" dirty="0">
                <a:latin typeface="Courier" charset="0"/>
              </a:rPr>
              <a:t>){ </a:t>
            </a:r>
            <a:r>
              <a:rPr lang="en-US" sz="1800" dirty="0">
                <a:solidFill>
                  <a:srgbClr val="008000"/>
                </a:solidFill>
                <a:latin typeface="Courier" charset="0"/>
              </a:rPr>
              <a:t>// version 2</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solidFill>
                  <a:schemeClr val="hlink"/>
                </a:solidFill>
                <a:latin typeface="Courier" charset="0"/>
              </a:rPr>
            </a:br>
            <a:r>
              <a:rPr lang="en-US" sz="1800" dirty="0">
                <a:solidFill>
                  <a:schemeClr val="hlink"/>
                </a:solidFill>
                <a:latin typeface="Courier" charset="0"/>
              </a:rPr>
              <a:t>    </a:t>
            </a:r>
            <a:r>
              <a:rPr lang="en-US" sz="1800" dirty="0">
                <a:latin typeface="Courier" charset="0"/>
              </a:rPr>
              <a:t>fun resize(</a:t>
            </a:r>
            <a:br>
              <a:rPr lang="en-US" sz="1800" dirty="0">
                <a:latin typeface="Courier" charset="0"/>
              </a:rPr>
            </a:br>
            <a:r>
              <a:rPr lang="en-US" sz="1800" dirty="0">
                <a:latin typeface="Courier" charset="0"/>
              </a:rPr>
              <a:t>        </a:t>
            </a:r>
            <a:r>
              <a:rPr lang="en-US" sz="1800" dirty="0" err="1">
                <a:latin typeface="Courier" charset="0"/>
              </a:rPr>
              <a:t>newHeight</a:t>
            </a:r>
            <a:r>
              <a:rPr lang="en-US" sz="1800" dirty="0">
                <a:latin typeface="Courier" charset="0"/>
              </a:rPr>
              <a:t>: Int, </a:t>
            </a:r>
            <a:r>
              <a:rPr lang="en-US" sz="1800" dirty="0" err="1">
                <a:latin typeface="Courier" charset="0"/>
              </a:rPr>
              <a:t>newWidth</a:t>
            </a:r>
            <a:r>
              <a:rPr lang="en-US" sz="1800" dirty="0">
                <a:latin typeface="Courier" charset="0"/>
              </a:rPr>
              <a:t>: Int ) { </a:t>
            </a:r>
            <a:r>
              <a:rPr lang="en-US" sz="1800" dirty="0">
                <a:solidFill>
                  <a:srgbClr val="3366FF"/>
                </a:solidFill>
                <a:latin typeface="Courier" charset="0"/>
              </a:rPr>
              <a:t>…</a:t>
            </a:r>
            <a:r>
              <a:rPr lang="en-US" sz="1800" dirty="0">
                <a:latin typeface="Courier" charset="0"/>
              </a:rPr>
              <a:t> }</a:t>
            </a:r>
            <a:br>
              <a:rPr lang="en-US" sz="1800" dirty="0">
                <a:latin typeface="Courier" charset="0"/>
              </a:rPr>
            </a:br>
            <a:br>
              <a:rPr lang="en-US" sz="1800" dirty="0">
                <a:latin typeface="Courier" charset="0"/>
              </a:rPr>
            </a:br>
            <a:r>
              <a:rPr lang="en-US" sz="1800" dirty="0">
                <a:latin typeface="Courier" charset="0"/>
              </a:rPr>
              <a:t>    fun </a:t>
            </a:r>
            <a:r>
              <a:rPr lang="en-US" sz="1800" dirty="0" err="1">
                <a:latin typeface="Courier" charset="0"/>
              </a:rPr>
              <a:t>moveTo</a:t>
            </a:r>
            <a:r>
              <a:rPr lang="en-US" sz="1800" dirty="0">
                <a:latin typeface="Courier" charset="0"/>
              </a:rPr>
              <a:t>(</a:t>
            </a:r>
            <a:br>
              <a:rPr lang="en-US" sz="1800" dirty="0">
                <a:latin typeface="Courier" charset="0"/>
              </a:rPr>
            </a:br>
            <a:r>
              <a:rPr lang="en-US" sz="1800" dirty="0">
                <a:latin typeface="Courier" charset="0"/>
              </a:rPr>
              <a:t>        </a:t>
            </a:r>
            <a:r>
              <a:rPr lang="en-US" sz="1800" dirty="0" err="1">
                <a:latin typeface="Courier" charset="0"/>
              </a:rPr>
              <a:t>newX</a:t>
            </a:r>
            <a:r>
              <a:rPr lang="en-US" sz="1800" dirty="0">
                <a:latin typeface="Courier" charset="0"/>
              </a:rPr>
              <a:t>: Int, </a:t>
            </a:r>
            <a:r>
              <a:rPr lang="en-US" sz="1800" dirty="0" err="1">
                <a:latin typeface="Courier" charset="0"/>
              </a:rPr>
              <a:t>newY</a:t>
            </a:r>
            <a:r>
              <a:rPr lang="en-US" sz="1800" dirty="0">
                <a:latin typeface="Courier" charset="0"/>
              </a:rPr>
              <a:t>: Int ) { </a:t>
            </a:r>
            <a:r>
              <a:rPr lang="en-US" sz="1800" dirty="0">
                <a:solidFill>
                  <a:srgbClr val="3366FF"/>
                </a:solidFill>
                <a:latin typeface="Courier" charset="0"/>
              </a:rPr>
              <a:t>…</a:t>
            </a:r>
            <a:r>
              <a:rPr lang="en-US" sz="1800" dirty="0">
                <a:latin typeface="Courier" charset="0"/>
              </a:rPr>
              <a:t> }</a:t>
            </a:r>
            <a:br>
              <a:rPr lang="en-US" sz="1800" dirty="0">
                <a:latin typeface="Courier" charset="0"/>
              </a:rPr>
            </a:br>
            <a:br>
              <a:rPr lang="en-US" sz="1800" dirty="0">
                <a:latin typeface="Courier" charset="0"/>
              </a:rPr>
            </a:br>
            <a:r>
              <a:rPr lang="en-US" sz="1800" dirty="0">
                <a:latin typeface="Courier" charset="0"/>
              </a:rPr>
              <a:t>    fun </a:t>
            </a:r>
            <a:r>
              <a:rPr lang="en-US" sz="1800" dirty="0" err="1">
                <a:latin typeface="Courier" charset="0"/>
              </a:rPr>
              <a:t>drawText</a:t>
            </a:r>
            <a:r>
              <a:rPr lang="en-US" sz="1800" dirty="0">
                <a:latin typeface="Courier" charset="0"/>
              </a:rPr>
              <a:t>( text: String,</a:t>
            </a:r>
            <a:br>
              <a:rPr lang="en-US" sz="1800" dirty="0">
                <a:latin typeface="Courier" charset="0"/>
              </a:rPr>
            </a:br>
            <a:r>
              <a:rPr lang="en-US" sz="1800" dirty="0">
                <a:latin typeface="Courier" charset="0"/>
              </a:rPr>
              <a:t>        x: Int, y: Int ) { </a:t>
            </a:r>
            <a:r>
              <a:rPr lang="en-US" sz="1800" dirty="0">
                <a:solidFill>
                  <a:srgbClr val="3366FF"/>
                </a:solidFill>
                <a:latin typeface="Courier" charset="0"/>
              </a:rPr>
              <a:t>…</a:t>
            </a:r>
            <a:r>
              <a:rPr lang="en-US" sz="1800" dirty="0">
                <a:latin typeface="Courier" charset="0"/>
              </a:rPr>
              <a:t> }    </a:t>
            </a:r>
            <a:br>
              <a:rPr lang="en-US" sz="1800" dirty="0">
                <a:latin typeface="Courier" charset="0"/>
              </a:rPr>
            </a:br>
            <a:r>
              <a:rPr lang="en-US" sz="1800" dirty="0">
                <a:latin typeface="Courier" charset="0"/>
              </a:rPr>
              <a:t>}</a:t>
            </a:r>
          </a:p>
          <a:p>
            <a:endParaRPr lang="en-US" sz="1800" dirty="0">
              <a:latin typeface="Courier" charset="0"/>
            </a:endParaRPr>
          </a:p>
          <a:p>
            <a:r>
              <a:rPr lang="en-US" sz="1800" dirty="0" err="1">
                <a:latin typeface="Courier" charset="0"/>
              </a:rPr>
              <a:t>val</a:t>
            </a:r>
            <a:r>
              <a:rPr lang="en-US" sz="1800" dirty="0">
                <a:latin typeface="Courier" charset="0"/>
              </a:rPr>
              <a:t> f = Frame( "Untitled", 0, 0, 480, 640 )</a:t>
            </a:r>
            <a:endParaRPr lang="en-US" dirty="0"/>
          </a:p>
        </p:txBody>
      </p:sp>
      <p:sp>
        <p:nvSpPr>
          <p:cNvPr id="4" name="Slide Number Placeholder 5"/>
          <p:cNvSpPr>
            <a:spLocks noGrp="1"/>
          </p:cNvSpPr>
          <p:nvPr>
            <p:ph type="sldNum" sz="quarter" idx="12"/>
          </p:nvPr>
        </p:nvSpPr>
        <p:spPr/>
        <p:txBody>
          <a:bodyPr/>
          <a:lstStyle/>
          <a:p>
            <a:fld id="{848CC0A5-C8A1-E645-8017-7D1B0E188731}" type="slidenum">
              <a:rPr lang="en-US"/>
              <a:pPr/>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6" name="Rectangle 2"/>
          <p:cNvSpPr>
            <a:spLocks noGrp="1" noChangeArrowheads="1"/>
          </p:cNvSpPr>
          <p:nvPr>
            <p:ph type="title"/>
          </p:nvPr>
        </p:nvSpPr>
        <p:spPr/>
        <p:txBody>
          <a:bodyPr/>
          <a:lstStyle/>
          <a:p>
            <a:r>
              <a:rPr lang="en-US" dirty="0"/>
              <a:t>UML Class</a:t>
            </a:r>
          </a:p>
        </p:txBody>
      </p:sp>
      <p:sp>
        <p:nvSpPr>
          <p:cNvPr id="7" name="Slide Number Placeholder 5"/>
          <p:cNvSpPr>
            <a:spLocks noGrp="1"/>
          </p:cNvSpPr>
          <p:nvPr>
            <p:ph type="sldNum" sz="quarter" idx="12"/>
          </p:nvPr>
        </p:nvSpPr>
        <p:spPr/>
        <p:txBody>
          <a:bodyPr/>
          <a:lstStyle/>
          <a:p>
            <a:fld id="{91CFDAD4-0B47-404E-8091-8AC1ABACF7C3}" type="slidenum">
              <a:rPr lang="en-US"/>
              <a:pPr/>
              <a:t>23</a:t>
            </a:fld>
            <a:endParaRPr lang="en-US"/>
          </a:p>
        </p:txBody>
      </p:sp>
      <p:grpSp>
        <p:nvGrpSpPr>
          <p:cNvPr id="2" name="Group 1">
            <a:extLst>
              <a:ext uri="{FF2B5EF4-FFF2-40B4-BE49-F238E27FC236}">
                <a16:creationId xmlns:a16="http://schemas.microsoft.com/office/drawing/2014/main" id="{2969BB8B-B56A-5E33-531A-819866112224}"/>
              </a:ext>
            </a:extLst>
          </p:cNvPr>
          <p:cNvGrpSpPr/>
          <p:nvPr/>
        </p:nvGrpSpPr>
        <p:grpSpPr>
          <a:xfrm>
            <a:off x="1866900" y="1828800"/>
            <a:ext cx="8458200" cy="3976464"/>
            <a:chOff x="1866900" y="1828800"/>
            <a:chExt cx="8458200" cy="3976464"/>
          </a:xfrm>
        </p:grpSpPr>
        <p:sp>
          <p:nvSpPr>
            <p:cNvPr id="221189" name="Rectangle 5"/>
            <p:cNvSpPr>
              <a:spLocks noChangeArrowheads="1"/>
            </p:cNvSpPr>
            <p:nvPr/>
          </p:nvSpPr>
          <p:spPr bwMode="auto">
            <a:xfrm>
              <a:off x="1866900" y="2514600"/>
              <a:ext cx="8458200" cy="685800"/>
            </a:xfrm>
            <a:prstGeom prst="rect">
              <a:avLst/>
            </a:prstGeom>
            <a:solidFill>
              <a:schemeClr val="bg1"/>
            </a:solidFill>
            <a:ln w="28575">
              <a:solidFill>
                <a:schemeClr val="tx1"/>
              </a:solidFill>
              <a:miter lim="800000"/>
              <a:headEnd/>
              <a:tailEnd/>
            </a:ln>
            <a:effectLst/>
          </p:spPr>
          <p:txBody>
            <a:bodyPr wrap="none" anchor="ctr"/>
            <a:lstStyle/>
            <a:p>
              <a:r>
                <a:rPr lang="en-US" sz="1600" dirty="0"/>
                <a:t>-x : Integer</a:t>
              </a:r>
              <a:br>
                <a:rPr lang="en-US" sz="1600" dirty="0"/>
              </a:br>
              <a:r>
                <a:rPr lang="en-US" sz="1600" dirty="0"/>
                <a:t>-y : Integer</a:t>
              </a:r>
            </a:p>
          </p:txBody>
        </p:sp>
        <p:sp>
          <p:nvSpPr>
            <p:cNvPr id="221190" name="Rectangle 6"/>
            <p:cNvSpPr>
              <a:spLocks noChangeArrowheads="1"/>
            </p:cNvSpPr>
            <p:nvPr/>
          </p:nvSpPr>
          <p:spPr bwMode="auto">
            <a:xfrm>
              <a:off x="1866900" y="3200400"/>
              <a:ext cx="8458200" cy="1752600"/>
            </a:xfrm>
            <a:prstGeom prst="rect">
              <a:avLst/>
            </a:prstGeom>
            <a:solidFill>
              <a:schemeClr val="bg1"/>
            </a:solidFill>
            <a:ln w="28575">
              <a:solidFill>
                <a:schemeClr val="tx1"/>
              </a:solidFill>
              <a:miter lim="800000"/>
              <a:headEnd/>
              <a:tailEnd/>
            </a:ln>
            <a:effectLst/>
          </p:spPr>
          <p:txBody>
            <a:bodyPr wrap="none" anchor="ctr"/>
            <a:lstStyle/>
            <a:p>
              <a:r>
                <a:rPr lang="en-US" sz="1600" dirty="0"/>
                <a:t>+Frame( name: String, x: Integer, y: Integer, height: Integer, width: Integer )</a:t>
              </a:r>
              <a:br>
                <a:rPr lang="en-US" sz="1600" dirty="0"/>
              </a:br>
              <a:r>
                <a:rPr lang="en-US" sz="1600" dirty="0"/>
                <a:t>+resize( height: Integer, width: Integer ): Unit</a:t>
              </a:r>
              <a:br>
                <a:rPr lang="en-US" sz="1600" dirty="0"/>
              </a:br>
              <a:r>
                <a:rPr lang="en-US" sz="1600" dirty="0"/>
                <a:t>+</a:t>
              </a:r>
              <a:r>
                <a:rPr lang="en-US" sz="1600" dirty="0" err="1"/>
                <a:t>moveTo</a:t>
              </a:r>
              <a:r>
                <a:rPr lang="en-US" sz="1600" dirty="0"/>
                <a:t>( x: Integer, y: Integer ): Unit</a:t>
              </a:r>
              <a:br>
                <a:rPr lang="en-US" sz="1600" dirty="0"/>
              </a:br>
              <a:r>
                <a:rPr lang="en-US" sz="1600" dirty="0"/>
                <a:t>+</a:t>
              </a:r>
              <a:r>
                <a:rPr lang="en-US" sz="1600" dirty="0" err="1"/>
                <a:t>drawText</a:t>
              </a:r>
              <a:r>
                <a:rPr lang="en-US" sz="1600" dirty="0"/>
                <a:t>( text: String, x: Integer, y: Integer ): Unit</a:t>
              </a:r>
            </a:p>
          </p:txBody>
        </p:sp>
        <p:sp>
          <p:nvSpPr>
            <p:cNvPr id="221191" name="Rectangle 7"/>
            <p:cNvSpPr>
              <a:spLocks noChangeArrowheads="1"/>
            </p:cNvSpPr>
            <p:nvPr/>
          </p:nvSpPr>
          <p:spPr bwMode="auto">
            <a:xfrm>
              <a:off x="1866900" y="1828800"/>
              <a:ext cx="8458200" cy="685800"/>
            </a:xfrm>
            <a:prstGeom prst="rect">
              <a:avLst/>
            </a:prstGeom>
            <a:solidFill>
              <a:schemeClr val="bg1"/>
            </a:solidFill>
            <a:ln w="28575">
              <a:solidFill>
                <a:schemeClr val="tx1"/>
              </a:solidFill>
              <a:miter lim="800000"/>
              <a:headEnd/>
              <a:tailEnd/>
            </a:ln>
            <a:effectLst/>
          </p:spPr>
          <p:txBody>
            <a:bodyPr wrap="none" anchor="ctr"/>
            <a:lstStyle/>
            <a:p>
              <a:pPr algn="ctr"/>
              <a:r>
                <a:rPr lang="en-US" dirty="0"/>
                <a:t>Frame</a:t>
              </a:r>
            </a:p>
          </p:txBody>
        </p:sp>
        <p:sp>
          <p:nvSpPr>
            <p:cNvPr id="221192" name="Text Box 8"/>
            <p:cNvSpPr txBox="1">
              <a:spLocks noChangeArrowheads="1"/>
            </p:cNvSpPr>
            <p:nvPr/>
          </p:nvSpPr>
          <p:spPr bwMode="auto">
            <a:xfrm>
              <a:off x="5146676" y="5158933"/>
              <a:ext cx="1350050"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t>–	Private</a:t>
              </a:r>
              <a:br>
                <a:rPr lang="en-US" dirty="0"/>
              </a:br>
              <a:r>
                <a:rPr lang="en-US" dirty="0"/>
                <a:t>+	Public</a:t>
              </a: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2130" name="Rectangle 2"/>
          <p:cNvSpPr>
            <a:spLocks noGrp="1" noChangeArrowheads="1"/>
          </p:cNvSpPr>
          <p:nvPr>
            <p:ph type="title"/>
          </p:nvPr>
        </p:nvSpPr>
        <p:spPr/>
        <p:txBody>
          <a:bodyPr/>
          <a:lstStyle/>
          <a:p>
            <a:r>
              <a:rPr lang="en-US"/>
              <a:t>Decomposition</a:t>
            </a:r>
          </a:p>
        </p:txBody>
      </p:sp>
      <p:sp>
        <p:nvSpPr>
          <p:cNvPr id="432131" name="Rectangle 3"/>
          <p:cNvSpPr>
            <a:spLocks noGrp="1" noChangeArrowheads="1"/>
          </p:cNvSpPr>
          <p:nvPr>
            <p:ph idx="1"/>
          </p:nvPr>
        </p:nvSpPr>
        <p:spPr/>
        <p:txBody>
          <a:bodyPr/>
          <a:lstStyle/>
          <a:p>
            <a:r>
              <a:rPr lang="en-US" dirty="0"/>
              <a:t>Association relationship:</a:t>
            </a:r>
          </a:p>
          <a:p>
            <a:pPr lvl="1"/>
            <a:r>
              <a:rPr lang="en-US" dirty="0"/>
              <a:t>“Some” relationship between classes</a:t>
            </a:r>
          </a:p>
          <a:p>
            <a:pPr lvl="2"/>
            <a:r>
              <a:rPr lang="en-US" dirty="0"/>
              <a:t>E.g., between Book and Patron</a:t>
            </a:r>
          </a:p>
        </p:txBody>
      </p:sp>
      <p:sp>
        <p:nvSpPr>
          <p:cNvPr id="4" name="Slide Number Placeholder 5"/>
          <p:cNvSpPr>
            <a:spLocks noGrp="1"/>
          </p:cNvSpPr>
          <p:nvPr>
            <p:ph type="sldNum" sz="quarter" idx="12"/>
          </p:nvPr>
        </p:nvSpPr>
        <p:spPr/>
        <p:txBody>
          <a:bodyPr/>
          <a:lstStyle/>
          <a:p>
            <a:fld id="{BD9D617D-B18C-F243-9C66-41D2B5D4C06C}" type="slidenum">
              <a:rPr lang="en-US"/>
              <a:pPr/>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226" name="Rectangle 2"/>
          <p:cNvSpPr>
            <a:spLocks noGrp="1" noChangeArrowheads="1"/>
          </p:cNvSpPr>
          <p:nvPr>
            <p:ph type="title"/>
          </p:nvPr>
        </p:nvSpPr>
        <p:spPr/>
        <p:txBody>
          <a:bodyPr/>
          <a:lstStyle/>
          <a:p>
            <a:r>
              <a:rPr lang="en-US"/>
              <a:t>UML Association</a:t>
            </a:r>
          </a:p>
        </p:txBody>
      </p:sp>
      <p:sp>
        <p:nvSpPr>
          <p:cNvPr id="436227" name="Rectangle 3"/>
          <p:cNvSpPr>
            <a:spLocks noGrp="1" noChangeArrowheads="1"/>
          </p:cNvSpPr>
          <p:nvPr>
            <p:ph idx="1"/>
          </p:nvPr>
        </p:nvSpPr>
        <p:spPr/>
        <p:txBody>
          <a:bodyPr>
            <a:normAutofit/>
          </a:bodyPr>
          <a:lstStyle/>
          <a:p>
            <a:endParaRPr lang="en-US" dirty="0"/>
          </a:p>
          <a:p>
            <a:pPr lvl="1"/>
            <a:endParaRPr lang="en-US" dirty="0"/>
          </a:p>
          <a:p>
            <a:pPr lvl="1"/>
            <a:endParaRPr lang="en-US" dirty="0"/>
          </a:p>
          <a:p>
            <a:pPr lvl="1"/>
            <a:endParaRPr lang="en-US" dirty="0"/>
          </a:p>
          <a:p>
            <a:r>
              <a:rPr lang="en-US" dirty="0"/>
              <a:t>Read class diagram using “objects”</a:t>
            </a:r>
          </a:p>
          <a:p>
            <a:pPr lvl="1"/>
            <a:r>
              <a:rPr lang="en-US" dirty="0"/>
              <a:t>A Food </a:t>
            </a:r>
            <a:r>
              <a:rPr lang="en-US" i="1" dirty="0"/>
              <a:t>object</a:t>
            </a:r>
            <a:r>
              <a:rPr lang="en-US" dirty="0"/>
              <a:t> goes well with a Wine </a:t>
            </a:r>
            <a:r>
              <a:rPr lang="en-US" i="1" dirty="0"/>
              <a:t>object</a:t>
            </a:r>
          </a:p>
          <a:p>
            <a:pPr lvl="1"/>
            <a:r>
              <a:rPr lang="en-US" dirty="0"/>
              <a:t>A Food </a:t>
            </a:r>
            <a:r>
              <a:rPr lang="en-US" i="1" dirty="0"/>
              <a:t>object</a:t>
            </a:r>
            <a:r>
              <a:rPr lang="en-US" dirty="0"/>
              <a:t> is associated with </a:t>
            </a:r>
            <a:r>
              <a:rPr lang="en-US" dirty="0">
                <a:solidFill>
                  <a:srgbClr val="FF0000"/>
                </a:solidFill>
              </a:rPr>
              <a:t>0 or more</a:t>
            </a:r>
            <a:r>
              <a:rPr lang="en-US" dirty="0"/>
              <a:t> Wine </a:t>
            </a:r>
            <a:r>
              <a:rPr lang="en-US" i="1" dirty="0"/>
              <a:t>objects</a:t>
            </a:r>
          </a:p>
          <a:p>
            <a:pPr lvl="1"/>
            <a:r>
              <a:rPr lang="en-US" dirty="0"/>
              <a:t>A Wine </a:t>
            </a:r>
            <a:r>
              <a:rPr lang="en-US" i="1" dirty="0"/>
              <a:t>object</a:t>
            </a:r>
            <a:r>
              <a:rPr lang="en-US" dirty="0"/>
              <a:t> is associated with </a:t>
            </a:r>
            <a:r>
              <a:rPr lang="en-US" dirty="0">
                <a:solidFill>
                  <a:srgbClr val="008000"/>
                </a:solidFill>
              </a:rPr>
              <a:t>0 or more</a:t>
            </a:r>
            <a:r>
              <a:rPr lang="en-US" dirty="0"/>
              <a:t> Food </a:t>
            </a:r>
            <a:r>
              <a:rPr lang="en-US" i="1" dirty="0"/>
              <a:t>objects</a:t>
            </a:r>
          </a:p>
        </p:txBody>
      </p:sp>
      <p:sp>
        <p:nvSpPr>
          <p:cNvPr id="5" name="Slide Number Placeholder 5"/>
          <p:cNvSpPr>
            <a:spLocks noGrp="1"/>
          </p:cNvSpPr>
          <p:nvPr>
            <p:ph type="sldNum" sz="quarter" idx="12"/>
          </p:nvPr>
        </p:nvSpPr>
        <p:spPr/>
        <p:txBody>
          <a:bodyPr/>
          <a:lstStyle/>
          <a:p>
            <a:fld id="{F5217A70-7344-1542-B0BE-9B1B655E48E8}" type="slidenum">
              <a:rPr lang="en-US"/>
              <a:pPr/>
              <a:t>25</a:t>
            </a:fld>
            <a:endParaRPr lang="en-US"/>
          </a:p>
        </p:txBody>
      </p:sp>
      <p:grpSp>
        <p:nvGrpSpPr>
          <p:cNvPr id="2" name="Group 1">
            <a:extLst>
              <a:ext uri="{FF2B5EF4-FFF2-40B4-BE49-F238E27FC236}">
                <a16:creationId xmlns:a16="http://schemas.microsoft.com/office/drawing/2014/main" id="{9967C84F-BEA9-BCC3-32DA-97E08DAF18CD}"/>
              </a:ext>
            </a:extLst>
          </p:cNvPr>
          <p:cNvGrpSpPr/>
          <p:nvPr/>
        </p:nvGrpSpPr>
        <p:grpSpPr>
          <a:xfrm>
            <a:off x="2879440" y="1595264"/>
            <a:ext cx="6433120" cy="1473696"/>
            <a:chOff x="3431704" y="1595264"/>
            <a:chExt cx="6433120" cy="1473696"/>
          </a:xfrm>
        </p:grpSpPr>
        <p:sp>
          <p:nvSpPr>
            <p:cNvPr id="6" name="Rectangle 6"/>
            <p:cNvSpPr>
              <a:spLocks noChangeArrowheads="1"/>
            </p:cNvSpPr>
            <p:nvPr/>
          </p:nvSpPr>
          <p:spPr bwMode="auto">
            <a:xfrm>
              <a:off x="8112224" y="1595264"/>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Wine</a:t>
              </a:r>
            </a:p>
          </p:txBody>
        </p:sp>
        <p:sp>
          <p:nvSpPr>
            <p:cNvPr id="7" name="Rectangle 7"/>
            <p:cNvSpPr>
              <a:spLocks noChangeArrowheads="1"/>
            </p:cNvSpPr>
            <p:nvPr/>
          </p:nvSpPr>
          <p:spPr bwMode="auto">
            <a:xfrm>
              <a:off x="8112224" y="2204864"/>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8" name="Rectangle 8"/>
            <p:cNvSpPr>
              <a:spLocks noChangeArrowheads="1"/>
            </p:cNvSpPr>
            <p:nvPr/>
          </p:nvSpPr>
          <p:spPr bwMode="auto">
            <a:xfrm>
              <a:off x="8112224" y="2492896"/>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9" name="Rectangle 6"/>
            <p:cNvSpPr>
              <a:spLocks noChangeArrowheads="1"/>
            </p:cNvSpPr>
            <p:nvPr/>
          </p:nvSpPr>
          <p:spPr bwMode="auto">
            <a:xfrm>
              <a:off x="3431704" y="1595264"/>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Food</a:t>
              </a:r>
            </a:p>
          </p:txBody>
        </p:sp>
        <p:sp>
          <p:nvSpPr>
            <p:cNvPr id="10" name="Rectangle 7"/>
            <p:cNvSpPr>
              <a:spLocks noChangeArrowheads="1"/>
            </p:cNvSpPr>
            <p:nvPr/>
          </p:nvSpPr>
          <p:spPr bwMode="auto">
            <a:xfrm>
              <a:off x="3431704" y="2204864"/>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1" name="Rectangle 8"/>
            <p:cNvSpPr>
              <a:spLocks noChangeArrowheads="1"/>
            </p:cNvSpPr>
            <p:nvPr/>
          </p:nvSpPr>
          <p:spPr bwMode="auto">
            <a:xfrm>
              <a:off x="3431704" y="2492896"/>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3" name="Straight Connector 2"/>
            <p:cNvCxnSpPr>
              <a:stCxn id="10" idx="3"/>
              <a:endCxn id="7" idx="1"/>
            </p:cNvCxnSpPr>
            <p:nvPr/>
          </p:nvCxnSpPr>
          <p:spPr>
            <a:xfrm>
              <a:off x="5184304" y="2348880"/>
              <a:ext cx="2927920"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375920" y="1844824"/>
              <a:ext cx="548548" cy="369332"/>
            </a:xfrm>
            <a:prstGeom prst="rect">
              <a:avLst/>
            </a:prstGeom>
            <a:noFill/>
          </p:spPr>
          <p:txBody>
            <a:bodyPr wrap="none" rtlCol="0">
              <a:spAutoFit/>
            </a:bodyPr>
            <a:lstStyle/>
            <a:p>
              <a:r>
                <a:rPr lang="en-US" dirty="0">
                  <a:solidFill>
                    <a:srgbClr val="008000"/>
                  </a:solidFill>
                </a:rPr>
                <a:t>0..*</a:t>
              </a:r>
            </a:p>
          </p:txBody>
        </p:sp>
        <p:sp>
          <p:nvSpPr>
            <p:cNvPr id="19" name="TextBox 18"/>
            <p:cNvSpPr txBox="1"/>
            <p:nvPr/>
          </p:nvSpPr>
          <p:spPr>
            <a:xfrm>
              <a:off x="7392144" y="1844824"/>
              <a:ext cx="517642" cy="369332"/>
            </a:xfrm>
            <a:prstGeom prst="rect">
              <a:avLst/>
            </a:prstGeom>
            <a:noFill/>
          </p:spPr>
          <p:txBody>
            <a:bodyPr wrap="none" rtlCol="0">
              <a:spAutoFit/>
            </a:bodyPr>
            <a:lstStyle/>
            <a:p>
              <a:r>
                <a:rPr lang="en-US" dirty="0">
                  <a:solidFill>
                    <a:srgbClr val="FF0000"/>
                  </a:solidFill>
                </a:rPr>
                <a:t>0..*</a:t>
              </a:r>
            </a:p>
          </p:txBody>
        </p:sp>
        <p:sp>
          <p:nvSpPr>
            <p:cNvPr id="24" name="TextBox 23"/>
            <p:cNvSpPr txBox="1"/>
            <p:nvPr/>
          </p:nvSpPr>
          <p:spPr>
            <a:xfrm>
              <a:off x="5807968" y="2348880"/>
              <a:ext cx="1576970" cy="369332"/>
            </a:xfrm>
            <a:prstGeom prst="rect">
              <a:avLst/>
            </a:prstGeom>
            <a:noFill/>
          </p:spPr>
          <p:txBody>
            <a:bodyPr wrap="none" rtlCol="0">
              <a:spAutoFit/>
            </a:bodyPr>
            <a:lstStyle/>
            <a:p>
              <a:r>
                <a:rPr lang="en-US" dirty="0"/>
                <a:t>goes well with</a:t>
              </a: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156" name="Rectangle 4"/>
          <p:cNvSpPr>
            <a:spLocks noGrp="1" noChangeArrowheads="1"/>
          </p:cNvSpPr>
          <p:nvPr>
            <p:ph type="title"/>
          </p:nvPr>
        </p:nvSpPr>
        <p:spPr/>
        <p:txBody>
          <a:bodyPr/>
          <a:lstStyle/>
          <a:p>
            <a:r>
              <a:rPr lang="en-US"/>
              <a:t>Decomposition</a:t>
            </a:r>
          </a:p>
        </p:txBody>
      </p:sp>
      <p:sp>
        <p:nvSpPr>
          <p:cNvPr id="433157" name="Rectangle 5"/>
          <p:cNvSpPr>
            <a:spLocks noGrp="1" noChangeArrowheads="1"/>
          </p:cNvSpPr>
          <p:nvPr>
            <p:ph idx="1"/>
          </p:nvPr>
        </p:nvSpPr>
        <p:spPr/>
        <p:txBody>
          <a:bodyPr/>
          <a:lstStyle/>
          <a:p>
            <a:r>
              <a:rPr lang="en-US" dirty="0"/>
              <a:t>Aggregation relationship:</a:t>
            </a:r>
          </a:p>
          <a:p>
            <a:pPr lvl="1"/>
            <a:r>
              <a:rPr lang="en-US" dirty="0"/>
              <a:t>Weak </a:t>
            </a:r>
            <a:r>
              <a:rPr lang="en-CA" dirty="0"/>
              <a:t>“h</a:t>
            </a:r>
            <a:r>
              <a:rPr lang="en-US" dirty="0"/>
              <a:t>as-a” relationship</a:t>
            </a:r>
          </a:p>
          <a:p>
            <a:pPr lvl="1"/>
            <a:r>
              <a:rPr lang="en-US" dirty="0"/>
              <a:t>Whole “has-a” part</a:t>
            </a:r>
          </a:p>
          <a:p>
            <a:pPr lvl="1"/>
            <a:r>
              <a:rPr lang="en-US" dirty="0"/>
              <a:t>A part may belong to (be shared with) other wholes</a:t>
            </a:r>
          </a:p>
          <a:p>
            <a:pPr lvl="2"/>
            <a:r>
              <a:rPr lang="en-US" dirty="0"/>
              <a:t>E.g., a Section and a Student</a:t>
            </a:r>
          </a:p>
        </p:txBody>
      </p:sp>
      <p:sp>
        <p:nvSpPr>
          <p:cNvPr id="4" name="Slide Number Placeholder 5"/>
          <p:cNvSpPr>
            <a:spLocks noGrp="1"/>
          </p:cNvSpPr>
          <p:nvPr>
            <p:ph type="sldNum" sz="quarter" idx="12"/>
          </p:nvPr>
        </p:nvSpPr>
        <p:spPr/>
        <p:txBody>
          <a:bodyPr/>
          <a:lstStyle/>
          <a:p>
            <a:fld id="{4B6FCD1A-A9C0-4243-94F5-302090525CB3}" type="slidenum">
              <a:rPr lang="en-US"/>
              <a:pPr/>
              <a:t>26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3157">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315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8277" name="Rectangle 5"/>
          <p:cNvSpPr>
            <a:spLocks noGrp="1" noChangeArrowheads="1"/>
          </p:cNvSpPr>
          <p:nvPr>
            <p:ph type="title"/>
          </p:nvPr>
        </p:nvSpPr>
        <p:spPr/>
        <p:txBody>
          <a:bodyPr/>
          <a:lstStyle/>
          <a:p>
            <a:r>
              <a:rPr lang="en-US" dirty="0"/>
              <a:t>Kotlin and UML Aggregation</a:t>
            </a:r>
          </a:p>
        </p:txBody>
      </p:sp>
      <p:sp>
        <p:nvSpPr>
          <p:cNvPr id="438278" name="Rectangle 6"/>
          <p:cNvSpPr>
            <a:spLocks noGrp="1" noChangeArrowheads="1"/>
          </p:cNvSpPr>
          <p:nvPr>
            <p:ph idx="1"/>
          </p:nvPr>
        </p:nvSpPr>
        <p:spPr/>
        <p:txBody>
          <a:bodyPr/>
          <a:lstStyle/>
          <a:p>
            <a:r>
              <a:rPr lang="en-US" dirty="0"/>
              <a:t>Dynamic number of aggregated objects:</a:t>
            </a:r>
            <a:br>
              <a:rPr lang="en-US" dirty="0"/>
            </a:br>
            <a:br>
              <a:rPr lang="en-US" sz="1200" dirty="0"/>
            </a:br>
            <a:r>
              <a:rPr lang="en-US" sz="1800" dirty="0">
                <a:latin typeface="Courier" charset="0"/>
              </a:rPr>
              <a:t>class Section {</a:t>
            </a:r>
            <a:br>
              <a:rPr lang="en-US" sz="1800" dirty="0">
                <a:latin typeface="Courier" charset="0"/>
              </a:rPr>
            </a:br>
            <a:r>
              <a:rPr lang="en-US" sz="1800" dirty="0">
                <a:latin typeface="Courier" charset="0"/>
              </a:rPr>
              <a:t>    private </a:t>
            </a:r>
            <a:r>
              <a:rPr lang="en-US" sz="1800" dirty="0" err="1">
                <a:latin typeface="Courier" charset="0"/>
              </a:rPr>
              <a:t>val</a:t>
            </a:r>
            <a:r>
              <a:rPr lang="en-US" sz="1800" dirty="0">
                <a:latin typeface="Courier" charset="0"/>
              </a:rPr>
              <a:t> roster: </a:t>
            </a:r>
            <a:r>
              <a:rPr lang="en-US" sz="1800" dirty="0" err="1">
                <a:latin typeface="Courier" charset="0"/>
              </a:rPr>
              <a:t>MutableList</a:t>
            </a:r>
            <a:r>
              <a:rPr lang="en-US" sz="1800" dirty="0">
                <a:latin typeface="Courier" charset="0"/>
              </a:rPr>
              <a:t>&lt;Student&gt; = </a:t>
            </a:r>
            <a:r>
              <a:rPr lang="en-US" sz="1800" dirty="0" err="1">
                <a:latin typeface="Courier" charset="0"/>
              </a:rPr>
              <a:t>ArrayList</a:t>
            </a:r>
            <a:r>
              <a:rPr lang="en-US" sz="1800" dirty="0">
                <a:latin typeface="Courier" charset="0"/>
              </a:rPr>
              <a:t>()</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br>
              <a:rPr lang="en-US" sz="1800" dirty="0">
                <a:latin typeface="Courier" charset="0"/>
              </a:rPr>
            </a:br>
            <a:r>
              <a:rPr lang="en-US" sz="1800" dirty="0">
                <a:latin typeface="Courier" charset="0"/>
              </a:rPr>
              <a:t>    fun add( s: Student ) { </a:t>
            </a:r>
            <a:br>
              <a:rPr lang="en-US" sz="1800" dirty="0">
                <a:latin typeface="Courier" charset="0"/>
              </a:rPr>
            </a:br>
            <a:r>
              <a:rPr lang="en-US" sz="1800" dirty="0">
                <a:latin typeface="Courier" charset="0"/>
              </a:rPr>
              <a:t>        </a:t>
            </a:r>
            <a:r>
              <a:rPr lang="en-US" sz="1800" dirty="0" err="1">
                <a:latin typeface="Courier" charset="0"/>
              </a:rPr>
              <a:t>roster.add</a:t>
            </a:r>
            <a:r>
              <a:rPr lang="en-US" sz="1800" dirty="0">
                <a:latin typeface="Courier" charset="0"/>
              </a:rPr>
              <a:t>(s)</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a:t>
            </a:r>
            <a:endParaRPr lang="en-US" dirty="0"/>
          </a:p>
        </p:txBody>
      </p:sp>
      <p:sp>
        <p:nvSpPr>
          <p:cNvPr id="5" name="Slide Number Placeholder 5"/>
          <p:cNvSpPr>
            <a:spLocks noGrp="1"/>
          </p:cNvSpPr>
          <p:nvPr>
            <p:ph type="sldNum" sz="quarter" idx="12"/>
          </p:nvPr>
        </p:nvSpPr>
        <p:spPr/>
        <p:txBody>
          <a:bodyPr/>
          <a:lstStyle/>
          <a:p>
            <a:fld id="{A2DA9622-4267-0D40-A673-50DEF2DBBFAA}" type="slidenum">
              <a:rPr lang="en-US"/>
              <a:pPr/>
              <a:t>27</a:t>
            </a:fld>
            <a:endParaRPr lang="en-US"/>
          </a:p>
        </p:txBody>
      </p:sp>
      <p:grpSp>
        <p:nvGrpSpPr>
          <p:cNvPr id="2" name="Group 1">
            <a:extLst>
              <a:ext uri="{FF2B5EF4-FFF2-40B4-BE49-F238E27FC236}">
                <a16:creationId xmlns:a16="http://schemas.microsoft.com/office/drawing/2014/main" id="{BF34721D-121D-B3C2-71EF-E551D5AE2804}"/>
              </a:ext>
            </a:extLst>
          </p:cNvPr>
          <p:cNvGrpSpPr/>
          <p:nvPr/>
        </p:nvGrpSpPr>
        <p:grpSpPr>
          <a:xfrm>
            <a:off x="3671528" y="5195664"/>
            <a:ext cx="4848944" cy="1473696"/>
            <a:chOff x="4055368" y="5195664"/>
            <a:chExt cx="4848944" cy="1473696"/>
          </a:xfrm>
        </p:grpSpPr>
        <p:sp>
          <p:nvSpPr>
            <p:cNvPr id="6" name="Rectangle 6"/>
            <p:cNvSpPr>
              <a:spLocks noChangeArrowheads="1"/>
            </p:cNvSpPr>
            <p:nvPr/>
          </p:nvSpPr>
          <p:spPr bwMode="auto">
            <a:xfrm>
              <a:off x="4055368" y="5195664"/>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Section</a:t>
              </a:r>
            </a:p>
          </p:txBody>
        </p:sp>
        <p:sp>
          <p:nvSpPr>
            <p:cNvPr id="7" name="Rectangle 7"/>
            <p:cNvSpPr>
              <a:spLocks noChangeArrowheads="1"/>
            </p:cNvSpPr>
            <p:nvPr/>
          </p:nvSpPr>
          <p:spPr bwMode="auto">
            <a:xfrm>
              <a:off x="4055368" y="5805264"/>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8" name="Rectangle 8"/>
            <p:cNvSpPr>
              <a:spLocks noChangeArrowheads="1"/>
            </p:cNvSpPr>
            <p:nvPr/>
          </p:nvSpPr>
          <p:spPr bwMode="auto">
            <a:xfrm>
              <a:off x="4055368" y="6093296"/>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9" name="Rectangle 6"/>
            <p:cNvSpPr>
              <a:spLocks noChangeArrowheads="1"/>
            </p:cNvSpPr>
            <p:nvPr/>
          </p:nvSpPr>
          <p:spPr bwMode="auto">
            <a:xfrm>
              <a:off x="7151712" y="5195664"/>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Student</a:t>
              </a:r>
            </a:p>
          </p:txBody>
        </p:sp>
        <p:sp>
          <p:nvSpPr>
            <p:cNvPr id="10" name="Rectangle 7"/>
            <p:cNvSpPr>
              <a:spLocks noChangeArrowheads="1"/>
            </p:cNvSpPr>
            <p:nvPr/>
          </p:nvSpPr>
          <p:spPr bwMode="auto">
            <a:xfrm>
              <a:off x="7151712" y="5805264"/>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1" name="Rectangle 8"/>
            <p:cNvSpPr>
              <a:spLocks noChangeArrowheads="1"/>
            </p:cNvSpPr>
            <p:nvPr/>
          </p:nvSpPr>
          <p:spPr bwMode="auto">
            <a:xfrm>
              <a:off x="7151712" y="6093296"/>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12" name="Straight Connector 11"/>
            <p:cNvCxnSpPr/>
            <p:nvPr/>
          </p:nvCxnSpPr>
          <p:spPr>
            <a:xfrm>
              <a:off x="5807968" y="5985284"/>
              <a:ext cx="1343744"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Diamond 12"/>
            <p:cNvSpPr/>
            <p:nvPr/>
          </p:nvSpPr>
          <p:spPr>
            <a:xfrm>
              <a:off x="5783560" y="5877272"/>
              <a:ext cx="216024" cy="216024"/>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 name="TextBox 13"/>
            <p:cNvSpPr txBox="1"/>
            <p:nvPr/>
          </p:nvSpPr>
          <p:spPr>
            <a:xfrm>
              <a:off x="6528048" y="5445224"/>
              <a:ext cx="517642" cy="369332"/>
            </a:xfrm>
            <a:prstGeom prst="rect">
              <a:avLst/>
            </a:prstGeom>
            <a:noFill/>
          </p:spPr>
          <p:txBody>
            <a:bodyPr wrap="none" rtlCol="0">
              <a:spAutoFit/>
            </a:bodyPr>
            <a:lstStyle/>
            <a:p>
              <a:r>
                <a:rPr lang="en-US" dirty="0"/>
                <a:t>0..*</a:t>
              </a:r>
            </a:p>
          </p:txBody>
        </p:sp>
        <p:sp>
          <p:nvSpPr>
            <p:cNvPr id="15" name="TextBox 14"/>
            <p:cNvSpPr txBox="1"/>
            <p:nvPr/>
          </p:nvSpPr>
          <p:spPr>
            <a:xfrm>
              <a:off x="5855568" y="5445224"/>
              <a:ext cx="517642" cy="369332"/>
            </a:xfrm>
            <a:prstGeom prst="rect">
              <a:avLst/>
            </a:prstGeom>
            <a:noFill/>
          </p:spPr>
          <p:txBody>
            <a:bodyPr wrap="none" rtlCol="0">
              <a:spAutoFit/>
            </a:bodyPr>
            <a:lstStyle/>
            <a:p>
              <a:r>
                <a:rPr lang="en-US" dirty="0"/>
                <a:t>0..*</a:t>
              </a: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3" name="Rectangle 5"/>
          <p:cNvSpPr>
            <a:spLocks noGrp="1" noChangeArrowheads="1"/>
          </p:cNvSpPr>
          <p:nvPr>
            <p:ph type="title"/>
          </p:nvPr>
        </p:nvSpPr>
        <p:spPr/>
        <p:txBody>
          <a:bodyPr/>
          <a:lstStyle/>
          <a:p>
            <a:r>
              <a:rPr lang="en-US" dirty="0"/>
              <a:t>Kotlin and UML Aggregation</a:t>
            </a:r>
          </a:p>
        </p:txBody>
      </p:sp>
      <p:sp>
        <p:nvSpPr>
          <p:cNvPr id="437254" name="Rectangle 6"/>
          <p:cNvSpPr>
            <a:spLocks noGrp="1" noChangeArrowheads="1"/>
          </p:cNvSpPr>
          <p:nvPr>
            <p:ph idx="1"/>
          </p:nvPr>
        </p:nvSpPr>
        <p:spPr/>
        <p:txBody>
          <a:bodyPr/>
          <a:lstStyle/>
          <a:p>
            <a:r>
              <a:rPr lang="en-US" dirty="0"/>
              <a:t>Fixed number of aggregated objects:</a:t>
            </a:r>
            <a:br>
              <a:rPr lang="en-US" dirty="0"/>
            </a:br>
            <a:br>
              <a:rPr lang="en-US" sz="1200" dirty="0"/>
            </a:br>
            <a:r>
              <a:rPr lang="en-US" sz="1800" dirty="0">
                <a:latin typeface="Courier" charset="0"/>
              </a:rPr>
              <a:t>class Frame (</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    private </a:t>
            </a:r>
            <a:r>
              <a:rPr lang="en-US" sz="1800" dirty="0" err="1">
                <a:latin typeface="Courier" charset="0"/>
              </a:rPr>
              <a:t>val</a:t>
            </a:r>
            <a:r>
              <a:rPr lang="en-US" sz="1800" dirty="0">
                <a:latin typeface="Courier" charset="0"/>
              </a:rPr>
              <a:t> </a:t>
            </a:r>
            <a:r>
              <a:rPr lang="en-US" sz="1800" dirty="0" err="1">
                <a:latin typeface="Courier" charset="0"/>
              </a:rPr>
              <a:t>defaultLocation</a:t>
            </a:r>
            <a:r>
              <a:rPr lang="en-US" sz="1800" dirty="0">
                <a:latin typeface="Courier" charset="0"/>
              </a:rPr>
              <a:t>: Location, </a:t>
            </a:r>
            <a:r>
              <a:rPr lang="en-US" sz="1800" dirty="0">
                <a:solidFill>
                  <a:srgbClr val="008000"/>
                </a:solidFill>
                <a:latin typeface="Courier" charset="0"/>
              </a:rPr>
              <a:t>// shared</a:t>
            </a:r>
            <a:r>
              <a:rPr lang="en-US" sz="1800" dirty="0">
                <a:latin typeface="Courier" charset="0"/>
              </a:rPr>
              <a:t>  </a:t>
            </a:r>
            <a:br>
              <a:rPr lang="en-US" sz="1800" dirty="0">
                <a:solidFill>
                  <a:srgbClr val="008000"/>
                </a:solidFill>
                <a:latin typeface="Courier" charset="0"/>
              </a:rPr>
            </a:br>
            <a:r>
              <a:rPr lang="en-US" sz="1800" dirty="0">
                <a:latin typeface="Courier" charset="0"/>
              </a:rPr>
              <a:t>    private </a:t>
            </a:r>
            <a:r>
              <a:rPr lang="en-US" sz="1800" dirty="0" err="1">
                <a:latin typeface="Courier" charset="0"/>
              </a:rPr>
              <a:t>val</a:t>
            </a:r>
            <a:r>
              <a:rPr lang="en-US" sz="1800" dirty="0">
                <a:latin typeface="Courier" charset="0"/>
              </a:rPr>
              <a:t> </a:t>
            </a:r>
            <a:r>
              <a:rPr lang="en-US" sz="1800" dirty="0" err="1">
                <a:latin typeface="Courier" charset="0"/>
              </a:rPr>
              <a:t>defaultSize</a:t>
            </a:r>
            <a:r>
              <a:rPr lang="en-US" sz="1800" dirty="0">
                <a:latin typeface="Courier" charset="0"/>
              </a:rPr>
              <a:t>: Size         </a:t>
            </a:r>
            <a:r>
              <a:rPr lang="en-US" sz="1800" dirty="0">
                <a:solidFill>
                  <a:srgbClr val="008000"/>
                </a:solidFill>
                <a:latin typeface="Courier" charset="0"/>
              </a:rPr>
              <a:t>// shared </a:t>
            </a:r>
            <a:br>
              <a:rPr lang="en-US" sz="1800" dirty="0">
                <a:latin typeface="Courier" charset="0"/>
              </a:rPr>
            </a:br>
            <a:r>
              <a:rPr lang="en-US" sz="1800" dirty="0">
                <a:latin typeface="Courier" charset="0"/>
              </a:rPr>
              <a:t>) { </a:t>
            </a:r>
            <a:br>
              <a:rPr lang="en-US" sz="1800" dirty="0">
                <a:latin typeface="Courier" charset="0"/>
              </a:rPr>
            </a:br>
            <a:r>
              <a:rPr lang="en-US" sz="1800" dirty="0">
                <a:latin typeface="Courier" charset="0"/>
              </a:rPr>
              <a:t>    </a:t>
            </a:r>
            <a:r>
              <a:rPr lang="en-US" sz="1800" dirty="0">
                <a:solidFill>
                  <a:srgbClr val="3366FF"/>
                </a:solidFill>
                <a:latin typeface="Courier" charset="0"/>
              </a:rPr>
              <a:t>… </a:t>
            </a:r>
            <a:br>
              <a:rPr lang="en-US" sz="1800" dirty="0">
                <a:solidFill>
                  <a:srgbClr val="3366FF"/>
                </a:solidFill>
                <a:latin typeface="Courier" charset="0"/>
              </a:rPr>
            </a:br>
            <a:r>
              <a:rPr lang="en-US" sz="1800" dirty="0">
                <a:solidFill>
                  <a:srgbClr val="3366FF"/>
                </a:solidFill>
                <a:latin typeface="Courier" charset="0"/>
              </a:rPr>
              <a:t>  </a:t>
            </a:r>
            <a:r>
              <a:rPr lang="en-US" sz="1800" dirty="0">
                <a:latin typeface="Courier" charset="0"/>
              </a:rPr>
              <a:t>}</a:t>
            </a:r>
            <a:br>
              <a:rPr lang="en-US" sz="1800" dirty="0">
                <a:latin typeface="Courier" charset="0"/>
              </a:rPr>
            </a:br>
            <a:endParaRPr lang="en-US" sz="1800" dirty="0">
              <a:latin typeface="Courier" charset="0"/>
            </a:endParaRPr>
          </a:p>
        </p:txBody>
      </p:sp>
      <p:sp>
        <p:nvSpPr>
          <p:cNvPr id="5" name="Slide Number Placeholder 5"/>
          <p:cNvSpPr>
            <a:spLocks noGrp="1"/>
          </p:cNvSpPr>
          <p:nvPr>
            <p:ph type="sldNum" sz="quarter" idx="12"/>
          </p:nvPr>
        </p:nvSpPr>
        <p:spPr/>
        <p:txBody>
          <a:bodyPr/>
          <a:lstStyle/>
          <a:p>
            <a:fld id="{6BE88005-F4E7-6A40-86FC-F3A1AE91141B}" type="slidenum">
              <a:rPr lang="en-US"/>
              <a:pPr/>
              <a:t>28</a:t>
            </a:fld>
            <a:endParaRPr lang="en-US"/>
          </a:p>
        </p:txBody>
      </p:sp>
      <p:grpSp>
        <p:nvGrpSpPr>
          <p:cNvPr id="2" name="Group 1">
            <a:extLst>
              <a:ext uri="{FF2B5EF4-FFF2-40B4-BE49-F238E27FC236}">
                <a16:creationId xmlns:a16="http://schemas.microsoft.com/office/drawing/2014/main" id="{22FBF1F0-237D-735D-B93A-3014BCC81848}"/>
              </a:ext>
            </a:extLst>
          </p:cNvPr>
          <p:cNvGrpSpPr/>
          <p:nvPr/>
        </p:nvGrpSpPr>
        <p:grpSpPr>
          <a:xfrm>
            <a:off x="2195364" y="4403576"/>
            <a:ext cx="7801272" cy="1473696"/>
            <a:chOff x="2711624" y="4403576"/>
            <a:chExt cx="7801272" cy="1473696"/>
          </a:xfrm>
        </p:grpSpPr>
        <p:sp>
          <p:nvSpPr>
            <p:cNvPr id="6" name="Rectangle 6"/>
            <p:cNvSpPr>
              <a:spLocks noChangeArrowheads="1"/>
            </p:cNvSpPr>
            <p:nvPr/>
          </p:nvSpPr>
          <p:spPr bwMode="auto">
            <a:xfrm>
              <a:off x="5663952" y="4403576"/>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Frame</a:t>
              </a:r>
            </a:p>
          </p:txBody>
        </p:sp>
        <p:sp>
          <p:nvSpPr>
            <p:cNvPr id="7" name="Rectangle 7"/>
            <p:cNvSpPr>
              <a:spLocks noChangeArrowheads="1"/>
            </p:cNvSpPr>
            <p:nvPr/>
          </p:nvSpPr>
          <p:spPr bwMode="auto">
            <a:xfrm>
              <a:off x="5663952" y="5013176"/>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8" name="Rectangle 8"/>
            <p:cNvSpPr>
              <a:spLocks noChangeArrowheads="1"/>
            </p:cNvSpPr>
            <p:nvPr/>
          </p:nvSpPr>
          <p:spPr bwMode="auto">
            <a:xfrm>
              <a:off x="5663952" y="5301208"/>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9" name="Rectangle 6"/>
            <p:cNvSpPr>
              <a:spLocks noChangeArrowheads="1"/>
            </p:cNvSpPr>
            <p:nvPr/>
          </p:nvSpPr>
          <p:spPr bwMode="auto">
            <a:xfrm>
              <a:off x="2711624" y="4403576"/>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Location</a:t>
              </a:r>
            </a:p>
          </p:txBody>
        </p:sp>
        <p:sp>
          <p:nvSpPr>
            <p:cNvPr id="10" name="Rectangle 7"/>
            <p:cNvSpPr>
              <a:spLocks noChangeArrowheads="1"/>
            </p:cNvSpPr>
            <p:nvPr/>
          </p:nvSpPr>
          <p:spPr bwMode="auto">
            <a:xfrm>
              <a:off x="2711624" y="5013176"/>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1" name="Rectangle 8"/>
            <p:cNvSpPr>
              <a:spLocks noChangeArrowheads="1"/>
            </p:cNvSpPr>
            <p:nvPr/>
          </p:nvSpPr>
          <p:spPr bwMode="auto">
            <a:xfrm>
              <a:off x="2711624" y="5301208"/>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12" name="Straight Connector 11"/>
            <p:cNvCxnSpPr/>
            <p:nvPr/>
          </p:nvCxnSpPr>
          <p:spPr>
            <a:xfrm>
              <a:off x="4464224" y="5193196"/>
              <a:ext cx="1199728"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TextBox 12"/>
            <p:cNvSpPr txBox="1"/>
            <p:nvPr/>
          </p:nvSpPr>
          <p:spPr>
            <a:xfrm>
              <a:off x="5015880" y="4653136"/>
              <a:ext cx="517642" cy="369332"/>
            </a:xfrm>
            <a:prstGeom prst="rect">
              <a:avLst/>
            </a:prstGeom>
            <a:noFill/>
          </p:spPr>
          <p:txBody>
            <a:bodyPr wrap="none" rtlCol="0">
              <a:spAutoFit/>
            </a:bodyPr>
            <a:lstStyle/>
            <a:p>
              <a:r>
                <a:rPr lang="en-US" dirty="0"/>
                <a:t>0..*</a:t>
              </a:r>
            </a:p>
          </p:txBody>
        </p:sp>
        <p:sp>
          <p:nvSpPr>
            <p:cNvPr id="21" name="Rectangle 6"/>
            <p:cNvSpPr>
              <a:spLocks noChangeArrowheads="1"/>
            </p:cNvSpPr>
            <p:nvPr/>
          </p:nvSpPr>
          <p:spPr bwMode="auto">
            <a:xfrm>
              <a:off x="8760296" y="4403576"/>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Size</a:t>
              </a:r>
            </a:p>
          </p:txBody>
        </p:sp>
        <p:sp>
          <p:nvSpPr>
            <p:cNvPr id="22" name="Rectangle 7"/>
            <p:cNvSpPr>
              <a:spLocks noChangeArrowheads="1"/>
            </p:cNvSpPr>
            <p:nvPr/>
          </p:nvSpPr>
          <p:spPr bwMode="auto">
            <a:xfrm>
              <a:off x="8760296" y="5013176"/>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3" name="Rectangle 8"/>
            <p:cNvSpPr>
              <a:spLocks noChangeArrowheads="1"/>
            </p:cNvSpPr>
            <p:nvPr/>
          </p:nvSpPr>
          <p:spPr bwMode="auto">
            <a:xfrm>
              <a:off x="8760296" y="5301208"/>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24" name="Straight Connector 23"/>
            <p:cNvCxnSpPr/>
            <p:nvPr/>
          </p:nvCxnSpPr>
          <p:spPr>
            <a:xfrm>
              <a:off x="7416552" y="5193196"/>
              <a:ext cx="1343744"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6" name="Diamond 25"/>
            <p:cNvSpPr/>
            <p:nvPr/>
          </p:nvSpPr>
          <p:spPr>
            <a:xfrm>
              <a:off x="5447928" y="5085184"/>
              <a:ext cx="216024" cy="216024"/>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2" name="Diamond 31"/>
            <p:cNvSpPr/>
            <p:nvPr/>
          </p:nvSpPr>
          <p:spPr>
            <a:xfrm>
              <a:off x="7392144" y="5085184"/>
              <a:ext cx="216024" cy="216024"/>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TextBox 32"/>
            <p:cNvSpPr txBox="1"/>
            <p:nvPr/>
          </p:nvSpPr>
          <p:spPr>
            <a:xfrm>
              <a:off x="4511824" y="4653136"/>
              <a:ext cx="308098" cy="369332"/>
            </a:xfrm>
            <a:prstGeom prst="rect">
              <a:avLst/>
            </a:prstGeom>
            <a:noFill/>
          </p:spPr>
          <p:txBody>
            <a:bodyPr wrap="none" rtlCol="0">
              <a:spAutoFit/>
            </a:bodyPr>
            <a:lstStyle/>
            <a:p>
              <a:r>
                <a:rPr lang="en-US" dirty="0"/>
                <a:t>1</a:t>
              </a:r>
            </a:p>
          </p:txBody>
        </p:sp>
        <p:sp>
          <p:nvSpPr>
            <p:cNvPr id="34" name="TextBox 33"/>
            <p:cNvSpPr txBox="1"/>
            <p:nvPr/>
          </p:nvSpPr>
          <p:spPr>
            <a:xfrm>
              <a:off x="8400256" y="4653136"/>
              <a:ext cx="308098" cy="369332"/>
            </a:xfrm>
            <a:prstGeom prst="rect">
              <a:avLst/>
            </a:prstGeom>
            <a:noFill/>
          </p:spPr>
          <p:txBody>
            <a:bodyPr wrap="none" rtlCol="0">
              <a:spAutoFit/>
            </a:bodyPr>
            <a:lstStyle/>
            <a:p>
              <a:r>
                <a:rPr lang="en-US" dirty="0"/>
                <a:t>1</a:t>
              </a:r>
            </a:p>
          </p:txBody>
        </p:sp>
        <p:sp>
          <p:nvSpPr>
            <p:cNvPr id="35" name="TextBox 34"/>
            <p:cNvSpPr txBox="1"/>
            <p:nvPr/>
          </p:nvSpPr>
          <p:spPr>
            <a:xfrm>
              <a:off x="7464152" y="4653136"/>
              <a:ext cx="517642" cy="369332"/>
            </a:xfrm>
            <a:prstGeom prst="rect">
              <a:avLst/>
            </a:prstGeom>
            <a:noFill/>
          </p:spPr>
          <p:txBody>
            <a:bodyPr wrap="none" rtlCol="0">
              <a:spAutoFit/>
            </a:bodyPr>
            <a:lstStyle/>
            <a:p>
              <a:r>
                <a:rPr lang="en-US" dirty="0"/>
                <a:t>0..*</a:t>
              </a: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4180" name="Rectangle 4"/>
          <p:cNvSpPr>
            <a:spLocks noGrp="1" noChangeArrowheads="1"/>
          </p:cNvSpPr>
          <p:nvPr>
            <p:ph type="title"/>
          </p:nvPr>
        </p:nvSpPr>
        <p:spPr/>
        <p:txBody>
          <a:bodyPr/>
          <a:lstStyle/>
          <a:p>
            <a:r>
              <a:rPr lang="en-US"/>
              <a:t>Decomposition</a:t>
            </a:r>
          </a:p>
        </p:txBody>
      </p:sp>
      <p:sp>
        <p:nvSpPr>
          <p:cNvPr id="434181" name="Rectangle 5"/>
          <p:cNvSpPr>
            <a:spLocks noGrp="1" noChangeArrowheads="1"/>
          </p:cNvSpPr>
          <p:nvPr>
            <p:ph idx="1"/>
          </p:nvPr>
        </p:nvSpPr>
        <p:spPr/>
        <p:txBody>
          <a:bodyPr/>
          <a:lstStyle/>
          <a:p>
            <a:r>
              <a:rPr lang="en-US" dirty="0"/>
              <a:t>Composition relationship:</a:t>
            </a:r>
          </a:p>
          <a:p>
            <a:pPr lvl="1"/>
            <a:r>
              <a:rPr lang="en-US" dirty="0"/>
              <a:t>Strong “has-</a:t>
            </a:r>
            <a:r>
              <a:rPr lang="en-CA" dirty="0"/>
              <a:t>a” r</a:t>
            </a:r>
            <a:r>
              <a:rPr lang="en-US" dirty="0" err="1"/>
              <a:t>elationship</a:t>
            </a:r>
            <a:endParaRPr lang="en-US" dirty="0"/>
          </a:p>
          <a:p>
            <a:pPr lvl="1"/>
            <a:r>
              <a:rPr lang="en-US" dirty="0"/>
              <a:t>Exclusive containment of parts</a:t>
            </a:r>
          </a:p>
          <a:p>
            <a:pPr lvl="1"/>
            <a:r>
              <a:rPr lang="en-US" dirty="0"/>
              <a:t>Related object lifetimes</a:t>
            </a:r>
          </a:p>
          <a:p>
            <a:pPr lvl="2"/>
            <a:r>
              <a:rPr lang="en-US" dirty="0"/>
              <a:t>The whole cannot exist without having the parts; if the whole is destroyed, the parts should also be destroyed</a:t>
            </a:r>
          </a:p>
          <a:p>
            <a:pPr lvl="1"/>
            <a:r>
              <a:rPr lang="en-US" dirty="0"/>
              <a:t>Often access the parts through the whole</a:t>
            </a:r>
          </a:p>
        </p:txBody>
      </p:sp>
      <p:sp>
        <p:nvSpPr>
          <p:cNvPr id="4" name="Slide Number Placeholder 5"/>
          <p:cNvSpPr>
            <a:spLocks noGrp="1"/>
          </p:cNvSpPr>
          <p:nvPr>
            <p:ph type="sldNum" sz="quarter" idx="12"/>
          </p:nvPr>
        </p:nvSpPr>
        <p:spPr/>
        <p:txBody>
          <a:bodyPr/>
          <a:lstStyle/>
          <a:p>
            <a:fld id="{4E1C5675-560F-7448-B5AC-F7AC32C0B5F7}" type="slidenum">
              <a:rPr lang="en-US"/>
              <a:pPr/>
              <a:t>29</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3418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34181">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3418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9298" name="Rectangle 2"/>
          <p:cNvSpPr>
            <a:spLocks noGrp="1" noChangeArrowheads="1"/>
          </p:cNvSpPr>
          <p:nvPr>
            <p:ph type="title"/>
          </p:nvPr>
        </p:nvSpPr>
        <p:spPr/>
        <p:txBody>
          <a:bodyPr/>
          <a:lstStyle/>
          <a:p>
            <a:r>
              <a:rPr lang="en-US"/>
              <a:t>UML Composition</a:t>
            </a:r>
          </a:p>
        </p:txBody>
      </p:sp>
      <p:sp>
        <p:nvSpPr>
          <p:cNvPr id="439299" name="Rectangle 3"/>
          <p:cNvSpPr>
            <a:spLocks noGrp="1" noChangeArrowheads="1"/>
          </p:cNvSpPr>
          <p:nvPr>
            <p:ph idx="1"/>
          </p:nvPr>
        </p:nvSpPr>
        <p:spPr/>
        <p:txBody>
          <a:bodyPr/>
          <a:lstStyle/>
          <a:p>
            <a:r>
              <a:rPr lang="en-US" dirty="0"/>
              <a:t>Contained </a:t>
            </a:r>
            <a:r>
              <a:rPr lang="en-US" i="1" dirty="0"/>
              <a:t>objects </a:t>
            </a:r>
            <a:r>
              <a:rPr lang="en-US" dirty="0"/>
              <a:t>are exclusive to the container</a:t>
            </a:r>
          </a:p>
          <a:p>
            <a:endParaRPr lang="en-US" dirty="0"/>
          </a:p>
          <a:p>
            <a:endParaRPr lang="en-US" dirty="0"/>
          </a:p>
          <a:p>
            <a:endParaRPr lang="en-US" dirty="0"/>
          </a:p>
          <a:p>
            <a:endParaRPr lang="en-US" dirty="0"/>
          </a:p>
          <a:p>
            <a:r>
              <a:rPr lang="en-US" dirty="0"/>
              <a:t>A Circle object has a Point object that is exclusive to it (however, other objects may contain Point objects, just not this one)</a:t>
            </a:r>
          </a:p>
        </p:txBody>
      </p:sp>
      <p:sp>
        <p:nvSpPr>
          <p:cNvPr id="5" name="Slide Number Placeholder 5"/>
          <p:cNvSpPr>
            <a:spLocks noGrp="1"/>
          </p:cNvSpPr>
          <p:nvPr>
            <p:ph type="sldNum" sz="quarter" idx="12"/>
          </p:nvPr>
        </p:nvSpPr>
        <p:spPr/>
        <p:txBody>
          <a:bodyPr/>
          <a:lstStyle/>
          <a:p>
            <a:fld id="{95378FD4-5FC6-AE43-9A64-54A02CAC5AA6}" type="slidenum">
              <a:rPr lang="en-US"/>
              <a:pPr/>
              <a:t>30</a:t>
            </a:fld>
            <a:endParaRPr lang="en-US"/>
          </a:p>
        </p:txBody>
      </p:sp>
      <p:grpSp>
        <p:nvGrpSpPr>
          <p:cNvPr id="2" name="Group 1">
            <a:extLst>
              <a:ext uri="{FF2B5EF4-FFF2-40B4-BE49-F238E27FC236}">
                <a16:creationId xmlns:a16="http://schemas.microsoft.com/office/drawing/2014/main" id="{BEA8851D-40BC-AD8E-0CBF-EE73C72A926D}"/>
              </a:ext>
            </a:extLst>
          </p:cNvPr>
          <p:cNvGrpSpPr/>
          <p:nvPr/>
        </p:nvGrpSpPr>
        <p:grpSpPr>
          <a:xfrm>
            <a:off x="3671528" y="2492896"/>
            <a:ext cx="4848944" cy="1473696"/>
            <a:chOff x="4079776" y="2946599"/>
            <a:chExt cx="4848944" cy="1473696"/>
          </a:xfrm>
        </p:grpSpPr>
        <p:sp>
          <p:nvSpPr>
            <p:cNvPr id="6" name="Rectangle 6"/>
            <p:cNvSpPr>
              <a:spLocks noChangeArrowheads="1"/>
            </p:cNvSpPr>
            <p:nvPr/>
          </p:nvSpPr>
          <p:spPr bwMode="auto">
            <a:xfrm>
              <a:off x="4079776" y="2946599"/>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Circle</a:t>
              </a:r>
            </a:p>
          </p:txBody>
        </p:sp>
        <p:sp>
          <p:nvSpPr>
            <p:cNvPr id="7" name="Rectangle 7"/>
            <p:cNvSpPr>
              <a:spLocks noChangeArrowheads="1"/>
            </p:cNvSpPr>
            <p:nvPr/>
          </p:nvSpPr>
          <p:spPr bwMode="auto">
            <a:xfrm>
              <a:off x="4079776" y="3556199"/>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8" name="Rectangle 8"/>
            <p:cNvSpPr>
              <a:spLocks noChangeArrowheads="1"/>
            </p:cNvSpPr>
            <p:nvPr/>
          </p:nvSpPr>
          <p:spPr bwMode="auto">
            <a:xfrm>
              <a:off x="4079776" y="3844231"/>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9" name="Rectangle 6"/>
            <p:cNvSpPr>
              <a:spLocks noChangeArrowheads="1"/>
            </p:cNvSpPr>
            <p:nvPr/>
          </p:nvSpPr>
          <p:spPr bwMode="auto">
            <a:xfrm>
              <a:off x="7176120" y="2946599"/>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Point</a:t>
              </a:r>
            </a:p>
          </p:txBody>
        </p:sp>
        <p:sp>
          <p:nvSpPr>
            <p:cNvPr id="10" name="Rectangle 7"/>
            <p:cNvSpPr>
              <a:spLocks noChangeArrowheads="1"/>
            </p:cNvSpPr>
            <p:nvPr/>
          </p:nvSpPr>
          <p:spPr bwMode="auto">
            <a:xfrm>
              <a:off x="7176120" y="3556199"/>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1" name="Rectangle 8"/>
            <p:cNvSpPr>
              <a:spLocks noChangeArrowheads="1"/>
            </p:cNvSpPr>
            <p:nvPr/>
          </p:nvSpPr>
          <p:spPr bwMode="auto">
            <a:xfrm>
              <a:off x="7176120" y="3844231"/>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12" name="Straight Connector 11"/>
            <p:cNvCxnSpPr/>
            <p:nvPr/>
          </p:nvCxnSpPr>
          <p:spPr>
            <a:xfrm>
              <a:off x="5832376" y="3736219"/>
              <a:ext cx="1343744"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13" name="Diamond 12"/>
            <p:cNvSpPr/>
            <p:nvPr/>
          </p:nvSpPr>
          <p:spPr>
            <a:xfrm>
              <a:off x="5856176" y="3628207"/>
              <a:ext cx="216024" cy="216024"/>
            </a:xfrm>
            <a:prstGeom prst="diamond">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TextBox 13"/>
            <p:cNvSpPr txBox="1"/>
            <p:nvPr/>
          </p:nvSpPr>
          <p:spPr>
            <a:xfrm>
              <a:off x="6816080" y="3196159"/>
              <a:ext cx="308098" cy="369332"/>
            </a:xfrm>
            <a:prstGeom prst="rect">
              <a:avLst/>
            </a:prstGeom>
            <a:noFill/>
          </p:spPr>
          <p:txBody>
            <a:bodyPr wrap="none" rtlCol="0">
              <a:spAutoFit/>
            </a:bodyPr>
            <a:lstStyle/>
            <a:p>
              <a:r>
                <a:rPr lang="en-US" dirty="0"/>
                <a:t>1</a:t>
              </a: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a:xfrm>
            <a:off x="10137648" y="5998329"/>
            <a:ext cx="457200" cy="476250"/>
          </a:xfrm>
        </p:spPr>
        <p:txBody>
          <a:bodyPr/>
          <a:lstStyle/>
          <a:p>
            <a:fld id="{D3F25697-57D3-0D49-8FC5-4BE2D6D757CB}" type="slidenum">
              <a:rPr lang="en-US" smtClean="0"/>
              <a:pPr/>
              <a:t>31</a:t>
            </a:fld>
            <a:endParaRPr lang="en-US"/>
          </a:p>
        </p:txBody>
      </p:sp>
      <p:grpSp>
        <p:nvGrpSpPr>
          <p:cNvPr id="2" name="Group 1">
            <a:extLst>
              <a:ext uri="{FF2B5EF4-FFF2-40B4-BE49-F238E27FC236}">
                <a16:creationId xmlns:a16="http://schemas.microsoft.com/office/drawing/2014/main" id="{C3C223C7-AEAB-F901-9105-0420AA955811}"/>
              </a:ext>
            </a:extLst>
          </p:cNvPr>
          <p:cNvGrpSpPr/>
          <p:nvPr/>
        </p:nvGrpSpPr>
        <p:grpSpPr>
          <a:xfrm>
            <a:off x="3167472" y="299120"/>
            <a:ext cx="5857056" cy="1627004"/>
            <a:chOff x="3431704" y="299120"/>
            <a:chExt cx="5857056" cy="1627004"/>
          </a:xfrm>
        </p:grpSpPr>
        <p:sp>
          <p:nvSpPr>
            <p:cNvPr id="5" name="Rectangle 6"/>
            <p:cNvSpPr>
              <a:spLocks noChangeArrowheads="1"/>
            </p:cNvSpPr>
            <p:nvPr/>
          </p:nvSpPr>
          <p:spPr bwMode="auto">
            <a:xfrm>
              <a:off x="7536160" y="299120"/>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ClassB</a:t>
              </a:r>
              <a:endParaRPr lang="en-US" dirty="0"/>
            </a:p>
          </p:txBody>
        </p:sp>
        <p:sp>
          <p:nvSpPr>
            <p:cNvPr id="6" name="Rectangle 7"/>
            <p:cNvSpPr>
              <a:spLocks noChangeArrowheads="1"/>
            </p:cNvSpPr>
            <p:nvPr/>
          </p:nvSpPr>
          <p:spPr bwMode="auto">
            <a:xfrm>
              <a:off x="7536160" y="908720"/>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7" name="Rectangle 8"/>
            <p:cNvSpPr>
              <a:spLocks noChangeArrowheads="1"/>
            </p:cNvSpPr>
            <p:nvPr/>
          </p:nvSpPr>
          <p:spPr bwMode="auto">
            <a:xfrm>
              <a:off x="7536160" y="1196752"/>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8" name="Rectangle 6"/>
            <p:cNvSpPr>
              <a:spLocks noChangeArrowheads="1"/>
            </p:cNvSpPr>
            <p:nvPr/>
          </p:nvSpPr>
          <p:spPr bwMode="auto">
            <a:xfrm>
              <a:off x="3431704" y="299120"/>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ClassA</a:t>
              </a:r>
              <a:endParaRPr lang="en-US" dirty="0"/>
            </a:p>
          </p:txBody>
        </p:sp>
        <p:sp>
          <p:nvSpPr>
            <p:cNvPr id="9" name="Rectangle 7"/>
            <p:cNvSpPr>
              <a:spLocks noChangeArrowheads="1"/>
            </p:cNvSpPr>
            <p:nvPr/>
          </p:nvSpPr>
          <p:spPr bwMode="auto">
            <a:xfrm>
              <a:off x="3431704" y="908720"/>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0" name="Rectangle 8"/>
            <p:cNvSpPr>
              <a:spLocks noChangeArrowheads="1"/>
            </p:cNvSpPr>
            <p:nvPr/>
          </p:nvSpPr>
          <p:spPr bwMode="auto">
            <a:xfrm>
              <a:off x="3431704" y="1196752"/>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11" name="Straight Connector 10"/>
            <p:cNvCxnSpPr>
              <a:stCxn id="9" idx="3"/>
              <a:endCxn id="6" idx="1"/>
            </p:cNvCxnSpPr>
            <p:nvPr/>
          </p:nvCxnSpPr>
          <p:spPr>
            <a:xfrm>
              <a:off x="5184304" y="1052736"/>
              <a:ext cx="2351856"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663952" y="1556792"/>
              <a:ext cx="1333570" cy="369332"/>
            </a:xfrm>
            <a:prstGeom prst="rect">
              <a:avLst/>
            </a:prstGeom>
            <a:noFill/>
          </p:spPr>
          <p:txBody>
            <a:bodyPr wrap="none" rtlCol="0">
              <a:spAutoFit/>
            </a:bodyPr>
            <a:lstStyle/>
            <a:p>
              <a:r>
                <a:rPr lang="en-US" i="1" dirty="0"/>
                <a:t>association</a:t>
              </a:r>
            </a:p>
          </p:txBody>
        </p:sp>
      </p:grpSp>
      <p:grpSp>
        <p:nvGrpSpPr>
          <p:cNvPr id="12" name="Group 11">
            <a:extLst>
              <a:ext uri="{FF2B5EF4-FFF2-40B4-BE49-F238E27FC236}">
                <a16:creationId xmlns:a16="http://schemas.microsoft.com/office/drawing/2014/main" id="{5C0CB53A-58A9-27F8-E602-3B5A97678065}"/>
              </a:ext>
            </a:extLst>
          </p:cNvPr>
          <p:cNvGrpSpPr/>
          <p:nvPr/>
        </p:nvGrpSpPr>
        <p:grpSpPr>
          <a:xfrm>
            <a:off x="3167472" y="1951033"/>
            <a:ext cx="5857056" cy="2044134"/>
            <a:chOff x="3431704" y="1951033"/>
            <a:chExt cx="5857056" cy="2044134"/>
          </a:xfrm>
        </p:grpSpPr>
        <p:sp>
          <p:nvSpPr>
            <p:cNvPr id="15" name="Rectangle 6"/>
            <p:cNvSpPr>
              <a:spLocks noChangeArrowheads="1"/>
            </p:cNvSpPr>
            <p:nvPr/>
          </p:nvSpPr>
          <p:spPr bwMode="auto">
            <a:xfrm>
              <a:off x="7536160" y="2368163"/>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ClassB</a:t>
              </a:r>
              <a:endParaRPr lang="en-US" dirty="0"/>
            </a:p>
          </p:txBody>
        </p:sp>
        <p:sp>
          <p:nvSpPr>
            <p:cNvPr id="16" name="Rectangle 7"/>
            <p:cNvSpPr>
              <a:spLocks noChangeArrowheads="1"/>
            </p:cNvSpPr>
            <p:nvPr/>
          </p:nvSpPr>
          <p:spPr bwMode="auto">
            <a:xfrm>
              <a:off x="7536160" y="2977763"/>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7" name="Rectangle 8"/>
            <p:cNvSpPr>
              <a:spLocks noChangeArrowheads="1"/>
            </p:cNvSpPr>
            <p:nvPr/>
          </p:nvSpPr>
          <p:spPr bwMode="auto">
            <a:xfrm>
              <a:off x="7536160" y="3265795"/>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8" name="Rectangle 6"/>
            <p:cNvSpPr>
              <a:spLocks noChangeArrowheads="1"/>
            </p:cNvSpPr>
            <p:nvPr/>
          </p:nvSpPr>
          <p:spPr bwMode="auto">
            <a:xfrm>
              <a:off x="3431704" y="2368163"/>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ClassA</a:t>
              </a:r>
              <a:endParaRPr lang="en-US" dirty="0"/>
            </a:p>
          </p:txBody>
        </p:sp>
        <p:sp>
          <p:nvSpPr>
            <p:cNvPr id="19" name="Rectangle 7"/>
            <p:cNvSpPr>
              <a:spLocks noChangeArrowheads="1"/>
            </p:cNvSpPr>
            <p:nvPr/>
          </p:nvSpPr>
          <p:spPr bwMode="auto">
            <a:xfrm>
              <a:off x="3431704" y="2977763"/>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0" name="Rectangle 8"/>
            <p:cNvSpPr>
              <a:spLocks noChangeArrowheads="1"/>
            </p:cNvSpPr>
            <p:nvPr/>
          </p:nvSpPr>
          <p:spPr bwMode="auto">
            <a:xfrm>
              <a:off x="3431704" y="3265795"/>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21" name="Straight Connector 20"/>
            <p:cNvCxnSpPr/>
            <p:nvPr/>
          </p:nvCxnSpPr>
          <p:spPr>
            <a:xfrm>
              <a:off x="5184304" y="3085775"/>
              <a:ext cx="2351856"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0" name="Diamond 29"/>
            <p:cNvSpPr/>
            <p:nvPr/>
          </p:nvSpPr>
          <p:spPr>
            <a:xfrm>
              <a:off x="5159896" y="2977763"/>
              <a:ext cx="216024" cy="216024"/>
            </a:xfrm>
            <a:prstGeom prst="diamond">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3" name="TextBox 32"/>
            <p:cNvSpPr txBox="1"/>
            <p:nvPr/>
          </p:nvSpPr>
          <p:spPr>
            <a:xfrm>
              <a:off x="5663952" y="3625835"/>
              <a:ext cx="1338572" cy="369332"/>
            </a:xfrm>
            <a:prstGeom prst="rect">
              <a:avLst/>
            </a:prstGeom>
            <a:noFill/>
          </p:spPr>
          <p:txBody>
            <a:bodyPr wrap="none" rtlCol="0">
              <a:spAutoFit/>
            </a:bodyPr>
            <a:lstStyle/>
            <a:p>
              <a:r>
                <a:rPr lang="en-US" i="1" dirty="0"/>
                <a:t>aggregation</a:t>
              </a:r>
            </a:p>
          </p:txBody>
        </p:sp>
        <p:sp>
          <p:nvSpPr>
            <p:cNvPr id="35" name="TextBox 34"/>
            <p:cNvSpPr txBox="1"/>
            <p:nvPr/>
          </p:nvSpPr>
          <p:spPr>
            <a:xfrm>
              <a:off x="3863753" y="1951033"/>
              <a:ext cx="785793" cy="369332"/>
            </a:xfrm>
            <a:prstGeom prst="rect">
              <a:avLst/>
            </a:prstGeom>
            <a:noFill/>
          </p:spPr>
          <p:txBody>
            <a:bodyPr wrap="none" rtlCol="0">
              <a:spAutoFit/>
            </a:bodyPr>
            <a:lstStyle/>
            <a:p>
              <a:r>
                <a:rPr lang="en-US" i="1" dirty="0"/>
                <a:t>whole</a:t>
              </a:r>
            </a:p>
          </p:txBody>
        </p:sp>
        <p:sp>
          <p:nvSpPr>
            <p:cNvPr id="37" name="TextBox 36"/>
            <p:cNvSpPr txBox="1"/>
            <p:nvPr/>
          </p:nvSpPr>
          <p:spPr>
            <a:xfrm>
              <a:off x="7968208" y="1961029"/>
              <a:ext cx="587020" cy="369332"/>
            </a:xfrm>
            <a:prstGeom prst="rect">
              <a:avLst/>
            </a:prstGeom>
            <a:noFill/>
          </p:spPr>
          <p:txBody>
            <a:bodyPr wrap="none" rtlCol="0">
              <a:spAutoFit/>
            </a:bodyPr>
            <a:lstStyle/>
            <a:p>
              <a:r>
                <a:rPr lang="en-US" i="1" dirty="0"/>
                <a:t>part</a:t>
              </a:r>
            </a:p>
          </p:txBody>
        </p:sp>
      </p:grpSp>
      <p:grpSp>
        <p:nvGrpSpPr>
          <p:cNvPr id="14" name="Group 13">
            <a:extLst>
              <a:ext uri="{FF2B5EF4-FFF2-40B4-BE49-F238E27FC236}">
                <a16:creationId xmlns:a16="http://schemas.microsoft.com/office/drawing/2014/main" id="{115F08A4-6D5F-13D9-BEB0-B10FFC7C5DF9}"/>
              </a:ext>
            </a:extLst>
          </p:cNvPr>
          <p:cNvGrpSpPr/>
          <p:nvPr/>
        </p:nvGrpSpPr>
        <p:grpSpPr>
          <a:xfrm>
            <a:off x="3167472" y="4417923"/>
            <a:ext cx="5857056" cy="2025516"/>
            <a:chOff x="3431704" y="4417923"/>
            <a:chExt cx="5857056" cy="2025516"/>
          </a:xfrm>
        </p:grpSpPr>
        <p:sp>
          <p:nvSpPr>
            <p:cNvPr id="22" name="Rectangle 6"/>
            <p:cNvSpPr>
              <a:spLocks noChangeArrowheads="1"/>
            </p:cNvSpPr>
            <p:nvPr/>
          </p:nvSpPr>
          <p:spPr bwMode="auto">
            <a:xfrm>
              <a:off x="7536160" y="4816435"/>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ClassB</a:t>
              </a:r>
              <a:endParaRPr lang="en-US" dirty="0"/>
            </a:p>
          </p:txBody>
        </p:sp>
        <p:sp>
          <p:nvSpPr>
            <p:cNvPr id="23" name="Rectangle 7"/>
            <p:cNvSpPr>
              <a:spLocks noChangeArrowheads="1"/>
            </p:cNvSpPr>
            <p:nvPr/>
          </p:nvSpPr>
          <p:spPr bwMode="auto">
            <a:xfrm>
              <a:off x="7536160" y="5426035"/>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4" name="Rectangle 8"/>
            <p:cNvSpPr>
              <a:spLocks noChangeArrowheads="1"/>
            </p:cNvSpPr>
            <p:nvPr/>
          </p:nvSpPr>
          <p:spPr bwMode="auto">
            <a:xfrm>
              <a:off x="7536160" y="5714067"/>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5" name="Rectangle 6"/>
            <p:cNvSpPr>
              <a:spLocks noChangeArrowheads="1"/>
            </p:cNvSpPr>
            <p:nvPr/>
          </p:nvSpPr>
          <p:spPr bwMode="auto">
            <a:xfrm>
              <a:off x="3431704" y="4816435"/>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ClassA</a:t>
              </a:r>
              <a:endParaRPr lang="en-US" dirty="0"/>
            </a:p>
          </p:txBody>
        </p:sp>
        <p:sp>
          <p:nvSpPr>
            <p:cNvPr id="26" name="Rectangle 7"/>
            <p:cNvSpPr>
              <a:spLocks noChangeArrowheads="1"/>
            </p:cNvSpPr>
            <p:nvPr/>
          </p:nvSpPr>
          <p:spPr bwMode="auto">
            <a:xfrm>
              <a:off x="3431704" y="5426035"/>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7" name="Rectangle 8"/>
            <p:cNvSpPr>
              <a:spLocks noChangeArrowheads="1"/>
            </p:cNvSpPr>
            <p:nvPr/>
          </p:nvSpPr>
          <p:spPr bwMode="auto">
            <a:xfrm>
              <a:off x="3431704" y="5714067"/>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28" name="Straight Connector 27"/>
            <p:cNvCxnSpPr/>
            <p:nvPr/>
          </p:nvCxnSpPr>
          <p:spPr>
            <a:xfrm>
              <a:off x="5184304" y="5534047"/>
              <a:ext cx="2351856"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1" name="Diamond 30"/>
            <p:cNvSpPr/>
            <p:nvPr/>
          </p:nvSpPr>
          <p:spPr>
            <a:xfrm>
              <a:off x="5159896" y="5426035"/>
              <a:ext cx="216024" cy="216024"/>
            </a:xfrm>
            <a:prstGeom prst="diamond">
              <a:avLst/>
            </a:prstGeom>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34" name="TextBox 33"/>
            <p:cNvSpPr txBox="1"/>
            <p:nvPr/>
          </p:nvSpPr>
          <p:spPr>
            <a:xfrm>
              <a:off x="5663952" y="6074107"/>
              <a:ext cx="1430200" cy="369332"/>
            </a:xfrm>
            <a:prstGeom prst="rect">
              <a:avLst/>
            </a:prstGeom>
            <a:noFill/>
          </p:spPr>
          <p:txBody>
            <a:bodyPr wrap="none" rtlCol="0">
              <a:spAutoFit/>
            </a:bodyPr>
            <a:lstStyle/>
            <a:p>
              <a:r>
                <a:rPr lang="en-US" i="1" dirty="0"/>
                <a:t>composition</a:t>
              </a:r>
            </a:p>
          </p:txBody>
        </p:sp>
        <p:sp>
          <p:nvSpPr>
            <p:cNvPr id="36" name="TextBox 35"/>
            <p:cNvSpPr txBox="1"/>
            <p:nvPr/>
          </p:nvSpPr>
          <p:spPr>
            <a:xfrm>
              <a:off x="3863753" y="4417923"/>
              <a:ext cx="785793" cy="369332"/>
            </a:xfrm>
            <a:prstGeom prst="rect">
              <a:avLst/>
            </a:prstGeom>
            <a:noFill/>
          </p:spPr>
          <p:txBody>
            <a:bodyPr wrap="none" rtlCol="0">
              <a:spAutoFit/>
            </a:bodyPr>
            <a:lstStyle/>
            <a:p>
              <a:r>
                <a:rPr lang="en-US" i="1" dirty="0"/>
                <a:t>whole</a:t>
              </a:r>
            </a:p>
          </p:txBody>
        </p:sp>
        <p:sp>
          <p:nvSpPr>
            <p:cNvPr id="38" name="TextBox 37"/>
            <p:cNvSpPr txBox="1"/>
            <p:nvPr/>
          </p:nvSpPr>
          <p:spPr>
            <a:xfrm>
              <a:off x="7968208" y="4417923"/>
              <a:ext cx="587020" cy="369332"/>
            </a:xfrm>
            <a:prstGeom prst="rect">
              <a:avLst/>
            </a:prstGeom>
            <a:noFill/>
          </p:spPr>
          <p:txBody>
            <a:bodyPr wrap="none" rtlCol="0">
              <a:spAutoFit/>
            </a:bodyPr>
            <a:lstStyle/>
            <a:p>
              <a:r>
                <a:rPr lang="en-US" i="1" dirty="0"/>
                <a:t>part</a:t>
              </a:r>
            </a:p>
          </p:txBody>
        </p:sp>
      </p:grpSp>
      <p:sp>
        <p:nvSpPr>
          <p:cNvPr id="3" name="TextBox 2">
            <a:extLst>
              <a:ext uri="{FF2B5EF4-FFF2-40B4-BE49-F238E27FC236}">
                <a16:creationId xmlns:a16="http://schemas.microsoft.com/office/drawing/2014/main" id="{13E308A7-CA7D-BC54-E52F-36DD112E345B}"/>
              </a:ext>
            </a:extLst>
          </p:cNvPr>
          <p:cNvSpPr txBox="1"/>
          <p:nvPr/>
        </p:nvSpPr>
        <p:spPr>
          <a:xfrm>
            <a:off x="3372147" y="3933056"/>
            <a:ext cx="5447707" cy="369332"/>
          </a:xfrm>
          <a:prstGeom prst="rect">
            <a:avLst/>
          </a:prstGeom>
          <a:noFill/>
        </p:spPr>
        <p:txBody>
          <a:bodyPr wrap="square">
            <a:spAutoFit/>
          </a:bodyPr>
          <a:lstStyle/>
          <a:p>
            <a:r>
              <a:rPr lang="en-CA" dirty="0" err="1"/>
              <a:t>ClassA</a:t>
            </a:r>
            <a:r>
              <a:rPr lang="en-CA" dirty="0"/>
              <a:t> and </a:t>
            </a:r>
            <a:r>
              <a:rPr lang="en-CA" dirty="0" err="1"/>
              <a:t>ClassB</a:t>
            </a:r>
            <a:r>
              <a:rPr lang="en-CA" dirty="0"/>
              <a:t> can created/destroyed independently</a:t>
            </a:r>
          </a:p>
        </p:txBody>
      </p:sp>
      <p:sp>
        <p:nvSpPr>
          <p:cNvPr id="13" name="TextBox 12">
            <a:extLst>
              <a:ext uri="{FF2B5EF4-FFF2-40B4-BE49-F238E27FC236}">
                <a16:creationId xmlns:a16="http://schemas.microsoft.com/office/drawing/2014/main" id="{D6E03B7F-78E6-7C9C-EA3B-4CCAC799F78F}"/>
              </a:ext>
            </a:extLst>
          </p:cNvPr>
          <p:cNvSpPr txBox="1"/>
          <p:nvPr/>
        </p:nvSpPr>
        <p:spPr>
          <a:xfrm>
            <a:off x="2699386" y="6372036"/>
            <a:ext cx="6793228" cy="369332"/>
          </a:xfrm>
          <a:prstGeom prst="rect">
            <a:avLst/>
          </a:prstGeom>
          <a:noFill/>
        </p:spPr>
        <p:txBody>
          <a:bodyPr wrap="square">
            <a:spAutoFit/>
          </a:bodyPr>
          <a:lstStyle/>
          <a:p>
            <a:r>
              <a:rPr lang="en-CA" dirty="0"/>
              <a:t>If </a:t>
            </a:r>
            <a:r>
              <a:rPr lang="en-CA" dirty="0" err="1"/>
              <a:t>ClassA</a:t>
            </a:r>
            <a:r>
              <a:rPr lang="en-CA" dirty="0"/>
              <a:t> instance is deleted, all of its </a:t>
            </a:r>
            <a:r>
              <a:rPr lang="en-CA" dirty="0" err="1"/>
              <a:t>ClassB</a:t>
            </a:r>
            <a:r>
              <a:rPr lang="en-CA" dirty="0"/>
              <a:t> instances get deleted too</a:t>
            </a:r>
          </a:p>
        </p:txBody>
      </p:sp>
    </p:spTree>
    <p:extLst>
      <p:ext uri="{BB962C8B-B14F-4D97-AF65-F5344CB8AC3E}">
        <p14:creationId xmlns:p14="http://schemas.microsoft.com/office/powerpoint/2010/main" val="189579704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Navigability</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3693E2C0-D7FA-E54A-B614-B3CE362612AF}" type="slidenum">
              <a:rPr lang="en-US" smtClean="0"/>
              <a:pPr/>
              <a:t>32</a:t>
            </a:fld>
            <a:endParaRPr lang="en-US"/>
          </a:p>
        </p:txBody>
      </p:sp>
    </p:spTree>
    <p:extLst>
      <p:ext uri="{BB962C8B-B14F-4D97-AF65-F5344CB8AC3E}">
        <p14:creationId xmlns:p14="http://schemas.microsoft.com/office/powerpoint/2010/main" val="50184263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55F1B6-7AE2-9CF7-5003-867902BB41D5}"/>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E6D4C475-510E-4FA0-0547-7BD78D67C38B}"/>
              </a:ext>
            </a:extLst>
          </p:cNvPr>
          <p:cNvSpPr>
            <a:spLocks noGrp="1"/>
          </p:cNvSpPr>
          <p:nvPr>
            <p:ph type="sldNum" sz="quarter" idx="12"/>
          </p:nvPr>
        </p:nvSpPr>
        <p:spPr>
          <a:xfrm>
            <a:off x="10137648" y="5998329"/>
            <a:ext cx="457200" cy="476250"/>
          </a:xfrm>
        </p:spPr>
        <p:txBody>
          <a:bodyPr/>
          <a:lstStyle/>
          <a:p>
            <a:fld id="{D3F25697-57D3-0D49-8FC5-4BE2D6D757CB}" type="slidenum">
              <a:rPr lang="en-US" smtClean="0"/>
              <a:pPr/>
              <a:t>33</a:t>
            </a:fld>
            <a:endParaRPr lang="en-US"/>
          </a:p>
        </p:txBody>
      </p:sp>
      <p:grpSp>
        <p:nvGrpSpPr>
          <p:cNvPr id="3" name="Group 2">
            <a:extLst>
              <a:ext uri="{FF2B5EF4-FFF2-40B4-BE49-F238E27FC236}">
                <a16:creationId xmlns:a16="http://schemas.microsoft.com/office/drawing/2014/main" id="{29A2484C-8364-1C71-7B95-77B01F0B55B8}"/>
              </a:ext>
            </a:extLst>
          </p:cNvPr>
          <p:cNvGrpSpPr/>
          <p:nvPr/>
        </p:nvGrpSpPr>
        <p:grpSpPr>
          <a:xfrm>
            <a:off x="3167472" y="538951"/>
            <a:ext cx="5857056" cy="1473696"/>
            <a:chOff x="3431704" y="299120"/>
            <a:chExt cx="5857056" cy="1473696"/>
          </a:xfrm>
        </p:grpSpPr>
        <p:sp>
          <p:nvSpPr>
            <p:cNvPr id="5" name="Rectangle 6">
              <a:extLst>
                <a:ext uri="{FF2B5EF4-FFF2-40B4-BE49-F238E27FC236}">
                  <a16:creationId xmlns:a16="http://schemas.microsoft.com/office/drawing/2014/main" id="{1B2F14E9-C4A7-B4D7-45C2-BCC9AAB81CAB}"/>
                </a:ext>
              </a:extLst>
            </p:cNvPr>
            <p:cNvSpPr>
              <a:spLocks noChangeArrowheads="1"/>
            </p:cNvSpPr>
            <p:nvPr/>
          </p:nvSpPr>
          <p:spPr bwMode="auto">
            <a:xfrm>
              <a:off x="7536160" y="299120"/>
              <a:ext cx="1752600" cy="6096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dirty="0" err="1"/>
                <a:t>ClassB</a:t>
              </a:r>
              <a:endParaRPr lang="en-US" dirty="0"/>
            </a:p>
          </p:txBody>
        </p:sp>
        <p:sp>
          <p:nvSpPr>
            <p:cNvPr id="6" name="Rectangle 7">
              <a:extLst>
                <a:ext uri="{FF2B5EF4-FFF2-40B4-BE49-F238E27FC236}">
                  <a16:creationId xmlns:a16="http://schemas.microsoft.com/office/drawing/2014/main" id="{6C1FF9B9-C8DF-EDB7-63B2-2AFFFCD9F8A3}"/>
                </a:ext>
              </a:extLst>
            </p:cNvPr>
            <p:cNvSpPr>
              <a:spLocks noChangeArrowheads="1"/>
            </p:cNvSpPr>
            <p:nvPr/>
          </p:nvSpPr>
          <p:spPr bwMode="auto">
            <a:xfrm>
              <a:off x="7536160" y="908720"/>
              <a:ext cx="1752600" cy="288032"/>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7" name="Rectangle 8">
              <a:extLst>
                <a:ext uri="{FF2B5EF4-FFF2-40B4-BE49-F238E27FC236}">
                  <a16:creationId xmlns:a16="http://schemas.microsoft.com/office/drawing/2014/main" id="{A79A96EA-F6BC-07CB-99BC-61751290C8C9}"/>
                </a:ext>
              </a:extLst>
            </p:cNvPr>
            <p:cNvSpPr>
              <a:spLocks noChangeArrowheads="1"/>
            </p:cNvSpPr>
            <p:nvPr/>
          </p:nvSpPr>
          <p:spPr bwMode="auto">
            <a:xfrm>
              <a:off x="7536160" y="1196752"/>
              <a:ext cx="1752600" cy="576064"/>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8" name="Rectangle 6">
              <a:extLst>
                <a:ext uri="{FF2B5EF4-FFF2-40B4-BE49-F238E27FC236}">
                  <a16:creationId xmlns:a16="http://schemas.microsoft.com/office/drawing/2014/main" id="{B4808396-5923-F0F1-B385-BE3A0BB20CB7}"/>
                </a:ext>
              </a:extLst>
            </p:cNvPr>
            <p:cNvSpPr>
              <a:spLocks noChangeArrowheads="1"/>
            </p:cNvSpPr>
            <p:nvPr/>
          </p:nvSpPr>
          <p:spPr bwMode="auto">
            <a:xfrm>
              <a:off x="3431704" y="299120"/>
              <a:ext cx="1752600" cy="6096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dirty="0" err="1"/>
                <a:t>ClassA</a:t>
              </a:r>
              <a:endParaRPr lang="en-US" dirty="0"/>
            </a:p>
          </p:txBody>
        </p:sp>
        <p:sp>
          <p:nvSpPr>
            <p:cNvPr id="9" name="Rectangle 7">
              <a:extLst>
                <a:ext uri="{FF2B5EF4-FFF2-40B4-BE49-F238E27FC236}">
                  <a16:creationId xmlns:a16="http://schemas.microsoft.com/office/drawing/2014/main" id="{0B900714-131C-98FB-F2E5-BF307F128B80}"/>
                </a:ext>
              </a:extLst>
            </p:cNvPr>
            <p:cNvSpPr>
              <a:spLocks noChangeArrowheads="1"/>
            </p:cNvSpPr>
            <p:nvPr/>
          </p:nvSpPr>
          <p:spPr bwMode="auto">
            <a:xfrm>
              <a:off x="3431704" y="908720"/>
              <a:ext cx="1752600" cy="288032"/>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0" name="Rectangle 8">
              <a:extLst>
                <a:ext uri="{FF2B5EF4-FFF2-40B4-BE49-F238E27FC236}">
                  <a16:creationId xmlns:a16="http://schemas.microsoft.com/office/drawing/2014/main" id="{259B6A51-638E-9FDB-2F67-588E1E116024}"/>
                </a:ext>
              </a:extLst>
            </p:cNvPr>
            <p:cNvSpPr>
              <a:spLocks noChangeArrowheads="1"/>
            </p:cNvSpPr>
            <p:nvPr/>
          </p:nvSpPr>
          <p:spPr bwMode="auto">
            <a:xfrm>
              <a:off x="3431704" y="1196752"/>
              <a:ext cx="1752600" cy="576064"/>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11" name="Straight Connector 10">
              <a:extLst>
                <a:ext uri="{FF2B5EF4-FFF2-40B4-BE49-F238E27FC236}">
                  <a16:creationId xmlns:a16="http://schemas.microsoft.com/office/drawing/2014/main" id="{A0E33CE3-26D0-2886-91C0-D5EAA2DE28DA}"/>
                </a:ext>
              </a:extLst>
            </p:cNvPr>
            <p:cNvCxnSpPr>
              <a:stCxn id="9" idx="3"/>
              <a:endCxn id="6" idx="1"/>
            </p:cNvCxnSpPr>
            <p:nvPr/>
          </p:nvCxnSpPr>
          <p:spPr>
            <a:xfrm>
              <a:off x="5184304" y="1052736"/>
              <a:ext cx="2351856"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2" name="TextBox 1">
              <a:extLst>
                <a:ext uri="{FF2B5EF4-FFF2-40B4-BE49-F238E27FC236}">
                  <a16:creationId xmlns:a16="http://schemas.microsoft.com/office/drawing/2014/main" id="{B645A2BC-C88A-628C-A15B-3F9A2BDB77C6}"/>
                </a:ext>
              </a:extLst>
            </p:cNvPr>
            <p:cNvSpPr txBox="1"/>
            <p:nvPr/>
          </p:nvSpPr>
          <p:spPr>
            <a:xfrm>
              <a:off x="5137229" y="724054"/>
              <a:ext cx="517642" cy="369332"/>
            </a:xfrm>
            <a:prstGeom prst="rect">
              <a:avLst/>
            </a:prstGeom>
            <a:noFill/>
          </p:spPr>
          <p:txBody>
            <a:bodyPr wrap="none" rtlCol="0">
              <a:spAutoFit/>
            </a:bodyPr>
            <a:lstStyle/>
            <a:p>
              <a:r>
                <a:rPr lang="en-CA" dirty="0"/>
                <a:t>1..*</a:t>
              </a:r>
            </a:p>
          </p:txBody>
        </p:sp>
        <p:sp>
          <p:nvSpPr>
            <p:cNvPr id="12" name="TextBox 11">
              <a:extLst>
                <a:ext uri="{FF2B5EF4-FFF2-40B4-BE49-F238E27FC236}">
                  <a16:creationId xmlns:a16="http://schemas.microsoft.com/office/drawing/2014/main" id="{34D865DF-C3A3-9BCC-28C6-9198B8A8A085}"/>
                </a:ext>
              </a:extLst>
            </p:cNvPr>
            <p:cNvSpPr txBox="1"/>
            <p:nvPr/>
          </p:nvSpPr>
          <p:spPr>
            <a:xfrm>
              <a:off x="7156943" y="724054"/>
              <a:ext cx="308098" cy="369332"/>
            </a:xfrm>
            <a:prstGeom prst="rect">
              <a:avLst/>
            </a:prstGeom>
            <a:noFill/>
          </p:spPr>
          <p:txBody>
            <a:bodyPr wrap="none" rtlCol="0">
              <a:spAutoFit/>
            </a:bodyPr>
            <a:lstStyle/>
            <a:p>
              <a:r>
                <a:rPr lang="en-CA" dirty="0"/>
                <a:t>1</a:t>
              </a:r>
            </a:p>
          </p:txBody>
        </p:sp>
      </p:grpSp>
      <p:sp>
        <p:nvSpPr>
          <p:cNvPr id="29" name="TextBox 28">
            <a:extLst>
              <a:ext uri="{FF2B5EF4-FFF2-40B4-BE49-F238E27FC236}">
                <a16:creationId xmlns:a16="http://schemas.microsoft.com/office/drawing/2014/main" id="{7E2C7430-BEB4-11A3-4E24-CA57E34032D0}"/>
              </a:ext>
            </a:extLst>
          </p:cNvPr>
          <p:cNvSpPr txBox="1"/>
          <p:nvPr/>
        </p:nvSpPr>
        <p:spPr>
          <a:xfrm>
            <a:off x="3116796" y="2108462"/>
            <a:ext cx="5958408" cy="1200329"/>
          </a:xfrm>
          <a:prstGeom prst="rect">
            <a:avLst/>
          </a:prstGeom>
          <a:noFill/>
        </p:spPr>
        <p:txBody>
          <a:bodyPr wrap="square">
            <a:spAutoFit/>
          </a:bodyPr>
          <a:lstStyle/>
          <a:p>
            <a:pPr algn="ctr"/>
            <a:r>
              <a:rPr lang="en-CA" b="1" dirty="0"/>
              <a:t>Missing navigability</a:t>
            </a:r>
          </a:p>
          <a:p>
            <a:pPr algn="ctr"/>
            <a:r>
              <a:rPr lang="en-CA" dirty="0"/>
              <a:t>Usually implies:</a:t>
            </a:r>
          </a:p>
          <a:p>
            <a:pPr algn="ctr"/>
            <a:r>
              <a:rPr lang="en-CA" dirty="0"/>
              <a:t>A instances have references to one B</a:t>
            </a:r>
          </a:p>
          <a:p>
            <a:pPr algn="ctr"/>
            <a:r>
              <a:rPr lang="en-CA" dirty="0"/>
              <a:t>B instances have references to one or more A</a:t>
            </a:r>
          </a:p>
        </p:txBody>
      </p:sp>
      <p:sp>
        <p:nvSpPr>
          <p:cNvPr id="49" name="TextBox 48">
            <a:extLst>
              <a:ext uri="{FF2B5EF4-FFF2-40B4-BE49-F238E27FC236}">
                <a16:creationId xmlns:a16="http://schemas.microsoft.com/office/drawing/2014/main" id="{CC23B1EF-49B9-CAF4-8EBC-404465AEFDCB}"/>
              </a:ext>
            </a:extLst>
          </p:cNvPr>
          <p:cNvSpPr txBox="1"/>
          <p:nvPr/>
        </p:nvSpPr>
        <p:spPr>
          <a:xfrm>
            <a:off x="3200400" y="5180999"/>
            <a:ext cx="5791200" cy="1200329"/>
          </a:xfrm>
          <a:prstGeom prst="rect">
            <a:avLst/>
          </a:prstGeom>
          <a:noFill/>
        </p:spPr>
        <p:txBody>
          <a:bodyPr wrap="square">
            <a:spAutoFit/>
          </a:bodyPr>
          <a:lstStyle/>
          <a:p>
            <a:pPr algn="ctr"/>
            <a:r>
              <a:rPr lang="en-CA" b="1" dirty="0"/>
              <a:t>Navigability</a:t>
            </a:r>
          </a:p>
          <a:p>
            <a:pPr algn="ctr"/>
            <a:r>
              <a:rPr lang="en-CA" dirty="0">
                <a:sym typeface="Wingdings" panose="05000000000000000000" pitchFamily="2" charset="2"/>
              </a:rPr>
              <a:t></a:t>
            </a:r>
            <a:r>
              <a:rPr lang="en-CA" dirty="0"/>
              <a:t> Arrow</a:t>
            </a:r>
          </a:p>
          <a:p>
            <a:pPr algn="ctr"/>
            <a:r>
              <a:rPr lang="en-CA" dirty="0"/>
              <a:t>B instances have references to one or more A</a:t>
            </a:r>
          </a:p>
          <a:p>
            <a:pPr algn="ctr"/>
            <a:r>
              <a:rPr lang="en-CA" dirty="0"/>
              <a:t>A instances DO NOT have reference(s) to B</a:t>
            </a:r>
          </a:p>
        </p:txBody>
      </p:sp>
      <p:grpSp>
        <p:nvGrpSpPr>
          <p:cNvPr id="13" name="Group 12">
            <a:extLst>
              <a:ext uri="{FF2B5EF4-FFF2-40B4-BE49-F238E27FC236}">
                <a16:creationId xmlns:a16="http://schemas.microsoft.com/office/drawing/2014/main" id="{29AB0089-0D7A-CA5B-64D8-27121CDAC01F}"/>
              </a:ext>
            </a:extLst>
          </p:cNvPr>
          <p:cNvGrpSpPr/>
          <p:nvPr/>
        </p:nvGrpSpPr>
        <p:grpSpPr>
          <a:xfrm>
            <a:off x="3167472" y="3668831"/>
            <a:ext cx="5857056" cy="1473696"/>
            <a:chOff x="3431704" y="3429000"/>
            <a:chExt cx="5857056" cy="1473696"/>
          </a:xfrm>
        </p:grpSpPr>
        <p:sp>
          <p:nvSpPr>
            <p:cNvPr id="39" name="Rectangle 6">
              <a:extLst>
                <a:ext uri="{FF2B5EF4-FFF2-40B4-BE49-F238E27FC236}">
                  <a16:creationId xmlns:a16="http://schemas.microsoft.com/office/drawing/2014/main" id="{125DCDF3-C1D8-823E-53E6-31302E25174F}"/>
                </a:ext>
              </a:extLst>
            </p:cNvPr>
            <p:cNvSpPr>
              <a:spLocks noChangeArrowheads="1"/>
            </p:cNvSpPr>
            <p:nvPr/>
          </p:nvSpPr>
          <p:spPr bwMode="auto">
            <a:xfrm>
              <a:off x="7536160" y="3429000"/>
              <a:ext cx="1752600" cy="6096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dirty="0" err="1"/>
                <a:t>ClassB</a:t>
              </a:r>
              <a:endParaRPr lang="en-US" dirty="0"/>
            </a:p>
          </p:txBody>
        </p:sp>
        <p:sp>
          <p:nvSpPr>
            <p:cNvPr id="40" name="Rectangle 7">
              <a:extLst>
                <a:ext uri="{FF2B5EF4-FFF2-40B4-BE49-F238E27FC236}">
                  <a16:creationId xmlns:a16="http://schemas.microsoft.com/office/drawing/2014/main" id="{F21B2B79-C7B4-57BE-CB33-02EB19FB4D42}"/>
                </a:ext>
              </a:extLst>
            </p:cNvPr>
            <p:cNvSpPr>
              <a:spLocks noChangeArrowheads="1"/>
            </p:cNvSpPr>
            <p:nvPr/>
          </p:nvSpPr>
          <p:spPr bwMode="auto">
            <a:xfrm>
              <a:off x="7536160" y="4038600"/>
              <a:ext cx="1752600" cy="288032"/>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41" name="Rectangle 8">
              <a:extLst>
                <a:ext uri="{FF2B5EF4-FFF2-40B4-BE49-F238E27FC236}">
                  <a16:creationId xmlns:a16="http://schemas.microsoft.com/office/drawing/2014/main" id="{20614711-9B39-7A7B-F34A-3AEC9482D4AB}"/>
                </a:ext>
              </a:extLst>
            </p:cNvPr>
            <p:cNvSpPr>
              <a:spLocks noChangeArrowheads="1"/>
            </p:cNvSpPr>
            <p:nvPr/>
          </p:nvSpPr>
          <p:spPr bwMode="auto">
            <a:xfrm>
              <a:off x="7536160" y="4326632"/>
              <a:ext cx="1752600" cy="576064"/>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42" name="Rectangle 6">
              <a:extLst>
                <a:ext uri="{FF2B5EF4-FFF2-40B4-BE49-F238E27FC236}">
                  <a16:creationId xmlns:a16="http://schemas.microsoft.com/office/drawing/2014/main" id="{4504533B-84D6-4218-1080-F591D26B65A1}"/>
                </a:ext>
              </a:extLst>
            </p:cNvPr>
            <p:cNvSpPr>
              <a:spLocks noChangeArrowheads="1"/>
            </p:cNvSpPr>
            <p:nvPr/>
          </p:nvSpPr>
          <p:spPr bwMode="auto">
            <a:xfrm>
              <a:off x="3431704" y="3429000"/>
              <a:ext cx="1752600" cy="609600"/>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r>
                <a:rPr lang="en-US" dirty="0" err="1"/>
                <a:t>ClassA</a:t>
              </a:r>
              <a:endParaRPr lang="en-US" dirty="0"/>
            </a:p>
          </p:txBody>
        </p:sp>
        <p:sp>
          <p:nvSpPr>
            <p:cNvPr id="43" name="Rectangle 7">
              <a:extLst>
                <a:ext uri="{FF2B5EF4-FFF2-40B4-BE49-F238E27FC236}">
                  <a16:creationId xmlns:a16="http://schemas.microsoft.com/office/drawing/2014/main" id="{789F0D8A-00D0-7107-D4D7-8CBBDD4EE8B8}"/>
                </a:ext>
              </a:extLst>
            </p:cNvPr>
            <p:cNvSpPr>
              <a:spLocks noChangeArrowheads="1"/>
            </p:cNvSpPr>
            <p:nvPr/>
          </p:nvSpPr>
          <p:spPr bwMode="auto">
            <a:xfrm>
              <a:off x="3431704" y="4038600"/>
              <a:ext cx="1752600" cy="288032"/>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44" name="Rectangle 8">
              <a:extLst>
                <a:ext uri="{FF2B5EF4-FFF2-40B4-BE49-F238E27FC236}">
                  <a16:creationId xmlns:a16="http://schemas.microsoft.com/office/drawing/2014/main" id="{74C44F40-64A9-937B-8FB9-5F597E6C43BF}"/>
                </a:ext>
              </a:extLst>
            </p:cNvPr>
            <p:cNvSpPr>
              <a:spLocks noChangeArrowheads="1"/>
            </p:cNvSpPr>
            <p:nvPr/>
          </p:nvSpPr>
          <p:spPr bwMode="auto">
            <a:xfrm>
              <a:off x="3431704" y="4326632"/>
              <a:ext cx="1752600" cy="576064"/>
            </a:xfrm>
            <a:prstGeom prst="rect">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45" name="Straight Connector 44">
              <a:extLst>
                <a:ext uri="{FF2B5EF4-FFF2-40B4-BE49-F238E27FC236}">
                  <a16:creationId xmlns:a16="http://schemas.microsoft.com/office/drawing/2014/main" id="{674D4380-623F-54BE-7541-4913B29F231C}"/>
                </a:ext>
              </a:extLst>
            </p:cNvPr>
            <p:cNvCxnSpPr>
              <a:stCxn id="43" idx="3"/>
              <a:endCxn id="40" idx="1"/>
            </p:cNvCxnSpPr>
            <p:nvPr/>
          </p:nvCxnSpPr>
          <p:spPr>
            <a:xfrm>
              <a:off x="5184304" y="4182616"/>
              <a:ext cx="2351856"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6" name="TextBox 45">
              <a:extLst>
                <a:ext uri="{FF2B5EF4-FFF2-40B4-BE49-F238E27FC236}">
                  <a16:creationId xmlns:a16="http://schemas.microsoft.com/office/drawing/2014/main" id="{066C2265-63A0-DFB3-3E78-8347983CEC6A}"/>
                </a:ext>
              </a:extLst>
            </p:cNvPr>
            <p:cNvSpPr txBox="1"/>
            <p:nvPr/>
          </p:nvSpPr>
          <p:spPr>
            <a:xfrm>
              <a:off x="5160133" y="3678560"/>
              <a:ext cx="517642" cy="369332"/>
            </a:xfrm>
            <a:prstGeom prst="rect">
              <a:avLst/>
            </a:prstGeom>
            <a:noFill/>
          </p:spPr>
          <p:txBody>
            <a:bodyPr wrap="none" rtlCol="0">
              <a:spAutoFit/>
            </a:bodyPr>
            <a:lstStyle/>
            <a:p>
              <a:r>
                <a:rPr lang="en-CA" dirty="0"/>
                <a:t>1..*</a:t>
              </a:r>
            </a:p>
          </p:txBody>
        </p:sp>
        <p:sp>
          <p:nvSpPr>
            <p:cNvPr id="47" name="TextBox 46">
              <a:extLst>
                <a:ext uri="{FF2B5EF4-FFF2-40B4-BE49-F238E27FC236}">
                  <a16:creationId xmlns:a16="http://schemas.microsoft.com/office/drawing/2014/main" id="{22B68718-563B-DF88-EDC1-622AA6E4E004}"/>
                </a:ext>
              </a:extLst>
            </p:cNvPr>
            <p:cNvSpPr txBox="1"/>
            <p:nvPr/>
          </p:nvSpPr>
          <p:spPr>
            <a:xfrm>
              <a:off x="7156943" y="3853934"/>
              <a:ext cx="308098" cy="369332"/>
            </a:xfrm>
            <a:prstGeom prst="rect">
              <a:avLst/>
            </a:prstGeom>
            <a:noFill/>
          </p:spPr>
          <p:txBody>
            <a:bodyPr wrap="none" rtlCol="0">
              <a:spAutoFit/>
            </a:bodyPr>
            <a:lstStyle/>
            <a:p>
              <a:r>
                <a:rPr lang="en-CA" dirty="0"/>
                <a:t>1</a:t>
              </a:r>
            </a:p>
          </p:txBody>
        </p:sp>
        <p:cxnSp>
          <p:nvCxnSpPr>
            <p:cNvPr id="55" name="Straight Connector 54">
              <a:extLst>
                <a:ext uri="{FF2B5EF4-FFF2-40B4-BE49-F238E27FC236}">
                  <a16:creationId xmlns:a16="http://schemas.microsoft.com/office/drawing/2014/main" id="{5A86F99E-7A98-EE3F-9F3A-D1A6912D574B}"/>
                </a:ext>
              </a:extLst>
            </p:cNvPr>
            <p:cNvCxnSpPr>
              <a:cxnSpLocks/>
            </p:cNvCxnSpPr>
            <p:nvPr/>
          </p:nvCxnSpPr>
          <p:spPr>
            <a:xfrm flipV="1">
              <a:off x="5195875" y="3981255"/>
              <a:ext cx="300261" cy="201361"/>
            </a:xfrm>
            <a:prstGeom prst="line">
              <a:avLst/>
            </a:prstGeom>
          </p:spPr>
          <p:style>
            <a:lnRef idx="2">
              <a:schemeClr val="dk1"/>
            </a:lnRef>
            <a:fillRef idx="0">
              <a:schemeClr val="dk1"/>
            </a:fillRef>
            <a:effectRef idx="1">
              <a:schemeClr val="dk1"/>
            </a:effectRef>
            <a:fontRef idx="minor">
              <a:schemeClr val="tx1"/>
            </a:fontRef>
          </p:style>
        </p:cxnSp>
        <p:cxnSp>
          <p:nvCxnSpPr>
            <p:cNvPr id="60" name="Straight Connector 59">
              <a:extLst>
                <a:ext uri="{FF2B5EF4-FFF2-40B4-BE49-F238E27FC236}">
                  <a16:creationId xmlns:a16="http://schemas.microsoft.com/office/drawing/2014/main" id="{2340FA1E-12C9-8C8D-B050-9E034B69F5AF}"/>
                </a:ext>
              </a:extLst>
            </p:cNvPr>
            <p:cNvCxnSpPr>
              <a:cxnSpLocks/>
            </p:cNvCxnSpPr>
            <p:nvPr/>
          </p:nvCxnSpPr>
          <p:spPr>
            <a:xfrm>
              <a:off x="5160134" y="4174234"/>
              <a:ext cx="278993" cy="193049"/>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315445747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210C6D-D684-7413-1A03-F70CF4198B7D}"/>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5E98838-60FF-1EC8-8501-9DDB5F9F847C}"/>
              </a:ext>
            </a:extLst>
          </p:cNvPr>
          <p:cNvSpPr>
            <a:spLocks noGrp="1"/>
          </p:cNvSpPr>
          <p:nvPr>
            <p:ph type="sldNum" sz="quarter" idx="12"/>
          </p:nvPr>
        </p:nvSpPr>
        <p:spPr>
          <a:xfrm>
            <a:off x="10137648" y="5998329"/>
            <a:ext cx="457200" cy="476250"/>
          </a:xfrm>
        </p:spPr>
        <p:txBody>
          <a:bodyPr/>
          <a:lstStyle/>
          <a:p>
            <a:fld id="{D3F25697-57D3-0D49-8FC5-4BE2D6D757CB}" type="slidenum">
              <a:rPr lang="en-US" smtClean="0"/>
              <a:pPr/>
              <a:t>34</a:t>
            </a:fld>
            <a:endParaRPr lang="en-US"/>
          </a:p>
        </p:txBody>
      </p:sp>
      <p:sp>
        <p:nvSpPr>
          <p:cNvPr id="29" name="TextBox 28">
            <a:extLst>
              <a:ext uri="{FF2B5EF4-FFF2-40B4-BE49-F238E27FC236}">
                <a16:creationId xmlns:a16="http://schemas.microsoft.com/office/drawing/2014/main" id="{CAB39F7E-6B63-FD74-81D8-C896403520F1}"/>
              </a:ext>
            </a:extLst>
          </p:cNvPr>
          <p:cNvSpPr txBox="1"/>
          <p:nvPr/>
        </p:nvSpPr>
        <p:spPr>
          <a:xfrm>
            <a:off x="3116796" y="3668831"/>
            <a:ext cx="5958408" cy="1200329"/>
          </a:xfrm>
          <a:prstGeom prst="rect">
            <a:avLst/>
          </a:prstGeom>
          <a:noFill/>
        </p:spPr>
        <p:txBody>
          <a:bodyPr wrap="square">
            <a:spAutoFit/>
          </a:bodyPr>
          <a:lstStyle/>
          <a:p>
            <a:pPr algn="ctr"/>
            <a:r>
              <a:rPr lang="en-US" b="1" dirty="0"/>
              <a:t>Explicit two-way navigability</a:t>
            </a:r>
          </a:p>
          <a:p>
            <a:pPr algn="ctr"/>
            <a:r>
              <a:rPr lang="en-US" dirty="0"/>
              <a:t>(rare)</a:t>
            </a:r>
          </a:p>
          <a:p>
            <a:pPr algn="ctr"/>
            <a:r>
              <a:rPr lang="en-US" dirty="0"/>
              <a:t>A instances have references to one or more B</a:t>
            </a:r>
          </a:p>
          <a:p>
            <a:pPr algn="ctr"/>
            <a:r>
              <a:rPr lang="en-US" dirty="0"/>
              <a:t>B instances have references to one or more A</a:t>
            </a:r>
            <a:endParaRPr lang="en-CA" dirty="0"/>
          </a:p>
        </p:txBody>
      </p:sp>
      <p:grpSp>
        <p:nvGrpSpPr>
          <p:cNvPr id="2" name="Group 1">
            <a:extLst>
              <a:ext uri="{FF2B5EF4-FFF2-40B4-BE49-F238E27FC236}">
                <a16:creationId xmlns:a16="http://schemas.microsoft.com/office/drawing/2014/main" id="{47BE258C-9A48-7625-FF48-873F54CD6E80}"/>
              </a:ext>
            </a:extLst>
          </p:cNvPr>
          <p:cNvGrpSpPr/>
          <p:nvPr/>
        </p:nvGrpSpPr>
        <p:grpSpPr>
          <a:xfrm>
            <a:off x="3167472" y="2049651"/>
            <a:ext cx="5857056" cy="1473696"/>
            <a:chOff x="3431704" y="620688"/>
            <a:chExt cx="5857056" cy="1473696"/>
          </a:xfrm>
        </p:grpSpPr>
        <p:sp>
          <p:nvSpPr>
            <p:cNvPr id="23" name="Rectangle 6">
              <a:extLst>
                <a:ext uri="{FF2B5EF4-FFF2-40B4-BE49-F238E27FC236}">
                  <a16:creationId xmlns:a16="http://schemas.microsoft.com/office/drawing/2014/main" id="{C3A44E22-1D56-5C66-2083-E7D6E667D05C}"/>
                </a:ext>
              </a:extLst>
            </p:cNvPr>
            <p:cNvSpPr>
              <a:spLocks noChangeArrowheads="1"/>
            </p:cNvSpPr>
            <p:nvPr/>
          </p:nvSpPr>
          <p:spPr bwMode="auto">
            <a:xfrm>
              <a:off x="7536160" y="620688"/>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ClassB</a:t>
              </a:r>
              <a:endParaRPr lang="en-US" dirty="0"/>
            </a:p>
          </p:txBody>
        </p:sp>
        <p:sp>
          <p:nvSpPr>
            <p:cNvPr id="24" name="Rectangle 7">
              <a:extLst>
                <a:ext uri="{FF2B5EF4-FFF2-40B4-BE49-F238E27FC236}">
                  <a16:creationId xmlns:a16="http://schemas.microsoft.com/office/drawing/2014/main" id="{D71D4D2E-F63A-E56B-9AAA-E45BF89FA498}"/>
                </a:ext>
              </a:extLst>
            </p:cNvPr>
            <p:cNvSpPr>
              <a:spLocks noChangeArrowheads="1"/>
            </p:cNvSpPr>
            <p:nvPr/>
          </p:nvSpPr>
          <p:spPr bwMode="auto">
            <a:xfrm>
              <a:off x="7536160" y="1230288"/>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5" name="Rectangle 8">
              <a:extLst>
                <a:ext uri="{FF2B5EF4-FFF2-40B4-BE49-F238E27FC236}">
                  <a16:creationId xmlns:a16="http://schemas.microsoft.com/office/drawing/2014/main" id="{418C24C0-DCC0-AF2F-B4BD-91442D73FE95}"/>
                </a:ext>
              </a:extLst>
            </p:cNvPr>
            <p:cNvSpPr>
              <a:spLocks noChangeArrowheads="1"/>
            </p:cNvSpPr>
            <p:nvPr/>
          </p:nvSpPr>
          <p:spPr bwMode="auto">
            <a:xfrm>
              <a:off x="7536160" y="1518320"/>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6" name="Rectangle 6">
              <a:extLst>
                <a:ext uri="{FF2B5EF4-FFF2-40B4-BE49-F238E27FC236}">
                  <a16:creationId xmlns:a16="http://schemas.microsoft.com/office/drawing/2014/main" id="{D1BA759F-0F21-9C94-BACB-418FDF62992F}"/>
                </a:ext>
              </a:extLst>
            </p:cNvPr>
            <p:cNvSpPr>
              <a:spLocks noChangeArrowheads="1"/>
            </p:cNvSpPr>
            <p:nvPr/>
          </p:nvSpPr>
          <p:spPr bwMode="auto">
            <a:xfrm>
              <a:off x="3431704" y="620688"/>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err="1"/>
                <a:t>ClassA</a:t>
              </a:r>
              <a:endParaRPr lang="en-US" dirty="0"/>
            </a:p>
          </p:txBody>
        </p:sp>
        <p:sp>
          <p:nvSpPr>
            <p:cNvPr id="27" name="Rectangle 7">
              <a:extLst>
                <a:ext uri="{FF2B5EF4-FFF2-40B4-BE49-F238E27FC236}">
                  <a16:creationId xmlns:a16="http://schemas.microsoft.com/office/drawing/2014/main" id="{3FA01D53-AFDB-F86E-C885-C4806880F02F}"/>
                </a:ext>
              </a:extLst>
            </p:cNvPr>
            <p:cNvSpPr>
              <a:spLocks noChangeArrowheads="1"/>
            </p:cNvSpPr>
            <p:nvPr/>
          </p:nvSpPr>
          <p:spPr bwMode="auto">
            <a:xfrm>
              <a:off x="3431704" y="1230288"/>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28" name="Rectangle 8">
              <a:extLst>
                <a:ext uri="{FF2B5EF4-FFF2-40B4-BE49-F238E27FC236}">
                  <a16:creationId xmlns:a16="http://schemas.microsoft.com/office/drawing/2014/main" id="{B5F78F7C-4DA4-FDCB-AF77-F7D977B8AC73}"/>
                </a:ext>
              </a:extLst>
            </p:cNvPr>
            <p:cNvSpPr>
              <a:spLocks noChangeArrowheads="1"/>
            </p:cNvSpPr>
            <p:nvPr/>
          </p:nvSpPr>
          <p:spPr bwMode="auto">
            <a:xfrm>
              <a:off x="3431704" y="1518320"/>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30" name="Straight Connector 29">
              <a:extLst>
                <a:ext uri="{FF2B5EF4-FFF2-40B4-BE49-F238E27FC236}">
                  <a16:creationId xmlns:a16="http://schemas.microsoft.com/office/drawing/2014/main" id="{1090C5AF-03DF-C1AD-D7E1-B737D059FBED}"/>
                </a:ext>
              </a:extLst>
            </p:cNvPr>
            <p:cNvCxnSpPr>
              <a:stCxn id="27" idx="3"/>
              <a:endCxn id="24" idx="1"/>
            </p:cNvCxnSpPr>
            <p:nvPr/>
          </p:nvCxnSpPr>
          <p:spPr>
            <a:xfrm>
              <a:off x="5184304" y="1374304"/>
              <a:ext cx="2351856"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42A4C5D0-0667-93D5-4F27-9244CBD5C648}"/>
                </a:ext>
              </a:extLst>
            </p:cNvPr>
            <p:cNvSpPr txBox="1"/>
            <p:nvPr/>
          </p:nvSpPr>
          <p:spPr>
            <a:xfrm>
              <a:off x="5160133" y="870248"/>
              <a:ext cx="517642" cy="369332"/>
            </a:xfrm>
            <a:prstGeom prst="rect">
              <a:avLst/>
            </a:prstGeom>
            <a:noFill/>
          </p:spPr>
          <p:txBody>
            <a:bodyPr wrap="none" rtlCol="0">
              <a:spAutoFit/>
            </a:bodyPr>
            <a:lstStyle/>
            <a:p>
              <a:r>
                <a:rPr lang="en-CA" dirty="0"/>
                <a:t>1..*</a:t>
              </a:r>
            </a:p>
          </p:txBody>
        </p:sp>
        <p:sp>
          <p:nvSpPr>
            <p:cNvPr id="32" name="TextBox 31">
              <a:extLst>
                <a:ext uri="{FF2B5EF4-FFF2-40B4-BE49-F238E27FC236}">
                  <a16:creationId xmlns:a16="http://schemas.microsoft.com/office/drawing/2014/main" id="{3706A58E-CE4B-FC4B-1BC3-2BFC9A5D5CF2}"/>
                </a:ext>
              </a:extLst>
            </p:cNvPr>
            <p:cNvSpPr txBox="1"/>
            <p:nvPr/>
          </p:nvSpPr>
          <p:spPr>
            <a:xfrm>
              <a:off x="7051719" y="861843"/>
              <a:ext cx="534121" cy="369332"/>
            </a:xfrm>
            <a:prstGeom prst="rect">
              <a:avLst/>
            </a:prstGeom>
            <a:noFill/>
          </p:spPr>
          <p:txBody>
            <a:bodyPr wrap="none" rtlCol="0">
              <a:spAutoFit/>
            </a:bodyPr>
            <a:lstStyle/>
            <a:p>
              <a:r>
                <a:rPr lang="en-CA" dirty="0"/>
                <a:t>1..*</a:t>
              </a:r>
            </a:p>
          </p:txBody>
        </p:sp>
        <p:cxnSp>
          <p:nvCxnSpPr>
            <p:cNvPr id="33" name="Straight Connector 32">
              <a:extLst>
                <a:ext uri="{FF2B5EF4-FFF2-40B4-BE49-F238E27FC236}">
                  <a16:creationId xmlns:a16="http://schemas.microsoft.com/office/drawing/2014/main" id="{974BFB7E-D857-A372-1FBF-0F1562F16EAF}"/>
                </a:ext>
              </a:extLst>
            </p:cNvPr>
            <p:cNvCxnSpPr>
              <a:cxnSpLocks/>
            </p:cNvCxnSpPr>
            <p:nvPr/>
          </p:nvCxnSpPr>
          <p:spPr>
            <a:xfrm flipV="1">
              <a:off x="5160134" y="1172943"/>
              <a:ext cx="300261" cy="201361"/>
            </a:xfrm>
            <a:prstGeom prst="line">
              <a:avLst/>
            </a:prstGeom>
          </p:spPr>
          <p:style>
            <a:lnRef idx="2">
              <a:schemeClr val="dk1"/>
            </a:lnRef>
            <a:fillRef idx="0">
              <a:schemeClr val="dk1"/>
            </a:fillRef>
            <a:effectRef idx="1">
              <a:schemeClr val="dk1"/>
            </a:effectRef>
            <a:fontRef idx="minor">
              <a:schemeClr val="tx1"/>
            </a:fontRef>
          </p:style>
        </p:cxnSp>
        <p:cxnSp>
          <p:nvCxnSpPr>
            <p:cNvPr id="34" name="Straight Connector 33">
              <a:extLst>
                <a:ext uri="{FF2B5EF4-FFF2-40B4-BE49-F238E27FC236}">
                  <a16:creationId xmlns:a16="http://schemas.microsoft.com/office/drawing/2014/main" id="{7D725EDF-5833-37AD-8582-94A2B3EC239B}"/>
                </a:ext>
              </a:extLst>
            </p:cNvPr>
            <p:cNvCxnSpPr>
              <a:cxnSpLocks/>
            </p:cNvCxnSpPr>
            <p:nvPr/>
          </p:nvCxnSpPr>
          <p:spPr>
            <a:xfrm>
              <a:off x="5160134" y="1365922"/>
              <a:ext cx="278993" cy="193049"/>
            </a:xfrm>
            <a:prstGeom prst="line">
              <a:avLst/>
            </a:prstGeom>
          </p:spPr>
          <p:style>
            <a:lnRef idx="2">
              <a:schemeClr val="dk1"/>
            </a:lnRef>
            <a:fillRef idx="0">
              <a:schemeClr val="dk1"/>
            </a:fillRef>
            <a:effectRef idx="1">
              <a:schemeClr val="dk1"/>
            </a:effectRef>
            <a:fontRef idx="minor">
              <a:schemeClr val="tx1"/>
            </a:fontRef>
          </p:style>
        </p:cxnSp>
        <p:cxnSp>
          <p:nvCxnSpPr>
            <p:cNvPr id="35" name="Straight Connector 34">
              <a:extLst>
                <a:ext uri="{FF2B5EF4-FFF2-40B4-BE49-F238E27FC236}">
                  <a16:creationId xmlns:a16="http://schemas.microsoft.com/office/drawing/2014/main" id="{6908C066-631F-F75A-8F19-4D058C2EFB8A}"/>
                </a:ext>
              </a:extLst>
            </p:cNvPr>
            <p:cNvCxnSpPr>
              <a:cxnSpLocks/>
            </p:cNvCxnSpPr>
            <p:nvPr/>
          </p:nvCxnSpPr>
          <p:spPr>
            <a:xfrm flipV="1">
              <a:off x="7235900" y="1385724"/>
              <a:ext cx="300261" cy="201361"/>
            </a:xfrm>
            <a:prstGeom prst="line">
              <a:avLst/>
            </a:prstGeom>
          </p:spPr>
          <p:style>
            <a:lnRef idx="2">
              <a:schemeClr val="dk1"/>
            </a:lnRef>
            <a:fillRef idx="0">
              <a:schemeClr val="dk1"/>
            </a:fillRef>
            <a:effectRef idx="1">
              <a:schemeClr val="dk1"/>
            </a:effectRef>
            <a:fontRef idx="minor">
              <a:schemeClr val="tx1"/>
            </a:fontRef>
          </p:style>
        </p:cxnSp>
        <p:cxnSp>
          <p:nvCxnSpPr>
            <p:cNvPr id="36" name="Straight Connector 35">
              <a:extLst>
                <a:ext uri="{FF2B5EF4-FFF2-40B4-BE49-F238E27FC236}">
                  <a16:creationId xmlns:a16="http://schemas.microsoft.com/office/drawing/2014/main" id="{AD5101D2-FBDE-6151-F50B-7E1A9143BF36}"/>
                </a:ext>
              </a:extLst>
            </p:cNvPr>
            <p:cNvCxnSpPr>
              <a:cxnSpLocks/>
            </p:cNvCxnSpPr>
            <p:nvPr/>
          </p:nvCxnSpPr>
          <p:spPr>
            <a:xfrm>
              <a:off x="7254635" y="1172889"/>
              <a:ext cx="278993" cy="193049"/>
            </a:xfrm>
            <a:prstGeom prst="line">
              <a:avLst/>
            </a:prstGeom>
          </p:spPr>
          <p:style>
            <a:lnRef idx="2">
              <a:schemeClr val="dk1"/>
            </a:lnRef>
            <a:fillRef idx="0">
              <a:schemeClr val="dk1"/>
            </a:fillRef>
            <a:effectRef idx="1">
              <a:schemeClr val="dk1"/>
            </a:effectRef>
            <a:fontRef idx="minor">
              <a:schemeClr val="tx1"/>
            </a:fontRef>
          </p:style>
        </p:cxnSp>
      </p:grpSp>
    </p:spTree>
    <p:extLst>
      <p:ext uri="{BB962C8B-B14F-4D97-AF65-F5344CB8AC3E}">
        <p14:creationId xmlns:p14="http://schemas.microsoft.com/office/powerpoint/2010/main" val="63412365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Exercise</a:t>
            </a:r>
          </a:p>
        </p:txBody>
      </p:sp>
      <p:sp>
        <p:nvSpPr>
          <p:cNvPr id="4" name="Content Placeholder 3"/>
          <p:cNvSpPr>
            <a:spLocks noGrp="1"/>
          </p:cNvSpPr>
          <p:nvPr>
            <p:ph idx="1"/>
          </p:nvPr>
        </p:nvSpPr>
        <p:spPr/>
        <p:txBody>
          <a:bodyPr/>
          <a:lstStyle/>
          <a:p>
            <a:r>
              <a:rPr lang="en-US" dirty="0"/>
              <a:t>Analyze a UML class model for a car rental company that keeps track of cars, renters, and renters renting cars.</a:t>
            </a:r>
          </a:p>
        </p:txBody>
      </p:sp>
      <p:sp>
        <p:nvSpPr>
          <p:cNvPr id="2" name="Slide Number Placeholder 1"/>
          <p:cNvSpPr>
            <a:spLocks noGrp="1"/>
          </p:cNvSpPr>
          <p:nvPr>
            <p:ph type="sldNum" sz="quarter" idx="12"/>
          </p:nvPr>
        </p:nvSpPr>
        <p:spPr/>
        <p:txBody>
          <a:bodyPr/>
          <a:lstStyle/>
          <a:p>
            <a:fld id="{3871AB0C-01C6-F641-856F-96979BC7415E}" type="slidenum">
              <a:rPr lang="en-US" smtClean="0"/>
              <a:pPr/>
              <a:t>35</a:t>
            </a:fld>
            <a:endParaRPr lang="en-US"/>
          </a:p>
        </p:txBody>
      </p:sp>
    </p:spTree>
    <p:extLst>
      <p:ext uri="{BB962C8B-B14F-4D97-AF65-F5344CB8AC3E}">
        <p14:creationId xmlns:p14="http://schemas.microsoft.com/office/powerpoint/2010/main" val="335091839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A8B6BC69-D9BE-5EA3-17C7-3A17F73CEA4B}"/>
              </a:ext>
            </a:extLst>
          </p:cNvPr>
          <p:cNvSpPr>
            <a:spLocks noGrp="1"/>
          </p:cNvSpPr>
          <p:nvPr>
            <p:ph type="sldNum" sz="quarter" idx="12"/>
          </p:nvPr>
        </p:nvSpPr>
        <p:spPr/>
        <p:txBody>
          <a:bodyPr/>
          <a:lstStyle/>
          <a:p>
            <a:fld id="{D3F25697-57D3-0D49-8FC5-4BE2D6D757CB}" type="slidenum">
              <a:rPr lang="en-US" smtClean="0"/>
              <a:pPr/>
              <a:t>36</a:t>
            </a:fld>
            <a:endParaRPr lang="en-US"/>
          </a:p>
        </p:txBody>
      </p:sp>
      <p:pic>
        <p:nvPicPr>
          <p:cNvPr id="6" name="Graphic 5">
            <a:extLst>
              <a:ext uri="{FF2B5EF4-FFF2-40B4-BE49-F238E27FC236}">
                <a16:creationId xmlns:a16="http://schemas.microsoft.com/office/drawing/2014/main" id="{2A3E1849-9C72-9B4D-8F69-4455AA29A3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924300" y="787400"/>
            <a:ext cx="4343400" cy="5283200"/>
          </a:xfrm>
          <a:prstGeom prst="rect">
            <a:avLst/>
          </a:prstGeom>
        </p:spPr>
      </p:pic>
    </p:spTree>
    <p:extLst>
      <p:ext uri="{BB962C8B-B14F-4D97-AF65-F5344CB8AC3E}">
        <p14:creationId xmlns:p14="http://schemas.microsoft.com/office/powerpoint/2010/main" val="115718082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Graphic 7">
            <a:extLst>
              <a:ext uri="{FF2B5EF4-FFF2-40B4-BE49-F238E27FC236}">
                <a16:creationId xmlns:a16="http://schemas.microsoft.com/office/drawing/2014/main" id="{1D3AE5AB-FC54-8F51-B2B4-7ADA9DFA0778}"/>
              </a:ext>
            </a:extLst>
          </p:cNvPr>
          <p:cNvGrpSpPr/>
          <p:nvPr/>
        </p:nvGrpSpPr>
        <p:grpSpPr>
          <a:xfrm>
            <a:off x="6133802" y="842962"/>
            <a:ext cx="5021672" cy="5172075"/>
            <a:chOff x="5547940" y="1152748"/>
            <a:chExt cx="5021672" cy="5172075"/>
          </a:xfrm>
        </p:grpSpPr>
        <p:grpSp>
          <p:nvGrpSpPr>
            <p:cNvPr id="6" name="Graphic 7">
              <a:extLst>
                <a:ext uri="{FF2B5EF4-FFF2-40B4-BE49-F238E27FC236}">
                  <a16:creationId xmlns:a16="http://schemas.microsoft.com/office/drawing/2014/main" id="{9EEB4D16-9FB3-2E2F-CFDE-65417E14723C}"/>
                </a:ext>
              </a:extLst>
            </p:cNvPr>
            <p:cNvGrpSpPr/>
            <p:nvPr/>
          </p:nvGrpSpPr>
          <p:grpSpPr>
            <a:xfrm>
              <a:off x="6692369" y="1152748"/>
              <a:ext cx="3048952" cy="1384324"/>
              <a:chOff x="6692369" y="1152748"/>
              <a:chExt cx="3048952" cy="1384324"/>
            </a:xfrm>
          </p:grpSpPr>
          <p:sp>
            <p:nvSpPr>
              <p:cNvPr id="7" name="Rounded Rectangle 6">
                <a:extLst>
                  <a:ext uri="{FF2B5EF4-FFF2-40B4-BE49-F238E27FC236}">
                    <a16:creationId xmlns:a16="http://schemas.microsoft.com/office/drawing/2014/main" id="{C999D631-2B1B-8414-30FD-C1CEA3EFFF17}"/>
                  </a:ext>
                </a:extLst>
              </p:cNvPr>
              <p:cNvSpPr/>
              <p:nvPr/>
            </p:nvSpPr>
            <p:spPr>
              <a:xfrm>
                <a:off x="6698084" y="1152748"/>
                <a:ext cx="3043237" cy="1384324"/>
              </a:xfrm>
              <a:prstGeom prst="roundRect">
                <a:avLst>
                  <a:gd name="adj" fmla="val 2580"/>
                </a:avLst>
              </a:prstGeom>
              <a:solidFill>
                <a:srgbClr val="F1F1F1"/>
              </a:solidFill>
              <a:ln w="7144" cap="flat">
                <a:solidFill>
                  <a:srgbClr val="181818"/>
                </a:solidFill>
                <a:prstDash val="solid"/>
                <a:miter/>
              </a:ln>
            </p:spPr>
            <p:txBody>
              <a:bodyPr/>
              <a:lstStyle/>
              <a:p>
                <a:endParaRPr lang="en-US"/>
              </a:p>
            </p:txBody>
          </p:sp>
          <p:sp>
            <p:nvSpPr>
              <p:cNvPr id="9" name="Oval 8">
                <a:extLst>
                  <a:ext uri="{FF2B5EF4-FFF2-40B4-BE49-F238E27FC236}">
                    <a16:creationId xmlns:a16="http://schemas.microsoft.com/office/drawing/2014/main" id="{CDD1D48D-FDC4-C540-572B-F5E33432B364}"/>
                  </a:ext>
                </a:extLst>
              </p:cNvPr>
              <p:cNvSpPr/>
              <p:nvPr/>
            </p:nvSpPr>
            <p:spPr>
              <a:xfrm>
                <a:off x="7516043" y="1224186"/>
                <a:ext cx="314325" cy="314325"/>
              </a:xfrm>
              <a:prstGeom prst="ellipse">
                <a:avLst/>
              </a:prstGeom>
              <a:solidFill>
                <a:srgbClr val="ADD1B2"/>
              </a:solidFill>
              <a:ln w="14288" cap="flat">
                <a:solidFill>
                  <a:srgbClr val="181818"/>
                </a:solidFill>
                <a:prstDash val="solid"/>
                <a:miter/>
              </a:ln>
            </p:spPr>
            <p:txBody>
              <a:bodyPr/>
              <a:lstStyle/>
              <a:p>
                <a:endParaRPr lang="en-US"/>
              </a:p>
            </p:txBody>
          </p:sp>
          <p:sp>
            <p:nvSpPr>
              <p:cNvPr id="10" name="Freeform 9">
                <a:extLst>
                  <a:ext uri="{FF2B5EF4-FFF2-40B4-BE49-F238E27FC236}">
                    <a16:creationId xmlns:a16="http://schemas.microsoft.com/office/drawing/2014/main" id="{E80717C9-F4AD-2BA4-D553-67742E1CCEC0}"/>
                  </a:ext>
                </a:extLst>
              </p:cNvPr>
              <p:cNvSpPr/>
              <p:nvPr/>
            </p:nvSpPr>
            <p:spPr>
              <a:xfrm>
                <a:off x="7606226" y="1311251"/>
                <a:ext cx="129044" cy="148455"/>
              </a:xfrm>
              <a:custGeom>
                <a:avLst/>
                <a:gdLst>
                  <a:gd name="csX0" fmla="*/ 100470 w 129044"/>
                  <a:gd name="csY0" fmla="*/ 8260 h 148455"/>
                  <a:gd name="csX1" fmla="*/ 66094 w 129044"/>
                  <a:gd name="csY1" fmla="*/ 0 h 148455"/>
                  <a:gd name="csX2" fmla="*/ 0 w 129044"/>
                  <a:gd name="csY2" fmla="*/ 68534 h 148455"/>
                  <a:gd name="csX3" fmla="*/ 0 w 129044"/>
                  <a:gd name="csY3" fmla="*/ 84608 h 148455"/>
                  <a:gd name="csX4" fmla="*/ 71438 w 129044"/>
                  <a:gd name="csY4" fmla="*/ 148456 h 148455"/>
                  <a:gd name="csX5" fmla="*/ 116100 w 129044"/>
                  <a:gd name="csY5" fmla="*/ 136400 h 148455"/>
                  <a:gd name="csX6" fmla="*/ 129045 w 129044"/>
                  <a:gd name="csY6" fmla="*/ 118541 h 148455"/>
                  <a:gd name="csX7" fmla="*/ 116757 w 129044"/>
                  <a:gd name="csY7" fmla="*/ 106486 h 148455"/>
                  <a:gd name="csX8" fmla="*/ 108056 w 129044"/>
                  <a:gd name="csY8" fmla="*/ 110281 h 148455"/>
                  <a:gd name="csX9" fmla="*/ 98898 w 129044"/>
                  <a:gd name="csY9" fmla="*/ 118541 h 148455"/>
                  <a:gd name="csX10" fmla="*/ 72109 w 129044"/>
                  <a:gd name="csY10" fmla="*/ 124123 h 148455"/>
                  <a:gd name="csX11" fmla="*/ 24346 w 129044"/>
                  <a:gd name="csY11" fmla="*/ 84162 h 148455"/>
                  <a:gd name="csX12" fmla="*/ 24346 w 129044"/>
                  <a:gd name="csY12" fmla="*/ 68534 h 148455"/>
                  <a:gd name="csX13" fmla="*/ 66980 w 129044"/>
                  <a:gd name="csY13" fmla="*/ 24333 h 148455"/>
                  <a:gd name="csX14" fmla="*/ 90640 w 129044"/>
                  <a:gd name="csY14" fmla="*/ 30137 h 148455"/>
                  <a:gd name="csX15" fmla="*/ 101356 w 129044"/>
                  <a:gd name="csY15" fmla="*/ 43085 h 148455"/>
                  <a:gd name="csX16" fmla="*/ 104713 w 129044"/>
                  <a:gd name="csY16" fmla="*/ 52461 h 148455"/>
                  <a:gd name="csX17" fmla="*/ 113186 w 129044"/>
                  <a:gd name="csY17" fmla="*/ 56033 h 148455"/>
                  <a:gd name="csX18" fmla="*/ 123244 w 129044"/>
                  <a:gd name="csY18" fmla="*/ 50899 h 148455"/>
                  <a:gd name="csX19" fmla="*/ 125244 w 129044"/>
                  <a:gd name="csY19" fmla="*/ 39959 h 148455"/>
                  <a:gd name="csX20" fmla="*/ 125244 w 129044"/>
                  <a:gd name="csY20" fmla="*/ 19645 h 148455"/>
                  <a:gd name="csX21" fmla="*/ 123687 w 129044"/>
                  <a:gd name="csY21" fmla="*/ 9375 h 148455"/>
                  <a:gd name="csX22" fmla="*/ 113186 w 129044"/>
                  <a:gd name="csY22" fmla="*/ 3572 h 148455"/>
                  <a:gd name="csX23" fmla="*/ 102927 w 129044"/>
                  <a:gd name="csY23" fmla="*/ 9375 h 148455"/>
                  <a:gd name="csX24" fmla="*/ 100470 w 129044"/>
                  <a:gd name="csY24" fmla="*/ 8260 h 14845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29044" h="148455">
                    <a:moveTo>
                      <a:pt x="100470" y="8260"/>
                    </a:moveTo>
                    <a:cubicBezTo>
                      <a:pt x="87068" y="2009"/>
                      <a:pt x="78581" y="0"/>
                      <a:pt x="66094" y="0"/>
                    </a:cubicBezTo>
                    <a:cubicBezTo>
                      <a:pt x="28575" y="0"/>
                      <a:pt x="0" y="29691"/>
                      <a:pt x="0" y="68534"/>
                    </a:cubicBezTo>
                    <a:lnTo>
                      <a:pt x="0" y="84608"/>
                    </a:lnTo>
                    <a:cubicBezTo>
                      <a:pt x="0" y="121444"/>
                      <a:pt x="30147" y="148456"/>
                      <a:pt x="71438" y="148456"/>
                    </a:cubicBezTo>
                    <a:cubicBezTo>
                      <a:pt x="88854" y="148456"/>
                      <a:pt x="105385" y="144214"/>
                      <a:pt x="116100" y="136400"/>
                    </a:cubicBezTo>
                    <a:cubicBezTo>
                      <a:pt x="124359" y="130596"/>
                      <a:pt x="129045" y="124123"/>
                      <a:pt x="129045" y="118541"/>
                    </a:cubicBezTo>
                    <a:cubicBezTo>
                      <a:pt x="129045" y="112067"/>
                      <a:pt x="123458" y="106486"/>
                      <a:pt x="116757" y="106486"/>
                    </a:cubicBezTo>
                    <a:cubicBezTo>
                      <a:pt x="113643" y="106486"/>
                      <a:pt x="110728" y="107602"/>
                      <a:pt x="108056" y="110281"/>
                    </a:cubicBezTo>
                    <a:cubicBezTo>
                      <a:pt x="101584" y="117202"/>
                      <a:pt x="101584" y="117202"/>
                      <a:pt x="98898" y="118541"/>
                    </a:cubicBezTo>
                    <a:cubicBezTo>
                      <a:pt x="92869" y="122337"/>
                      <a:pt x="83053" y="124123"/>
                      <a:pt x="72109" y="124123"/>
                    </a:cubicBezTo>
                    <a:cubicBezTo>
                      <a:pt x="42863" y="124123"/>
                      <a:pt x="24346" y="108495"/>
                      <a:pt x="24346" y="84162"/>
                    </a:cubicBezTo>
                    <a:lnTo>
                      <a:pt x="24346" y="68534"/>
                    </a:lnTo>
                    <a:cubicBezTo>
                      <a:pt x="24346" y="43085"/>
                      <a:pt x="42205" y="24333"/>
                      <a:pt x="66980" y="24333"/>
                    </a:cubicBezTo>
                    <a:cubicBezTo>
                      <a:pt x="75238" y="24333"/>
                      <a:pt x="83953" y="26565"/>
                      <a:pt x="90640" y="30137"/>
                    </a:cubicBezTo>
                    <a:cubicBezTo>
                      <a:pt x="97569" y="34156"/>
                      <a:pt x="100013" y="37280"/>
                      <a:pt x="101356" y="43085"/>
                    </a:cubicBezTo>
                    <a:cubicBezTo>
                      <a:pt x="102256" y="48889"/>
                      <a:pt x="102699" y="50675"/>
                      <a:pt x="104713" y="52461"/>
                    </a:cubicBezTo>
                    <a:cubicBezTo>
                      <a:pt x="106713" y="54471"/>
                      <a:pt x="110071" y="56033"/>
                      <a:pt x="113186" y="56033"/>
                    </a:cubicBezTo>
                    <a:cubicBezTo>
                      <a:pt x="116986" y="56033"/>
                      <a:pt x="120787" y="54024"/>
                      <a:pt x="123244" y="50899"/>
                    </a:cubicBezTo>
                    <a:cubicBezTo>
                      <a:pt x="124801" y="48666"/>
                      <a:pt x="125244" y="45987"/>
                      <a:pt x="125244" y="39959"/>
                    </a:cubicBezTo>
                    <a:lnTo>
                      <a:pt x="125244" y="19645"/>
                    </a:lnTo>
                    <a:cubicBezTo>
                      <a:pt x="125244" y="13395"/>
                      <a:pt x="125016" y="11609"/>
                      <a:pt x="123687" y="9375"/>
                    </a:cubicBezTo>
                    <a:cubicBezTo>
                      <a:pt x="121444" y="5581"/>
                      <a:pt x="117429" y="3572"/>
                      <a:pt x="113186" y="3572"/>
                    </a:cubicBezTo>
                    <a:cubicBezTo>
                      <a:pt x="108957" y="3572"/>
                      <a:pt x="106042" y="4911"/>
                      <a:pt x="102927" y="9375"/>
                    </a:cubicBezTo>
                    <a:lnTo>
                      <a:pt x="100470" y="8260"/>
                    </a:lnTo>
                    <a:close/>
                  </a:path>
                </a:pathLst>
              </a:custGeom>
              <a:solidFill>
                <a:srgbClr val="000000"/>
              </a:solidFill>
              <a:ln w="14288" cap="flat">
                <a:noFill/>
                <a:prstDash val="solid"/>
                <a:miter/>
              </a:ln>
            </p:spPr>
            <p:txBody>
              <a:bodyPr/>
              <a:lstStyle/>
              <a:p>
                <a:endParaRPr lang="en-US"/>
              </a:p>
            </p:txBody>
          </p:sp>
          <p:sp>
            <p:nvSpPr>
              <p:cNvPr id="11" name="TextBox 10">
                <a:extLst>
                  <a:ext uri="{FF2B5EF4-FFF2-40B4-BE49-F238E27FC236}">
                    <a16:creationId xmlns:a16="http://schemas.microsoft.com/office/drawing/2014/main" id="{A913D4FA-0795-8D20-1958-E01CAB3D06F4}"/>
                  </a:ext>
                </a:extLst>
              </p:cNvPr>
              <p:cNvSpPr txBox="1"/>
              <p:nvPr/>
            </p:nvSpPr>
            <p:spPr>
              <a:xfrm>
                <a:off x="7874659" y="1223798"/>
                <a:ext cx="1038944" cy="314905"/>
              </a:xfrm>
              <a:prstGeom prst="rect">
                <a:avLst/>
              </a:prstGeom>
              <a:noFill/>
            </p:spPr>
            <p:txBody>
              <a:bodyPr wrap="none" rtlCol="0">
                <a:spAutoFit/>
              </a:bodyPr>
              <a:lstStyle/>
              <a:p>
                <a:pPr algn="l"/>
                <a:r>
                  <a:rPr lang="en-US" sz="1181" spc="0" baseline="0">
                    <a:ln/>
                    <a:solidFill>
                      <a:srgbClr val="000000"/>
                    </a:solidFill>
                    <a:latin typeface="Arial"/>
                    <a:cs typeface="Arial"/>
                    <a:sym typeface="Arial"/>
                    <a:rtl val="0"/>
                  </a:rPr>
                  <a:t>Company</a:t>
                </a:r>
              </a:p>
            </p:txBody>
          </p:sp>
          <p:sp>
            <p:nvSpPr>
              <p:cNvPr id="12" name="Freeform 11">
                <a:extLst>
                  <a:ext uri="{FF2B5EF4-FFF2-40B4-BE49-F238E27FC236}">
                    <a16:creationId xmlns:a16="http://schemas.microsoft.com/office/drawing/2014/main" id="{06BCC13D-1AB8-FBE8-3D8E-CA1715E16C0D}"/>
                  </a:ext>
                </a:extLst>
              </p:cNvPr>
              <p:cNvSpPr/>
              <p:nvPr/>
            </p:nvSpPr>
            <p:spPr>
              <a:xfrm>
                <a:off x="6712371" y="1609948"/>
                <a:ext cx="3014662" cy="14287"/>
              </a:xfrm>
              <a:custGeom>
                <a:avLst/>
                <a:gdLst>
                  <a:gd name="csX0" fmla="*/ 0 w 3014662"/>
                  <a:gd name="csY0" fmla="*/ 0 h 14287"/>
                  <a:gd name="csX1" fmla="*/ 3014663 w 3014662"/>
                  <a:gd name="csY1" fmla="*/ 0 h 14287"/>
                </a:gdLst>
                <a:ahLst/>
                <a:cxnLst>
                  <a:cxn ang="0">
                    <a:pos x="csX0" y="csY0"/>
                  </a:cxn>
                  <a:cxn ang="0">
                    <a:pos x="csX1" y="csY1"/>
                  </a:cxn>
                </a:cxnLst>
                <a:rect l="l" t="t" r="r" b="b"/>
                <a:pathLst>
                  <a:path w="3014662" h="14287">
                    <a:moveTo>
                      <a:pt x="0" y="0"/>
                    </a:moveTo>
                    <a:lnTo>
                      <a:pt x="3014663" y="0"/>
                    </a:lnTo>
                  </a:path>
                </a:pathLst>
              </a:custGeom>
              <a:ln w="7144" cap="flat">
                <a:solidFill>
                  <a:srgbClr val="181818"/>
                </a:solidFill>
                <a:prstDash val="solid"/>
                <a:miter/>
              </a:ln>
            </p:spPr>
            <p:txBody>
              <a:bodyPr/>
              <a:lstStyle/>
              <a:p>
                <a:endParaRPr lang="en-US"/>
              </a:p>
            </p:txBody>
          </p:sp>
          <p:sp>
            <p:nvSpPr>
              <p:cNvPr id="13" name="Freeform 12">
                <a:extLst>
                  <a:ext uri="{FF2B5EF4-FFF2-40B4-BE49-F238E27FC236}">
                    <a16:creationId xmlns:a16="http://schemas.microsoft.com/office/drawing/2014/main" id="{09FB9456-64BC-FA7E-8469-6D55F51C1A82}"/>
                  </a:ext>
                </a:extLst>
              </p:cNvPr>
              <p:cNvSpPr/>
              <p:nvPr/>
            </p:nvSpPr>
            <p:spPr>
              <a:xfrm>
                <a:off x="6712371" y="1724248"/>
                <a:ext cx="3014662" cy="14287"/>
              </a:xfrm>
              <a:custGeom>
                <a:avLst/>
                <a:gdLst>
                  <a:gd name="csX0" fmla="*/ 0 w 3014662"/>
                  <a:gd name="csY0" fmla="*/ 0 h 14287"/>
                  <a:gd name="csX1" fmla="*/ 3014663 w 3014662"/>
                  <a:gd name="csY1" fmla="*/ 0 h 14287"/>
                </a:gdLst>
                <a:ahLst/>
                <a:cxnLst>
                  <a:cxn ang="0">
                    <a:pos x="csX0" y="csY0"/>
                  </a:cxn>
                  <a:cxn ang="0">
                    <a:pos x="csX1" y="csY1"/>
                  </a:cxn>
                </a:cxnLst>
                <a:rect l="l" t="t" r="r" b="b"/>
                <a:pathLst>
                  <a:path w="3014662" h="14287">
                    <a:moveTo>
                      <a:pt x="0" y="0"/>
                    </a:moveTo>
                    <a:lnTo>
                      <a:pt x="3014663" y="0"/>
                    </a:lnTo>
                  </a:path>
                </a:pathLst>
              </a:custGeom>
              <a:ln w="7144" cap="flat">
                <a:solidFill>
                  <a:srgbClr val="181818"/>
                </a:solidFill>
                <a:prstDash val="solid"/>
                <a:miter/>
              </a:ln>
            </p:spPr>
            <p:txBody>
              <a:bodyPr/>
              <a:lstStyle/>
              <a:p>
                <a:endParaRPr lang="en-US"/>
              </a:p>
            </p:txBody>
          </p:sp>
          <p:sp>
            <p:nvSpPr>
              <p:cNvPr id="14" name="TextBox 13">
                <a:extLst>
                  <a:ext uri="{FF2B5EF4-FFF2-40B4-BE49-F238E27FC236}">
                    <a16:creationId xmlns:a16="http://schemas.microsoft.com/office/drawing/2014/main" id="{CDB2D0A5-A1D7-A9DD-B120-8AE973435A5D}"/>
                  </a:ext>
                </a:extLst>
              </p:cNvPr>
              <p:cNvSpPr txBox="1"/>
              <p:nvPr/>
            </p:nvSpPr>
            <p:spPr>
              <a:xfrm>
                <a:off x="6692369" y="1740268"/>
                <a:ext cx="2100255" cy="274049"/>
              </a:xfrm>
              <a:prstGeom prst="rect">
                <a:avLst/>
              </a:prstGeom>
              <a:noFill/>
            </p:spPr>
            <p:txBody>
              <a:bodyPr wrap="none" rtlCol="0">
                <a:spAutoFit/>
              </a:bodyPr>
              <a:lstStyle/>
              <a:p>
                <a:pPr algn="l"/>
                <a:r>
                  <a:rPr lang="en-US" sz="1181" spc="0" baseline="0" dirty="0">
                    <a:ln/>
                    <a:solidFill>
                      <a:srgbClr val="000000"/>
                    </a:solidFill>
                    <a:latin typeface="Arial"/>
                    <a:cs typeface="Arial"/>
                    <a:sym typeface="Arial"/>
                    <a:rtl val="0"/>
                  </a:rPr>
                  <a:t>+Unit add(</a:t>
                </a:r>
                <a:r>
                  <a:rPr lang="en-US" sz="1181" spc="0" baseline="0" dirty="0">
                    <a:ln/>
                    <a:solidFill>
                      <a:srgbClr val="000000"/>
                    </a:solidFill>
                    <a:latin typeface="Arial"/>
                    <a:cs typeface="Arial"/>
                    <a:sym typeface="Arial"/>
                    <a:rtl val="0"/>
                  </a:rPr>
                  <a:t> </a:t>
                </a:r>
                <a:r>
                  <a:rPr lang="en-US" sz="1181" spc="0" baseline="0" dirty="0" err="1">
                    <a:ln/>
                    <a:solidFill>
                      <a:srgbClr val="000000"/>
                    </a:solidFill>
                    <a:latin typeface="Arial"/>
                    <a:cs typeface="Arial"/>
                    <a:sym typeface="Arial"/>
                    <a:rtl val="0"/>
                  </a:rPr>
                  <a:t>aRenter</a:t>
                </a:r>
                <a:r>
                  <a:rPr lang="en-US" sz="1181" spc="0" baseline="0" dirty="0">
                    <a:ln/>
                    <a:solidFill>
                      <a:srgbClr val="000000"/>
                    </a:solidFill>
                    <a:latin typeface="Arial"/>
                    <a:cs typeface="Arial"/>
                    <a:sym typeface="Arial"/>
                    <a:rtl val="0"/>
                  </a:rPr>
                  <a:t>: Renter</a:t>
                </a:r>
                <a:r>
                  <a:rPr lang="en-US" sz="1181" spc="0" baseline="0" dirty="0">
                    <a:ln/>
                    <a:solidFill>
                      <a:srgbClr val="000000"/>
                    </a:solidFill>
                    <a:latin typeface="Arial"/>
                    <a:cs typeface="Arial"/>
                    <a:sym typeface="Arial"/>
                    <a:rtl val="0"/>
                  </a:rPr>
                  <a:t> )</a:t>
                </a:r>
              </a:p>
            </p:txBody>
          </p:sp>
          <p:sp>
            <p:nvSpPr>
              <p:cNvPr id="15" name="TextBox 14">
                <a:extLst>
                  <a:ext uri="{FF2B5EF4-FFF2-40B4-BE49-F238E27FC236}">
                    <a16:creationId xmlns:a16="http://schemas.microsoft.com/office/drawing/2014/main" id="{AE021557-F5E0-EFD0-8F6B-3C039AC1D30E}"/>
                  </a:ext>
                </a:extLst>
              </p:cNvPr>
              <p:cNvSpPr txBox="1"/>
              <p:nvPr/>
            </p:nvSpPr>
            <p:spPr>
              <a:xfrm>
                <a:off x="6692369" y="1973110"/>
                <a:ext cx="1677062" cy="274049"/>
              </a:xfrm>
              <a:prstGeom prst="rect">
                <a:avLst/>
              </a:prstGeom>
              <a:noFill/>
            </p:spPr>
            <p:txBody>
              <a:bodyPr wrap="none" rtlCol="0">
                <a:spAutoFit/>
              </a:bodyPr>
              <a:lstStyle/>
              <a:p>
                <a:pPr algn="l"/>
                <a:r>
                  <a:rPr lang="en-US" sz="1181" spc="0" baseline="0" dirty="0">
                    <a:ln/>
                    <a:solidFill>
                      <a:srgbClr val="000000"/>
                    </a:solidFill>
                    <a:latin typeface="Arial"/>
                    <a:cs typeface="Arial"/>
                    <a:sym typeface="Arial"/>
                    <a:rtl val="0"/>
                  </a:rPr>
                  <a:t>+Unit add(</a:t>
                </a:r>
                <a:r>
                  <a:rPr lang="en-US" sz="1181" spc="0" baseline="0" dirty="0">
                    <a:ln/>
                    <a:solidFill>
                      <a:srgbClr val="000000"/>
                    </a:solidFill>
                    <a:latin typeface="Arial"/>
                    <a:cs typeface="Arial"/>
                    <a:sym typeface="Arial"/>
                    <a:rtl val="0"/>
                  </a:rPr>
                  <a:t> </a:t>
                </a:r>
                <a:r>
                  <a:rPr lang="en-US" sz="1181" spc="0" baseline="0" dirty="0" err="1">
                    <a:ln/>
                    <a:solidFill>
                      <a:srgbClr val="000000"/>
                    </a:solidFill>
                    <a:latin typeface="Arial"/>
                    <a:cs typeface="Arial"/>
                    <a:sym typeface="Arial"/>
                    <a:rtl val="0"/>
                  </a:rPr>
                  <a:t>aCar</a:t>
                </a:r>
                <a:r>
                  <a:rPr lang="en-US" sz="1181" spc="0" baseline="0" dirty="0">
                    <a:ln/>
                    <a:solidFill>
                      <a:srgbClr val="000000"/>
                    </a:solidFill>
                    <a:latin typeface="Arial"/>
                    <a:cs typeface="Arial"/>
                    <a:sym typeface="Arial"/>
                    <a:rtl val="0"/>
                  </a:rPr>
                  <a:t>: Car</a:t>
                </a:r>
                <a:r>
                  <a:rPr lang="en-US" sz="1181" spc="0" baseline="0" dirty="0">
                    <a:ln/>
                    <a:solidFill>
                      <a:srgbClr val="000000"/>
                    </a:solidFill>
                    <a:latin typeface="Arial"/>
                    <a:cs typeface="Arial"/>
                    <a:sym typeface="Arial"/>
                    <a:rtl val="0"/>
                  </a:rPr>
                  <a:t> )</a:t>
                </a:r>
              </a:p>
            </p:txBody>
          </p:sp>
          <p:sp>
            <p:nvSpPr>
              <p:cNvPr id="16" name="TextBox 15">
                <a:extLst>
                  <a:ext uri="{FF2B5EF4-FFF2-40B4-BE49-F238E27FC236}">
                    <a16:creationId xmlns:a16="http://schemas.microsoft.com/office/drawing/2014/main" id="{415930AD-41A6-D13A-F023-8C70948F3037}"/>
                  </a:ext>
                </a:extLst>
              </p:cNvPr>
              <p:cNvSpPr txBox="1"/>
              <p:nvPr/>
            </p:nvSpPr>
            <p:spPr>
              <a:xfrm>
                <a:off x="6692369" y="2205952"/>
                <a:ext cx="2109873" cy="274049"/>
              </a:xfrm>
              <a:prstGeom prst="rect">
                <a:avLst/>
              </a:prstGeom>
              <a:noFill/>
            </p:spPr>
            <p:txBody>
              <a:bodyPr wrap="none" rtlCol="0">
                <a:spAutoFit/>
              </a:bodyPr>
              <a:lstStyle/>
              <a:p>
                <a:r>
                  <a:rPr lang="en-US" sz="1181" spc="0" baseline="0" dirty="0">
                    <a:ln/>
                    <a:solidFill>
                      <a:srgbClr val="000000"/>
                    </a:solidFill>
                    <a:latin typeface="Arial"/>
                    <a:cs typeface="Arial"/>
                    <a:sym typeface="Arial"/>
                    <a:rtl val="0"/>
                  </a:rPr>
                  <a:t>+</a:t>
                </a:r>
                <a:r>
                  <a:rPr lang="en-US" sz="1181" spc="0" baseline="0" dirty="0">
                    <a:ln/>
                    <a:solidFill>
                      <a:srgbClr val="000000"/>
                    </a:solidFill>
                    <a:latin typeface="Arial"/>
                    <a:cs typeface="Arial"/>
                    <a:sym typeface="Arial"/>
                    <a:rtl val="0"/>
                  </a:rPr>
                  <a:t>Unit </a:t>
                </a:r>
                <a:r>
                  <a:rPr lang="en-US" sz="1181" spc="0" baseline="0" dirty="0">
                    <a:ln/>
                    <a:solidFill>
                      <a:srgbClr val="000000"/>
                    </a:solidFill>
                    <a:latin typeface="Arial"/>
                    <a:cs typeface="Arial"/>
                    <a:sym typeface="Arial"/>
                    <a:rtl val="0"/>
                  </a:rPr>
                  <a:t>add(</a:t>
                </a:r>
                <a:r>
                  <a:rPr lang="en-US" sz="1181" spc="0" baseline="0" dirty="0">
                    <a:ln/>
                    <a:solidFill>
                      <a:srgbClr val="000000"/>
                    </a:solidFill>
                    <a:latin typeface="Arial"/>
                    <a:cs typeface="Arial"/>
                    <a:sym typeface="Arial"/>
                    <a:rtl val="0"/>
                  </a:rPr>
                  <a:t> </a:t>
                </a:r>
                <a:r>
                  <a:rPr lang="en-US" sz="1181" spc="0" baseline="0" dirty="0" err="1">
                    <a:ln/>
                    <a:solidFill>
                      <a:srgbClr val="000000"/>
                    </a:solidFill>
                    <a:latin typeface="Arial"/>
                    <a:cs typeface="Arial"/>
                    <a:sym typeface="Arial"/>
                    <a:rtl val="0"/>
                  </a:rPr>
                  <a:t>aRental</a:t>
                </a:r>
                <a:r>
                  <a:rPr lang="en-US" sz="1181" spc="0" baseline="0" dirty="0">
                    <a:ln/>
                    <a:solidFill>
                      <a:srgbClr val="000000"/>
                    </a:solidFill>
                    <a:latin typeface="Arial"/>
                    <a:cs typeface="Arial"/>
                    <a:sym typeface="Arial"/>
                    <a:rtl val="0"/>
                  </a:rPr>
                  <a:t>: Rental</a:t>
                </a:r>
                <a:r>
                  <a:rPr lang="en-US" sz="1181" spc="0" baseline="0" dirty="0">
                    <a:ln/>
                    <a:solidFill>
                      <a:srgbClr val="000000"/>
                    </a:solidFill>
                    <a:latin typeface="Arial"/>
                    <a:cs typeface="Arial"/>
                    <a:sym typeface="Arial"/>
                    <a:rtl val="0"/>
                  </a:rPr>
                  <a:t> )</a:t>
                </a:r>
              </a:p>
            </p:txBody>
          </p:sp>
        </p:grpSp>
        <p:grpSp>
          <p:nvGrpSpPr>
            <p:cNvPr id="17" name="Graphic 7">
              <a:extLst>
                <a:ext uri="{FF2B5EF4-FFF2-40B4-BE49-F238E27FC236}">
                  <a16:creationId xmlns:a16="http://schemas.microsoft.com/office/drawing/2014/main" id="{18D011E9-0752-F9CA-99AA-134AE2E0784F}"/>
                </a:ext>
              </a:extLst>
            </p:cNvPr>
            <p:cNvGrpSpPr/>
            <p:nvPr/>
          </p:nvGrpSpPr>
          <p:grpSpPr>
            <a:xfrm>
              <a:off x="5547940" y="5639023"/>
              <a:ext cx="1171575" cy="685800"/>
              <a:chOff x="5547940" y="5639023"/>
              <a:chExt cx="1171575" cy="685800"/>
            </a:xfrm>
          </p:grpSpPr>
          <p:sp>
            <p:nvSpPr>
              <p:cNvPr id="18" name="Rounded Rectangle 17">
                <a:extLst>
                  <a:ext uri="{FF2B5EF4-FFF2-40B4-BE49-F238E27FC236}">
                    <a16:creationId xmlns:a16="http://schemas.microsoft.com/office/drawing/2014/main" id="{E0415766-595B-9F1D-8056-50A135BEE158}"/>
                  </a:ext>
                </a:extLst>
              </p:cNvPr>
              <p:cNvSpPr/>
              <p:nvPr/>
            </p:nvSpPr>
            <p:spPr>
              <a:xfrm>
                <a:off x="5547940" y="5639023"/>
                <a:ext cx="1171575" cy="685800"/>
              </a:xfrm>
              <a:prstGeom prst="roundRect">
                <a:avLst>
                  <a:gd name="adj" fmla="val 5208"/>
                </a:avLst>
              </a:prstGeom>
              <a:solidFill>
                <a:srgbClr val="F1F1F1"/>
              </a:solidFill>
              <a:ln w="7144" cap="flat">
                <a:solidFill>
                  <a:srgbClr val="181818"/>
                </a:solidFill>
                <a:prstDash val="solid"/>
                <a:miter/>
              </a:ln>
            </p:spPr>
            <p:txBody>
              <a:bodyPr/>
              <a:lstStyle/>
              <a:p>
                <a:endParaRPr lang="en-US"/>
              </a:p>
            </p:txBody>
          </p:sp>
          <p:sp>
            <p:nvSpPr>
              <p:cNvPr id="19" name="Oval 18">
                <a:extLst>
                  <a:ext uri="{FF2B5EF4-FFF2-40B4-BE49-F238E27FC236}">
                    <a16:creationId xmlns:a16="http://schemas.microsoft.com/office/drawing/2014/main" id="{4BDFF9C1-EC24-A66C-28EC-C78778227083}"/>
                  </a:ext>
                </a:extLst>
              </p:cNvPr>
              <p:cNvSpPr/>
              <p:nvPr/>
            </p:nvSpPr>
            <p:spPr>
              <a:xfrm>
                <a:off x="5605090" y="5710461"/>
                <a:ext cx="314325" cy="314325"/>
              </a:xfrm>
              <a:prstGeom prst="ellipse">
                <a:avLst/>
              </a:prstGeom>
              <a:solidFill>
                <a:srgbClr val="ADD1B2"/>
              </a:solidFill>
              <a:ln w="14288" cap="flat">
                <a:solidFill>
                  <a:srgbClr val="181818"/>
                </a:solidFill>
                <a:prstDash val="solid"/>
                <a:miter/>
              </a:ln>
            </p:spPr>
            <p:txBody>
              <a:bodyPr/>
              <a:lstStyle/>
              <a:p>
                <a:endParaRPr lang="en-US"/>
              </a:p>
            </p:txBody>
          </p:sp>
          <p:sp>
            <p:nvSpPr>
              <p:cNvPr id="20" name="Freeform 19">
                <a:extLst>
                  <a:ext uri="{FF2B5EF4-FFF2-40B4-BE49-F238E27FC236}">
                    <a16:creationId xmlns:a16="http://schemas.microsoft.com/office/drawing/2014/main" id="{6A823CAC-580B-598F-DFB5-048CF4D87D6F}"/>
                  </a:ext>
                </a:extLst>
              </p:cNvPr>
              <p:cNvSpPr/>
              <p:nvPr/>
            </p:nvSpPr>
            <p:spPr>
              <a:xfrm>
                <a:off x="5695280" y="5797528"/>
                <a:ext cx="129034" cy="148447"/>
              </a:xfrm>
              <a:custGeom>
                <a:avLst/>
                <a:gdLst>
                  <a:gd name="csX0" fmla="*/ 100460 w 129034"/>
                  <a:gd name="csY0" fmla="*/ 8258 h 148447"/>
                  <a:gd name="csX1" fmla="*/ 66080 w 129034"/>
                  <a:gd name="csY1" fmla="*/ 0 h 148447"/>
                  <a:gd name="csX2" fmla="*/ 0 w 129034"/>
                  <a:gd name="csY2" fmla="*/ 68537 h 148447"/>
                  <a:gd name="csX3" fmla="*/ 0 w 129034"/>
                  <a:gd name="csY3" fmla="*/ 84611 h 148447"/>
                  <a:gd name="csX4" fmla="*/ 71438 w 129034"/>
                  <a:gd name="csY4" fmla="*/ 148447 h 148447"/>
                  <a:gd name="csX5" fmla="*/ 116086 w 129034"/>
                  <a:gd name="csY5" fmla="*/ 136403 h 148447"/>
                  <a:gd name="csX6" fmla="*/ 129035 w 129034"/>
                  <a:gd name="csY6" fmla="*/ 118543 h 148447"/>
                  <a:gd name="csX7" fmla="*/ 116756 w 129034"/>
                  <a:gd name="csY7" fmla="*/ 106485 h 148447"/>
                  <a:gd name="csX8" fmla="*/ 108049 w 129034"/>
                  <a:gd name="csY8" fmla="*/ 110271 h 148447"/>
                  <a:gd name="csX9" fmla="*/ 98897 w 129034"/>
                  <a:gd name="csY9" fmla="*/ 118543 h 148447"/>
                  <a:gd name="csX10" fmla="*/ 72108 w 129034"/>
                  <a:gd name="csY10" fmla="*/ 124116 h 148447"/>
                  <a:gd name="csX11" fmla="*/ 24333 w 129034"/>
                  <a:gd name="csY11" fmla="*/ 84154 h 148447"/>
                  <a:gd name="csX12" fmla="*/ 24333 w 129034"/>
                  <a:gd name="csY12" fmla="*/ 68537 h 148447"/>
                  <a:gd name="csX13" fmla="*/ 66973 w 129034"/>
                  <a:gd name="csY13" fmla="*/ 24332 h 148447"/>
                  <a:gd name="csX14" fmla="*/ 90637 w 129034"/>
                  <a:gd name="csY14" fmla="*/ 30132 h 148447"/>
                  <a:gd name="csX15" fmla="*/ 101353 w 129034"/>
                  <a:gd name="csY15" fmla="*/ 43077 h 148447"/>
                  <a:gd name="csX16" fmla="*/ 104700 w 129034"/>
                  <a:gd name="csY16" fmla="*/ 52464 h 148447"/>
                  <a:gd name="csX17" fmla="*/ 113184 w 129034"/>
                  <a:gd name="csY17" fmla="*/ 56036 h 148447"/>
                  <a:gd name="csX18" fmla="*/ 123230 w 129034"/>
                  <a:gd name="csY18" fmla="*/ 50892 h 148447"/>
                  <a:gd name="csX19" fmla="*/ 125239 w 129034"/>
                  <a:gd name="csY19" fmla="*/ 39962 h 148447"/>
                  <a:gd name="csX20" fmla="*/ 125239 w 129034"/>
                  <a:gd name="csY20" fmla="*/ 19645 h 148447"/>
                  <a:gd name="csX21" fmla="*/ 123677 w 129034"/>
                  <a:gd name="csY21" fmla="*/ 9373 h 148447"/>
                  <a:gd name="csX22" fmla="*/ 113184 w 129034"/>
                  <a:gd name="csY22" fmla="*/ 3572 h 148447"/>
                  <a:gd name="csX23" fmla="*/ 102914 w 129034"/>
                  <a:gd name="csY23" fmla="*/ 9373 h 148447"/>
                  <a:gd name="csX24" fmla="*/ 100460 w 129034"/>
                  <a:gd name="csY24" fmla="*/ 8258 h 148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29034" h="148447">
                    <a:moveTo>
                      <a:pt x="100460" y="8258"/>
                    </a:moveTo>
                    <a:cubicBezTo>
                      <a:pt x="87065" y="2000"/>
                      <a:pt x="78581" y="0"/>
                      <a:pt x="66080" y="0"/>
                    </a:cubicBezTo>
                    <a:cubicBezTo>
                      <a:pt x="28575" y="0"/>
                      <a:pt x="0" y="29689"/>
                      <a:pt x="0" y="68537"/>
                    </a:cubicBezTo>
                    <a:lnTo>
                      <a:pt x="0" y="84611"/>
                    </a:lnTo>
                    <a:cubicBezTo>
                      <a:pt x="0" y="121444"/>
                      <a:pt x="30138" y="148447"/>
                      <a:pt x="71438" y="148447"/>
                    </a:cubicBezTo>
                    <a:cubicBezTo>
                      <a:pt x="88851" y="148447"/>
                      <a:pt x="105370" y="144218"/>
                      <a:pt x="116086" y="136403"/>
                    </a:cubicBezTo>
                    <a:cubicBezTo>
                      <a:pt x="124346" y="130588"/>
                      <a:pt x="129035" y="124116"/>
                      <a:pt x="129035" y="118543"/>
                    </a:cubicBezTo>
                    <a:cubicBezTo>
                      <a:pt x="129035" y="112071"/>
                      <a:pt x="123453" y="106485"/>
                      <a:pt x="116756" y="106485"/>
                    </a:cubicBezTo>
                    <a:cubicBezTo>
                      <a:pt x="113630" y="106485"/>
                      <a:pt x="110728" y="107599"/>
                      <a:pt x="108049" y="110271"/>
                    </a:cubicBezTo>
                    <a:cubicBezTo>
                      <a:pt x="101576" y="117200"/>
                      <a:pt x="101576" y="117200"/>
                      <a:pt x="98897" y="118543"/>
                    </a:cubicBezTo>
                    <a:cubicBezTo>
                      <a:pt x="92869" y="122330"/>
                      <a:pt x="83046" y="124116"/>
                      <a:pt x="72108" y="124116"/>
                    </a:cubicBezTo>
                    <a:cubicBezTo>
                      <a:pt x="42863" y="124116"/>
                      <a:pt x="24333" y="108499"/>
                      <a:pt x="24333" y="84154"/>
                    </a:cubicBezTo>
                    <a:lnTo>
                      <a:pt x="24333" y="68537"/>
                    </a:lnTo>
                    <a:cubicBezTo>
                      <a:pt x="24333" y="43077"/>
                      <a:pt x="42192" y="24332"/>
                      <a:pt x="66973" y="24332"/>
                    </a:cubicBezTo>
                    <a:cubicBezTo>
                      <a:pt x="75232" y="24332"/>
                      <a:pt x="83939" y="26561"/>
                      <a:pt x="90637" y="30132"/>
                    </a:cubicBezTo>
                    <a:cubicBezTo>
                      <a:pt x="97556" y="34147"/>
                      <a:pt x="100013" y="37276"/>
                      <a:pt x="101353" y="43077"/>
                    </a:cubicBezTo>
                    <a:cubicBezTo>
                      <a:pt x="102246" y="48892"/>
                      <a:pt x="102691" y="50678"/>
                      <a:pt x="104700" y="52464"/>
                    </a:cubicBezTo>
                    <a:cubicBezTo>
                      <a:pt x="106710" y="54464"/>
                      <a:pt x="110058" y="56036"/>
                      <a:pt x="113184" y="56036"/>
                    </a:cubicBezTo>
                    <a:cubicBezTo>
                      <a:pt x="116979" y="56036"/>
                      <a:pt x="120774" y="54021"/>
                      <a:pt x="123230" y="50892"/>
                    </a:cubicBezTo>
                    <a:cubicBezTo>
                      <a:pt x="124793" y="48663"/>
                      <a:pt x="125239" y="45977"/>
                      <a:pt x="125239" y="39962"/>
                    </a:cubicBezTo>
                    <a:lnTo>
                      <a:pt x="125239" y="19645"/>
                    </a:lnTo>
                    <a:cubicBezTo>
                      <a:pt x="125239" y="13388"/>
                      <a:pt x="125016" y="11602"/>
                      <a:pt x="123677" y="9373"/>
                    </a:cubicBezTo>
                    <a:cubicBezTo>
                      <a:pt x="121444" y="5572"/>
                      <a:pt x="117426" y="3572"/>
                      <a:pt x="113184" y="3572"/>
                    </a:cubicBezTo>
                    <a:cubicBezTo>
                      <a:pt x="108942" y="3572"/>
                      <a:pt x="106040" y="4915"/>
                      <a:pt x="102914" y="9373"/>
                    </a:cubicBezTo>
                    <a:lnTo>
                      <a:pt x="100460" y="8258"/>
                    </a:lnTo>
                    <a:close/>
                  </a:path>
                </a:pathLst>
              </a:custGeom>
              <a:solidFill>
                <a:srgbClr val="000000"/>
              </a:solidFill>
              <a:ln w="14288" cap="flat">
                <a:noFill/>
                <a:prstDash val="solid"/>
                <a:miter/>
              </a:ln>
            </p:spPr>
            <p:txBody>
              <a:bodyPr/>
              <a:lstStyle/>
              <a:p>
                <a:endParaRPr lang="en-US"/>
              </a:p>
            </p:txBody>
          </p:sp>
          <p:sp>
            <p:nvSpPr>
              <p:cNvPr id="21" name="TextBox 20">
                <a:extLst>
                  <a:ext uri="{FF2B5EF4-FFF2-40B4-BE49-F238E27FC236}">
                    <a16:creationId xmlns:a16="http://schemas.microsoft.com/office/drawing/2014/main" id="{EEDEB85A-3BAA-2A63-5039-2BD1F8539075}"/>
                  </a:ext>
                </a:extLst>
              </p:cNvPr>
              <p:cNvSpPr txBox="1"/>
              <p:nvPr/>
            </p:nvSpPr>
            <p:spPr>
              <a:xfrm>
                <a:off x="5870838" y="5710077"/>
                <a:ext cx="783248" cy="314905"/>
              </a:xfrm>
              <a:prstGeom prst="rect">
                <a:avLst/>
              </a:prstGeom>
              <a:noFill/>
            </p:spPr>
            <p:txBody>
              <a:bodyPr wrap="none" rtlCol="0">
                <a:spAutoFit/>
              </a:bodyPr>
              <a:lstStyle/>
              <a:p>
                <a:pPr algn="l"/>
                <a:r>
                  <a:rPr lang="en-US" sz="1181" spc="0" baseline="0">
                    <a:ln/>
                    <a:solidFill>
                      <a:srgbClr val="000000"/>
                    </a:solidFill>
                    <a:latin typeface="Arial"/>
                    <a:cs typeface="Arial"/>
                    <a:sym typeface="Arial"/>
                    <a:rtl val="0"/>
                  </a:rPr>
                  <a:t>Renter</a:t>
                </a:r>
              </a:p>
            </p:txBody>
          </p:sp>
          <p:sp>
            <p:nvSpPr>
              <p:cNvPr id="22" name="Freeform 21">
                <a:extLst>
                  <a:ext uri="{FF2B5EF4-FFF2-40B4-BE49-F238E27FC236}">
                    <a16:creationId xmlns:a16="http://schemas.microsoft.com/office/drawing/2014/main" id="{E86A9834-8DF0-B985-ED82-E8DA3ED0F517}"/>
                  </a:ext>
                </a:extLst>
              </p:cNvPr>
              <p:cNvSpPr/>
              <p:nvPr/>
            </p:nvSpPr>
            <p:spPr>
              <a:xfrm>
                <a:off x="5562228" y="6096223"/>
                <a:ext cx="1143000" cy="14287"/>
              </a:xfrm>
              <a:custGeom>
                <a:avLst/>
                <a:gdLst>
                  <a:gd name="csX0" fmla="*/ 0 w 1143000"/>
                  <a:gd name="csY0" fmla="*/ 0 h 14287"/>
                  <a:gd name="csX1" fmla="*/ 1143000 w 1143000"/>
                  <a:gd name="csY1" fmla="*/ 0 h 14287"/>
                </a:gdLst>
                <a:ahLst/>
                <a:cxnLst>
                  <a:cxn ang="0">
                    <a:pos x="csX0" y="csY0"/>
                  </a:cxn>
                  <a:cxn ang="0">
                    <a:pos x="csX1" y="csY1"/>
                  </a:cxn>
                </a:cxnLst>
                <a:rect l="l" t="t" r="r" b="b"/>
                <a:pathLst>
                  <a:path w="1143000" h="14287">
                    <a:moveTo>
                      <a:pt x="0" y="0"/>
                    </a:moveTo>
                    <a:lnTo>
                      <a:pt x="1143000" y="0"/>
                    </a:lnTo>
                  </a:path>
                </a:pathLst>
              </a:custGeom>
              <a:ln w="7144" cap="flat">
                <a:solidFill>
                  <a:srgbClr val="181818"/>
                </a:solidFill>
                <a:prstDash val="solid"/>
                <a:miter/>
              </a:ln>
            </p:spPr>
            <p:txBody>
              <a:bodyPr/>
              <a:lstStyle/>
              <a:p>
                <a:endParaRPr lang="en-US"/>
              </a:p>
            </p:txBody>
          </p:sp>
          <p:sp>
            <p:nvSpPr>
              <p:cNvPr id="23" name="Freeform 22">
                <a:extLst>
                  <a:ext uri="{FF2B5EF4-FFF2-40B4-BE49-F238E27FC236}">
                    <a16:creationId xmlns:a16="http://schemas.microsoft.com/office/drawing/2014/main" id="{C1B8E0D6-82FE-BB52-068E-C32F6F63F63C}"/>
                  </a:ext>
                </a:extLst>
              </p:cNvPr>
              <p:cNvSpPr/>
              <p:nvPr/>
            </p:nvSpPr>
            <p:spPr>
              <a:xfrm>
                <a:off x="5562228" y="6210523"/>
                <a:ext cx="1143000" cy="14287"/>
              </a:xfrm>
              <a:custGeom>
                <a:avLst/>
                <a:gdLst>
                  <a:gd name="csX0" fmla="*/ 0 w 1143000"/>
                  <a:gd name="csY0" fmla="*/ 0 h 14287"/>
                  <a:gd name="csX1" fmla="*/ 1143000 w 1143000"/>
                  <a:gd name="csY1" fmla="*/ 0 h 14287"/>
                </a:gdLst>
                <a:ahLst/>
                <a:cxnLst>
                  <a:cxn ang="0">
                    <a:pos x="csX0" y="csY0"/>
                  </a:cxn>
                  <a:cxn ang="0">
                    <a:pos x="csX1" y="csY1"/>
                  </a:cxn>
                </a:cxnLst>
                <a:rect l="l" t="t" r="r" b="b"/>
                <a:pathLst>
                  <a:path w="1143000" h="14287">
                    <a:moveTo>
                      <a:pt x="0" y="0"/>
                    </a:moveTo>
                    <a:lnTo>
                      <a:pt x="1143000" y="0"/>
                    </a:lnTo>
                  </a:path>
                </a:pathLst>
              </a:custGeom>
              <a:ln w="7144" cap="flat">
                <a:solidFill>
                  <a:srgbClr val="181818"/>
                </a:solidFill>
                <a:prstDash val="solid"/>
                <a:miter/>
              </a:ln>
            </p:spPr>
            <p:txBody>
              <a:bodyPr/>
              <a:lstStyle/>
              <a:p>
                <a:endParaRPr lang="en-US"/>
              </a:p>
            </p:txBody>
          </p:sp>
        </p:grpSp>
        <p:grpSp>
          <p:nvGrpSpPr>
            <p:cNvPr id="24" name="Graphic 7">
              <a:extLst>
                <a:ext uri="{FF2B5EF4-FFF2-40B4-BE49-F238E27FC236}">
                  <a16:creationId xmlns:a16="http://schemas.microsoft.com/office/drawing/2014/main" id="{25D6144D-C96C-5504-DCD3-F5B72FD9785E}"/>
                </a:ext>
              </a:extLst>
            </p:cNvPr>
            <p:cNvGrpSpPr/>
            <p:nvPr/>
          </p:nvGrpSpPr>
          <p:grpSpPr>
            <a:xfrm>
              <a:off x="9148390" y="5639023"/>
              <a:ext cx="800100" cy="685800"/>
              <a:chOff x="9148390" y="5639023"/>
              <a:chExt cx="800100" cy="685800"/>
            </a:xfrm>
          </p:grpSpPr>
          <p:sp>
            <p:nvSpPr>
              <p:cNvPr id="25" name="Rounded Rectangle 24">
                <a:extLst>
                  <a:ext uri="{FF2B5EF4-FFF2-40B4-BE49-F238E27FC236}">
                    <a16:creationId xmlns:a16="http://schemas.microsoft.com/office/drawing/2014/main" id="{182BEF16-3F5B-2D4E-34BF-A639B80FE8B4}"/>
                  </a:ext>
                </a:extLst>
              </p:cNvPr>
              <p:cNvSpPr/>
              <p:nvPr/>
            </p:nvSpPr>
            <p:spPr>
              <a:xfrm>
                <a:off x="9148390" y="5639023"/>
                <a:ext cx="800100" cy="685800"/>
              </a:xfrm>
              <a:prstGeom prst="roundRect">
                <a:avLst>
                  <a:gd name="adj" fmla="val 5208"/>
                </a:avLst>
              </a:prstGeom>
              <a:solidFill>
                <a:srgbClr val="F1F1F1"/>
              </a:solidFill>
              <a:ln w="7144" cap="flat">
                <a:solidFill>
                  <a:srgbClr val="181818"/>
                </a:solidFill>
                <a:prstDash val="solid"/>
                <a:miter/>
              </a:ln>
            </p:spPr>
            <p:txBody>
              <a:bodyPr/>
              <a:lstStyle/>
              <a:p>
                <a:endParaRPr lang="en-US"/>
              </a:p>
            </p:txBody>
          </p:sp>
          <p:sp>
            <p:nvSpPr>
              <p:cNvPr id="26" name="Oval 25">
                <a:extLst>
                  <a:ext uri="{FF2B5EF4-FFF2-40B4-BE49-F238E27FC236}">
                    <a16:creationId xmlns:a16="http://schemas.microsoft.com/office/drawing/2014/main" id="{6A07551C-FA2A-9B05-F267-AC2AC21D2FA1}"/>
                  </a:ext>
                </a:extLst>
              </p:cNvPr>
              <p:cNvSpPr/>
              <p:nvPr/>
            </p:nvSpPr>
            <p:spPr>
              <a:xfrm>
                <a:off x="9205540" y="5710461"/>
                <a:ext cx="314325" cy="314325"/>
              </a:xfrm>
              <a:prstGeom prst="ellipse">
                <a:avLst/>
              </a:prstGeom>
              <a:solidFill>
                <a:srgbClr val="ADD1B2"/>
              </a:solidFill>
              <a:ln w="14288" cap="flat">
                <a:solidFill>
                  <a:srgbClr val="181818"/>
                </a:solidFill>
                <a:prstDash val="solid"/>
                <a:miter/>
              </a:ln>
            </p:spPr>
            <p:txBody>
              <a:bodyPr/>
              <a:lstStyle/>
              <a:p>
                <a:endParaRPr lang="en-US"/>
              </a:p>
            </p:txBody>
          </p:sp>
          <p:sp>
            <p:nvSpPr>
              <p:cNvPr id="27" name="Freeform 26">
                <a:extLst>
                  <a:ext uri="{FF2B5EF4-FFF2-40B4-BE49-F238E27FC236}">
                    <a16:creationId xmlns:a16="http://schemas.microsoft.com/office/drawing/2014/main" id="{6BE092DC-78C4-2DA8-1999-0F501F1D34DD}"/>
                  </a:ext>
                </a:extLst>
              </p:cNvPr>
              <p:cNvSpPr/>
              <p:nvPr/>
            </p:nvSpPr>
            <p:spPr>
              <a:xfrm>
                <a:off x="9295723" y="5797528"/>
                <a:ext cx="129044" cy="148447"/>
              </a:xfrm>
              <a:custGeom>
                <a:avLst/>
                <a:gdLst>
                  <a:gd name="csX0" fmla="*/ 100469 w 129044"/>
                  <a:gd name="csY0" fmla="*/ 8258 h 148447"/>
                  <a:gd name="csX1" fmla="*/ 66094 w 129044"/>
                  <a:gd name="csY1" fmla="*/ 0 h 148447"/>
                  <a:gd name="csX2" fmla="*/ 0 w 129044"/>
                  <a:gd name="csY2" fmla="*/ 68537 h 148447"/>
                  <a:gd name="csX3" fmla="*/ 0 w 129044"/>
                  <a:gd name="csY3" fmla="*/ 84611 h 148447"/>
                  <a:gd name="csX4" fmla="*/ 71438 w 129044"/>
                  <a:gd name="csY4" fmla="*/ 148447 h 148447"/>
                  <a:gd name="csX5" fmla="*/ 116100 w 129044"/>
                  <a:gd name="csY5" fmla="*/ 136403 h 148447"/>
                  <a:gd name="csX6" fmla="*/ 129044 w 129044"/>
                  <a:gd name="csY6" fmla="*/ 118543 h 148447"/>
                  <a:gd name="csX7" fmla="*/ 116757 w 129044"/>
                  <a:gd name="csY7" fmla="*/ 106485 h 148447"/>
                  <a:gd name="csX8" fmla="*/ 108056 w 129044"/>
                  <a:gd name="csY8" fmla="*/ 110271 h 148447"/>
                  <a:gd name="csX9" fmla="*/ 98898 w 129044"/>
                  <a:gd name="csY9" fmla="*/ 118543 h 148447"/>
                  <a:gd name="csX10" fmla="*/ 72109 w 129044"/>
                  <a:gd name="csY10" fmla="*/ 124116 h 148447"/>
                  <a:gd name="csX11" fmla="*/ 24346 w 129044"/>
                  <a:gd name="csY11" fmla="*/ 84154 h 148447"/>
                  <a:gd name="csX12" fmla="*/ 24346 w 129044"/>
                  <a:gd name="csY12" fmla="*/ 68537 h 148447"/>
                  <a:gd name="csX13" fmla="*/ 66980 w 129044"/>
                  <a:gd name="csY13" fmla="*/ 24332 h 148447"/>
                  <a:gd name="csX14" fmla="*/ 90640 w 129044"/>
                  <a:gd name="csY14" fmla="*/ 30132 h 148447"/>
                  <a:gd name="csX15" fmla="*/ 101355 w 129044"/>
                  <a:gd name="csY15" fmla="*/ 43077 h 148447"/>
                  <a:gd name="csX16" fmla="*/ 104713 w 129044"/>
                  <a:gd name="csY16" fmla="*/ 52464 h 148447"/>
                  <a:gd name="csX17" fmla="*/ 113186 w 129044"/>
                  <a:gd name="csY17" fmla="*/ 56036 h 148447"/>
                  <a:gd name="csX18" fmla="*/ 123244 w 129044"/>
                  <a:gd name="csY18" fmla="*/ 50892 h 148447"/>
                  <a:gd name="csX19" fmla="*/ 125244 w 129044"/>
                  <a:gd name="csY19" fmla="*/ 39962 h 148447"/>
                  <a:gd name="csX20" fmla="*/ 125244 w 129044"/>
                  <a:gd name="csY20" fmla="*/ 19645 h 148447"/>
                  <a:gd name="csX21" fmla="*/ 123687 w 129044"/>
                  <a:gd name="csY21" fmla="*/ 9373 h 148447"/>
                  <a:gd name="csX22" fmla="*/ 113186 w 129044"/>
                  <a:gd name="csY22" fmla="*/ 3572 h 148447"/>
                  <a:gd name="csX23" fmla="*/ 102927 w 129044"/>
                  <a:gd name="csY23" fmla="*/ 9373 h 148447"/>
                  <a:gd name="csX24" fmla="*/ 100469 w 129044"/>
                  <a:gd name="csY24" fmla="*/ 8258 h 148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29044" h="148447">
                    <a:moveTo>
                      <a:pt x="100469" y="8258"/>
                    </a:moveTo>
                    <a:cubicBezTo>
                      <a:pt x="87068" y="2000"/>
                      <a:pt x="78581" y="0"/>
                      <a:pt x="66094" y="0"/>
                    </a:cubicBezTo>
                    <a:cubicBezTo>
                      <a:pt x="28575" y="0"/>
                      <a:pt x="0" y="29689"/>
                      <a:pt x="0" y="68537"/>
                    </a:cubicBezTo>
                    <a:lnTo>
                      <a:pt x="0" y="84611"/>
                    </a:lnTo>
                    <a:cubicBezTo>
                      <a:pt x="0" y="121444"/>
                      <a:pt x="30146" y="148447"/>
                      <a:pt x="71438" y="148447"/>
                    </a:cubicBezTo>
                    <a:cubicBezTo>
                      <a:pt x="88854" y="148447"/>
                      <a:pt x="105384" y="144218"/>
                      <a:pt x="116100" y="136403"/>
                    </a:cubicBezTo>
                    <a:cubicBezTo>
                      <a:pt x="124358" y="130588"/>
                      <a:pt x="129044" y="124116"/>
                      <a:pt x="129044" y="118543"/>
                    </a:cubicBezTo>
                    <a:cubicBezTo>
                      <a:pt x="129044" y="112071"/>
                      <a:pt x="123458" y="106485"/>
                      <a:pt x="116757" y="106485"/>
                    </a:cubicBezTo>
                    <a:cubicBezTo>
                      <a:pt x="113642" y="106485"/>
                      <a:pt x="110728" y="107599"/>
                      <a:pt x="108056" y="110271"/>
                    </a:cubicBezTo>
                    <a:cubicBezTo>
                      <a:pt x="101584" y="117200"/>
                      <a:pt x="101584" y="117200"/>
                      <a:pt x="98898" y="118543"/>
                    </a:cubicBezTo>
                    <a:cubicBezTo>
                      <a:pt x="92869" y="122330"/>
                      <a:pt x="83053" y="124116"/>
                      <a:pt x="72109" y="124116"/>
                    </a:cubicBezTo>
                    <a:cubicBezTo>
                      <a:pt x="42863" y="124116"/>
                      <a:pt x="24346" y="108499"/>
                      <a:pt x="24346" y="84154"/>
                    </a:cubicBezTo>
                    <a:lnTo>
                      <a:pt x="24346" y="68537"/>
                    </a:lnTo>
                    <a:cubicBezTo>
                      <a:pt x="24346" y="43077"/>
                      <a:pt x="42205" y="24332"/>
                      <a:pt x="66980" y="24332"/>
                    </a:cubicBezTo>
                    <a:cubicBezTo>
                      <a:pt x="75238" y="24332"/>
                      <a:pt x="83953" y="26561"/>
                      <a:pt x="90640" y="30132"/>
                    </a:cubicBezTo>
                    <a:cubicBezTo>
                      <a:pt x="97569" y="34147"/>
                      <a:pt x="100013" y="37276"/>
                      <a:pt x="101355" y="43077"/>
                    </a:cubicBezTo>
                    <a:cubicBezTo>
                      <a:pt x="102255" y="48892"/>
                      <a:pt x="102698" y="50678"/>
                      <a:pt x="104713" y="52464"/>
                    </a:cubicBezTo>
                    <a:cubicBezTo>
                      <a:pt x="106713" y="54464"/>
                      <a:pt x="110071" y="56036"/>
                      <a:pt x="113186" y="56036"/>
                    </a:cubicBezTo>
                    <a:cubicBezTo>
                      <a:pt x="116986" y="56036"/>
                      <a:pt x="120786" y="54021"/>
                      <a:pt x="123244" y="50892"/>
                    </a:cubicBezTo>
                    <a:cubicBezTo>
                      <a:pt x="124801" y="48663"/>
                      <a:pt x="125244" y="45977"/>
                      <a:pt x="125244" y="39962"/>
                    </a:cubicBezTo>
                    <a:lnTo>
                      <a:pt x="125244" y="19645"/>
                    </a:lnTo>
                    <a:cubicBezTo>
                      <a:pt x="125244" y="13388"/>
                      <a:pt x="125016" y="11602"/>
                      <a:pt x="123687" y="9373"/>
                    </a:cubicBezTo>
                    <a:cubicBezTo>
                      <a:pt x="121444" y="5572"/>
                      <a:pt x="117429" y="3572"/>
                      <a:pt x="113186" y="3572"/>
                    </a:cubicBezTo>
                    <a:cubicBezTo>
                      <a:pt x="108956" y="3572"/>
                      <a:pt x="106042" y="4915"/>
                      <a:pt x="102927" y="9373"/>
                    </a:cubicBezTo>
                    <a:lnTo>
                      <a:pt x="100469" y="8258"/>
                    </a:lnTo>
                    <a:close/>
                  </a:path>
                </a:pathLst>
              </a:custGeom>
              <a:solidFill>
                <a:srgbClr val="000000"/>
              </a:solidFill>
              <a:ln w="14288" cap="flat">
                <a:noFill/>
                <a:prstDash val="solid"/>
                <a:miter/>
              </a:ln>
            </p:spPr>
            <p:txBody>
              <a:bodyPr/>
              <a:lstStyle/>
              <a:p>
                <a:endParaRPr lang="en-US"/>
              </a:p>
            </p:txBody>
          </p:sp>
          <p:sp>
            <p:nvSpPr>
              <p:cNvPr id="28" name="TextBox 27">
                <a:extLst>
                  <a:ext uri="{FF2B5EF4-FFF2-40B4-BE49-F238E27FC236}">
                    <a16:creationId xmlns:a16="http://schemas.microsoft.com/office/drawing/2014/main" id="{6B3A73D1-E4B1-B8C0-5152-148F2BE97551}"/>
                  </a:ext>
                </a:extLst>
              </p:cNvPr>
              <p:cNvSpPr txBox="1"/>
              <p:nvPr/>
            </p:nvSpPr>
            <p:spPr>
              <a:xfrm>
                <a:off x="9471288" y="5710077"/>
                <a:ext cx="505185" cy="314905"/>
              </a:xfrm>
              <a:prstGeom prst="rect">
                <a:avLst/>
              </a:prstGeom>
              <a:noFill/>
            </p:spPr>
            <p:txBody>
              <a:bodyPr wrap="none" rtlCol="0">
                <a:spAutoFit/>
              </a:bodyPr>
              <a:lstStyle/>
              <a:p>
                <a:pPr algn="l"/>
                <a:r>
                  <a:rPr lang="en-US" sz="1181" spc="0" baseline="0">
                    <a:ln/>
                    <a:solidFill>
                      <a:srgbClr val="000000"/>
                    </a:solidFill>
                    <a:latin typeface="Arial"/>
                    <a:cs typeface="Arial"/>
                    <a:sym typeface="Arial"/>
                    <a:rtl val="0"/>
                  </a:rPr>
                  <a:t>Car</a:t>
                </a:r>
              </a:p>
            </p:txBody>
          </p:sp>
          <p:sp>
            <p:nvSpPr>
              <p:cNvPr id="29" name="Freeform 28">
                <a:extLst>
                  <a:ext uri="{FF2B5EF4-FFF2-40B4-BE49-F238E27FC236}">
                    <a16:creationId xmlns:a16="http://schemas.microsoft.com/office/drawing/2014/main" id="{8CE88832-CDFB-EDCF-506E-81CE8B4AF74F}"/>
                  </a:ext>
                </a:extLst>
              </p:cNvPr>
              <p:cNvSpPr/>
              <p:nvPr/>
            </p:nvSpPr>
            <p:spPr>
              <a:xfrm>
                <a:off x="9162678" y="6096223"/>
                <a:ext cx="771525" cy="14287"/>
              </a:xfrm>
              <a:custGeom>
                <a:avLst/>
                <a:gdLst>
                  <a:gd name="csX0" fmla="*/ 0 w 771525"/>
                  <a:gd name="csY0" fmla="*/ 0 h 14287"/>
                  <a:gd name="csX1" fmla="*/ 771525 w 771525"/>
                  <a:gd name="csY1" fmla="*/ 0 h 14287"/>
                </a:gdLst>
                <a:ahLst/>
                <a:cxnLst>
                  <a:cxn ang="0">
                    <a:pos x="csX0" y="csY0"/>
                  </a:cxn>
                  <a:cxn ang="0">
                    <a:pos x="csX1" y="csY1"/>
                  </a:cxn>
                </a:cxnLst>
                <a:rect l="l" t="t" r="r" b="b"/>
                <a:pathLst>
                  <a:path w="771525" h="14287">
                    <a:moveTo>
                      <a:pt x="0" y="0"/>
                    </a:moveTo>
                    <a:lnTo>
                      <a:pt x="771525" y="0"/>
                    </a:lnTo>
                  </a:path>
                </a:pathLst>
              </a:custGeom>
              <a:ln w="7144" cap="flat">
                <a:solidFill>
                  <a:srgbClr val="181818"/>
                </a:solidFill>
                <a:prstDash val="solid"/>
                <a:miter/>
              </a:ln>
            </p:spPr>
            <p:txBody>
              <a:bodyPr/>
              <a:lstStyle/>
              <a:p>
                <a:endParaRPr lang="en-US"/>
              </a:p>
            </p:txBody>
          </p:sp>
          <p:sp>
            <p:nvSpPr>
              <p:cNvPr id="30" name="Freeform 29">
                <a:extLst>
                  <a:ext uri="{FF2B5EF4-FFF2-40B4-BE49-F238E27FC236}">
                    <a16:creationId xmlns:a16="http://schemas.microsoft.com/office/drawing/2014/main" id="{FF503DCA-312A-4AE6-F796-F100C2E731A4}"/>
                  </a:ext>
                </a:extLst>
              </p:cNvPr>
              <p:cNvSpPr/>
              <p:nvPr/>
            </p:nvSpPr>
            <p:spPr>
              <a:xfrm>
                <a:off x="9162678" y="6210523"/>
                <a:ext cx="771525" cy="14287"/>
              </a:xfrm>
              <a:custGeom>
                <a:avLst/>
                <a:gdLst>
                  <a:gd name="csX0" fmla="*/ 0 w 771525"/>
                  <a:gd name="csY0" fmla="*/ 0 h 14287"/>
                  <a:gd name="csX1" fmla="*/ 771525 w 771525"/>
                  <a:gd name="csY1" fmla="*/ 0 h 14287"/>
                </a:gdLst>
                <a:ahLst/>
                <a:cxnLst>
                  <a:cxn ang="0">
                    <a:pos x="csX0" y="csY0"/>
                  </a:cxn>
                  <a:cxn ang="0">
                    <a:pos x="csX1" y="csY1"/>
                  </a:cxn>
                </a:cxnLst>
                <a:rect l="l" t="t" r="r" b="b"/>
                <a:pathLst>
                  <a:path w="771525" h="14287">
                    <a:moveTo>
                      <a:pt x="0" y="0"/>
                    </a:moveTo>
                    <a:lnTo>
                      <a:pt x="771525" y="0"/>
                    </a:lnTo>
                  </a:path>
                </a:pathLst>
              </a:custGeom>
              <a:ln w="7144" cap="flat">
                <a:solidFill>
                  <a:srgbClr val="181818"/>
                </a:solidFill>
                <a:prstDash val="solid"/>
                <a:miter/>
              </a:ln>
            </p:spPr>
            <p:txBody>
              <a:bodyPr/>
              <a:lstStyle/>
              <a:p>
                <a:endParaRPr lang="en-US"/>
              </a:p>
            </p:txBody>
          </p:sp>
        </p:grpSp>
        <p:grpSp>
          <p:nvGrpSpPr>
            <p:cNvPr id="31" name="Graphic 7">
              <a:extLst>
                <a:ext uri="{FF2B5EF4-FFF2-40B4-BE49-F238E27FC236}">
                  <a16:creationId xmlns:a16="http://schemas.microsoft.com/office/drawing/2014/main" id="{ACBD8F8E-07AC-E899-D488-DD94E0B75841}"/>
                </a:ext>
              </a:extLst>
            </p:cNvPr>
            <p:cNvGrpSpPr/>
            <p:nvPr/>
          </p:nvGrpSpPr>
          <p:grpSpPr>
            <a:xfrm>
              <a:off x="6299463" y="3395886"/>
              <a:ext cx="3834765" cy="1384324"/>
              <a:chOff x="6299463" y="3395886"/>
              <a:chExt cx="3834765" cy="1384324"/>
            </a:xfrm>
          </p:grpSpPr>
          <p:sp>
            <p:nvSpPr>
              <p:cNvPr id="32" name="Rounded Rectangle 31">
                <a:extLst>
                  <a:ext uri="{FF2B5EF4-FFF2-40B4-BE49-F238E27FC236}">
                    <a16:creationId xmlns:a16="http://schemas.microsoft.com/office/drawing/2014/main" id="{B7AA2A03-2D0B-60C0-89C4-178F6AED56F6}"/>
                  </a:ext>
                </a:extLst>
              </p:cNvPr>
              <p:cNvSpPr/>
              <p:nvPr/>
            </p:nvSpPr>
            <p:spPr>
              <a:xfrm>
                <a:off x="6305178" y="3395886"/>
                <a:ext cx="3829050" cy="1384324"/>
              </a:xfrm>
              <a:prstGeom prst="roundRect">
                <a:avLst>
                  <a:gd name="adj" fmla="val 2580"/>
                </a:avLst>
              </a:prstGeom>
              <a:solidFill>
                <a:srgbClr val="F1F1F1"/>
              </a:solidFill>
              <a:ln w="7144" cap="flat">
                <a:solidFill>
                  <a:srgbClr val="181818"/>
                </a:solidFill>
                <a:prstDash val="solid"/>
                <a:miter/>
              </a:ln>
            </p:spPr>
            <p:txBody>
              <a:bodyPr/>
              <a:lstStyle/>
              <a:p>
                <a:endParaRPr lang="en-US"/>
              </a:p>
            </p:txBody>
          </p:sp>
          <p:sp>
            <p:nvSpPr>
              <p:cNvPr id="33" name="Oval 32">
                <a:extLst>
                  <a:ext uri="{FF2B5EF4-FFF2-40B4-BE49-F238E27FC236}">
                    <a16:creationId xmlns:a16="http://schemas.microsoft.com/office/drawing/2014/main" id="{72B9267E-6EE9-0F93-5FE1-C390C45DE9AE}"/>
                  </a:ext>
                </a:extLst>
              </p:cNvPr>
              <p:cNvSpPr/>
              <p:nvPr/>
            </p:nvSpPr>
            <p:spPr>
              <a:xfrm>
                <a:off x="7666062" y="3467323"/>
                <a:ext cx="314325" cy="314325"/>
              </a:xfrm>
              <a:prstGeom prst="ellipse">
                <a:avLst/>
              </a:prstGeom>
              <a:solidFill>
                <a:srgbClr val="ADD1B2"/>
              </a:solidFill>
              <a:ln w="14288" cap="flat">
                <a:solidFill>
                  <a:srgbClr val="181818"/>
                </a:solidFill>
                <a:prstDash val="solid"/>
                <a:miter/>
              </a:ln>
            </p:spPr>
            <p:txBody>
              <a:bodyPr/>
              <a:lstStyle/>
              <a:p>
                <a:endParaRPr lang="en-US"/>
              </a:p>
            </p:txBody>
          </p:sp>
          <p:sp>
            <p:nvSpPr>
              <p:cNvPr id="34" name="Freeform 33">
                <a:extLst>
                  <a:ext uri="{FF2B5EF4-FFF2-40B4-BE49-F238E27FC236}">
                    <a16:creationId xmlns:a16="http://schemas.microsoft.com/office/drawing/2014/main" id="{B70B1417-4C45-E93F-E4C3-024D15F0133E}"/>
                  </a:ext>
                </a:extLst>
              </p:cNvPr>
              <p:cNvSpPr/>
              <p:nvPr/>
            </p:nvSpPr>
            <p:spPr>
              <a:xfrm>
                <a:off x="7756245" y="3554391"/>
                <a:ext cx="129044" cy="148447"/>
              </a:xfrm>
              <a:custGeom>
                <a:avLst/>
                <a:gdLst>
                  <a:gd name="csX0" fmla="*/ 100470 w 129044"/>
                  <a:gd name="csY0" fmla="*/ 8258 h 148447"/>
                  <a:gd name="csX1" fmla="*/ 66094 w 129044"/>
                  <a:gd name="csY1" fmla="*/ 0 h 148447"/>
                  <a:gd name="csX2" fmla="*/ 0 w 129044"/>
                  <a:gd name="csY2" fmla="*/ 68537 h 148447"/>
                  <a:gd name="csX3" fmla="*/ 0 w 129044"/>
                  <a:gd name="csY3" fmla="*/ 84611 h 148447"/>
                  <a:gd name="csX4" fmla="*/ 71438 w 129044"/>
                  <a:gd name="csY4" fmla="*/ 148447 h 148447"/>
                  <a:gd name="csX5" fmla="*/ 116100 w 129044"/>
                  <a:gd name="csY5" fmla="*/ 136403 h 148447"/>
                  <a:gd name="csX6" fmla="*/ 129045 w 129044"/>
                  <a:gd name="csY6" fmla="*/ 118544 h 148447"/>
                  <a:gd name="csX7" fmla="*/ 116757 w 129044"/>
                  <a:gd name="csY7" fmla="*/ 106485 h 148447"/>
                  <a:gd name="csX8" fmla="*/ 108056 w 129044"/>
                  <a:gd name="csY8" fmla="*/ 110271 h 148447"/>
                  <a:gd name="csX9" fmla="*/ 98898 w 129044"/>
                  <a:gd name="csY9" fmla="*/ 118544 h 148447"/>
                  <a:gd name="csX10" fmla="*/ 72109 w 129044"/>
                  <a:gd name="csY10" fmla="*/ 124116 h 148447"/>
                  <a:gd name="csX11" fmla="*/ 24346 w 129044"/>
                  <a:gd name="csY11" fmla="*/ 84153 h 148447"/>
                  <a:gd name="csX12" fmla="*/ 24346 w 129044"/>
                  <a:gd name="csY12" fmla="*/ 68537 h 148447"/>
                  <a:gd name="csX13" fmla="*/ 66980 w 129044"/>
                  <a:gd name="csY13" fmla="*/ 24332 h 148447"/>
                  <a:gd name="csX14" fmla="*/ 90640 w 129044"/>
                  <a:gd name="csY14" fmla="*/ 30132 h 148447"/>
                  <a:gd name="csX15" fmla="*/ 101356 w 129044"/>
                  <a:gd name="csY15" fmla="*/ 43077 h 148447"/>
                  <a:gd name="csX16" fmla="*/ 104713 w 129044"/>
                  <a:gd name="csY16" fmla="*/ 52464 h 148447"/>
                  <a:gd name="csX17" fmla="*/ 113186 w 129044"/>
                  <a:gd name="csY17" fmla="*/ 56036 h 148447"/>
                  <a:gd name="csX18" fmla="*/ 123244 w 129044"/>
                  <a:gd name="csY18" fmla="*/ 50892 h 148447"/>
                  <a:gd name="csX19" fmla="*/ 125244 w 129044"/>
                  <a:gd name="csY19" fmla="*/ 39962 h 148447"/>
                  <a:gd name="csX20" fmla="*/ 125244 w 129044"/>
                  <a:gd name="csY20" fmla="*/ 19645 h 148447"/>
                  <a:gd name="csX21" fmla="*/ 123687 w 129044"/>
                  <a:gd name="csY21" fmla="*/ 9373 h 148447"/>
                  <a:gd name="csX22" fmla="*/ 113186 w 129044"/>
                  <a:gd name="csY22" fmla="*/ 3572 h 148447"/>
                  <a:gd name="csX23" fmla="*/ 102927 w 129044"/>
                  <a:gd name="csY23" fmla="*/ 9373 h 148447"/>
                  <a:gd name="csX24" fmla="*/ 100470 w 129044"/>
                  <a:gd name="csY24" fmla="*/ 8258 h 14844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Lst>
                <a:rect l="l" t="t" r="r" b="b"/>
                <a:pathLst>
                  <a:path w="129044" h="148447">
                    <a:moveTo>
                      <a:pt x="100470" y="8258"/>
                    </a:moveTo>
                    <a:cubicBezTo>
                      <a:pt x="87068" y="2000"/>
                      <a:pt x="78581" y="0"/>
                      <a:pt x="66094" y="0"/>
                    </a:cubicBezTo>
                    <a:cubicBezTo>
                      <a:pt x="28575" y="0"/>
                      <a:pt x="0" y="29689"/>
                      <a:pt x="0" y="68537"/>
                    </a:cubicBezTo>
                    <a:lnTo>
                      <a:pt x="0" y="84611"/>
                    </a:lnTo>
                    <a:cubicBezTo>
                      <a:pt x="0" y="121444"/>
                      <a:pt x="30147" y="148447"/>
                      <a:pt x="71438" y="148447"/>
                    </a:cubicBezTo>
                    <a:cubicBezTo>
                      <a:pt x="88854" y="148447"/>
                      <a:pt x="105385" y="144218"/>
                      <a:pt x="116100" y="136403"/>
                    </a:cubicBezTo>
                    <a:cubicBezTo>
                      <a:pt x="124359" y="130588"/>
                      <a:pt x="129045" y="124116"/>
                      <a:pt x="129045" y="118544"/>
                    </a:cubicBezTo>
                    <a:cubicBezTo>
                      <a:pt x="129045" y="112071"/>
                      <a:pt x="123458" y="106485"/>
                      <a:pt x="116757" y="106485"/>
                    </a:cubicBezTo>
                    <a:cubicBezTo>
                      <a:pt x="113643" y="106485"/>
                      <a:pt x="110728" y="107599"/>
                      <a:pt x="108056" y="110271"/>
                    </a:cubicBezTo>
                    <a:cubicBezTo>
                      <a:pt x="101584" y="117200"/>
                      <a:pt x="101584" y="117200"/>
                      <a:pt x="98898" y="118544"/>
                    </a:cubicBezTo>
                    <a:cubicBezTo>
                      <a:pt x="92869" y="122330"/>
                      <a:pt x="83053" y="124116"/>
                      <a:pt x="72109" y="124116"/>
                    </a:cubicBezTo>
                    <a:cubicBezTo>
                      <a:pt x="42863" y="124116"/>
                      <a:pt x="24346" y="108499"/>
                      <a:pt x="24346" y="84153"/>
                    </a:cubicBezTo>
                    <a:lnTo>
                      <a:pt x="24346" y="68537"/>
                    </a:lnTo>
                    <a:cubicBezTo>
                      <a:pt x="24346" y="43077"/>
                      <a:pt x="42205" y="24332"/>
                      <a:pt x="66980" y="24332"/>
                    </a:cubicBezTo>
                    <a:cubicBezTo>
                      <a:pt x="75238" y="24332"/>
                      <a:pt x="83953" y="26561"/>
                      <a:pt x="90640" y="30132"/>
                    </a:cubicBezTo>
                    <a:cubicBezTo>
                      <a:pt x="97569" y="34147"/>
                      <a:pt x="100013" y="37276"/>
                      <a:pt x="101356" y="43077"/>
                    </a:cubicBezTo>
                    <a:cubicBezTo>
                      <a:pt x="102256" y="48892"/>
                      <a:pt x="102699" y="50678"/>
                      <a:pt x="104713" y="52464"/>
                    </a:cubicBezTo>
                    <a:cubicBezTo>
                      <a:pt x="106713" y="54464"/>
                      <a:pt x="110071" y="56036"/>
                      <a:pt x="113186" y="56036"/>
                    </a:cubicBezTo>
                    <a:cubicBezTo>
                      <a:pt x="116986" y="56036"/>
                      <a:pt x="120787" y="54021"/>
                      <a:pt x="123244" y="50892"/>
                    </a:cubicBezTo>
                    <a:cubicBezTo>
                      <a:pt x="124801" y="48663"/>
                      <a:pt x="125244" y="45977"/>
                      <a:pt x="125244" y="39962"/>
                    </a:cubicBezTo>
                    <a:lnTo>
                      <a:pt x="125244" y="19645"/>
                    </a:lnTo>
                    <a:cubicBezTo>
                      <a:pt x="125244" y="13388"/>
                      <a:pt x="125016" y="11602"/>
                      <a:pt x="123687" y="9373"/>
                    </a:cubicBezTo>
                    <a:cubicBezTo>
                      <a:pt x="121444" y="5572"/>
                      <a:pt x="117429" y="3572"/>
                      <a:pt x="113186" y="3572"/>
                    </a:cubicBezTo>
                    <a:cubicBezTo>
                      <a:pt x="108957" y="3572"/>
                      <a:pt x="106042" y="4915"/>
                      <a:pt x="102927" y="9373"/>
                    </a:cubicBezTo>
                    <a:lnTo>
                      <a:pt x="100470" y="8258"/>
                    </a:lnTo>
                    <a:close/>
                  </a:path>
                </a:pathLst>
              </a:custGeom>
              <a:solidFill>
                <a:srgbClr val="000000"/>
              </a:solidFill>
              <a:ln w="14288" cap="flat">
                <a:noFill/>
                <a:prstDash val="solid"/>
                <a:miter/>
              </a:ln>
            </p:spPr>
            <p:txBody>
              <a:bodyPr/>
              <a:lstStyle/>
              <a:p>
                <a:endParaRPr lang="en-US"/>
              </a:p>
            </p:txBody>
          </p:sp>
          <p:sp>
            <p:nvSpPr>
              <p:cNvPr id="35" name="TextBox 34">
                <a:extLst>
                  <a:ext uri="{FF2B5EF4-FFF2-40B4-BE49-F238E27FC236}">
                    <a16:creationId xmlns:a16="http://schemas.microsoft.com/office/drawing/2014/main" id="{AFDBC32C-A3B2-E976-B136-EE7C9839D26A}"/>
                  </a:ext>
                </a:extLst>
              </p:cNvPr>
              <p:cNvSpPr txBox="1"/>
              <p:nvPr/>
            </p:nvSpPr>
            <p:spPr>
              <a:xfrm>
                <a:off x="8024678" y="3466940"/>
                <a:ext cx="761077" cy="314905"/>
              </a:xfrm>
              <a:prstGeom prst="rect">
                <a:avLst/>
              </a:prstGeom>
              <a:noFill/>
            </p:spPr>
            <p:txBody>
              <a:bodyPr wrap="none" rtlCol="0">
                <a:spAutoFit/>
              </a:bodyPr>
              <a:lstStyle/>
              <a:p>
                <a:pPr algn="l"/>
                <a:r>
                  <a:rPr lang="en-US" sz="1181" spc="0" baseline="0">
                    <a:ln/>
                    <a:solidFill>
                      <a:srgbClr val="000000"/>
                    </a:solidFill>
                    <a:latin typeface="Arial"/>
                    <a:cs typeface="Arial"/>
                    <a:sym typeface="Arial"/>
                    <a:rtl val="0"/>
                  </a:rPr>
                  <a:t>Rental</a:t>
                </a:r>
              </a:p>
            </p:txBody>
          </p:sp>
          <p:sp>
            <p:nvSpPr>
              <p:cNvPr id="36" name="Freeform 35">
                <a:extLst>
                  <a:ext uri="{FF2B5EF4-FFF2-40B4-BE49-F238E27FC236}">
                    <a16:creationId xmlns:a16="http://schemas.microsoft.com/office/drawing/2014/main" id="{E66CEDD1-4220-96E4-1B35-98496C6A05A0}"/>
                  </a:ext>
                </a:extLst>
              </p:cNvPr>
              <p:cNvSpPr/>
              <p:nvPr/>
            </p:nvSpPr>
            <p:spPr>
              <a:xfrm>
                <a:off x="6319465" y="3853086"/>
                <a:ext cx="3800475" cy="14287"/>
              </a:xfrm>
              <a:custGeom>
                <a:avLst/>
                <a:gdLst>
                  <a:gd name="csX0" fmla="*/ 0 w 3800475"/>
                  <a:gd name="csY0" fmla="*/ 0 h 14287"/>
                  <a:gd name="csX1" fmla="*/ 3800475 w 3800475"/>
                  <a:gd name="csY1" fmla="*/ 0 h 14287"/>
                </a:gdLst>
                <a:ahLst/>
                <a:cxnLst>
                  <a:cxn ang="0">
                    <a:pos x="csX0" y="csY0"/>
                  </a:cxn>
                  <a:cxn ang="0">
                    <a:pos x="csX1" y="csY1"/>
                  </a:cxn>
                </a:cxnLst>
                <a:rect l="l" t="t" r="r" b="b"/>
                <a:pathLst>
                  <a:path w="3800475" h="14287">
                    <a:moveTo>
                      <a:pt x="0" y="0"/>
                    </a:moveTo>
                    <a:lnTo>
                      <a:pt x="3800475" y="0"/>
                    </a:lnTo>
                  </a:path>
                </a:pathLst>
              </a:custGeom>
              <a:ln w="7144" cap="flat">
                <a:solidFill>
                  <a:srgbClr val="181818"/>
                </a:solidFill>
                <a:prstDash val="solid"/>
                <a:miter/>
              </a:ln>
            </p:spPr>
            <p:txBody>
              <a:bodyPr/>
              <a:lstStyle/>
              <a:p>
                <a:endParaRPr lang="en-US"/>
              </a:p>
            </p:txBody>
          </p:sp>
          <p:sp>
            <p:nvSpPr>
              <p:cNvPr id="37" name="TextBox 36">
                <a:extLst>
                  <a:ext uri="{FF2B5EF4-FFF2-40B4-BE49-F238E27FC236}">
                    <a16:creationId xmlns:a16="http://schemas.microsoft.com/office/drawing/2014/main" id="{A9AABFCF-88B6-1A2E-A950-03E8778E37E3}"/>
                  </a:ext>
                </a:extLst>
              </p:cNvPr>
              <p:cNvSpPr txBox="1"/>
              <p:nvPr/>
            </p:nvSpPr>
            <p:spPr>
              <a:xfrm>
                <a:off x="6299463" y="3869104"/>
                <a:ext cx="1168910" cy="274049"/>
              </a:xfrm>
              <a:prstGeom prst="rect">
                <a:avLst/>
              </a:prstGeom>
              <a:noFill/>
            </p:spPr>
            <p:txBody>
              <a:bodyPr wrap="none" rtlCol="0">
                <a:spAutoFit/>
              </a:bodyPr>
              <a:lstStyle/>
              <a:p>
                <a:pPr algn="l"/>
                <a:r>
                  <a:rPr lang="en-US" sz="1181" spc="0" baseline="0" dirty="0">
                    <a:ln/>
                    <a:solidFill>
                      <a:srgbClr val="000000"/>
                    </a:solidFill>
                    <a:latin typeface="Arial"/>
                    <a:cs typeface="Arial"/>
                    <a:sym typeface="Arial"/>
                    <a:rtl val="0"/>
                  </a:rPr>
                  <a:t>-renter: Renter</a:t>
                </a:r>
              </a:p>
            </p:txBody>
          </p:sp>
          <p:sp>
            <p:nvSpPr>
              <p:cNvPr id="38" name="TextBox 37">
                <a:extLst>
                  <a:ext uri="{FF2B5EF4-FFF2-40B4-BE49-F238E27FC236}">
                    <a16:creationId xmlns:a16="http://schemas.microsoft.com/office/drawing/2014/main" id="{26838227-1A40-85E2-3083-37D89E416061}"/>
                  </a:ext>
                </a:extLst>
              </p:cNvPr>
              <p:cNvSpPr txBox="1"/>
              <p:nvPr/>
            </p:nvSpPr>
            <p:spPr>
              <a:xfrm>
                <a:off x="6299463" y="4101948"/>
                <a:ext cx="771365" cy="274049"/>
              </a:xfrm>
              <a:prstGeom prst="rect">
                <a:avLst/>
              </a:prstGeom>
              <a:noFill/>
            </p:spPr>
            <p:txBody>
              <a:bodyPr wrap="none" rtlCol="0">
                <a:spAutoFit/>
              </a:bodyPr>
              <a:lstStyle/>
              <a:p>
                <a:pPr algn="l"/>
                <a:r>
                  <a:rPr lang="en-US" sz="1181" spc="0" baseline="0" dirty="0">
                    <a:ln/>
                    <a:solidFill>
                      <a:srgbClr val="000000"/>
                    </a:solidFill>
                    <a:latin typeface="Arial"/>
                    <a:cs typeface="Arial"/>
                    <a:sym typeface="Arial"/>
                    <a:rtl val="0"/>
                  </a:rPr>
                  <a:t>-car: Car</a:t>
                </a:r>
              </a:p>
            </p:txBody>
          </p:sp>
          <p:sp>
            <p:nvSpPr>
              <p:cNvPr id="39" name="Freeform 38">
                <a:extLst>
                  <a:ext uri="{FF2B5EF4-FFF2-40B4-BE49-F238E27FC236}">
                    <a16:creationId xmlns:a16="http://schemas.microsoft.com/office/drawing/2014/main" id="{7D40CAB2-3FF0-C3D1-7D35-F6703C10B991}"/>
                  </a:ext>
                </a:extLst>
              </p:cNvPr>
              <p:cNvSpPr/>
              <p:nvPr/>
            </p:nvSpPr>
            <p:spPr>
              <a:xfrm>
                <a:off x="6319465" y="4433072"/>
                <a:ext cx="3800475" cy="14287"/>
              </a:xfrm>
              <a:custGeom>
                <a:avLst/>
                <a:gdLst>
                  <a:gd name="csX0" fmla="*/ 0 w 3800475"/>
                  <a:gd name="csY0" fmla="*/ 0 h 14287"/>
                  <a:gd name="csX1" fmla="*/ 3800475 w 3800475"/>
                  <a:gd name="csY1" fmla="*/ 0 h 14287"/>
                </a:gdLst>
                <a:ahLst/>
                <a:cxnLst>
                  <a:cxn ang="0">
                    <a:pos x="csX0" y="csY0"/>
                  </a:cxn>
                  <a:cxn ang="0">
                    <a:pos x="csX1" y="csY1"/>
                  </a:cxn>
                </a:cxnLst>
                <a:rect l="l" t="t" r="r" b="b"/>
                <a:pathLst>
                  <a:path w="3800475" h="14287">
                    <a:moveTo>
                      <a:pt x="0" y="0"/>
                    </a:moveTo>
                    <a:lnTo>
                      <a:pt x="3800475" y="0"/>
                    </a:lnTo>
                  </a:path>
                </a:pathLst>
              </a:custGeom>
              <a:ln w="7144" cap="flat">
                <a:solidFill>
                  <a:srgbClr val="181818"/>
                </a:solidFill>
                <a:prstDash val="solid"/>
                <a:miter/>
              </a:ln>
            </p:spPr>
            <p:txBody>
              <a:bodyPr/>
              <a:lstStyle/>
              <a:p>
                <a:endParaRPr lang="en-US"/>
              </a:p>
            </p:txBody>
          </p:sp>
          <p:sp>
            <p:nvSpPr>
              <p:cNvPr id="40" name="TextBox 39">
                <a:extLst>
                  <a:ext uri="{FF2B5EF4-FFF2-40B4-BE49-F238E27FC236}">
                    <a16:creationId xmlns:a16="http://schemas.microsoft.com/office/drawing/2014/main" id="{96E69C76-F346-57E2-8846-E72FF41BF5F8}"/>
                  </a:ext>
                </a:extLst>
              </p:cNvPr>
              <p:cNvSpPr txBox="1"/>
              <p:nvPr/>
            </p:nvSpPr>
            <p:spPr>
              <a:xfrm>
                <a:off x="6299463" y="4449091"/>
                <a:ext cx="2712602" cy="274049"/>
              </a:xfrm>
              <a:prstGeom prst="rect">
                <a:avLst/>
              </a:prstGeom>
              <a:noFill/>
            </p:spPr>
            <p:txBody>
              <a:bodyPr wrap="none" rtlCol="0">
                <a:spAutoFit/>
              </a:bodyPr>
              <a:lstStyle/>
              <a:p>
                <a:pPr algn="l"/>
                <a:r>
                  <a:rPr lang="en-US" sz="1181" spc="0" baseline="0" dirty="0">
                    <a:ln/>
                    <a:solidFill>
                      <a:srgbClr val="000000"/>
                    </a:solidFill>
                    <a:latin typeface="Arial"/>
                    <a:cs typeface="Arial"/>
                    <a:sym typeface="Arial"/>
                    <a:rtl val="0"/>
                  </a:rPr>
                  <a:t>+Rental( </a:t>
                </a:r>
                <a:r>
                  <a:rPr lang="en-US" sz="1181" spc="0" baseline="0" dirty="0" err="1">
                    <a:ln/>
                    <a:solidFill>
                      <a:srgbClr val="000000"/>
                    </a:solidFill>
                    <a:latin typeface="Arial"/>
                    <a:cs typeface="Arial"/>
                    <a:sym typeface="Arial"/>
                    <a:rtl val="0"/>
                  </a:rPr>
                  <a:t>aRenter</a:t>
                </a:r>
                <a:r>
                  <a:rPr lang="en-US" sz="1181" spc="0" baseline="0" dirty="0">
                    <a:ln/>
                    <a:solidFill>
                      <a:srgbClr val="000000"/>
                    </a:solidFill>
                    <a:latin typeface="Arial"/>
                    <a:cs typeface="Arial"/>
                    <a:sym typeface="Arial"/>
                    <a:rtl val="0"/>
                  </a:rPr>
                  <a:t>: Renter</a:t>
                </a:r>
                <a:r>
                  <a:rPr lang="en-US" sz="1181" spc="0" baseline="0" dirty="0">
                    <a:ln/>
                    <a:solidFill>
                      <a:srgbClr val="000000"/>
                    </a:solidFill>
                    <a:latin typeface="Arial"/>
                    <a:cs typeface="Arial"/>
                    <a:sym typeface="Arial"/>
                    <a:rtl val="0"/>
                  </a:rPr>
                  <a:t>, </a:t>
                </a:r>
                <a:r>
                  <a:rPr lang="en-US" sz="1181" spc="0" baseline="0" dirty="0" err="1">
                    <a:ln/>
                    <a:solidFill>
                      <a:srgbClr val="000000"/>
                    </a:solidFill>
                    <a:latin typeface="Arial"/>
                    <a:cs typeface="Arial"/>
                    <a:sym typeface="Arial"/>
                    <a:rtl val="0"/>
                  </a:rPr>
                  <a:t>aCar</a:t>
                </a:r>
                <a:r>
                  <a:rPr lang="en-US" sz="1181" spc="0" baseline="0" dirty="0">
                    <a:ln/>
                    <a:solidFill>
                      <a:srgbClr val="000000"/>
                    </a:solidFill>
                    <a:latin typeface="Arial"/>
                    <a:cs typeface="Arial"/>
                    <a:sym typeface="Arial"/>
                    <a:rtl val="0"/>
                  </a:rPr>
                  <a:t>: Car</a:t>
                </a:r>
                <a:r>
                  <a:rPr lang="en-US" sz="1181" spc="0" baseline="0" dirty="0">
                    <a:ln/>
                    <a:solidFill>
                      <a:srgbClr val="000000"/>
                    </a:solidFill>
                    <a:latin typeface="Arial"/>
                    <a:cs typeface="Arial"/>
                    <a:sym typeface="Arial"/>
                    <a:rtl val="0"/>
                  </a:rPr>
                  <a:t> )</a:t>
                </a:r>
              </a:p>
            </p:txBody>
          </p:sp>
        </p:grpSp>
        <p:grpSp>
          <p:nvGrpSpPr>
            <p:cNvPr id="41" name="Graphic 7">
              <a:extLst>
                <a:ext uri="{FF2B5EF4-FFF2-40B4-BE49-F238E27FC236}">
                  <a16:creationId xmlns:a16="http://schemas.microsoft.com/office/drawing/2014/main" id="{0D8C1C08-B8A2-D4E7-0161-7DCF956526EE}"/>
                </a:ext>
              </a:extLst>
            </p:cNvPr>
            <p:cNvGrpSpPr/>
            <p:nvPr/>
          </p:nvGrpSpPr>
          <p:grpSpPr>
            <a:xfrm>
              <a:off x="5626574" y="2541779"/>
              <a:ext cx="1210911" cy="3094872"/>
              <a:chOff x="5626574" y="2541779"/>
              <a:chExt cx="1210911" cy="3094872"/>
            </a:xfrm>
          </p:grpSpPr>
          <p:sp>
            <p:nvSpPr>
              <p:cNvPr id="42" name="Freeform 41">
                <a:extLst>
                  <a:ext uri="{FF2B5EF4-FFF2-40B4-BE49-F238E27FC236}">
                    <a16:creationId xmlns:a16="http://schemas.microsoft.com/office/drawing/2014/main" id="{C67B9396-6DBF-CBD6-A49A-AC6A6D3E125E}"/>
                  </a:ext>
                </a:extLst>
              </p:cNvPr>
              <p:cNvSpPr/>
              <p:nvPr/>
            </p:nvSpPr>
            <p:spPr>
              <a:xfrm>
                <a:off x="5834691" y="2641448"/>
                <a:ext cx="863294" cy="2995203"/>
              </a:xfrm>
              <a:custGeom>
                <a:avLst/>
                <a:gdLst>
                  <a:gd name="csX0" fmla="*/ 863294 w 863294"/>
                  <a:gd name="csY0" fmla="*/ 0 h 2995203"/>
                  <a:gd name="csX1" fmla="*/ 213311 w 863294"/>
                  <a:gd name="csY1" fmla="*/ 754437 h 2995203"/>
                  <a:gd name="csX2" fmla="*/ 190430 w 863294"/>
                  <a:gd name="csY2" fmla="*/ 2995203 h 2995203"/>
                </a:gdLst>
                <a:ahLst/>
                <a:cxnLst>
                  <a:cxn ang="0">
                    <a:pos x="csX0" y="csY0"/>
                  </a:cxn>
                  <a:cxn ang="0">
                    <a:pos x="csX1" y="csY1"/>
                  </a:cxn>
                  <a:cxn ang="0">
                    <a:pos x="csX2" y="csY2"/>
                  </a:cxn>
                </a:cxnLst>
                <a:rect l="l" t="t" r="r" b="b"/>
                <a:pathLst>
                  <a:path w="863294" h="2995203">
                    <a:moveTo>
                      <a:pt x="863294" y="0"/>
                    </a:moveTo>
                    <a:cubicBezTo>
                      <a:pt x="547229" y="225828"/>
                      <a:pt x="391618" y="409937"/>
                      <a:pt x="213311" y="754437"/>
                    </a:cubicBezTo>
                    <a:cubicBezTo>
                      <a:pt x="-162471" y="1480471"/>
                      <a:pt x="42803" y="2482668"/>
                      <a:pt x="190430" y="2995203"/>
                    </a:cubicBezTo>
                  </a:path>
                </a:pathLst>
              </a:custGeom>
              <a:noFill/>
              <a:ln w="14288" cap="flat">
                <a:solidFill>
                  <a:srgbClr val="181818"/>
                </a:solidFill>
                <a:prstDash val="solid"/>
                <a:miter/>
              </a:ln>
            </p:spPr>
            <p:txBody>
              <a:bodyPr/>
              <a:lstStyle/>
              <a:p>
                <a:endParaRPr lang="en-US"/>
              </a:p>
            </p:txBody>
          </p:sp>
          <p:sp>
            <p:nvSpPr>
              <p:cNvPr id="43" name="Freeform 42">
                <a:extLst>
                  <a:ext uri="{FF2B5EF4-FFF2-40B4-BE49-F238E27FC236}">
                    <a16:creationId xmlns:a16="http://schemas.microsoft.com/office/drawing/2014/main" id="{B976C9E6-E673-5C97-1A09-B99AEC5E5C0A}"/>
                  </a:ext>
                </a:extLst>
              </p:cNvPr>
              <p:cNvSpPr/>
              <p:nvPr/>
            </p:nvSpPr>
            <p:spPr>
              <a:xfrm>
                <a:off x="6697985" y="2541779"/>
                <a:ext cx="139500" cy="99669"/>
              </a:xfrm>
              <a:custGeom>
                <a:avLst/>
                <a:gdLst>
                  <a:gd name="csX0" fmla="*/ 139500 w 139500"/>
                  <a:gd name="csY0" fmla="*/ 0 h 99669"/>
                  <a:gd name="csX1" fmla="*/ 36526 w 139500"/>
                  <a:gd name="csY1" fmla="*/ 3329 h 99669"/>
                  <a:gd name="csX2" fmla="*/ 0 w 139500"/>
                  <a:gd name="csY2" fmla="*/ 99670 h 99669"/>
                  <a:gd name="csX3" fmla="*/ 102974 w 139500"/>
                  <a:gd name="csY3" fmla="*/ 96341 h 99669"/>
                  <a:gd name="csX4" fmla="*/ 139500 w 139500"/>
                  <a:gd name="csY4" fmla="*/ 0 h 99669"/>
                </a:gdLst>
                <a:ahLst/>
                <a:cxnLst>
                  <a:cxn ang="0">
                    <a:pos x="csX0" y="csY0"/>
                  </a:cxn>
                  <a:cxn ang="0">
                    <a:pos x="csX1" y="csY1"/>
                  </a:cxn>
                  <a:cxn ang="0">
                    <a:pos x="csX2" y="csY2"/>
                  </a:cxn>
                  <a:cxn ang="0">
                    <a:pos x="csX3" y="csY3"/>
                  </a:cxn>
                  <a:cxn ang="0">
                    <a:pos x="csX4" y="csY4"/>
                  </a:cxn>
                </a:cxnLst>
                <a:rect l="l" t="t" r="r" b="b"/>
                <a:pathLst>
                  <a:path w="139500" h="99669">
                    <a:moveTo>
                      <a:pt x="139500" y="0"/>
                    </a:moveTo>
                    <a:lnTo>
                      <a:pt x="36526" y="3329"/>
                    </a:lnTo>
                    <a:lnTo>
                      <a:pt x="0" y="99670"/>
                    </a:lnTo>
                    <a:lnTo>
                      <a:pt x="102974" y="96341"/>
                    </a:lnTo>
                    <a:lnTo>
                      <a:pt x="139500" y="0"/>
                    </a:lnTo>
                    <a:close/>
                  </a:path>
                </a:pathLst>
              </a:custGeom>
              <a:noFill/>
              <a:ln w="14288" cap="flat">
                <a:solidFill>
                  <a:srgbClr val="181818"/>
                </a:solidFill>
                <a:prstDash val="solid"/>
                <a:miter/>
              </a:ln>
            </p:spPr>
            <p:txBody>
              <a:bodyPr/>
              <a:lstStyle/>
              <a:p>
                <a:endParaRPr lang="en-US"/>
              </a:p>
            </p:txBody>
          </p:sp>
          <p:sp>
            <p:nvSpPr>
              <p:cNvPr id="44" name="TextBox 43">
                <a:extLst>
                  <a:ext uri="{FF2B5EF4-FFF2-40B4-BE49-F238E27FC236}">
                    <a16:creationId xmlns:a16="http://schemas.microsoft.com/office/drawing/2014/main" id="{38E61144-877C-B802-54A6-D5D8C8D1EBDE}"/>
                  </a:ext>
                </a:extLst>
              </p:cNvPr>
              <p:cNvSpPr txBox="1"/>
              <p:nvPr/>
            </p:nvSpPr>
            <p:spPr>
              <a:xfrm>
                <a:off x="5535134" y="5265183"/>
                <a:ext cx="461667" cy="298943"/>
              </a:xfrm>
              <a:prstGeom prst="rect">
                <a:avLst/>
              </a:prstGeom>
              <a:noFill/>
            </p:spPr>
            <p:txBody>
              <a:bodyPr wrap="none" rtlCol="0">
                <a:spAutoFit/>
              </a:bodyPr>
              <a:lstStyle/>
              <a:p>
                <a:pPr algn="l"/>
                <a:r>
                  <a:rPr lang="en-US" sz="1097" spc="0" baseline="0">
                    <a:ln/>
                    <a:solidFill>
                      <a:srgbClr val="000000"/>
                    </a:solidFill>
                    <a:latin typeface="Arial"/>
                    <a:cs typeface="Arial"/>
                    <a:sym typeface="Arial"/>
                    <a:rtl val="0"/>
                  </a:rPr>
                  <a:t>0..*</a:t>
                </a:r>
              </a:p>
            </p:txBody>
          </p:sp>
        </p:grpSp>
        <p:grpSp>
          <p:nvGrpSpPr>
            <p:cNvPr id="45" name="Graphic 7">
              <a:extLst>
                <a:ext uri="{FF2B5EF4-FFF2-40B4-BE49-F238E27FC236}">
                  <a16:creationId xmlns:a16="http://schemas.microsoft.com/office/drawing/2014/main" id="{582609A6-503C-6F7C-C834-121414B066CD}"/>
                </a:ext>
              </a:extLst>
            </p:cNvPr>
            <p:cNvGrpSpPr/>
            <p:nvPr/>
          </p:nvGrpSpPr>
          <p:grpSpPr>
            <a:xfrm>
              <a:off x="9581915" y="2541779"/>
              <a:ext cx="987697" cy="3094286"/>
              <a:chOff x="9581915" y="2541779"/>
              <a:chExt cx="987697" cy="3094286"/>
            </a:xfrm>
          </p:grpSpPr>
          <p:sp>
            <p:nvSpPr>
              <p:cNvPr id="46" name="Freeform 45">
                <a:extLst>
                  <a:ext uri="{FF2B5EF4-FFF2-40B4-BE49-F238E27FC236}">
                    <a16:creationId xmlns:a16="http://schemas.microsoft.com/office/drawing/2014/main" id="{E3A9B96F-174A-95A2-CEEE-1BDF787012DB}"/>
                  </a:ext>
                </a:extLst>
              </p:cNvPr>
              <p:cNvSpPr/>
              <p:nvPr/>
            </p:nvSpPr>
            <p:spPr>
              <a:xfrm>
                <a:off x="9741421" y="2641448"/>
                <a:ext cx="828191" cy="2994617"/>
              </a:xfrm>
              <a:custGeom>
                <a:avLst/>
                <a:gdLst>
                  <a:gd name="csX0" fmla="*/ 0 w 828191"/>
                  <a:gd name="csY0" fmla="*/ 0 h 2994617"/>
                  <a:gd name="csX1" fmla="*/ 649981 w 828191"/>
                  <a:gd name="csY1" fmla="*/ 754437 h 2994617"/>
                  <a:gd name="csX2" fmla="*/ 649981 w 828191"/>
                  <a:gd name="csY2" fmla="*/ 2140325 h 2994617"/>
                  <a:gd name="csX3" fmla="*/ 128759 w 828191"/>
                  <a:gd name="csY3" fmla="*/ 2994617 h 2994617"/>
                </a:gdLst>
                <a:ahLst/>
                <a:cxnLst>
                  <a:cxn ang="0">
                    <a:pos x="csX0" y="csY0"/>
                  </a:cxn>
                  <a:cxn ang="0">
                    <a:pos x="csX1" y="csY1"/>
                  </a:cxn>
                  <a:cxn ang="0">
                    <a:pos x="csX2" y="csY2"/>
                  </a:cxn>
                  <a:cxn ang="0">
                    <a:pos x="csX3" y="csY3"/>
                  </a:cxn>
                </a:cxnLst>
                <a:rect l="l" t="t" r="r" b="b"/>
                <a:pathLst>
                  <a:path w="828191" h="2994617">
                    <a:moveTo>
                      <a:pt x="0" y="0"/>
                    </a:moveTo>
                    <a:cubicBezTo>
                      <a:pt x="316068" y="225828"/>
                      <a:pt x="471673" y="409937"/>
                      <a:pt x="649981" y="754437"/>
                    </a:cubicBezTo>
                    <a:cubicBezTo>
                      <a:pt x="933117" y="1301463"/>
                      <a:pt x="837290" y="1553537"/>
                      <a:pt x="649981" y="2140325"/>
                    </a:cubicBezTo>
                    <a:cubicBezTo>
                      <a:pt x="547054" y="2462779"/>
                      <a:pt x="320912" y="2772561"/>
                      <a:pt x="128759" y="2994617"/>
                    </a:cubicBezTo>
                  </a:path>
                </a:pathLst>
              </a:custGeom>
              <a:noFill/>
              <a:ln w="14288" cap="flat">
                <a:solidFill>
                  <a:srgbClr val="181818"/>
                </a:solidFill>
                <a:prstDash val="solid"/>
                <a:miter/>
              </a:ln>
            </p:spPr>
            <p:txBody>
              <a:bodyPr/>
              <a:lstStyle/>
              <a:p>
                <a:endParaRPr lang="en-US"/>
              </a:p>
            </p:txBody>
          </p:sp>
          <p:sp>
            <p:nvSpPr>
              <p:cNvPr id="47" name="Freeform 46">
                <a:extLst>
                  <a:ext uri="{FF2B5EF4-FFF2-40B4-BE49-F238E27FC236}">
                    <a16:creationId xmlns:a16="http://schemas.microsoft.com/office/drawing/2014/main" id="{303D7B94-A7AA-3C19-9E38-F7272DCE5FC1}"/>
                  </a:ext>
                </a:extLst>
              </p:cNvPr>
              <p:cNvSpPr/>
              <p:nvPr/>
            </p:nvSpPr>
            <p:spPr>
              <a:xfrm>
                <a:off x="9601918" y="2541779"/>
                <a:ext cx="139502" cy="99669"/>
              </a:xfrm>
              <a:custGeom>
                <a:avLst/>
                <a:gdLst>
                  <a:gd name="csX0" fmla="*/ 0 w 139502"/>
                  <a:gd name="csY0" fmla="*/ 0 h 99669"/>
                  <a:gd name="csX1" fmla="*/ 36519 w 139502"/>
                  <a:gd name="csY1" fmla="*/ 96341 h 99669"/>
                  <a:gd name="csX2" fmla="*/ 139503 w 139502"/>
                  <a:gd name="csY2" fmla="*/ 99670 h 99669"/>
                  <a:gd name="csX3" fmla="*/ 102970 w 139502"/>
                  <a:gd name="csY3" fmla="*/ 3329 h 99669"/>
                  <a:gd name="csX4" fmla="*/ 0 w 139502"/>
                  <a:gd name="csY4" fmla="*/ 0 h 99669"/>
                </a:gdLst>
                <a:ahLst/>
                <a:cxnLst>
                  <a:cxn ang="0">
                    <a:pos x="csX0" y="csY0"/>
                  </a:cxn>
                  <a:cxn ang="0">
                    <a:pos x="csX1" y="csY1"/>
                  </a:cxn>
                  <a:cxn ang="0">
                    <a:pos x="csX2" y="csY2"/>
                  </a:cxn>
                  <a:cxn ang="0">
                    <a:pos x="csX3" y="csY3"/>
                  </a:cxn>
                  <a:cxn ang="0">
                    <a:pos x="csX4" y="csY4"/>
                  </a:cxn>
                </a:cxnLst>
                <a:rect l="l" t="t" r="r" b="b"/>
                <a:pathLst>
                  <a:path w="139502" h="99669">
                    <a:moveTo>
                      <a:pt x="0" y="0"/>
                    </a:moveTo>
                    <a:lnTo>
                      <a:pt x="36519" y="96341"/>
                    </a:lnTo>
                    <a:lnTo>
                      <a:pt x="139503" y="99670"/>
                    </a:lnTo>
                    <a:lnTo>
                      <a:pt x="102970" y="3329"/>
                    </a:lnTo>
                    <a:lnTo>
                      <a:pt x="0" y="0"/>
                    </a:lnTo>
                    <a:close/>
                  </a:path>
                </a:pathLst>
              </a:custGeom>
              <a:noFill/>
              <a:ln w="14288" cap="flat">
                <a:solidFill>
                  <a:srgbClr val="181818"/>
                </a:solidFill>
                <a:prstDash val="solid"/>
                <a:miter/>
              </a:ln>
            </p:spPr>
            <p:txBody>
              <a:bodyPr/>
              <a:lstStyle/>
              <a:p>
                <a:endParaRPr lang="en-US"/>
              </a:p>
            </p:txBody>
          </p:sp>
          <p:sp>
            <p:nvSpPr>
              <p:cNvPr id="48" name="TextBox 47">
                <a:extLst>
                  <a:ext uri="{FF2B5EF4-FFF2-40B4-BE49-F238E27FC236}">
                    <a16:creationId xmlns:a16="http://schemas.microsoft.com/office/drawing/2014/main" id="{FB96AF08-3107-929D-33B6-F61DC433C778}"/>
                  </a:ext>
                </a:extLst>
              </p:cNvPr>
              <p:cNvSpPr txBox="1"/>
              <p:nvPr/>
            </p:nvSpPr>
            <p:spPr>
              <a:xfrm>
                <a:off x="9490475" y="5264440"/>
                <a:ext cx="461667" cy="298943"/>
              </a:xfrm>
              <a:prstGeom prst="rect">
                <a:avLst/>
              </a:prstGeom>
              <a:noFill/>
            </p:spPr>
            <p:txBody>
              <a:bodyPr wrap="none" rtlCol="0">
                <a:spAutoFit/>
              </a:bodyPr>
              <a:lstStyle/>
              <a:p>
                <a:pPr algn="l"/>
                <a:r>
                  <a:rPr lang="en-US" sz="1097" spc="0" baseline="0">
                    <a:ln/>
                    <a:solidFill>
                      <a:srgbClr val="000000"/>
                    </a:solidFill>
                    <a:latin typeface="Arial"/>
                    <a:cs typeface="Arial"/>
                    <a:sym typeface="Arial"/>
                    <a:rtl val="0"/>
                  </a:rPr>
                  <a:t>0..*</a:t>
                </a:r>
              </a:p>
            </p:txBody>
          </p:sp>
        </p:grpSp>
        <p:grpSp>
          <p:nvGrpSpPr>
            <p:cNvPr id="49" name="Graphic 7">
              <a:extLst>
                <a:ext uri="{FF2B5EF4-FFF2-40B4-BE49-F238E27FC236}">
                  <a16:creationId xmlns:a16="http://schemas.microsoft.com/office/drawing/2014/main" id="{79E1DB14-6680-8E21-1CE6-82B65306F6C8}"/>
                </a:ext>
              </a:extLst>
            </p:cNvPr>
            <p:cNvGrpSpPr/>
            <p:nvPr/>
          </p:nvGrpSpPr>
          <p:grpSpPr>
            <a:xfrm>
              <a:off x="7867987" y="2542493"/>
              <a:ext cx="408865" cy="851792"/>
              <a:chOff x="7867987" y="2542493"/>
              <a:chExt cx="408865" cy="851792"/>
            </a:xfrm>
          </p:grpSpPr>
          <p:sp>
            <p:nvSpPr>
              <p:cNvPr id="50" name="Freeform 49">
                <a:extLst>
                  <a:ext uri="{FF2B5EF4-FFF2-40B4-BE49-F238E27FC236}">
                    <a16:creationId xmlns:a16="http://schemas.microsoft.com/office/drawing/2014/main" id="{A8BC5036-354B-A9F0-865B-CED9DEBAA51C}"/>
                  </a:ext>
                </a:extLst>
              </p:cNvPr>
              <p:cNvSpPr/>
              <p:nvPr/>
            </p:nvSpPr>
            <p:spPr>
              <a:xfrm>
                <a:off x="8219703" y="2713943"/>
                <a:ext cx="14287" cy="680342"/>
              </a:xfrm>
              <a:custGeom>
                <a:avLst/>
                <a:gdLst>
                  <a:gd name="csX0" fmla="*/ 0 w 14287"/>
                  <a:gd name="csY0" fmla="*/ 0 h 680342"/>
                  <a:gd name="csX1" fmla="*/ 0 w 14287"/>
                  <a:gd name="csY1" fmla="*/ 680342 h 680342"/>
                </a:gdLst>
                <a:ahLst/>
                <a:cxnLst>
                  <a:cxn ang="0">
                    <a:pos x="csX0" y="csY0"/>
                  </a:cxn>
                  <a:cxn ang="0">
                    <a:pos x="csX1" y="csY1"/>
                  </a:cxn>
                </a:cxnLst>
                <a:rect l="l" t="t" r="r" b="b"/>
                <a:pathLst>
                  <a:path w="14287" h="680342">
                    <a:moveTo>
                      <a:pt x="0" y="0"/>
                    </a:moveTo>
                    <a:cubicBezTo>
                      <a:pt x="0" y="270691"/>
                      <a:pt x="0" y="409866"/>
                      <a:pt x="0" y="680342"/>
                    </a:cubicBezTo>
                  </a:path>
                </a:pathLst>
              </a:custGeom>
              <a:noFill/>
              <a:ln w="14288" cap="flat">
                <a:solidFill>
                  <a:srgbClr val="181818"/>
                </a:solidFill>
                <a:prstDash val="solid"/>
                <a:miter/>
              </a:ln>
            </p:spPr>
            <p:txBody>
              <a:bodyPr/>
              <a:lstStyle/>
              <a:p>
                <a:endParaRPr lang="en-US"/>
              </a:p>
            </p:txBody>
          </p:sp>
          <p:sp>
            <p:nvSpPr>
              <p:cNvPr id="51" name="Freeform 50">
                <a:extLst>
                  <a:ext uri="{FF2B5EF4-FFF2-40B4-BE49-F238E27FC236}">
                    <a16:creationId xmlns:a16="http://schemas.microsoft.com/office/drawing/2014/main" id="{15F97834-00D6-7868-26FB-62CCC5C7110E}"/>
                  </a:ext>
                </a:extLst>
              </p:cNvPr>
              <p:cNvSpPr/>
              <p:nvPr/>
            </p:nvSpPr>
            <p:spPr>
              <a:xfrm>
                <a:off x="8162553" y="2542493"/>
                <a:ext cx="114300" cy="171450"/>
              </a:xfrm>
              <a:custGeom>
                <a:avLst/>
                <a:gdLst>
                  <a:gd name="csX0" fmla="*/ 57150 w 114300"/>
                  <a:gd name="csY0" fmla="*/ 0 h 171450"/>
                  <a:gd name="csX1" fmla="*/ 0 w 114300"/>
                  <a:gd name="csY1" fmla="*/ 85725 h 171450"/>
                  <a:gd name="csX2" fmla="*/ 57150 w 114300"/>
                  <a:gd name="csY2" fmla="*/ 171450 h 171450"/>
                  <a:gd name="csX3" fmla="*/ 114300 w 114300"/>
                  <a:gd name="csY3" fmla="*/ 85725 h 171450"/>
                  <a:gd name="csX4" fmla="*/ 57150 w 114300"/>
                  <a:gd name="csY4" fmla="*/ 0 h 171450"/>
                </a:gdLst>
                <a:ahLst/>
                <a:cxnLst>
                  <a:cxn ang="0">
                    <a:pos x="csX0" y="csY0"/>
                  </a:cxn>
                  <a:cxn ang="0">
                    <a:pos x="csX1" y="csY1"/>
                  </a:cxn>
                  <a:cxn ang="0">
                    <a:pos x="csX2" y="csY2"/>
                  </a:cxn>
                  <a:cxn ang="0">
                    <a:pos x="csX3" y="csY3"/>
                  </a:cxn>
                  <a:cxn ang="0">
                    <a:pos x="csX4" y="csY4"/>
                  </a:cxn>
                </a:cxnLst>
                <a:rect l="l" t="t" r="r" b="b"/>
                <a:pathLst>
                  <a:path w="114300" h="171450">
                    <a:moveTo>
                      <a:pt x="57150" y="0"/>
                    </a:moveTo>
                    <a:lnTo>
                      <a:pt x="0" y="85725"/>
                    </a:lnTo>
                    <a:lnTo>
                      <a:pt x="57150" y="171450"/>
                    </a:lnTo>
                    <a:lnTo>
                      <a:pt x="114300" y="85725"/>
                    </a:lnTo>
                    <a:lnTo>
                      <a:pt x="57150" y="0"/>
                    </a:lnTo>
                    <a:close/>
                  </a:path>
                </a:pathLst>
              </a:custGeom>
              <a:noFill/>
              <a:ln w="14288" cap="flat">
                <a:solidFill>
                  <a:srgbClr val="181818"/>
                </a:solidFill>
                <a:prstDash val="solid"/>
                <a:miter/>
              </a:ln>
            </p:spPr>
            <p:txBody>
              <a:bodyPr/>
              <a:lstStyle/>
              <a:p>
                <a:endParaRPr lang="en-US"/>
              </a:p>
            </p:txBody>
          </p:sp>
          <p:sp>
            <p:nvSpPr>
              <p:cNvPr id="52" name="TextBox 51">
                <a:extLst>
                  <a:ext uri="{FF2B5EF4-FFF2-40B4-BE49-F238E27FC236}">
                    <a16:creationId xmlns:a16="http://schemas.microsoft.com/office/drawing/2014/main" id="{3EFC1A4C-9180-CFDC-C0BD-58DC755DACB5}"/>
                  </a:ext>
                </a:extLst>
              </p:cNvPr>
              <p:cNvSpPr txBox="1"/>
              <p:nvPr/>
            </p:nvSpPr>
            <p:spPr>
              <a:xfrm>
                <a:off x="7776547" y="3026017"/>
                <a:ext cx="461667" cy="298943"/>
              </a:xfrm>
              <a:prstGeom prst="rect">
                <a:avLst/>
              </a:prstGeom>
              <a:noFill/>
            </p:spPr>
            <p:txBody>
              <a:bodyPr wrap="none" rtlCol="0">
                <a:spAutoFit/>
              </a:bodyPr>
              <a:lstStyle/>
              <a:p>
                <a:pPr algn="l"/>
                <a:r>
                  <a:rPr lang="en-US" sz="1097" spc="0" baseline="0">
                    <a:ln/>
                    <a:solidFill>
                      <a:srgbClr val="000000"/>
                    </a:solidFill>
                    <a:latin typeface="Arial"/>
                    <a:cs typeface="Arial"/>
                    <a:sym typeface="Arial"/>
                    <a:rtl val="0"/>
                  </a:rPr>
                  <a:t>0..*</a:t>
                </a:r>
              </a:p>
            </p:txBody>
          </p:sp>
        </p:grpSp>
        <p:grpSp>
          <p:nvGrpSpPr>
            <p:cNvPr id="53" name="Graphic 7">
              <a:extLst>
                <a:ext uri="{FF2B5EF4-FFF2-40B4-BE49-F238E27FC236}">
                  <a16:creationId xmlns:a16="http://schemas.microsoft.com/office/drawing/2014/main" id="{6B210F19-6CB0-65F4-9557-0449CE27E3AC}"/>
                </a:ext>
              </a:extLst>
            </p:cNvPr>
            <p:cNvGrpSpPr/>
            <p:nvPr/>
          </p:nvGrpSpPr>
          <p:grpSpPr>
            <a:xfrm>
              <a:off x="6469471" y="4786802"/>
              <a:ext cx="985336" cy="847391"/>
              <a:chOff x="6469471" y="4786802"/>
              <a:chExt cx="985336" cy="847391"/>
            </a:xfrm>
          </p:grpSpPr>
          <p:sp>
            <p:nvSpPr>
              <p:cNvPr id="54" name="Freeform 53">
                <a:extLst>
                  <a:ext uri="{FF2B5EF4-FFF2-40B4-BE49-F238E27FC236}">
                    <a16:creationId xmlns:a16="http://schemas.microsoft.com/office/drawing/2014/main" id="{1A532681-249C-A545-9C56-46B0129A640B}"/>
                  </a:ext>
                </a:extLst>
              </p:cNvPr>
              <p:cNvSpPr/>
              <p:nvPr/>
            </p:nvSpPr>
            <p:spPr>
              <a:xfrm>
                <a:off x="6506771" y="4901059"/>
                <a:ext cx="820205" cy="733134"/>
              </a:xfrm>
              <a:custGeom>
                <a:avLst/>
                <a:gdLst>
                  <a:gd name="csX0" fmla="*/ 820205 w 820205"/>
                  <a:gd name="csY0" fmla="*/ 0 h 733134"/>
                  <a:gd name="csX1" fmla="*/ 0 w 820205"/>
                  <a:gd name="csY1" fmla="*/ 733134 h 733134"/>
                </a:gdLst>
                <a:ahLst/>
                <a:cxnLst>
                  <a:cxn ang="0">
                    <a:pos x="csX0" y="csY0"/>
                  </a:cxn>
                  <a:cxn ang="0">
                    <a:pos x="csX1" y="csY1"/>
                  </a:cxn>
                </a:cxnLst>
                <a:rect l="l" t="t" r="r" b="b"/>
                <a:pathLst>
                  <a:path w="820205" h="733134">
                    <a:moveTo>
                      <a:pt x="820205" y="0"/>
                    </a:moveTo>
                    <a:cubicBezTo>
                      <a:pt x="496951" y="288936"/>
                      <a:pt x="263091" y="497977"/>
                      <a:pt x="0" y="733134"/>
                    </a:cubicBezTo>
                  </a:path>
                </a:pathLst>
              </a:custGeom>
              <a:noFill/>
              <a:ln w="14288" cap="flat">
                <a:solidFill>
                  <a:srgbClr val="181818"/>
                </a:solidFill>
                <a:prstDash val="solid"/>
                <a:miter/>
              </a:ln>
            </p:spPr>
            <p:txBody>
              <a:bodyPr/>
              <a:lstStyle/>
              <a:p>
                <a:endParaRPr lang="en-US"/>
              </a:p>
            </p:txBody>
          </p:sp>
          <p:sp>
            <p:nvSpPr>
              <p:cNvPr id="55" name="Freeform 54">
                <a:extLst>
                  <a:ext uri="{FF2B5EF4-FFF2-40B4-BE49-F238E27FC236}">
                    <a16:creationId xmlns:a16="http://schemas.microsoft.com/office/drawing/2014/main" id="{07D0F388-25EB-A8ED-7B65-1767BC07C3A9}"/>
                  </a:ext>
                </a:extLst>
              </p:cNvPr>
              <p:cNvSpPr/>
              <p:nvPr/>
            </p:nvSpPr>
            <p:spPr>
              <a:xfrm>
                <a:off x="7326977" y="4786802"/>
                <a:ext cx="127830" cy="114257"/>
              </a:xfrm>
              <a:custGeom>
                <a:avLst/>
                <a:gdLst>
                  <a:gd name="csX0" fmla="*/ 127830 w 127830"/>
                  <a:gd name="csY0" fmla="*/ 0 h 114257"/>
                  <a:gd name="csX1" fmla="*/ 25832 w 127830"/>
                  <a:gd name="csY1" fmla="*/ 14516 h 114257"/>
                  <a:gd name="csX2" fmla="*/ 0 w 127830"/>
                  <a:gd name="csY2" fmla="*/ 114257 h 114257"/>
                  <a:gd name="csX3" fmla="*/ 101999 w 127830"/>
                  <a:gd name="csY3" fmla="*/ 99741 h 114257"/>
                  <a:gd name="csX4" fmla="*/ 127830 w 127830"/>
                  <a:gd name="csY4" fmla="*/ 0 h 114257"/>
                </a:gdLst>
                <a:ahLst/>
                <a:cxnLst>
                  <a:cxn ang="0">
                    <a:pos x="csX0" y="csY0"/>
                  </a:cxn>
                  <a:cxn ang="0">
                    <a:pos x="csX1" y="csY1"/>
                  </a:cxn>
                  <a:cxn ang="0">
                    <a:pos x="csX2" y="csY2"/>
                  </a:cxn>
                  <a:cxn ang="0">
                    <a:pos x="csX3" y="csY3"/>
                  </a:cxn>
                  <a:cxn ang="0">
                    <a:pos x="csX4" y="csY4"/>
                  </a:cxn>
                </a:cxnLst>
                <a:rect l="l" t="t" r="r" b="b"/>
                <a:pathLst>
                  <a:path w="127830" h="114257">
                    <a:moveTo>
                      <a:pt x="127830" y="0"/>
                    </a:moveTo>
                    <a:lnTo>
                      <a:pt x="25832" y="14516"/>
                    </a:lnTo>
                    <a:lnTo>
                      <a:pt x="0" y="114257"/>
                    </a:lnTo>
                    <a:lnTo>
                      <a:pt x="101999" y="99741"/>
                    </a:lnTo>
                    <a:lnTo>
                      <a:pt x="127830" y="0"/>
                    </a:lnTo>
                    <a:close/>
                  </a:path>
                </a:pathLst>
              </a:custGeom>
              <a:noFill/>
              <a:ln w="14288" cap="flat">
                <a:solidFill>
                  <a:srgbClr val="181818"/>
                </a:solidFill>
                <a:prstDash val="solid"/>
                <a:miter/>
              </a:ln>
            </p:spPr>
            <p:txBody>
              <a:bodyPr/>
              <a:lstStyle/>
              <a:p>
                <a:endParaRPr lang="en-US"/>
              </a:p>
            </p:txBody>
          </p:sp>
          <p:sp>
            <p:nvSpPr>
              <p:cNvPr id="56" name="TextBox 55">
                <a:extLst>
                  <a:ext uri="{FF2B5EF4-FFF2-40B4-BE49-F238E27FC236}">
                    <a16:creationId xmlns:a16="http://schemas.microsoft.com/office/drawing/2014/main" id="{EE4832C0-9D5F-07A3-D5EC-33A056F65A0E}"/>
                  </a:ext>
                </a:extLst>
              </p:cNvPr>
              <p:cNvSpPr txBox="1"/>
              <p:nvPr/>
            </p:nvSpPr>
            <p:spPr>
              <a:xfrm>
                <a:off x="6378031" y="5267783"/>
                <a:ext cx="286178" cy="298943"/>
              </a:xfrm>
              <a:prstGeom prst="rect">
                <a:avLst/>
              </a:prstGeom>
              <a:noFill/>
            </p:spPr>
            <p:txBody>
              <a:bodyPr wrap="none" rtlCol="0">
                <a:spAutoFit/>
              </a:bodyPr>
              <a:lstStyle/>
              <a:p>
                <a:pPr algn="l"/>
                <a:r>
                  <a:rPr lang="en-US" sz="1097" spc="0" baseline="0">
                    <a:ln/>
                    <a:solidFill>
                      <a:srgbClr val="000000"/>
                    </a:solidFill>
                    <a:latin typeface="Arial"/>
                    <a:cs typeface="Arial"/>
                    <a:sym typeface="Arial"/>
                    <a:rtl val="0"/>
                  </a:rPr>
                  <a:t>1</a:t>
                </a:r>
              </a:p>
            </p:txBody>
          </p:sp>
        </p:grpSp>
        <p:grpSp>
          <p:nvGrpSpPr>
            <p:cNvPr id="57" name="Graphic 7">
              <a:extLst>
                <a:ext uri="{FF2B5EF4-FFF2-40B4-BE49-F238E27FC236}">
                  <a16:creationId xmlns:a16="http://schemas.microsoft.com/office/drawing/2014/main" id="{4704A62B-E2B5-BAE8-9E86-49DFE612B63D}"/>
                </a:ext>
              </a:extLst>
            </p:cNvPr>
            <p:cNvGrpSpPr/>
            <p:nvPr/>
          </p:nvGrpSpPr>
          <p:grpSpPr>
            <a:xfrm>
              <a:off x="8706935" y="4786802"/>
              <a:ext cx="603875" cy="847391"/>
              <a:chOff x="8706935" y="4786802"/>
              <a:chExt cx="603875" cy="847391"/>
            </a:xfrm>
          </p:grpSpPr>
          <p:sp>
            <p:nvSpPr>
              <p:cNvPr id="58" name="Freeform 57">
                <a:extLst>
                  <a:ext uri="{FF2B5EF4-FFF2-40B4-BE49-F238E27FC236}">
                    <a16:creationId xmlns:a16="http://schemas.microsoft.com/office/drawing/2014/main" id="{B300A2E5-11B9-2F05-A438-7FD61152BCA4}"/>
                  </a:ext>
                </a:extLst>
              </p:cNvPr>
              <p:cNvSpPr/>
              <p:nvPr/>
            </p:nvSpPr>
            <p:spPr>
              <a:xfrm>
                <a:off x="8806433" y="4926434"/>
                <a:ext cx="504377" cy="707759"/>
              </a:xfrm>
              <a:custGeom>
                <a:avLst/>
                <a:gdLst>
                  <a:gd name="csX0" fmla="*/ 0 w 504377"/>
                  <a:gd name="csY0" fmla="*/ 0 h 707759"/>
                  <a:gd name="csX1" fmla="*/ 504378 w 504377"/>
                  <a:gd name="csY1" fmla="*/ 707760 h 707759"/>
                </a:gdLst>
                <a:ahLst/>
                <a:cxnLst>
                  <a:cxn ang="0">
                    <a:pos x="csX0" y="csY0"/>
                  </a:cxn>
                  <a:cxn ang="0">
                    <a:pos x="csX1" y="csY1"/>
                  </a:cxn>
                </a:cxnLst>
                <a:rect l="l" t="t" r="r" b="b"/>
                <a:pathLst>
                  <a:path w="504377" h="707759">
                    <a:moveTo>
                      <a:pt x="0" y="0"/>
                    </a:moveTo>
                    <a:cubicBezTo>
                      <a:pt x="205897" y="288936"/>
                      <a:pt x="336799" y="472602"/>
                      <a:pt x="504378" y="707760"/>
                    </a:cubicBezTo>
                  </a:path>
                </a:pathLst>
              </a:custGeom>
              <a:noFill/>
              <a:ln w="14288" cap="flat">
                <a:solidFill>
                  <a:srgbClr val="181818"/>
                </a:solidFill>
                <a:prstDash val="solid"/>
                <a:miter/>
              </a:ln>
            </p:spPr>
            <p:txBody>
              <a:bodyPr/>
              <a:lstStyle/>
              <a:p>
                <a:endParaRPr lang="en-US"/>
              </a:p>
            </p:txBody>
          </p:sp>
          <p:sp>
            <p:nvSpPr>
              <p:cNvPr id="59" name="Freeform 58">
                <a:extLst>
                  <a:ext uri="{FF2B5EF4-FFF2-40B4-BE49-F238E27FC236}">
                    <a16:creationId xmlns:a16="http://schemas.microsoft.com/office/drawing/2014/main" id="{8DECDE7A-4E22-9010-1EF8-7A3C69290E92}"/>
                  </a:ext>
                </a:extLst>
              </p:cNvPr>
              <p:cNvSpPr/>
              <p:nvPr/>
            </p:nvSpPr>
            <p:spPr>
              <a:xfrm>
                <a:off x="8706935" y="4786802"/>
                <a:ext cx="99497" cy="139631"/>
              </a:xfrm>
              <a:custGeom>
                <a:avLst/>
                <a:gdLst>
                  <a:gd name="csX0" fmla="*/ 0 w 99497"/>
                  <a:gd name="csY0" fmla="*/ 0 h 139631"/>
                  <a:gd name="csX1" fmla="*/ 3215 w 99497"/>
                  <a:gd name="csY1" fmla="*/ 102984 h 139631"/>
                  <a:gd name="csX2" fmla="*/ 99498 w 99497"/>
                  <a:gd name="csY2" fmla="*/ 139632 h 139631"/>
                  <a:gd name="csX3" fmla="*/ 96298 w 99497"/>
                  <a:gd name="csY3" fmla="*/ 36647 h 139631"/>
                  <a:gd name="csX4" fmla="*/ 0 w 99497"/>
                  <a:gd name="csY4" fmla="*/ 0 h 139631"/>
                </a:gdLst>
                <a:ahLst/>
                <a:cxnLst>
                  <a:cxn ang="0">
                    <a:pos x="csX0" y="csY0"/>
                  </a:cxn>
                  <a:cxn ang="0">
                    <a:pos x="csX1" y="csY1"/>
                  </a:cxn>
                  <a:cxn ang="0">
                    <a:pos x="csX2" y="csY2"/>
                  </a:cxn>
                  <a:cxn ang="0">
                    <a:pos x="csX3" y="csY3"/>
                  </a:cxn>
                  <a:cxn ang="0">
                    <a:pos x="csX4" y="csY4"/>
                  </a:cxn>
                </a:cxnLst>
                <a:rect l="l" t="t" r="r" b="b"/>
                <a:pathLst>
                  <a:path w="99497" h="139631">
                    <a:moveTo>
                      <a:pt x="0" y="0"/>
                    </a:moveTo>
                    <a:lnTo>
                      <a:pt x="3215" y="102984"/>
                    </a:lnTo>
                    <a:lnTo>
                      <a:pt x="99498" y="139632"/>
                    </a:lnTo>
                    <a:lnTo>
                      <a:pt x="96298" y="36647"/>
                    </a:lnTo>
                    <a:lnTo>
                      <a:pt x="0" y="0"/>
                    </a:lnTo>
                    <a:close/>
                  </a:path>
                </a:pathLst>
              </a:custGeom>
              <a:noFill/>
              <a:ln w="14288" cap="flat">
                <a:solidFill>
                  <a:srgbClr val="181818"/>
                </a:solidFill>
                <a:prstDash val="solid"/>
                <a:miter/>
              </a:ln>
            </p:spPr>
            <p:txBody>
              <a:bodyPr/>
              <a:lstStyle/>
              <a:p>
                <a:endParaRPr lang="en-US"/>
              </a:p>
            </p:txBody>
          </p:sp>
          <p:sp>
            <p:nvSpPr>
              <p:cNvPr id="60" name="TextBox 59">
                <a:extLst>
                  <a:ext uri="{FF2B5EF4-FFF2-40B4-BE49-F238E27FC236}">
                    <a16:creationId xmlns:a16="http://schemas.microsoft.com/office/drawing/2014/main" id="{9EE0C0E7-27A4-198D-E693-0B850EDA6C4D}"/>
                  </a:ext>
                </a:extLst>
              </p:cNvPr>
              <p:cNvSpPr txBox="1"/>
              <p:nvPr/>
            </p:nvSpPr>
            <p:spPr>
              <a:xfrm>
                <a:off x="9033218" y="5267783"/>
                <a:ext cx="286178" cy="298943"/>
              </a:xfrm>
              <a:prstGeom prst="rect">
                <a:avLst/>
              </a:prstGeom>
              <a:noFill/>
            </p:spPr>
            <p:txBody>
              <a:bodyPr wrap="none" rtlCol="0">
                <a:spAutoFit/>
              </a:bodyPr>
              <a:lstStyle/>
              <a:p>
                <a:pPr algn="l"/>
                <a:r>
                  <a:rPr lang="en-US" sz="1097" spc="0" baseline="0">
                    <a:ln/>
                    <a:solidFill>
                      <a:srgbClr val="000000"/>
                    </a:solidFill>
                    <a:latin typeface="Arial"/>
                    <a:cs typeface="Arial"/>
                    <a:sym typeface="Arial"/>
                    <a:rtl val="0"/>
                  </a:rPr>
                  <a:t>1</a:t>
                </a:r>
              </a:p>
            </p:txBody>
          </p:sp>
        </p:grpSp>
      </p:grpSp>
      <p:sp>
        <p:nvSpPr>
          <p:cNvPr id="3" name="Title 2">
            <a:extLst>
              <a:ext uri="{FF2B5EF4-FFF2-40B4-BE49-F238E27FC236}">
                <a16:creationId xmlns:a16="http://schemas.microsoft.com/office/drawing/2014/main" id="{D5CDDD63-BF75-968A-693C-7E72F2521C80}"/>
              </a:ext>
            </a:extLst>
          </p:cNvPr>
          <p:cNvSpPr>
            <a:spLocks noGrp="1"/>
          </p:cNvSpPr>
          <p:nvPr>
            <p:ph type="title"/>
          </p:nvPr>
        </p:nvSpPr>
        <p:spPr/>
        <p:txBody>
          <a:bodyPr/>
          <a:lstStyle/>
          <a:p>
            <a:r>
              <a:rPr lang="en-US"/>
              <a:t>Exercise</a:t>
            </a:r>
            <a:endParaRPr lang="en-US" dirty="0"/>
          </a:p>
        </p:txBody>
      </p:sp>
      <p:sp>
        <p:nvSpPr>
          <p:cNvPr id="4" name="Content Placeholder 3">
            <a:extLst>
              <a:ext uri="{FF2B5EF4-FFF2-40B4-BE49-F238E27FC236}">
                <a16:creationId xmlns:a16="http://schemas.microsoft.com/office/drawing/2014/main" id="{DFA6E7C3-8DC9-EB99-9117-49BE024882BC}"/>
              </a:ext>
            </a:extLst>
          </p:cNvPr>
          <p:cNvSpPr>
            <a:spLocks noGrp="1"/>
          </p:cNvSpPr>
          <p:nvPr>
            <p:ph idx="1"/>
          </p:nvPr>
        </p:nvSpPr>
        <p:spPr>
          <a:xfrm>
            <a:off x="838200" y="1825625"/>
            <a:ext cx="5220000" cy="4351338"/>
          </a:xfrm>
        </p:spPr>
        <p:txBody>
          <a:bodyPr/>
          <a:lstStyle/>
          <a:p>
            <a:r>
              <a:rPr lang="en-US" dirty="0"/>
              <a:t>Implement the corresponding Kotlin code.</a:t>
            </a:r>
          </a:p>
        </p:txBody>
      </p:sp>
      <p:sp>
        <p:nvSpPr>
          <p:cNvPr id="2" name="Slide Number Placeholder 1">
            <a:extLst>
              <a:ext uri="{FF2B5EF4-FFF2-40B4-BE49-F238E27FC236}">
                <a16:creationId xmlns:a16="http://schemas.microsoft.com/office/drawing/2014/main" id="{B48AAF61-C4A3-82D9-51ED-6648B9117A65}"/>
              </a:ext>
            </a:extLst>
          </p:cNvPr>
          <p:cNvSpPr>
            <a:spLocks noGrp="1"/>
          </p:cNvSpPr>
          <p:nvPr>
            <p:ph type="sldNum" sz="quarter" idx="12"/>
          </p:nvPr>
        </p:nvSpPr>
        <p:spPr/>
        <p:txBody>
          <a:bodyPr/>
          <a:lstStyle/>
          <a:p>
            <a:fld id="{3871AB0C-01C6-F641-856F-96979BC7415E}" type="slidenum">
              <a:rPr lang="en-US" smtClean="0"/>
              <a:pPr/>
              <a:t>37</a:t>
            </a:fld>
            <a:endParaRPr lang="en-US"/>
          </a:p>
        </p:txBody>
      </p:sp>
    </p:spTree>
    <p:extLst>
      <p:ext uri="{BB962C8B-B14F-4D97-AF65-F5344CB8AC3E}">
        <p14:creationId xmlns:p14="http://schemas.microsoft.com/office/powerpoint/2010/main" val="905246179"/>
      </p:ext>
    </p:extLst>
  </p:cSld>
  <p:clrMapOvr>
    <a:masterClrMapping/>
  </p:clrMapOvr>
  <p:extLst>
    <p:ext uri="{6950BFC3-D8DA-4A85-94F7-54DA5524770B}">
      <p188:commentRel xmlns:p188="http://schemas.microsoft.com/office/powerpoint/2018/8/main" r:id="rId2"/>
    </p:ext>
  </p:extLs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30720-259E-23DB-C8DD-27160687913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BFAC1-0B36-1D48-AC49-26F99CC300F4}"/>
              </a:ext>
            </a:extLst>
          </p:cNvPr>
          <p:cNvSpPr>
            <a:spLocks noGrp="1"/>
          </p:cNvSpPr>
          <p:nvPr>
            <p:ph type="title"/>
          </p:nvPr>
        </p:nvSpPr>
        <p:spPr/>
        <p:txBody>
          <a:bodyPr/>
          <a:lstStyle/>
          <a:p>
            <a:r>
              <a:rPr lang="en-US" dirty="0"/>
              <a:t>Generalization</a:t>
            </a:r>
          </a:p>
        </p:txBody>
      </p:sp>
      <p:sp>
        <p:nvSpPr>
          <p:cNvPr id="3" name="Text Placeholder 2">
            <a:extLst>
              <a:ext uri="{FF2B5EF4-FFF2-40B4-BE49-F238E27FC236}">
                <a16:creationId xmlns:a16="http://schemas.microsoft.com/office/drawing/2014/main" id="{DF311511-523B-E80D-C7C2-0CD2053033AD}"/>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3FDBB952-B306-D55E-CB26-88D42B346F92}"/>
              </a:ext>
            </a:extLst>
          </p:cNvPr>
          <p:cNvSpPr>
            <a:spLocks noGrp="1"/>
          </p:cNvSpPr>
          <p:nvPr>
            <p:ph type="sldNum" sz="quarter" idx="12"/>
          </p:nvPr>
        </p:nvSpPr>
        <p:spPr/>
        <p:txBody>
          <a:bodyPr/>
          <a:lstStyle/>
          <a:p>
            <a:fld id="{3693E2C0-D7FA-E54A-B614-B3CE362612AF}" type="slidenum">
              <a:rPr lang="en-US" smtClean="0"/>
              <a:pPr/>
              <a:t>38</a:t>
            </a:fld>
            <a:endParaRPr lang="en-US"/>
          </a:p>
        </p:txBody>
      </p:sp>
    </p:spTree>
    <p:extLst>
      <p:ext uri="{BB962C8B-B14F-4D97-AF65-F5344CB8AC3E}">
        <p14:creationId xmlns:p14="http://schemas.microsoft.com/office/powerpoint/2010/main" val="381241552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2850" name="Rectangle 2"/>
          <p:cNvSpPr>
            <a:spLocks noGrp="1" noChangeArrowheads="1"/>
          </p:cNvSpPr>
          <p:nvPr>
            <p:ph type="title"/>
          </p:nvPr>
        </p:nvSpPr>
        <p:spPr/>
        <p:txBody>
          <a:bodyPr/>
          <a:lstStyle/>
          <a:p>
            <a:r>
              <a:rPr lang="en-US"/>
              <a:t>Generalization</a:t>
            </a:r>
          </a:p>
        </p:txBody>
      </p:sp>
      <p:sp>
        <p:nvSpPr>
          <p:cNvPr id="462851" name="Rectangle 3"/>
          <p:cNvSpPr>
            <a:spLocks noGrp="1" noChangeArrowheads="1"/>
          </p:cNvSpPr>
          <p:nvPr>
            <p:ph idx="1"/>
          </p:nvPr>
        </p:nvSpPr>
        <p:spPr/>
        <p:txBody>
          <a:bodyPr/>
          <a:lstStyle/>
          <a:p>
            <a:r>
              <a:rPr lang="en-US" dirty="0"/>
              <a:t>Look for commonalities:</a:t>
            </a:r>
          </a:p>
          <a:p>
            <a:pPr lvl="1"/>
            <a:r>
              <a:rPr lang="en-US" dirty="0"/>
              <a:t>Common attributes</a:t>
            </a:r>
          </a:p>
          <a:p>
            <a:pPr lvl="2"/>
            <a:r>
              <a:rPr lang="en-US" dirty="0"/>
              <a:t>E.g., all vehicles have…</a:t>
            </a:r>
          </a:p>
          <a:p>
            <a:pPr lvl="1"/>
            <a:r>
              <a:rPr lang="en-US" dirty="0"/>
              <a:t>Common methods (</a:t>
            </a:r>
            <a:r>
              <a:rPr lang="en-US" dirty="0" err="1"/>
              <a:t>behaviour</a:t>
            </a:r>
            <a:r>
              <a:rPr lang="en-US" dirty="0"/>
              <a:t>)</a:t>
            </a:r>
          </a:p>
          <a:p>
            <a:pPr lvl="2"/>
            <a:r>
              <a:rPr lang="en-US" dirty="0"/>
              <a:t>E.g., all vehicles can…</a:t>
            </a:r>
          </a:p>
          <a:p>
            <a:r>
              <a:rPr lang="en-US" dirty="0"/>
              <a:t>Generalize:</a:t>
            </a:r>
          </a:p>
          <a:p>
            <a:pPr lvl="1"/>
            <a:r>
              <a:rPr lang="en-US" dirty="0"/>
              <a:t>Find what is common and factor it out into a more general “bas</a:t>
            </a:r>
            <a:r>
              <a:rPr lang="en-CA" dirty="0"/>
              <a:t>e” </a:t>
            </a:r>
            <a:r>
              <a:rPr lang="en-US" dirty="0"/>
              <a:t>abstraction</a:t>
            </a:r>
          </a:p>
        </p:txBody>
      </p:sp>
      <p:sp>
        <p:nvSpPr>
          <p:cNvPr id="4" name="Slide Number Placeholder 5"/>
          <p:cNvSpPr>
            <a:spLocks noGrp="1"/>
          </p:cNvSpPr>
          <p:nvPr>
            <p:ph type="sldNum" sz="quarter" idx="12"/>
          </p:nvPr>
        </p:nvSpPr>
        <p:spPr/>
        <p:txBody>
          <a:bodyPr/>
          <a:lstStyle/>
          <a:p>
            <a:fld id="{63808B38-5812-C74F-916D-62E790C8358F}" type="slidenum">
              <a:rPr lang="en-US"/>
              <a:pPr/>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p:txBody>
          <a:bodyPr/>
          <a:lstStyle/>
          <a:p>
            <a:r>
              <a:rPr lang="en-US"/>
              <a:t>Generalization</a:t>
            </a:r>
          </a:p>
        </p:txBody>
      </p:sp>
      <p:sp>
        <p:nvSpPr>
          <p:cNvPr id="703491" name="Rectangle 3"/>
          <p:cNvSpPr>
            <a:spLocks noGrp="1" noChangeArrowheads="1"/>
          </p:cNvSpPr>
          <p:nvPr>
            <p:ph idx="1"/>
          </p:nvPr>
        </p:nvSpPr>
        <p:spPr/>
        <p:txBody>
          <a:bodyPr/>
          <a:lstStyle/>
          <a:p>
            <a:r>
              <a:rPr lang="en-US" dirty="0"/>
              <a:t>Implementation inheritance:</a:t>
            </a:r>
          </a:p>
          <a:p>
            <a:pPr lvl="1"/>
            <a:r>
              <a:rPr lang="en-US" dirty="0"/>
              <a:t>Generalize about method signatures, method implementations, and/or attributes</a:t>
            </a:r>
          </a:p>
          <a:p>
            <a:pPr lvl="2"/>
            <a:r>
              <a:rPr lang="en-US" dirty="0"/>
              <a:t>I.e., classes having these in common</a:t>
            </a:r>
          </a:p>
          <a:p>
            <a:pPr lvl="1"/>
            <a:endParaRPr lang="en-US" dirty="0"/>
          </a:p>
        </p:txBody>
      </p:sp>
      <p:sp>
        <p:nvSpPr>
          <p:cNvPr id="4" name="Slide Number Placeholder 5"/>
          <p:cNvSpPr>
            <a:spLocks noGrp="1"/>
          </p:cNvSpPr>
          <p:nvPr>
            <p:ph type="sldNum" sz="quarter" idx="12"/>
          </p:nvPr>
        </p:nvSpPr>
        <p:spPr/>
        <p:txBody>
          <a:bodyPr/>
          <a:lstStyle/>
          <a:p>
            <a:fld id="{3A572CA1-09F2-A24F-B8D3-60A6C4E0B204}" type="slidenum">
              <a:rPr lang="en-US"/>
              <a:pPr/>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0498" name="Rectangle 2"/>
          <p:cNvSpPr>
            <a:spLocks noGrp="1" noChangeArrowheads="1"/>
          </p:cNvSpPr>
          <p:nvPr>
            <p:ph type="title"/>
          </p:nvPr>
        </p:nvSpPr>
        <p:spPr/>
        <p:txBody>
          <a:bodyPr/>
          <a:lstStyle/>
          <a:p>
            <a:r>
              <a:rPr lang="en-US" dirty="0"/>
              <a:t>Implementation Inheritance</a:t>
            </a:r>
          </a:p>
        </p:txBody>
      </p:sp>
      <p:sp>
        <p:nvSpPr>
          <p:cNvPr id="490499" name="Rectangle 3"/>
          <p:cNvSpPr>
            <a:spLocks noGrp="1" noChangeArrowheads="1"/>
          </p:cNvSpPr>
          <p:nvPr>
            <p:ph idx="1"/>
          </p:nvPr>
        </p:nvSpPr>
        <p:spPr/>
        <p:txBody>
          <a:bodyPr>
            <a:normAutofit/>
          </a:bodyPr>
          <a:lstStyle/>
          <a:p>
            <a:r>
              <a:rPr lang="en-US" dirty="0"/>
              <a:t>General part:</a:t>
            </a:r>
          </a:p>
          <a:p>
            <a:pPr lvl="1"/>
            <a:r>
              <a:rPr lang="en-US" dirty="0"/>
              <a:t>A base class (or “superclass”) defines the attributes and methods to be shared</a:t>
            </a:r>
          </a:p>
          <a:p>
            <a:r>
              <a:rPr lang="en-US" dirty="0"/>
              <a:t>Specific part:</a:t>
            </a:r>
          </a:p>
          <a:p>
            <a:pPr lvl="1"/>
            <a:r>
              <a:rPr lang="en-US" dirty="0"/>
              <a:t>A derived class (or “subclass”) is endowed with the attributes and methods of its base class</a:t>
            </a:r>
          </a:p>
          <a:p>
            <a:pPr lvl="1"/>
            <a:r>
              <a:rPr lang="en-US" dirty="0"/>
              <a:t>A subclass may “extend” a superclass by adding attributes and methods, or overriding an existing method</a:t>
            </a:r>
          </a:p>
        </p:txBody>
      </p:sp>
      <p:sp>
        <p:nvSpPr>
          <p:cNvPr id="4" name="Slide Number Placeholder 5"/>
          <p:cNvSpPr>
            <a:spLocks noGrp="1"/>
          </p:cNvSpPr>
          <p:nvPr>
            <p:ph type="sldNum" sz="quarter" idx="12"/>
          </p:nvPr>
        </p:nvSpPr>
        <p:spPr/>
        <p:txBody>
          <a:bodyPr/>
          <a:lstStyle/>
          <a:p>
            <a:fld id="{23AC0632-7FF4-704D-BBCF-7AE1873560A8}" type="slidenum">
              <a:rPr lang="en-US"/>
              <a:pPr/>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r>
              <a:rPr lang="en-US" dirty="0"/>
              <a:t>Kotlin Implementation Inheritance</a:t>
            </a:r>
          </a:p>
        </p:txBody>
      </p:sp>
      <p:sp>
        <p:nvSpPr>
          <p:cNvPr id="484355" name="Rectangle 3"/>
          <p:cNvSpPr>
            <a:spLocks noGrp="1" noChangeArrowheads="1"/>
          </p:cNvSpPr>
          <p:nvPr>
            <p:ph idx="1"/>
          </p:nvPr>
        </p:nvSpPr>
        <p:spPr>
          <a:xfrm>
            <a:off x="838200" y="1686144"/>
            <a:ext cx="7708392" cy="4800600"/>
          </a:xfrm>
        </p:spPr>
        <p:txBody>
          <a:bodyPr>
            <a:normAutofit/>
          </a:bodyPr>
          <a:lstStyle/>
          <a:p>
            <a:r>
              <a:rPr lang="en-US" sz="1800" dirty="0">
                <a:latin typeface="Courier" charset="0"/>
              </a:rPr>
              <a:t>open class Shape { </a:t>
            </a:r>
            <a:r>
              <a:rPr lang="en-US" sz="1800" dirty="0">
                <a:solidFill>
                  <a:srgbClr val="008000"/>
                </a:solidFill>
                <a:latin typeface="Courier" charset="0"/>
              </a:rPr>
              <a:t>// superclass </a:t>
            </a:r>
            <a:br>
              <a:rPr lang="en-US" sz="1800" dirty="0">
                <a:latin typeface="Courier" charset="0"/>
              </a:rPr>
            </a:br>
            <a:r>
              <a:rPr lang="en-US" sz="1800" dirty="0">
                <a:latin typeface="Courier" charset="0"/>
              </a:rPr>
              <a:t>    var </a:t>
            </a:r>
            <a:r>
              <a:rPr lang="en-US" sz="1800" dirty="0" err="1">
                <a:latin typeface="Courier" charset="0"/>
              </a:rPr>
              <a:t>myLocation</a:t>
            </a:r>
            <a:r>
              <a:rPr lang="en-US" sz="1800" dirty="0">
                <a:latin typeface="Courier" charset="0"/>
              </a:rPr>
              <a:t>: Location = Location()</a:t>
            </a:r>
            <a:br>
              <a:rPr lang="en-US" sz="1800" dirty="0">
                <a:latin typeface="Courier" charset="0"/>
              </a:rPr>
            </a:br>
            <a:r>
              <a:rPr lang="en-US" sz="1800" dirty="0">
                <a:latin typeface="Courier" charset="0"/>
              </a:rPr>
              <a:t>        protected set</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r>
              <a:rPr lang="en-US" sz="1800" dirty="0">
                <a:latin typeface="Courier" charset="0"/>
              </a:rPr>
              <a:t>class Circle : Shape() { </a:t>
            </a:r>
            <a:r>
              <a:rPr lang="en-US" sz="1800" dirty="0">
                <a:solidFill>
                  <a:srgbClr val="008000"/>
                </a:solidFill>
                <a:latin typeface="Courier" charset="0"/>
              </a:rPr>
              <a:t>// subclass</a:t>
            </a:r>
            <a:r>
              <a:rPr lang="en-US" sz="1800" dirty="0">
                <a:latin typeface="Courier" charset="0"/>
              </a:rPr>
              <a:t>    </a:t>
            </a:r>
            <a:br>
              <a:rPr lang="en-US" sz="1800" dirty="0">
                <a:latin typeface="Courier" charset="0"/>
              </a:rPr>
            </a:br>
            <a:r>
              <a:rPr lang="en-US" sz="1800" dirty="0">
                <a:latin typeface="Courier" charset="0"/>
              </a:rPr>
              <a:t>    var diameter: Int = 0</a:t>
            </a:r>
            <a:br>
              <a:rPr lang="en-US" sz="1800" dirty="0">
                <a:latin typeface="Courier" charset="0"/>
              </a:rPr>
            </a:br>
            <a:r>
              <a:rPr lang="en-US" sz="1800" dirty="0">
                <a:latin typeface="Courier" charset="0"/>
              </a:rPr>
              <a:t>        private set</a:t>
            </a:r>
            <a:br>
              <a:rPr lang="en-US" sz="1800" dirty="0">
                <a:latin typeface="Courier" charset="0"/>
              </a:rPr>
            </a:br>
            <a:r>
              <a:rPr lang="en-US" sz="1800" dirty="0">
                <a:latin typeface="Courier" charset="0"/>
              </a:rPr>
              <a:t>}</a:t>
            </a:r>
          </a:p>
          <a:p>
            <a:r>
              <a:rPr lang="en-US" sz="1800" dirty="0">
                <a:latin typeface="Courier" charset="0"/>
              </a:rPr>
              <a:t>class Square : Shape() { </a:t>
            </a:r>
            <a:r>
              <a:rPr lang="en-US" sz="1800" dirty="0">
                <a:solidFill>
                  <a:srgbClr val="008000"/>
                </a:solidFill>
                <a:latin typeface="Courier" charset="0"/>
              </a:rPr>
              <a:t>// subclass</a:t>
            </a:r>
            <a:br>
              <a:rPr lang="en-US" sz="1800" dirty="0">
                <a:solidFill>
                  <a:srgbClr val="008000"/>
                </a:solidFill>
                <a:latin typeface="Courier" charset="0"/>
              </a:rPr>
            </a:br>
            <a:r>
              <a:rPr lang="en-US" sz="1800" dirty="0">
                <a:latin typeface="Courier" charset="0"/>
              </a:rPr>
              <a:t>    var side: Int = 0</a:t>
            </a:r>
            <a:br>
              <a:rPr lang="en-US" sz="1800" dirty="0">
                <a:latin typeface="Courier" charset="0"/>
              </a:rPr>
            </a:br>
            <a:r>
              <a:rPr lang="en-US" sz="1800" dirty="0">
                <a:latin typeface="Courier" charset="0"/>
              </a:rPr>
              <a:t>        private set</a:t>
            </a:r>
            <a:br>
              <a:rPr lang="en-US" sz="1800" dirty="0">
                <a:latin typeface="Courier" charset="0"/>
              </a:rPr>
            </a:br>
            <a:r>
              <a:rPr lang="en-US" sz="1800" dirty="0">
                <a:latin typeface="Courier" charset="0"/>
              </a:rPr>
              <a:t>}</a:t>
            </a:r>
            <a:endParaRPr lang="en-US" sz="1800" dirty="0"/>
          </a:p>
        </p:txBody>
      </p:sp>
      <p:sp>
        <p:nvSpPr>
          <p:cNvPr id="4" name="Slide Number Placeholder 5"/>
          <p:cNvSpPr>
            <a:spLocks noGrp="1"/>
          </p:cNvSpPr>
          <p:nvPr>
            <p:ph type="sldNum" sz="quarter" idx="12"/>
          </p:nvPr>
        </p:nvSpPr>
        <p:spPr/>
        <p:txBody>
          <a:bodyPr/>
          <a:lstStyle/>
          <a:p>
            <a:fld id="{1A2BDA87-647D-C346-890B-CB7B25C606AE}" type="slidenum">
              <a:rPr lang="en-US"/>
              <a:pPr/>
              <a:t>42</a:t>
            </a:fld>
            <a:endParaRPr lang="en-US"/>
          </a:p>
        </p:txBody>
      </p:sp>
    </p:spTree>
    <p:extLst>
      <p:ext uri="{BB962C8B-B14F-4D97-AF65-F5344CB8AC3E}">
        <p14:creationId xmlns:p14="http://schemas.microsoft.com/office/powerpoint/2010/main" val="2993159510"/>
      </p:ext>
    </p:extLst>
  </p:cSld>
  <p:clrMapOvr>
    <a:masterClrMapping/>
  </p:clrMapOvr>
  <p:extLst>
    <p:ext uri="{6950BFC3-D8DA-4A85-94F7-54DA5524770B}">
      <p188:commentRel xmlns:p188="http://schemas.microsoft.com/office/powerpoint/2018/8/main" r:id="rId3"/>
    </p:ext>
  </p:extLs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4514" name="Rectangle 2"/>
          <p:cNvSpPr>
            <a:spLocks noGrp="1" noChangeArrowheads="1"/>
          </p:cNvSpPr>
          <p:nvPr>
            <p:ph type="title"/>
          </p:nvPr>
        </p:nvSpPr>
        <p:spPr/>
        <p:txBody>
          <a:bodyPr/>
          <a:lstStyle/>
          <a:p>
            <a:r>
              <a:rPr lang="en-US" dirty="0"/>
              <a:t>UML Inheritance</a:t>
            </a:r>
          </a:p>
        </p:txBody>
      </p:sp>
      <p:sp>
        <p:nvSpPr>
          <p:cNvPr id="704515" name="Rectangle 3"/>
          <p:cNvSpPr>
            <a:spLocks noGrp="1" noChangeArrowheads="1"/>
          </p:cNvSpPr>
          <p:nvPr>
            <p:ph idx="1"/>
          </p:nvPr>
        </p:nvSpPr>
        <p:spPr>
          <a:xfrm>
            <a:off x="838200" y="1825625"/>
            <a:ext cx="5220000" cy="4351338"/>
          </a:xfrm>
        </p:spPr>
        <p:txBody>
          <a:bodyPr>
            <a:normAutofit/>
          </a:bodyPr>
          <a:lstStyle/>
          <a:p>
            <a:r>
              <a:rPr lang="en-US" dirty="0"/>
              <a:t>Implementation inheritance relationship:</a:t>
            </a:r>
          </a:p>
          <a:p>
            <a:pPr lvl="1"/>
            <a:r>
              <a:rPr lang="en-US" dirty="0"/>
              <a:t>“Is-</a:t>
            </a:r>
            <a:r>
              <a:rPr lang="en-CA" dirty="0"/>
              <a:t>a” </a:t>
            </a:r>
            <a:r>
              <a:rPr lang="en-US" dirty="0"/>
              <a:t>relationship between classes</a:t>
            </a:r>
          </a:p>
          <a:p>
            <a:pPr lvl="1"/>
            <a:r>
              <a:rPr lang="en-US" dirty="0"/>
              <a:t>I.e., </a:t>
            </a:r>
            <a:r>
              <a:rPr lang="en-US" dirty="0" err="1"/>
              <a:t>subclas</a:t>
            </a:r>
            <a:r>
              <a:rPr lang="en-CA" dirty="0"/>
              <a:t>s “</a:t>
            </a:r>
            <a:r>
              <a:rPr lang="en-CA" dirty="0" err="1"/>
              <a:t>i</a:t>
            </a:r>
            <a:r>
              <a:rPr lang="en-US" dirty="0"/>
              <a:t>s-</a:t>
            </a:r>
            <a:r>
              <a:rPr lang="en-CA" dirty="0"/>
              <a:t>a” </a:t>
            </a:r>
            <a:r>
              <a:rPr lang="en-US" dirty="0"/>
              <a:t>kind of superclass</a:t>
            </a:r>
          </a:p>
          <a:p>
            <a:pPr lvl="1"/>
            <a:r>
              <a:rPr lang="en-US" dirty="0"/>
              <a:t>I.e., subclass “inherits from” superclass</a:t>
            </a:r>
          </a:p>
          <a:p>
            <a:r>
              <a:rPr lang="en-US" dirty="0"/>
              <a:t>E.g., Circle “is-a” kind of Shape </a:t>
            </a:r>
          </a:p>
        </p:txBody>
      </p:sp>
      <p:sp>
        <p:nvSpPr>
          <p:cNvPr id="6" name="Slide Number Placeholder 5"/>
          <p:cNvSpPr>
            <a:spLocks noGrp="1"/>
          </p:cNvSpPr>
          <p:nvPr>
            <p:ph type="sldNum" sz="quarter" idx="12"/>
          </p:nvPr>
        </p:nvSpPr>
        <p:spPr/>
        <p:txBody>
          <a:bodyPr/>
          <a:lstStyle/>
          <a:p>
            <a:fld id="{B029D17C-C13E-9A4A-AE70-BFD85E8801E0}" type="slidenum">
              <a:rPr lang="en-US"/>
              <a:pPr/>
              <a:t>43</a:t>
            </a:fld>
            <a:endParaRPr lang="en-US"/>
          </a:p>
        </p:txBody>
      </p:sp>
      <p:sp>
        <p:nvSpPr>
          <p:cNvPr id="7" name="Rectangle 6"/>
          <p:cNvSpPr>
            <a:spLocks noChangeArrowheads="1"/>
          </p:cNvSpPr>
          <p:nvPr/>
        </p:nvSpPr>
        <p:spPr bwMode="auto">
          <a:xfrm>
            <a:off x="6312024" y="5013176"/>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Circle</a:t>
            </a:r>
          </a:p>
        </p:txBody>
      </p:sp>
      <p:sp>
        <p:nvSpPr>
          <p:cNvPr id="8" name="Rectangle 7"/>
          <p:cNvSpPr>
            <a:spLocks noChangeArrowheads="1"/>
          </p:cNvSpPr>
          <p:nvPr/>
        </p:nvSpPr>
        <p:spPr bwMode="auto">
          <a:xfrm>
            <a:off x="6312024" y="5622776"/>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9" name="Rectangle 8"/>
          <p:cNvSpPr>
            <a:spLocks noChangeArrowheads="1"/>
          </p:cNvSpPr>
          <p:nvPr/>
        </p:nvSpPr>
        <p:spPr bwMode="auto">
          <a:xfrm>
            <a:off x="6312024" y="5910808"/>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dirty="0"/>
          </a:p>
        </p:txBody>
      </p:sp>
      <p:sp>
        <p:nvSpPr>
          <p:cNvPr id="10" name="Rectangle 9"/>
          <p:cNvSpPr>
            <a:spLocks noChangeArrowheads="1"/>
          </p:cNvSpPr>
          <p:nvPr/>
        </p:nvSpPr>
        <p:spPr bwMode="auto">
          <a:xfrm>
            <a:off x="7536160" y="2332038"/>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Shape</a:t>
            </a:r>
          </a:p>
        </p:txBody>
      </p:sp>
      <p:sp>
        <p:nvSpPr>
          <p:cNvPr id="11" name="Rectangle 10"/>
          <p:cNvSpPr>
            <a:spLocks noChangeArrowheads="1"/>
          </p:cNvSpPr>
          <p:nvPr/>
        </p:nvSpPr>
        <p:spPr bwMode="auto">
          <a:xfrm>
            <a:off x="7536160" y="2941638"/>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2" name="Rectangle 11"/>
          <p:cNvSpPr>
            <a:spLocks noChangeArrowheads="1"/>
          </p:cNvSpPr>
          <p:nvPr/>
        </p:nvSpPr>
        <p:spPr bwMode="auto">
          <a:xfrm>
            <a:off x="7536160" y="3229670"/>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3" name="Straight Connector 2"/>
          <p:cNvCxnSpPr/>
          <p:nvPr/>
        </p:nvCxnSpPr>
        <p:spPr>
          <a:xfrm>
            <a:off x="8436260" y="3805735"/>
            <a:ext cx="0" cy="631329"/>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
        <p:nvSpPr>
          <p:cNvPr id="4" name="Isosceles Triangle 3"/>
          <p:cNvSpPr/>
          <p:nvPr/>
        </p:nvSpPr>
        <p:spPr>
          <a:xfrm>
            <a:off x="8256240" y="3789041"/>
            <a:ext cx="360040" cy="310379"/>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3" name="Rectangle 12"/>
          <p:cNvSpPr>
            <a:spLocks noChangeArrowheads="1"/>
          </p:cNvSpPr>
          <p:nvPr/>
        </p:nvSpPr>
        <p:spPr bwMode="auto">
          <a:xfrm>
            <a:off x="8760296" y="5013176"/>
            <a:ext cx="1752600"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Square</a:t>
            </a:r>
          </a:p>
        </p:txBody>
      </p:sp>
      <p:sp>
        <p:nvSpPr>
          <p:cNvPr id="14" name="Rectangle 13"/>
          <p:cNvSpPr>
            <a:spLocks noChangeArrowheads="1"/>
          </p:cNvSpPr>
          <p:nvPr/>
        </p:nvSpPr>
        <p:spPr bwMode="auto">
          <a:xfrm>
            <a:off x="8760296" y="5622776"/>
            <a:ext cx="1752600" cy="288032"/>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5" name="Rectangle 14"/>
          <p:cNvSpPr>
            <a:spLocks noChangeArrowheads="1"/>
          </p:cNvSpPr>
          <p:nvPr/>
        </p:nvSpPr>
        <p:spPr bwMode="auto">
          <a:xfrm>
            <a:off x="8760296" y="5910808"/>
            <a:ext cx="17526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dirty="0"/>
          </a:p>
        </p:txBody>
      </p:sp>
      <p:cxnSp>
        <p:nvCxnSpPr>
          <p:cNvPr id="17" name="Straight Connector 16"/>
          <p:cNvCxnSpPr/>
          <p:nvPr/>
        </p:nvCxnSpPr>
        <p:spPr>
          <a:xfrm>
            <a:off x="7248128" y="4437113"/>
            <a:ext cx="0" cy="55932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9696400" y="4437113"/>
            <a:ext cx="0" cy="559321"/>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48128" y="4437063"/>
            <a:ext cx="2448272" cy="0"/>
          </a:xfrm>
          <a:prstGeom prst="line">
            <a:avLst/>
          </a:prstGeom>
          <a:ln w="28575" cmpd="sng">
            <a:solidFill>
              <a:schemeClr val="tx1"/>
            </a:solidFill>
          </a:ln>
          <a:effectLst/>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r>
              <a:rPr lang="en-US"/>
              <a:t>Generalization Principles</a:t>
            </a:r>
          </a:p>
        </p:txBody>
      </p:sp>
      <p:sp>
        <p:nvSpPr>
          <p:cNvPr id="479235" name="Rectangle 3"/>
          <p:cNvSpPr>
            <a:spLocks noGrp="1" noChangeArrowheads="1"/>
          </p:cNvSpPr>
          <p:nvPr>
            <p:ph idx="1"/>
          </p:nvPr>
        </p:nvSpPr>
        <p:spPr/>
        <p:txBody>
          <a:bodyPr/>
          <a:lstStyle/>
          <a:p>
            <a:r>
              <a:rPr lang="en-US" dirty="0"/>
              <a:t>Inappropriate inheritance:</a:t>
            </a:r>
          </a:p>
          <a:p>
            <a:pPr lvl="1"/>
            <a:r>
              <a:rPr lang="en-US" dirty="0"/>
              <a:t>Subclass inherits from superclass but “is-a” (is a kind of) relationship </a:t>
            </a:r>
            <a:r>
              <a:rPr lang="en-US" i="1" dirty="0"/>
              <a:t>does not</a:t>
            </a:r>
            <a:r>
              <a:rPr lang="en-US" dirty="0"/>
              <a:t> exist</a:t>
            </a:r>
          </a:p>
          <a:p>
            <a:pPr lvl="1"/>
            <a:r>
              <a:rPr lang="en-US" dirty="0"/>
              <a:t>If “is-</a:t>
            </a:r>
            <a:r>
              <a:rPr lang="en-CA" dirty="0"/>
              <a:t>a” </a:t>
            </a:r>
            <a:r>
              <a:rPr lang="en-US" dirty="0"/>
              <a:t>test fails:</a:t>
            </a:r>
          </a:p>
          <a:p>
            <a:pPr lvl="2"/>
            <a:r>
              <a:rPr lang="en-US" dirty="0"/>
              <a:t>Likely not appropriate</a:t>
            </a:r>
          </a:p>
          <a:p>
            <a:pPr lvl="1"/>
            <a:r>
              <a:rPr lang="en-US" dirty="0"/>
              <a:t>If “is-</a:t>
            </a:r>
            <a:r>
              <a:rPr lang="en-CA" dirty="0"/>
              <a:t>a” t</a:t>
            </a:r>
            <a:r>
              <a:rPr lang="en-US" dirty="0"/>
              <a:t>est succeeds:</a:t>
            </a:r>
          </a:p>
          <a:p>
            <a:pPr lvl="2"/>
            <a:r>
              <a:rPr lang="en-US" i="1" dirty="0"/>
              <a:t>May</a:t>
            </a:r>
            <a:r>
              <a:rPr lang="en-US" dirty="0"/>
              <a:t> or </a:t>
            </a:r>
            <a:r>
              <a:rPr lang="en-US" i="1" dirty="0"/>
              <a:t>may not</a:t>
            </a:r>
            <a:r>
              <a:rPr lang="en-US" dirty="0"/>
              <a:t> be appropriate</a:t>
            </a:r>
          </a:p>
        </p:txBody>
      </p:sp>
      <p:sp>
        <p:nvSpPr>
          <p:cNvPr id="4" name="Slide Number Placeholder 5"/>
          <p:cNvSpPr>
            <a:spLocks noGrp="1"/>
          </p:cNvSpPr>
          <p:nvPr>
            <p:ph type="sldNum" sz="quarter" idx="12"/>
          </p:nvPr>
        </p:nvSpPr>
        <p:spPr/>
        <p:txBody>
          <a:bodyPr/>
          <a:lstStyle/>
          <a:p>
            <a:fld id="{88C056BE-14F6-C046-B672-0AAB46DB939B}" type="slidenum">
              <a:rPr lang="en-US"/>
              <a:pPr/>
              <a:t>44</a:t>
            </a:fld>
            <a:endParaRPr lang="en-US"/>
          </a:p>
        </p:txBody>
      </p:sp>
    </p:spTree>
    <p:extLst>
      <p:ext uri="{BB962C8B-B14F-4D97-AF65-F5344CB8AC3E}">
        <p14:creationId xmlns:p14="http://schemas.microsoft.com/office/powerpoint/2010/main" val="14297546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234" name="Rectangle 2"/>
          <p:cNvSpPr>
            <a:spLocks noGrp="1" noChangeArrowheads="1"/>
          </p:cNvSpPr>
          <p:nvPr>
            <p:ph type="title"/>
          </p:nvPr>
        </p:nvSpPr>
        <p:spPr/>
        <p:txBody>
          <a:bodyPr/>
          <a:lstStyle/>
          <a:p>
            <a:r>
              <a:rPr lang="en-US"/>
              <a:t>Generalization Principles</a:t>
            </a:r>
          </a:p>
        </p:txBody>
      </p:sp>
      <p:sp>
        <p:nvSpPr>
          <p:cNvPr id="4" name="Slide Number Placeholder 5"/>
          <p:cNvSpPr>
            <a:spLocks noGrp="1"/>
          </p:cNvSpPr>
          <p:nvPr>
            <p:ph type="sldNum" sz="quarter" idx="12"/>
          </p:nvPr>
        </p:nvSpPr>
        <p:spPr/>
        <p:txBody>
          <a:bodyPr/>
          <a:lstStyle/>
          <a:p>
            <a:fld id="{88C056BE-14F6-C046-B672-0AAB46DB939B}" type="slidenum">
              <a:rPr lang="en-US"/>
              <a:pPr/>
              <a:t>45</a:t>
            </a:fld>
            <a:endParaRPr lang="en-US"/>
          </a:p>
        </p:txBody>
      </p:sp>
      <p:sp>
        <p:nvSpPr>
          <p:cNvPr id="2" name="Rectangle 3">
            <a:extLst>
              <a:ext uri="{FF2B5EF4-FFF2-40B4-BE49-F238E27FC236}">
                <a16:creationId xmlns:a16="http://schemas.microsoft.com/office/drawing/2014/main" id="{F9D135A1-4C6D-D4EC-799D-FDAE798A06AF}"/>
              </a:ext>
            </a:extLst>
          </p:cNvPr>
          <p:cNvSpPr txBox="1">
            <a:spLocks noChangeArrowheads="1"/>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err="1"/>
              <a:t>Liskov</a:t>
            </a:r>
            <a:r>
              <a:rPr lang="en-US" dirty="0"/>
              <a:t> substitution principle:</a:t>
            </a:r>
          </a:p>
          <a:p>
            <a:pPr lvl="1"/>
            <a:r>
              <a:rPr lang="en-US" dirty="0"/>
              <a:t>An instance of the subclass should be substitutable anywhere a reference to a superclass object is used</a:t>
            </a:r>
          </a:p>
          <a:p>
            <a:pPr lvl="1"/>
            <a:r>
              <a:rPr lang="en-US" dirty="0">
                <a:latin typeface="Courier"/>
                <a:cs typeface="Courier"/>
              </a:rPr>
              <a:t>var s: Shape </a:t>
            </a:r>
            <a:br>
              <a:rPr lang="en-US" dirty="0">
                <a:latin typeface="Courier"/>
                <a:cs typeface="Courier"/>
              </a:rPr>
            </a:br>
            <a:r>
              <a:rPr lang="en-US" dirty="0">
                <a:latin typeface="Courier"/>
                <a:cs typeface="Courier"/>
              </a:rPr>
              <a:t>s = Circle()</a:t>
            </a:r>
            <a:r>
              <a:rPr lang="en-US" dirty="0">
                <a:solidFill>
                  <a:srgbClr val="008000"/>
                </a:solidFill>
                <a:latin typeface="Courier"/>
                <a:cs typeface="Courier"/>
              </a:rPr>
              <a:t> // instance of subclass</a:t>
            </a:r>
            <a:br>
              <a:rPr lang="en-US" dirty="0">
                <a:latin typeface="Courier"/>
                <a:cs typeface="Courier"/>
              </a:rPr>
            </a:br>
            <a:br>
              <a:rPr lang="en-US" dirty="0">
                <a:latin typeface="Courier"/>
                <a:cs typeface="Courier"/>
              </a:rPr>
            </a:br>
            <a:r>
              <a:rPr lang="en-US" dirty="0" err="1">
                <a:latin typeface="Courier"/>
                <a:cs typeface="Courier"/>
              </a:rPr>
              <a:t>val</a:t>
            </a:r>
            <a:r>
              <a:rPr lang="en-US" dirty="0">
                <a:latin typeface="Courier"/>
                <a:cs typeface="Courier"/>
              </a:rPr>
              <a:t> l: Location = </a:t>
            </a:r>
            <a:r>
              <a:rPr lang="en-US" dirty="0" err="1">
                <a:latin typeface="Courier"/>
                <a:cs typeface="Courier"/>
              </a:rPr>
              <a:t>s.myLocation</a:t>
            </a:r>
            <a:r>
              <a:rPr lang="en-US" dirty="0">
                <a:latin typeface="Courier"/>
                <a:cs typeface="Courier"/>
              </a:rPr>
              <a:t> </a:t>
            </a:r>
            <a:r>
              <a:rPr lang="en-US" dirty="0">
                <a:solidFill>
                  <a:srgbClr val="008000"/>
                </a:solidFill>
                <a:latin typeface="Courier"/>
                <a:cs typeface="Courier"/>
              </a:rPr>
              <a:t>// superclass property</a:t>
            </a:r>
          </a:p>
        </p:txBody>
      </p:sp>
    </p:spTree>
    <p:extLst>
      <p:ext uri="{BB962C8B-B14F-4D97-AF65-F5344CB8AC3E}">
        <p14:creationId xmlns:p14="http://schemas.microsoft.com/office/powerpoint/2010/main" val="334406394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62" name="Rectangle 6"/>
          <p:cNvSpPr>
            <a:spLocks noGrp="1" noChangeArrowheads="1"/>
          </p:cNvSpPr>
          <p:nvPr>
            <p:ph type="title"/>
          </p:nvPr>
        </p:nvSpPr>
        <p:spPr/>
        <p:txBody>
          <a:bodyPr/>
          <a:lstStyle/>
          <a:p>
            <a:r>
              <a:rPr lang="en-US" dirty="0"/>
              <a:t>Inheritance Example</a:t>
            </a:r>
          </a:p>
        </p:txBody>
      </p:sp>
      <p:sp>
        <p:nvSpPr>
          <p:cNvPr id="480263" name="Rectangle 7"/>
          <p:cNvSpPr>
            <a:spLocks noGrp="1" noChangeArrowheads="1"/>
          </p:cNvSpPr>
          <p:nvPr>
            <p:ph idx="1"/>
          </p:nvPr>
        </p:nvSpPr>
        <p:spPr/>
        <p:txBody>
          <a:bodyPr/>
          <a:lstStyle/>
          <a:p>
            <a:r>
              <a:rPr lang="en-US" dirty="0"/>
              <a:t>Suppose:</a:t>
            </a:r>
          </a:p>
          <a:p>
            <a:pPr lvl="1"/>
            <a:r>
              <a:rPr lang="en-US" dirty="0"/>
              <a:t>open class Dog</a:t>
            </a:r>
          </a:p>
          <a:p>
            <a:pPr lvl="2"/>
            <a:r>
              <a:rPr lang="en-US" dirty="0"/>
              <a:t>Provides bark(), fetch()</a:t>
            </a:r>
          </a:p>
          <a:p>
            <a:pPr lvl="1"/>
            <a:r>
              <a:rPr lang="en-US" dirty="0"/>
              <a:t>class Cat : Dog()</a:t>
            </a:r>
          </a:p>
          <a:p>
            <a:pPr lvl="2"/>
            <a:r>
              <a:rPr lang="en-US" dirty="0"/>
              <a:t>Overrides bark(), overrides fetch(), and adds purr()</a:t>
            </a:r>
          </a:p>
          <a:p>
            <a:r>
              <a:rPr lang="en-US" dirty="0"/>
              <a:t>Question:</a:t>
            </a:r>
          </a:p>
          <a:p>
            <a:pPr lvl="1"/>
            <a:r>
              <a:rPr lang="en-US" dirty="0"/>
              <a:t>Cat “is </a:t>
            </a:r>
            <a:r>
              <a:rPr lang="en-CA" dirty="0"/>
              <a:t>a” </a:t>
            </a:r>
            <a:r>
              <a:rPr lang="en-US" dirty="0"/>
              <a:t>Dog?</a:t>
            </a:r>
          </a:p>
          <a:p>
            <a:endParaRPr lang="en-US" dirty="0"/>
          </a:p>
        </p:txBody>
      </p:sp>
      <p:sp>
        <p:nvSpPr>
          <p:cNvPr id="4" name="Slide Number Placeholder 5"/>
          <p:cNvSpPr>
            <a:spLocks noGrp="1"/>
          </p:cNvSpPr>
          <p:nvPr>
            <p:ph type="sldNum" sz="quarter" idx="12"/>
          </p:nvPr>
        </p:nvSpPr>
        <p:spPr/>
        <p:txBody>
          <a:bodyPr/>
          <a:lstStyle/>
          <a:p>
            <a:fld id="{67887C2B-9043-8146-8A07-7F69237F065D}" type="slidenum">
              <a:rPr lang="en-US"/>
              <a:pPr/>
              <a:t>46</a:t>
            </a:fld>
            <a:endParaRPr lang="en-US"/>
          </a:p>
        </p:txBody>
      </p:sp>
    </p:spTree>
    <p:extLst>
      <p:ext uri="{BB962C8B-B14F-4D97-AF65-F5344CB8AC3E}">
        <p14:creationId xmlns:p14="http://schemas.microsoft.com/office/powerpoint/2010/main" val="32988548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026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02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4" name="Rectangle 4"/>
          <p:cNvSpPr>
            <a:spLocks noGrp="1" noChangeArrowheads="1"/>
          </p:cNvSpPr>
          <p:nvPr>
            <p:ph type="title"/>
          </p:nvPr>
        </p:nvSpPr>
        <p:spPr/>
        <p:txBody>
          <a:bodyPr/>
          <a:lstStyle/>
          <a:p>
            <a:r>
              <a:rPr lang="en-US"/>
              <a:t>Inheritance Example</a:t>
            </a:r>
          </a:p>
        </p:txBody>
      </p:sp>
      <p:sp>
        <p:nvSpPr>
          <p:cNvPr id="481285" name="Rectangle 5"/>
          <p:cNvSpPr>
            <a:spLocks noGrp="1" noChangeArrowheads="1"/>
          </p:cNvSpPr>
          <p:nvPr>
            <p:ph idx="1"/>
          </p:nvPr>
        </p:nvSpPr>
        <p:spPr/>
        <p:txBody>
          <a:bodyPr/>
          <a:lstStyle/>
          <a:p>
            <a:r>
              <a:rPr lang="en-US" dirty="0"/>
              <a:t>Suppose:</a:t>
            </a:r>
          </a:p>
          <a:p>
            <a:pPr lvl="1"/>
            <a:r>
              <a:rPr lang="en-US" dirty="0"/>
              <a:t>open class Window</a:t>
            </a:r>
          </a:p>
          <a:p>
            <a:pPr lvl="2"/>
            <a:r>
              <a:rPr lang="en-US" dirty="0"/>
              <a:t>Provides show(), move(), resize()</a:t>
            </a:r>
          </a:p>
          <a:p>
            <a:pPr lvl="1"/>
            <a:r>
              <a:rPr lang="en-US" dirty="0"/>
              <a:t>class </a:t>
            </a:r>
            <a:r>
              <a:rPr lang="en-US" dirty="0" err="1"/>
              <a:t>FixedSizeWindow</a:t>
            </a:r>
            <a:r>
              <a:rPr lang="en-US" dirty="0"/>
              <a:t> : Window()</a:t>
            </a:r>
          </a:p>
          <a:p>
            <a:pPr lvl="2"/>
            <a:r>
              <a:rPr lang="en-US" dirty="0"/>
              <a:t>“Hides” resize()</a:t>
            </a:r>
          </a:p>
          <a:p>
            <a:r>
              <a:rPr lang="en-US" dirty="0"/>
              <a:t>Question:</a:t>
            </a:r>
          </a:p>
          <a:p>
            <a:pPr lvl="1"/>
            <a:r>
              <a:rPr lang="en-US" dirty="0" err="1"/>
              <a:t>FixedSizeWindow</a:t>
            </a:r>
            <a:r>
              <a:rPr lang="en-US" dirty="0"/>
              <a:t> “is a” Window?</a:t>
            </a:r>
          </a:p>
        </p:txBody>
      </p:sp>
      <p:sp>
        <p:nvSpPr>
          <p:cNvPr id="4" name="Slide Number Placeholder 5"/>
          <p:cNvSpPr>
            <a:spLocks noGrp="1"/>
          </p:cNvSpPr>
          <p:nvPr>
            <p:ph type="sldNum" sz="quarter" idx="12"/>
          </p:nvPr>
        </p:nvSpPr>
        <p:spPr/>
        <p:txBody>
          <a:bodyPr/>
          <a:lstStyle/>
          <a:p>
            <a:fld id="{5766E621-5433-1A41-94DE-2D5249ECA576}" type="slidenum">
              <a:rPr lang="en-US"/>
              <a:pPr/>
              <a:t>47</a:t>
            </a:fld>
            <a:endParaRPr lang="en-US"/>
          </a:p>
        </p:txBody>
      </p:sp>
    </p:spTree>
    <p:extLst>
      <p:ext uri="{BB962C8B-B14F-4D97-AF65-F5344CB8AC3E}">
        <p14:creationId xmlns:p14="http://schemas.microsoft.com/office/powerpoint/2010/main" val="2351280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1285">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128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10" name="Rectangle 6"/>
          <p:cNvSpPr>
            <a:spLocks noGrp="1" noChangeArrowheads="1"/>
          </p:cNvSpPr>
          <p:nvPr>
            <p:ph type="title"/>
          </p:nvPr>
        </p:nvSpPr>
        <p:spPr/>
        <p:txBody>
          <a:bodyPr/>
          <a:lstStyle/>
          <a:p>
            <a:r>
              <a:rPr lang="en-US"/>
              <a:t>Inheritance Example</a:t>
            </a:r>
          </a:p>
        </p:txBody>
      </p:sp>
      <p:sp>
        <p:nvSpPr>
          <p:cNvPr id="482311" name="Rectangle 7"/>
          <p:cNvSpPr>
            <a:spLocks noGrp="1" noChangeArrowheads="1"/>
          </p:cNvSpPr>
          <p:nvPr>
            <p:ph idx="1"/>
          </p:nvPr>
        </p:nvSpPr>
        <p:spPr/>
        <p:txBody>
          <a:bodyPr/>
          <a:lstStyle/>
          <a:p>
            <a:r>
              <a:rPr lang="en-US" dirty="0"/>
              <a:t>Suppose:</a:t>
            </a:r>
          </a:p>
          <a:p>
            <a:pPr lvl="1"/>
            <a:r>
              <a:rPr lang="en-US" dirty="0"/>
              <a:t>open class </a:t>
            </a:r>
            <a:r>
              <a:rPr lang="en-US" dirty="0" err="1"/>
              <a:t>ArrayList</a:t>
            </a:r>
            <a:endParaRPr lang="en-US" dirty="0"/>
          </a:p>
          <a:p>
            <a:pPr lvl="2"/>
            <a:r>
              <a:rPr lang="en-US" dirty="0"/>
              <a:t>Provides add(), get(), remove(), …</a:t>
            </a:r>
          </a:p>
          <a:p>
            <a:pPr lvl="1"/>
            <a:r>
              <a:rPr lang="en-US" dirty="0"/>
              <a:t>class </a:t>
            </a:r>
            <a:r>
              <a:rPr lang="en-US" dirty="0" err="1"/>
              <a:t>ProjectTeam</a:t>
            </a:r>
            <a:r>
              <a:rPr lang="en-US" dirty="0"/>
              <a:t> : </a:t>
            </a:r>
            <a:r>
              <a:rPr lang="en-US" dirty="0" err="1"/>
              <a:t>ArrayList</a:t>
            </a:r>
            <a:r>
              <a:rPr lang="en-US" dirty="0"/>
              <a:t>() </a:t>
            </a:r>
          </a:p>
          <a:p>
            <a:r>
              <a:rPr lang="en-US" dirty="0"/>
              <a:t>Question:</a:t>
            </a:r>
          </a:p>
          <a:p>
            <a:pPr lvl="1"/>
            <a:r>
              <a:rPr lang="en-US" dirty="0" err="1"/>
              <a:t>ProjectTea</a:t>
            </a:r>
            <a:r>
              <a:rPr lang="en-CA" dirty="0"/>
              <a:t>m “</a:t>
            </a:r>
            <a:r>
              <a:rPr lang="en-CA" dirty="0" err="1"/>
              <a:t>i</a:t>
            </a:r>
            <a:r>
              <a:rPr lang="en-US" dirty="0"/>
              <a:t>s </a:t>
            </a:r>
            <a:r>
              <a:rPr lang="en-CA" dirty="0"/>
              <a:t>a” </a:t>
            </a:r>
            <a:r>
              <a:rPr lang="en-US" dirty="0" err="1"/>
              <a:t>ArrayList</a:t>
            </a:r>
            <a:r>
              <a:rPr lang="en-US" dirty="0"/>
              <a:t>?</a:t>
            </a:r>
          </a:p>
        </p:txBody>
      </p:sp>
      <p:sp>
        <p:nvSpPr>
          <p:cNvPr id="4" name="Slide Number Placeholder 5"/>
          <p:cNvSpPr>
            <a:spLocks noGrp="1"/>
          </p:cNvSpPr>
          <p:nvPr>
            <p:ph type="sldNum" sz="quarter" idx="12"/>
          </p:nvPr>
        </p:nvSpPr>
        <p:spPr/>
        <p:txBody>
          <a:bodyPr/>
          <a:lstStyle/>
          <a:p>
            <a:fld id="{D6FCC648-A8B0-6947-9B91-7B52DB96C073}" type="slidenum">
              <a:rPr lang="en-US"/>
              <a:pPr/>
              <a:t>48</a:t>
            </a:fld>
            <a:endParaRPr lang="en-US"/>
          </a:p>
        </p:txBody>
      </p:sp>
    </p:spTree>
    <p:extLst>
      <p:ext uri="{BB962C8B-B14F-4D97-AF65-F5344CB8AC3E}">
        <p14:creationId xmlns:p14="http://schemas.microsoft.com/office/powerpoint/2010/main" val="446679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231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2311">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p:txBody>
          <a:bodyPr/>
          <a:lstStyle/>
          <a:p>
            <a:r>
              <a:rPr lang="en-US" dirty="0"/>
              <a:t>Inheritance Issue</a:t>
            </a:r>
          </a:p>
        </p:txBody>
      </p:sp>
      <p:sp>
        <p:nvSpPr>
          <p:cNvPr id="483331" name="Rectangle 3"/>
          <p:cNvSpPr>
            <a:spLocks noGrp="1" noChangeArrowheads="1"/>
          </p:cNvSpPr>
          <p:nvPr>
            <p:ph idx="1"/>
          </p:nvPr>
        </p:nvSpPr>
        <p:spPr/>
        <p:txBody>
          <a:bodyPr/>
          <a:lstStyle/>
          <a:p>
            <a:r>
              <a:rPr lang="en-US" dirty="0"/>
              <a:t>Problem:</a:t>
            </a:r>
          </a:p>
          <a:p>
            <a:pPr lvl="1"/>
            <a:r>
              <a:rPr lang="en-US" dirty="0"/>
              <a:t>Superclass method is inherited, but it is not appropriate</a:t>
            </a:r>
          </a:p>
          <a:p>
            <a:pPr lvl="1"/>
            <a:r>
              <a:rPr lang="en-US" dirty="0"/>
              <a:t>What to do?</a:t>
            </a:r>
          </a:p>
        </p:txBody>
      </p:sp>
      <p:sp>
        <p:nvSpPr>
          <p:cNvPr id="4" name="Slide Number Placeholder 5"/>
          <p:cNvSpPr>
            <a:spLocks noGrp="1"/>
          </p:cNvSpPr>
          <p:nvPr>
            <p:ph type="sldNum" sz="quarter" idx="12"/>
          </p:nvPr>
        </p:nvSpPr>
        <p:spPr/>
        <p:txBody>
          <a:bodyPr/>
          <a:lstStyle/>
          <a:p>
            <a:fld id="{2E87DEB3-DFF1-CD45-96D4-9700623111E7}" type="slidenum">
              <a:rPr lang="en-US"/>
              <a:pPr/>
              <a:t>49</a:t>
            </a:fld>
            <a:endParaRPr lang="en-US"/>
          </a:p>
        </p:txBody>
      </p:sp>
    </p:spTree>
    <p:extLst>
      <p:ext uri="{BB962C8B-B14F-4D97-AF65-F5344CB8AC3E}">
        <p14:creationId xmlns:p14="http://schemas.microsoft.com/office/powerpoint/2010/main" val="3048257248"/>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354" name="Rectangle 2"/>
          <p:cNvSpPr>
            <a:spLocks noGrp="1" noChangeArrowheads="1"/>
          </p:cNvSpPr>
          <p:nvPr>
            <p:ph type="title"/>
          </p:nvPr>
        </p:nvSpPr>
        <p:spPr/>
        <p:txBody>
          <a:bodyPr/>
          <a:lstStyle/>
          <a:p>
            <a:r>
              <a:rPr lang="en-US" dirty="0"/>
              <a:t>Inheritance Issue </a:t>
            </a:r>
          </a:p>
        </p:txBody>
      </p:sp>
      <p:sp>
        <p:nvSpPr>
          <p:cNvPr id="484355" name="Rectangle 3"/>
          <p:cNvSpPr>
            <a:spLocks noGrp="1" noChangeArrowheads="1"/>
          </p:cNvSpPr>
          <p:nvPr>
            <p:ph idx="1"/>
          </p:nvPr>
        </p:nvSpPr>
        <p:spPr/>
        <p:txBody>
          <a:bodyPr>
            <a:normAutofit/>
          </a:bodyPr>
          <a:lstStyle/>
          <a:p>
            <a:r>
              <a:rPr lang="en-US" sz="1800" dirty="0">
                <a:latin typeface="Courier" charset="0"/>
              </a:rPr>
              <a:t>open class Rectangle( s: Size )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r>
              <a:rPr lang="en-US" sz="1800" dirty="0">
                <a:latin typeface="Courier" charset="0"/>
              </a:rPr>
              <a:t>    fun </a:t>
            </a:r>
            <a:r>
              <a:rPr lang="en-US" sz="1800" dirty="0" err="1">
                <a:latin typeface="Courier" charset="0"/>
              </a:rPr>
              <a:t>setLocation</a:t>
            </a:r>
            <a:r>
              <a:rPr lang="en-US" sz="1800" dirty="0">
                <a:latin typeface="Courier" charset="0"/>
              </a:rPr>
              <a:t>( p: Location)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open fun </a:t>
            </a:r>
            <a:r>
              <a:rPr lang="en-US" sz="1800" dirty="0" err="1">
                <a:latin typeface="Courier" charset="0"/>
              </a:rPr>
              <a:t>setSize</a:t>
            </a:r>
            <a:r>
              <a:rPr lang="en-US" sz="1800" dirty="0">
                <a:latin typeface="Courier" charset="0"/>
              </a:rPr>
              <a:t>( s: Size )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fun draw()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fun clear()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fun rotate()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r>
              <a:rPr lang="en-US" sz="1800" dirty="0">
                <a:latin typeface="Courier" charset="0"/>
              </a:rPr>
              <a:t>class Square(s: Size ) : Rectangle( s ) {</a:t>
            </a:r>
            <a:br>
              <a:rPr lang="en-US" sz="1800" dirty="0">
                <a:latin typeface="Courier" charset="0"/>
              </a:rPr>
            </a:br>
            <a:r>
              <a:rPr lang="en-US" sz="1800" dirty="0">
                <a:latin typeface="Courier" charset="0"/>
              </a:rPr>
              <a:t>    </a:t>
            </a:r>
            <a:r>
              <a:rPr lang="en-US" sz="1800" dirty="0">
                <a:solidFill>
                  <a:srgbClr val="008000"/>
                </a:solidFill>
                <a:latin typeface="Courier" charset="0"/>
              </a:rPr>
              <a:t>// inherits </a:t>
            </a:r>
            <a:r>
              <a:rPr lang="en-US" sz="1800" dirty="0" err="1">
                <a:solidFill>
                  <a:srgbClr val="008000"/>
                </a:solidFill>
                <a:latin typeface="Courier" charset="0"/>
              </a:rPr>
              <a:t>setSize</a:t>
            </a:r>
            <a:r>
              <a:rPr lang="en-US" sz="1800" dirty="0">
                <a:solidFill>
                  <a:srgbClr val="008000"/>
                </a:solidFill>
                <a:latin typeface="Courier" charset="0"/>
              </a:rPr>
              <a:t>(), but want to “override” it</a:t>
            </a:r>
            <a:br>
              <a:rPr lang="en-US" sz="1800" dirty="0">
                <a:latin typeface="Courier" charset="0"/>
              </a:rPr>
            </a:br>
            <a:r>
              <a:rPr lang="en-US" sz="1800" dirty="0">
                <a:latin typeface="Courier" charset="0"/>
              </a:rPr>
              <a:t>}</a:t>
            </a:r>
            <a:br>
              <a:rPr lang="en-US" sz="1800" dirty="0">
                <a:latin typeface="Courier" charset="0"/>
              </a:rPr>
            </a:br>
            <a:r>
              <a:rPr lang="en-US" sz="1800" dirty="0">
                <a:solidFill>
                  <a:srgbClr val="008000"/>
                </a:solidFill>
                <a:latin typeface="Courier" charset="0"/>
              </a:rPr>
              <a:t>// Square</a:t>
            </a:r>
            <a:r>
              <a:rPr lang="en-CA" sz="1800" dirty="0">
                <a:solidFill>
                  <a:srgbClr val="008000"/>
                </a:solidFill>
                <a:latin typeface="Courier" charset="0"/>
              </a:rPr>
              <a:t> ‘</a:t>
            </a:r>
            <a:r>
              <a:rPr lang="en-CA" sz="1800" dirty="0" err="1">
                <a:solidFill>
                  <a:srgbClr val="008000"/>
                </a:solidFill>
                <a:latin typeface="Courier" charset="0"/>
              </a:rPr>
              <a:t>i</a:t>
            </a:r>
            <a:r>
              <a:rPr lang="en-US" sz="1800" dirty="0">
                <a:solidFill>
                  <a:srgbClr val="008000"/>
                </a:solidFill>
                <a:latin typeface="Courier" charset="0"/>
              </a:rPr>
              <a:t>s </a:t>
            </a:r>
            <a:r>
              <a:rPr lang="en-CA" sz="1800" dirty="0">
                <a:solidFill>
                  <a:srgbClr val="008000"/>
                </a:solidFill>
                <a:latin typeface="Courier" charset="0"/>
              </a:rPr>
              <a:t>a’ </a:t>
            </a:r>
            <a:r>
              <a:rPr lang="en-US" sz="1800" dirty="0">
                <a:solidFill>
                  <a:srgbClr val="008000"/>
                </a:solidFill>
                <a:latin typeface="Courier" charset="0"/>
              </a:rPr>
              <a:t>Rectangle?</a:t>
            </a:r>
            <a:br>
              <a:rPr lang="en-US" sz="1800" dirty="0">
                <a:solidFill>
                  <a:srgbClr val="008000"/>
                </a:solidFill>
                <a:latin typeface="Courier" charset="0"/>
              </a:rPr>
            </a:br>
            <a:r>
              <a:rPr lang="en-US" sz="1800" dirty="0">
                <a:solidFill>
                  <a:srgbClr val="008000"/>
                </a:solidFill>
                <a:latin typeface="Courier" charset="0"/>
              </a:rPr>
              <a:t>// Square specializes Rectangle?</a:t>
            </a:r>
            <a:r>
              <a:rPr lang="en-US" sz="1800" dirty="0"/>
              <a:t> </a:t>
            </a:r>
          </a:p>
        </p:txBody>
      </p:sp>
      <p:sp>
        <p:nvSpPr>
          <p:cNvPr id="4" name="Slide Number Placeholder 5"/>
          <p:cNvSpPr>
            <a:spLocks noGrp="1"/>
          </p:cNvSpPr>
          <p:nvPr>
            <p:ph type="sldNum" sz="quarter" idx="12"/>
          </p:nvPr>
        </p:nvSpPr>
        <p:spPr/>
        <p:txBody>
          <a:bodyPr/>
          <a:lstStyle/>
          <a:p>
            <a:fld id="{1A2BDA87-647D-C346-890B-CB7B25C606AE}" type="slidenum">
              <a:rPr lang="en-US"/>
              <a:pPr/>
              <a:t>50</a:t>
            </a:fld>
            <a:endParaRPr lang="en-US"/>
          </a:p>
        </p:txBody>
      </p:sp>
    </p:spTree>
    <p:extLst>
      <p:ext uri="{BB962C8B-B14F-4D97-AF65-F5344CB8AC3E}">
        <p14:creationId xmlns:p14="http://schemas.microsoft.com/office/powerpoint/2010/main" val="1800117855"/>
      </p:ext>
    </p:extLst>
  </p:cSld>
  <p:clrMapOvr>
    <a:masterClrMapping/>
  </p:clrMapOvr>
  <p:extLst>
    <p:ext uri="{6950BFC3-D8DA-4A85-94F7-54DA5524770B}">
      <p188:commentRel xmlns:p188="http://schemas.microsoft.com/office/powerpoint/2018/8/main" r:id="rId3"/>
    </p:ext>
  </p:extLs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p:txBody>
          <a:bodyPr/>
          <a:lstStyle/>
          <a:p>
            <a:r>
              <a:rPr lang="en-US" dirty="0"/>
              <a:t>Override the Method Approach</a:t>
            </a:r>
          </a:p>
        </p:txBody>
      </p:sp>
      <p:sp>
        <p:nvSpPr>
          <p:cNvPr id="485379" name="Rectangle 3"/>
          <p:cNvSpPr>
            <a:spLocks noGrp="1" noChangeArrowheads="1"/>
          </p:cNvSpPr>
          <p:nvPr>
            <p:ph idx="1"/>
          </p:nvPr>
        </p:nvSpPr>
        <p:spPr/>
        <p:txBody>
          <a:bodyPr/>
          <a:lstStyle/>
          <a:p>
            <a:r>
              <a:rPr lang="en-US" sz="1800" dirty="0">
                <a:latin typeface="Courier" charset="0"/>
              </a:rPr>
              <a:t>class Square(s: Size) : Rectangle( s ) {</a:t>
            </a:r>
            <a:br>
              <a:rPr lang="en-US" sz="1800" dirty="0">
                <a:latin typeface="Courier" charset="0"/>
              </a:rPr>
            </a:br>
            <a:r>
              <a:rPr lang="en-US" sz="1800" dirty="0">
                <a:latin typeface="Courier" charset="0"/>
              </a:rPr>
              <a:t>    override fun </a:t>
            </a:r>
            <a:r>
              <a:rPr lang="en-US" sz="1800" dirty="0" err="1">
                <a:latin typeface="Courier" charset="0"/>
              </a:rPr>
              <a:t>setSize</a:t>
            </a:r>
            <a:r>
              <a:rPr lang="en-US" sz="1800" dirty="0">
                <a:latin typeface="Courier" charset="0"/>
              </a:rPr>
              <a:t>( s: Size ) {</a:t>
            </a:r>
            <a:br>
              <a:rPr lang="en-US" sz="1800" dirty="0">
                <a:latin typeface="Courier" charset="0"/>
              </a:rPr>
            </a:br>
            <a:r>
              <a:rPr lang="en-US" sz="1800" dirty="0">
                <a:latin typeface="Courier" charset="0"/>
              </a:rPr>
              <a:t>        </a:t>
            </a:r>
            <a:r>
              <a:rPr lang="en-US" sz="1800" dirty="0">
                <a:solidFill>
                  <a:srgbClr val="008000"/>
                </a:solidFill>
                <a:latin typeface="Courier" charset="0"/>
              </a:rPr>
              <a:t>// should not implement</a:t>
            </a:r>
            <a:br>
              <a:rPr lang="en-US" sz="1800" dirty="0">
                <a:solidFill>
                  <a:schemeClr val="hlink"/>
                </a:solidFill>
                <a:latin typeface="Courier" charset="0"/>
              </a:rPr>
            </a:br>
            <a:r>
              <a:rPr lang="en-US" sz="1800" dirty="0">
                <a:latin typeface="Courier" charset="0"/>
              </a:rPr>
              <a:t>    }</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a:t>
            </a:r>
            <a:endParaRPr lang="en-US" sz="1800" dirty="0"/>
          </a:p>
        </p:txBody>
      </p:sp>
      <p:sp>
        <p:nvSpPr>
          <p:cNvPr id="4" name="Slide Number Placeholder 5"/>
          <p:cNvSpPr>
            <a:spLocks noGrp="1"/>
          </p:cNvSpPr>
          <p:nvPr>
            <p:ph type="sldNum" sz="quarter" idx="12"/>
          </p:nvPr>
        </p:nvSpPr>
        <p:spPr/>
        <p:txBody>
          <a:bodyPr/>
          <a:lstStyle/>
          <a:p>
            <a:fld id="{4951D197-0420-E647-9CFA-DF7A990FA329}" type="slidenum">
              <a:rPr lang="en-US"/>
              <a:pPr/>
              <a:t>51</a:t>
            </a:fld>
            <a:endParaRPr lang="en-US"/>
          </a:p>
        </p:txBody>
      </p:sp>
    </p:spTree>
    <p:extLst>
      <p:ext uri="{BB962C8B-B14F-4D97-AF65-F5344CB8AC3E}">
        <p14:creationId xmlns:p14="http://schemas.microsoft.com/office/powerpoint/2010/main" val="420802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p:txBody>
          <a:bodyPr/>
          <a:lstStyle/>
          <a:p>
            <a:r>
              <a:rPr lang="en-US" dirty="0"/>
              <a:t>Aggregation Approach</a:t>
            </a:r>
          </a:p>
        </p:txBody>
      </p:sp>
      <p:sp>
        <p:nvSpPr>
          <p:cNvPr id="486403" name="Rectangle 3"/>
          <p:cNvSpPr>
            <a:spLocks noGrp="1" noChangeArrowheads="1"/>
          </p:cNvSpPr>
          <p:nvPr>
            <p:ph idx="1"/>
          </p:nvPr>
        </p:nvSpPr>
        <p:spPr/>
        <p:txBody>
          <a:bodyPr>
            <a:normAutofit/>
          </a:bodyPr>
          <a:lstStyle/>
          <a:p>
            <a:pPr>
              <a:lnSpc>
                <a:spcPct val="90000"/>
              </a:lnSpc>
            </a:pPr>
            <a:r>
              <a:rPr lang="en-US" sz="1800" dirty="0">
                <a:latin typeface="Courier" charset="0"/>
              </a:rPr>
              <a:t>class Square ( side: Int ) {</a:t>
            </a:r>
            <a:br>
              <a:rPr lang="en-US" sz="1800" dirty="0">
                <a:latin typeface="Courier" charset="0"/>
              </a:rPr>
            </a:br>
            <a:r>
              <a:rPr lang="en-US" sz="1800" dirty="0">
                <a:latin typeface="Courier" charset="0"/>
              </a:rPr>
              <a:t>    private var </a:t>
            </a:r>
            <a:r>
              <a:rPr lang="en-US" sz="1800" dirty="0" err="1">
                <a:latin typeface="Courier" charset="0"/>
              </a:rPr>
              <a:t>rect</a:t>
            </a:r>
            <a:r>
              <a:rPr lang="en-US" sz="1800" dirty="0">
                <a:latin typeface="Courier" charset="0"/>
              </a:rPr>
              <a:t>: Rectangle = Rectangle( Size( side, side ) )</a:t>
            </a:r>
            <a:br>
              <a:rPr lang="en-US" sz="1800" dirty="0">
                <a:latin typeface="Courier" charset="0"/>
              </a:rPr>
            </a:br>
            <a:r>
              <a:rPr lang="en-US" sz="1800" dirty="0">
                <a:latin typeface="Courier" charset="0"/>
              </a:rPr>
              <a:t>    </a:t>
            </a:r>
            <a:r>
              <a:rPr lang="en-US" sz="1800" dirty="0">
                <a:solidFill>
                  <a:srgbClr val="008000"/>
                </a:solidFill>
                <a:latin typeface="Courier" charset="0"/>
              </a:rPr>
              <a:t>// Square</a:t>
            </a:r>
            <a:r>
              <a:rPr lang="en-CA" sz="1800" dirty="0">
                <a:solidFill>
                  <a:srgbClr val="008000"/>
                </a:solidFill>
                <a:latin typeface="Courier" charset="0"/>
              </a:rPr>
              <a:t> ‘h</a:t>
            </a:r>
            <a:r>
              <a:rPr lang="en-US" sz="1800" dirty="0">
                <a:solidFill>
                  <a:srgbClr val="008000"/>
                </a:solidFill>
                <a:latin typeface="Courier" charset="0"/>
              </a:rPr>
              <a:t>as </a:t>
            </a:r>
            <a:r>
              <a:rPr lang="en-CA" sz="1800" dirty="0">
                <a:solidFill>
                  <a:srgbClr val="008000"/>
                </a:solidFill>
                <a:latin typeface="Courier" charset="0"/>
              </a:rPr>
              <a:t>a’ </a:t>
            </a:r>
            <a:r>
              <a:rPr lang="en-US" sz="1800" dirty="0">
                <a:solidFill>
                  <a:srgbClr val="008000"/>
                </a:solidFill>
                <a:latin typeface="Courier" charset="0"/>
              </a:rPr>
              <a:t>Rectangle,</a:t>
            </a:r>
            <a:br>
              <a:rPr lang="en-US" sz="1800" dirty="0">
                <a:solidFill>
                  <a:srgbClr val="008000"/>
                </a:solidFill>
                <a:latin typeface="Courier" charset="0"/>
              </a:rPr>
            </a:br>
            <a:r>
              <a:rPr lang="en-US" sz="1800" dirty="0">
                <a:solidFill>
                  <a:srgbClr val="008000"/>
                </a:solidFill>
                <a:latin typeface="Courier" charset="0"/>
              </a:rPr>
              <a:t>    // not ‘is a’ Rectangle</a:t>
            </a:r>
            <a:br>
              <a:rPr lang="en-US" sz="1800" dirty="0">
                <a:solidFill>
                  <a:schemeClr val="hlink"/>
                </a:solidFill>
                <a:latin typeface="Courier" charset="0"/>
              </a:rPr>
            </a:br>
            <a:br>
              <a:rPr lang="en-US" sz="1800" dirty="0">
                <a:latin typeface="Courier" charset="0"/>
              </a:rPr>
            </a:br>
            <a:r>
              <a:rPr lang="en-US" sz="1800" dirty="0">
                <a:latin typeface="Courier" charset="0"/>
              </a:rPr>
              <a:t>    fun </a:t>
            </a:r>
            <a:r>
              <a:rPr lang="en-US" sz="1800" dirty="0" err="1">
                <a:latin typeface="Courier" charset="0"/>
              </a:rPr>
              <a:t>setSide</a:t>
            </a:r>
            <a:r>
              <a:rPr lang="en-US" sz="1800" dirty="0">
                <a:latin typeface="Courier" charset="0"/>
              </a:rPr>
              <a:t>( </a:t>
            </a:r>
            <a:r>
              <a:rPr lang="en-US" sz="1800" dirty="0" err="1">
                <a:latin typeface="Courier" charset="0"/>
              </a:rPr>
              <a:t>newSide</a:t>
            </a:r>
            <a:r>
              <a:rPr lang="en-US" sz="1800" dirty="0">
                <a:latin typeface="Courier" charset="0"/>
              </a:rPr>
              <a:t>: Int ) {</a:t>
            </a:r>
            <a:br>
              <a:rPr lang="en-US" sz="1800" dirty="0">
                <a:latin typeface="Courier" charset="0"/>
              </a:rPr>
            </a:br>
            <a:r>
              <a:rPr lang="en-US" sz="1800" dirty="0">
                <a:latin typeface="Courier" charset="0"/>
              </a:rPr>
              <a:t>        </a:t>
            </a:r>
            <a:r>
              <a:rPr lang="en-US" sz="1800" dirty="0" err="1">
                <a:latin typeface="Courier" charset="0"/>
              </a:rPr>
              <a:t>rect.setSize</a:t>
            </a:r>
            <a:r>
              <a:rPr lang="en-US" sz="1800" dirty="0">
                <a:latin typeface="Courier" charset="0"/>
              </a:rPr>
              <a:t>(</a:t>
            </a:r>
            <a:br>
              <a:rPr lang="en-US" sz="1800" dirty="0">
                <a:latin typeface="Courier" charset="0"/>
              </a:rPr>
            </a:br>
            <a:r>
              <a:rPr lang="en-US" sz="1800" dirty="0">
                <a:latin typeface="Courier" charset="0"/>
              </a:rPr>
              <a:t>            Size( </a:t>
            </a:r>
            <a:r>
              <a:rPr lang="en-US" sz="1800" dirty="0" err="1">
                <a:latin typeface="Courier" charset="0"/>
              </a:rPr>
              <a:t>newSide</a:t>
            </a:r>
            <a:r>
              <a:rPr lang="en-US" sz="1800" dirty="0">
                <a:latin typeface="Courier" charset="0"/>
              </a:rPr>
              <a:t>, </a:t>
            </a:r>
            <a:r>
              <a:rPr lang="en-US" sz="1800" dirty="0" err="1">
                <a:latin typeface="Courier" charset="0"/>
              </a:rPr>
              <a:t>newSide</a:t>
            </a:r>
            <a:r>
              <a:rPr lang="en-US" sz="1800" dirty="0">
                <a:latin typeface="Courier" charset="0"/>
              </a:rPr>
              <a:t> ) )</a:t>
            </a:r>
            <a:br>
              <a:rPr lang="en-US" sz="1800" dirty="0">
                <a:latin typeface="Courier" charset="0"/>
              </a:rPr>
            </a:br>
            <a:r>
              <a:rPr lang="en-US" sz="1800" dirty="0">
                <a:latin typeface="Courier" charset="0"/>
              </a:rPr>
              <a:t>    }</a:t>
            </a:r>
            <a:br>
              <a:rPr lang="en-US" sz="1800" dirty="0">
                <a:latin typeface="Courier" charset="0"/>
              </a:rPr>
            </a:br>
            <a:br>
              <a:rPr lang="en-US" sz="1800" dirty="0">
                <a:latin typeface="Courier" charset="0"/>
              </a:rPr>
            </a:br>
            <a:r>
              <a:rPr lang="en-US" sz="1800" dirty="0">
                <a:latin typeface="Courier" charset="0"/>
              </a:rPr>
              <a:t>    fun draw() {</a:t>
            </a:r>
            <a:br>
              <a:rPr lang="en-US" sz="1800" dirty="0">
                <a:latin typeface="Courier" charset="0"/>
              </a:rPr>
            </a:br>
            <a:r>
              <a:rPr lang="en-US" sz="1800" dirty="0">
                <a:latin typeface="Courier" charset="0"/>
              </a:rPr>
              <a:t>        </a:t>
            </a:r>
            <a:r>
              <a:rPr lang="en-US" sz="1800" dirty="0" err="1">
                <a:latin typeface="Courier" charset="0"/>
              </a:rPr>
              <a:t>rect.draw</a:t>
            </a:r>
            <a:r>
              <a:rPr lang="en-US" sz="1800" dirty="0">
                <a:latin typeface="Courier" charset="0"/>
              </a:rPr>
              <a:t>()</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r>
              <a:rPr lang="en-US" sz="1800" dirty="0">
                <a:latin typeface="Courier" charset="0"/>
              </a:rPr>
              <a:t>}</a:t>
            </a:r>
            <a:r>
              <a:rPr lang="en-US" dirty="0"/>
              <a:t> </a:t>
            </a:r>
          </a:p>
        </p:txBody>
      </p:sp>
      <p:sp>
        <p:nvSpPr>
          <p:cNvPr id="4" name="Slide Number Placeholder 5"/>
          <p:cNvSpPr>
            <a:spLocks noGrp="1"/>
          </p:cNvSpPr>
          <p:nvPr>
            <p:ph type="sldNum" sz="quarter" idx="12"/>
          </p:nvPr>
        </p:nvSpPr>
        <p:spPr/>
        <p:txBody>
          <a:bodyPr/>
          <a:lstStyle/>
          <a:p>
            <a:fld id="{FFEA4D3C-0CB4-B84C-BB8A-CFA760123324}" type="slidenum">
              <a:rPr lang="en-US"/>
              <a:pPr/>
              <a:t>52</a:t>
            </a:fld>
            <a:endParaRPr lang="en-US"/>
          </a:p>
        </p:txBody>
      </p:sp>
    </p:spTree>
    <p:extLst>
      <p:ext uri="{BB962C8B-B14F-4D97-AF65-F5344CB8AC3E}">
        <p14:creationId xmlns:p14="http://schemas.microsoft.com/office/powerpoint/2010/main" val="37402062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7430" name="Rectangle 6"/>
          <p:cNvSpPr>
            <a:spLocks noGrp="1" noChangeArrowheads="1"/>
          </p:cNvSpPr>
          <p:nvPr>
            <p:ph type="title"/>
          </p:nvPr>
        </p:nvSpPr>
        <p:spPr/>
        <p:txBody>
          <a:bodyPr/>
          <a:lstStyle/>
          <a:p>
            <a:r>
              <a:rPr lang="en-US" dirty="0"/>
              <a:t>Restructuring Approach</a:t>
            </a:r>
          </a:p>
        </p:txBody>
      </p:sp>
      <p:sp>
        <p:nvSpPr>
          <p:cNvPr id="487431" name="Rectangle 7"/>
          <p:cNvSpPr>
            <a:spLocks noGrp="1" noChangeArrowheads="1"/>
          </p:cNvSpPr>
          <p:nvPr>
            <p:ph idx="1"/>
          </p:nvPr>
        </p:nvSpPr>
        <p:spPr/>
        <p:txBody>
          <a:bodyPr>
            <a:normAutofit fontScale="92500" lnSpcReduction="10000"/>
          </a:bodyPr>
          <a:lstStyle/>
          <a:p>
            <a:r>
              <a:rPr lang="en-US" sz="1800" dirty="0">
                <a:latin typeface="Courier" charset="0"/>
              </a:rPr>
              <a:t>open class Quadrilateral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r>
              <a:rPr lang="en-US" sz="1800" dirty="0">
                <a:latin typeface="Courier" charset="0"/>
              </a:rPr>
              <a:t>    fun </a:t>
            </a:r>
            <a:r>
              <a:rPr lang="en-US" sz="1800" dirty="0" err="1">
                <a:latin typeface="Courier" charset="0"/>
              </a:rPr>
              <a:t>setLocation</a:t>
            </a:r>
            <a:r>
              <a:rPr lang="en-US" sz="1800" dirty="0">
                <a:latin typeface="Courier" charset="0"/>
              </a:rPr>
              <a:t>( p: Location )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fun draw()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fun clear()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fun rotate()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pPr>
              <a:lnSpc>
                <a:spcPct val="90000"/>
              </a:lnSpc>
            </a:pPr>
            <a:r>
              <a:rPr lang="en-US" sz="1800" dirty="0">
                <a:latin typeface="Courier" charset="0"/>
              </a:rPr>
              <a:t>class Rectangle ( s: Size ) : Quadrilateral()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solidFill>
                  <a:srgbClr val="3366FF"/>
                </a:solidFill>
                <a:latin typeface="Courier" charset="0"/>
              </a:rPr>
            </a:br>
            <a:r>
              <a:rPr lang="en-US" sz="1800" dirty="0">
                <a:solidFill>
                  <a:srgbClr val="3366FF"/>
                </a:solidFill>
                <a:latin typeface="Courier" charset="0"/>
              </a:rPr>
              <a:t>    </a:t>
            </a:r>
            <a:r>
              <a:rPr lang="en-US" sz="1800" dirty="0">
                <a:latin typeface="Courier" charset="0"/>
              </a:rPr>
              <a:t>fun </a:t>
            </a:r>
            <a:r>
              <a:rPr lang="en-US" sz="1800" dirty="0" err="1">
                <a:latin typeface="Courier" charset="0"/>
              </a:rPr>
              <a:t>setSize</a:t>
            </a:r>
            <a:r>
              <a:rPr lang="en-US" sz="1800" dirty="0">
                <a:latin typeface="Courier" charset="0"/>
              </a:rPr>
              <a:t>( s: Size )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pPr>
              <a:lnSpc>
                <a:spcPct val="90000"/>
              </a:lnSpc>
            </a:pPr>
            <a:r>
              <a:rPr lang="en-US" sz="1800" dirty="0">
                <a:latin typeface="Courier" charset="0"/>
              </a:rPr>
              <a:t>class Square ( side: Int ) : Quadrilateral()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r>
              <a:rPr lang="en-US" sz="1800" dirty="0">
                <a:latin typeface="Courier" charset="0"/>
              </a:rPr>
              <a:t>    fun </a:t>
            </a:r>
            <a:r>
              <a:rPr lang="en-US" sz="1800" dirty="0" err="1">
                <a:latin typeface="Courier" charset="0"/>
              </a:rPr>
              <a:t>setSide</a:t>
            </a:r>
            <a:r>
              <a:rPr lang="en-US" sz="1800" dirty="0">
                <a:latin typeface="Courier" charset="0"/>
              </a:rPr>
              <a:t>( side: Int )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p:txBody>
      </p:sp>
      <p:sp>
        <p:nvSpPr>
          <p:cNvPr id="4" name="Slide Number Placeholder 5"/>
          <p:cNvSpPr>
            <a:spLocks noGrp="1"/>
          </p:cNvSpPr>
          <p:nvPr>
            <p:ph type="sldNum" sz="quarter" idx="12"/>
          </p:nvPr>
        </p:nvSpPr>
        <p:spPr/>
        <p:txBody>
          <a:bodyPr/>
          <a:lstStyle/>
          <a:p>
            <a:fld id="{CFB563FB-3497-B341-BC04-57C2F79A4132}" type="slidenum">
              <a:rPr lang="en-US"/>
              <a:pPr/>
              <a:t>53</a:t>
            </a:fld>
            <a:endParaRPr lang="en-US"/>
          </a:p>
        </p:txBody>
      </p:sp>
    </p:spTree>
    <p:extLst>
      <p:ext uri="{BB962C8B-B14F-4D97-AF65-F5344CB8AC3E}">
        <p14:creationId xmlns:p14="http://schemas.microsoft.com/office/powerpoint/2010/main" val="56709267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2786" name="Rectangle 2"/>
          <p:cNvSpPr>
            <a:spLocks noGrp="1" noChangeArrowheads="1"/>
          </p:cNvSpPr>
          <p:nvPr>
            <p:ph type="title"/>
          </p:nvPr>
        </p:nvSpPr>
        <p:spPr/>
        <p:txBody>
          <a:bodyPr/>
          <a:lstStyle/>
          <a:p>
            <a:r>
              <a:rPr lang="en-US" dirty="0"/>
              <a:t>Inheritance</a:t>
            </a:r>
          </a:p>
        </p:txBody>
      </p:sp>
      <p:sp>
        <p:nvSpPr>
          <p:cNvPr id="502787" name="Rectangle 3"/>
          <p:cNvSpPr>
            <a:spLocks noGrp="1" noChangeArrowheads="1"/>
          </p:cNvSpPr>
          <p:nvPr>
            <p:ph idx="1"/>
          </p:nvPr>
        </p:nvSpPr>
        <p:spPr>
          <a:xfrm>
            <a:off x="838200" y="1669443"/>
            <a:ext cx="7708392" cy="4800600"/>
          </a:xfrm>
        </p:spPr>
        <p:txBody>
          <a:bodyPr>
            <a:normAutofit/>
          </a:bodyPr>
          <a:lstStyle/>
          <a:p>
            <a:r>
              <a:rPr lang="en-US" dirty="0"/>
              <a:t>Kotlin abstract class:</a:t>
            </a:r>
          </a:p>
          <a:p>
            <a:pPr lvl="1"/>
            <a:r>
              <a:rPr lang="en-US" dirty="0"/>
              <a:t>Declares one or more abstract methods</a:t>
            </a:r>
          </a:p>
          <a:p>
            <a:pPr lvl="1"/>
            <a:r>
              <a:rPr lang="en-US" dirty="0"/>
              <a:t>Cannot be instantiated; must be subclassed and have abstract methods overridden</a:t>
            </a:r>
          </a:p>
          <a:p>
            <a:pPr lvl="1"/>
            <a:endParaRPr lang="en-US" sz="2300" dirty="0"/>
          </a:p>
          <a:p>
            <a:r>
              <a:rPr lang="en-US" sz="1800" dirty="0">
                <a:latin typeface="Courier" charset="0"/>
              </a:rPr>
              <a:t>abstract class Shape {</a:t>
            </a:r>
            <a:br>
              <a:rPr lang="en-US" sz="1800" dirty="0">
                <a:latin typeface="Courier" charset="0"/>
              </a:rPr>
            </a:br>
            <a:r>
              <a:rPr lang="en-US" sz="1800" dirty="0">
                <a:latin typeface="Courier" charset="0"/>
              </a:rPr>
              <a:t>    abstract fun area(): Double</a:t>
            </a:r>
            <a:br>
              <a:rPr lang="en-US" sz="1800" dirty="0">
                <a:latin typeface="Courier" charset="0"/>
              </a:rPr>
            </a:br>
            <a:r>
              <a:rPr lang="en-US" sz="1800" dirty="0">
                <a:latin typeface="Courier" charset="0"/>
              </a:rPr>
              <a:t>    abstract fun perimeter(): Double</a:t>
            </a:r>
            <a:br>
              <a:rPr lang="en-US" sz="1800" dirty="0">
                <a:latin typeface="Courier" charset="0"/>
              </a:rPr>
            </a:br>
            <a:r>
              <a:rPr lang="en-US" sz="1800" dirty="0">
                <a:latin typeface="Courier" charset="0"/>
              </a:rPr>
              <a:t>    </a:t>
            </a:r>
            <a:r>
              <a:rPr lang="en-US" sz="1800" dirty="0">
                <a:solidFill>
                  <a:srgbClr val="008000"/>
                </a:solidFill>
                <a:latin typeface="Courier" charset="0"/>
              </a:rPr>
              <a:t>// there may be other instance data and methods</a:t>
            </a:r>
            <a:r>
              <a:rPr lang="en-US" sz="1800" dirty="0">
                <a:latin typeface="Courier" charset="0"/>
              </a:rPr>
              <a:t>   </a:t>
            </a:r>
            <a:br>
              <a:rPr lang="en-US" sz="1800" dirty="0">
                <a:latin typeface="Courier" charset="0"/>
              </a:rPr>
            </a:br>
            <a:r>
              <a:rPr lang="en-US" sz="1800" dirty="0">
                <a:latin typeface="Courier" charset="0"/>
              </a:rPr>
              <a:t>}</a:t>
            </a:r>
          </a:p>
          <a:p>
            <a:r>
              <a:rPr lang="en-US" sz="1800" dirty="0">
                <a:latin typeface="Courier" charset="0"/>
              </a:rPr>
              <a:t>class Circle : Shape {</a:t>
            </a:r>
            <a:br>
              <a:rPr lang="en-US" sz="1800" dirty="0">
                <a:latin typeface="Courier" charset="0"/>
              </a:rPr>
            </a:br>
            <a:r>
              <a:rPr lang="en-US" sz="1800" dirty="0">
                <a:latin typeface="Courier" charset="0"/>
              </a:rPr>
              <a:t>    public area(): Double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    public perimeter(): Double { </a:t>
            </a:r>
            <a:r>
              <a:rPr lang="en-US" sz="1800" dirty="0">
                <a:solidFill>
                  <a:srgbClr val="3366FF"/>
                </a:solidFill>
                <a:latin typeface="Courier" charset="0"/>
              </a:rPr>
              <a:t>…</a:t>
            </a:r>
            <a:r>
              <a:rPr lang="en-US" sz="1800" dirty="0">
                <a:latin typeface="Courier" charset="0"/>
              </a:rPr>
              <a:t> }    </a:t>
            </a:r>
            <a:br>
              <a:rPr lang="en-US" sz="1800" dirty="0">
                <a:latin typeface="Courier" charset="0"/>
              </a:rPr>
            </a:br>
            <a:r>
              <a:rPr lang="en-US" sz="1800" dirty="0">
                <a:latin typeface="Courier" charset="0"/>
              </a:rPr>
              <a:t>}</a:t>
            </a:r>
            <a:endParaRPr lang="en-US" sz="2700" dirty="0"/>
          </a:p>
        </p:txBody>
      </p:sp>
      <p:sp>
        <p:nvSpPr>
          <p:cNvPr id="4" name="Slide Number Placeholder 5"/>
          <p:cNvSpPr>
            <a:spLocks noGrp="1"/>
          </p:cNvSpPr>
          <p:nvPr>
            <p:ph type="sldNum" sz="quarter" idx="12"/>
          </p:nvPr>
        </p:nvSpPr>
        <p:spPr/>
        <p:txBody>
          <a:bodyPr/>
          <a:lstStyle/>
          <a:p>
            <a:fld id="{0F4508AC-6B37-D745-BED1-A59EE35B7A69}" type="slidenum">
              <a:rPr lang="en-US"/>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3490" name="Rectangle 2"/>
          <p:cNvSpPr>
            <a:spLocks noGrp="1" noChangeArrowheads="1"/>
          </p:cNvSpPr>
          <p:nvPr>
            <p:ph type="title"/>
          </p:nvPr>
        </p:nvSpPr>
        <p:spPr/>
        <p:txBody>
          <a:bodyPr/>
          <a:lstStyle/>
          <a:p>
            <a:r>
              <a:rPr lang="en-US" dirty="0"/>
              <a:t>Interface Inheritance</a:t>
            </a:r>
          </a:p>
        </p:txBody>
      </p:sp>
      <p:sp>
        <p:nvSpPr>
          <p:cNvPr id="703491" name="Rectangle 3"/>
          <p:cNvSpPr>
            <a:spLocks noGrp="1" noChangeArrowheads="1"/>
          </p:cNvSpPr>
          <p:nvPr>
            <p:ph idx="1"/>
          </p:nvPr>
        </p:nvSpPr>
        <p:spPr/>
        <p:txBody>
          <a:bodyPr>
            <a:normAutofit/>
          </a:bodyPr>
          <a:lstStyle/>
          <a:p>
            <a:r>
              <a:rPr lang="en-US" dirty="0"/>
              <a:t>Kotlin interface:</a:t>
            </a:r>
          </a:p>
          <a:p>
            <a:pPr lvl="1"/>
            <a:r>
              <a:rPr lang="en-US" dirty="0"/>
              <a:t>Declares function signatures</a:t>
            </a:r>
          </a:p>
          <a:p>
            <a:pPr lvl="1"/>
            <a:r>
              <a:rPr lang="en-US" dirty="0"/>
              <a:t>Classes implement the interface by providing the required function bodies</a:t>
            </a:r>
          </a:p>
          <a:p>
            <a:pPr lvl="1"/>
            <a:endParaRPr lang="en-US" dirty="0"/>
          </a:p>
          <a:p>
            <a:r>
              <a:rPr lang="en-US" sz="1800" dirty="0">
                <a:latin typeface="Courier" charset="0"/>
              </a:rPr>
              <a:t>interface Bordered {</a:t>
            </a:r>
            <a:br>
              <a:rPr lang="en-US" sz="1800" dirty="0">
                <a:latin typeface="Courier" charset="0"/>
              </a:rPr>
            </a:br>
            <a:r>
              <a:rPr lang="en-US" sz="1800" dirty="0">
                <a:latin typeface="Courier" charset="0"/>
              </a:rPr>
              <a:t>    fun area(): Double</a:t>
            </a:r>
            <a:br>
              <a:rPr lang="en-US" sz="1800" dirty="0">
                <a:latin typeface="Courier" charset="0"/>
              </a:rPr>
            </a:br>
            <a:r>
              <a:rPr lang="en-US" sz="1800" dirty="0">
                <a:latin typeface="Courier" charset="0"/>
              </a:rPr>
              <a:t>    fun perimeter(): Double</a:t>
            </a:r>
            <a:br>
              <a:rPr lang="en-US" sz="1800" dirty="0">
                <a:latin typeface="Courier" charset="0"/>
              </a:rPr>
            </a:br>
            <a:r>
              <a:rPr lang="en-US" sz="1800" dirty="0">
                <a:latin typeface="Courier" charset="0"/>
              </a:rPr>
              <a:t>}</a:t>
            </a:r>
          </a:p>
          <a:p>
            <a:r>
              <a:rPr lang="en-US" sz="1800" dirty="0">
                <a:latin typeface="Courier" charset="0"/>
              </a:rPr>
              <a:t>class Circle : Bordered {</a:t>
            </a:r>
            <a:br>
              <a:rPr lang="en-US" sz="1800" dirty="0">
                <a:latin typeface="Courier" charset="0"/>
              </a:rPr>
            </a:br>
            <a:r>
              <a:rPr lang="en-US" sz="1800" dirty="0">
                <a:latin typeface="Courier" charset="0"/>
              </a:rPr>
              <a:t>    override fun area(): Double { </a:t>
            </a:r>
            <a:r>
              <a:rPr lang="en-US" sz="1800" dirty="0">
                <a:solidFill>
                  <a:srgbClr val="3366FF"/>
                </a:solidFill>
                <a:latin typeface="Courier" charset="0"/>
              </a:rPr>
              <a:t>…</a:t>
            </a:r>
            <a:r>
              <a:rPr lang="en-US" sz="1800" dirty="0">
                <a:latin typeface="Courier" charset="0"/>
              </a:rPr>
              <a:t> } </a:t>
            </a:r>
            <a:br>
              <a:rPr lang="en-US" sz="1800" dirty="0">
                <a:latin typeface="Courier" charset="0"/>
              </a:rPr>
            </a:br>
            <a:r>
              <a:rPr lang="en-US" sz="1800" dirty="0">
                <a:latin typeface="Courier" charset="0"/>
              </a:rPr>
              <a:t>    override fun perimeter(): Double { </a:t>
            </a:r>
            <a:r>
              <a:rPr lang="en-US" sz="1800" dirty="0">
                <a:solidFill>
                  <a:srgbClr val="3366FF"/>
                </a:solidFill>
                <a:latin typeface="Courier" charset="0"/>
              </a:rPr>
              <a:t>…</a:t>
            </a:r>
            <a:r>
              <a:rPr lang="en-US" sz="1800" dirty="0">
                <a:latin typeface="Courier" charset="0"/>
              </a:rPr>
              <a:t> }    </a:t>
            </a:r>
            <a:br>
              <a:rPr lang="en-US" sz="1800" dirty="0">
                <a:latin typeface="Courier" charset="0"/>
              </a:rPr>
            </a:br>
            <a:r>
              <a:rPr lang="en-US" sz="1800" dirty="0">
                <a:latin typeface="Courier" charset="0"/>
              </a:rPr>
              <a:t>}</a:t>
            </a:r>
            <a:endParaRPr lang="en-US" sz="1800" dirty="0"/>
          </a:p>
        </p:txBody>
      </p:sp>
      <p:sp>
        <p:nvSpPr>
          <p:cNvPr id="4" name="Slide Number Placeholder 5"/>
          <p:cNvSpPr>
            <a:spLocks noGrp="1"/>
          </p:cNvSpPr>
          <p:nvPr>
            <p:ph type="sldNum" sz="quarter" idx="12"/>
          </p:nvPr>
        </p:nvSpPr>
        <p:spPr/>
        <p:txBody>
          <a:bodyPr/>
          <a:lstStyle/>
          <a:p>
            <a:fld id="{3A572CA1-09F2-A24F-B8D3-60A6C4E0B204}" type="slidenum">
              <a:rPr lang="en-US"/>
              <a:pPr/>
              <a:t>55</a:t>
            </a:fld>
            <a:endParaRPr lang="en-US"/>
          </a:p>
        </p:txBody>
      </p:sp>
    </p:spTree>
    <p:extLst>
      <p:ext uri="{BB962C8B-B14F-4D97-AF65-F5344CB8AC3E}">
        <p14:creationId xmlns:p14="http://schemas.microsoft.com/office/powerpoint/2010/main" val="268424274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4" name="Rectangle 2"/>
          <p:cNvSpPr>
            <a:spLocks noGrp="1" noChangeArrowheads="1"/>
          </p:cNvSpPr>
          <p:nvPr>
            <p:ph type="title"/>
          </p:nvPr>
        </p:nvSpPr>
        <p:spPr/>
        <p:txBody>
          <a:bodyPr/>
          <a:lstStyle/>
          <a:p>
            <a:r>
              <a:rPr lang="en-US" dirty="0"/>
              <a:t>Interface Inheritance</a:t>
            </a:r>
          </a:p>
        </p:txBody>
      </p:sp>
      <p:sp>
        <p:nvSpPr>
          <p:cNvPr id="499715" name="Rectangle 3"/>
          <p:cNvSpPr>
            <a:spLocks noGrp="1" noChangeArrowheads="1"/>
          </p:cNvSpPr>
          <p:nvPr>
            <p:ph idx="1"/>
          </p:nvPr>
        </p:nvSpPr>
        <p:spPr/>
        <p:txBody>
          <a:bodyPr>
            <a:normAutofit/>
          </a:bodyPr>
          <a:lstStyle/>
          <a:p>
            <a:r>
              <a:rPr lang="en-US" dirty="0"/>
              <a:t>Kotlin interface:</a:t>
            </a:r>
          </a:p>
          <a:p>
            <a:pPr lvl="1"/>
            <a:r>
              <a:rPr lang="en-US" dirty="0"/>
              <a:t>A</a:t>
            </a:r>
            <a:r>
              <a:rPr lang="en-CA" dirty="0"/>
              <a:t> “c</a:t>
            </a:r>
            <a:r>
              <a:rPr lang="en-US" dirty="0" err="1"/>
              <a:t>ontract</a:t>
            </a:r>
            <a:r>
              <a:rPr lang="en-CA" dirty="0"/>
              <a:t>”</a:t>
            </a:r>
            <a:r>
              <a:rPr lang="en-US" dirty="0"/>
              <a:t>, specifying </a:t>
            </a:r>
            <a:r>
              <a:rPr lang="en-US" i="1" dirty="0"/>
              <a:t>capabilities</a:t>
            </a:r>
            <a:r>
              <a:rPr lang="en-US" dirty="0"/>
              <a:t> that implementing classes must provide</a:t>
            </a:r>
          </a:p>
          <a:p>
            <a:pPr lvl="1"/>
            <a:r>
              <a:rPr lang="en-US" dirty="0"/>
              <a:t>Gives function signatures, but typically no implementation</a:t>
            </a:r>
          </a:p>
          <a:p>
            <a:pPr lvl="1"/>
            <a:r>
              <a:rPr lang="en-US" dirty="0"/>
              <a:t>Cannot be instantiated</a:t>
            </a:r>
          </a:p>
          <a:p>
            <a:pPr lvl="1"/>
            <a:r>
              <a:rPr lang="en-US" dirty="0"/>
              <a:t>May inherit from other (sub)interfaces</a:t>
            </a:r>
          </a:p>
          <a:p>
            <a:endParaRPr lang="en-US" sz="1800" dirty="0">
              <a:latin typeface="Courier" charset="0"/>
            </a:endParaRPr>
          </a:p>
          <a:p>
            <a:r>
              <a:rPr lang="en-US" sz="1800" dirty="0">
                <a:latin typeface="Courier" charset="0"/>
              </a:rPr>
              <a:t>interface Transformable : Scalable, Translatable, Rotatable {</a:t>
            </a:r>
            <a:br>
              <a:rPr lang="en-US" sz="1800" dirty="0">
                <a:latin typeface="Courier" charset="0"/>
              </a:rPr>
            </a:br>
            <a:r>
              <a:rPr lang="en-US" sz="1800" dirty="0">
                <a:latin typeface="Courier" charset="0"/>
              </a:rPr>
              <a:t>    </a:t>
            </a:r>
            <a:r>
              <a:rPr lang="en-US" sz="1800" dirty="0">
                <a:solidFill>
                  <a:srgbClr val="3366FF"/>
                </a:solidFill>
                <a:latin typeface="Courier" charset="0"/>
              </a:rPr>
              <a:t>…</a:t>
            </a:r>
            <a:br>
              <a:rPr lang="en-US" sz="1800" dirty="0">
                <a:latin typeface="Courier" charset="0"/>
              </a:rPr>
            </a:br>
            <a:r>
              <a:rPr lang="en-US" sz="1800" dirty="0">
                <a:latin typeface="Courier" charset="0"/>
              </a:rPr>
              <a:t>}</a:t>
            </a:r>
          </a:p>
        </p:txBody>
      </p:sp>
      <p:sp>
        <p:nvSpPr>
          <p:cNvPr id="4" name="Slide Number Placeholder 5"/>
          <p:cNvSpPr>
            <a:spLocks noGrp="1"/>
          </p:cNvSpPr>
          <p:nvPr>
            <p:ph type="sldNum" sz="quarter" idx="12"/>
          </p:nvPr>
        </p:nvSpPr>
        <p:spPr/>
        <p:txBody>
          <a:bodyPr/>
          <a:lstStyle/>
          <a:p>
            <a:fld id="{C51897CC-DDF8-6644-A743-80922F72847F}" type="slidenum">
              <a:rPr lang="en-US"/>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62" name="Rectangle 2"/>
          <p:cNvSpPr>
            <a:spLocks noGrp="1" noChangeArrowheads="1"/>
          </p:cNvSpPr>
          <p:nvPr>
            <p:ph type="title"/>
          </p:nvPr>
        </p:nvSpPr>
        <p:spPr/>
        <p:txBody>
          <a:bodyPr/>
          <a:lstStyle/>
          <a:p>
            <a:r>
              <a:rPr lang="en-US" dirty="0"/>
              <a:t>Kotlin Interface</a:t>
            </a:r>
          </a:p>
        </p:txBody>
      </p:sp>
      <p:sp>
        <p:nvSpPr>
          <p:cNvPr id="501763" name="Rectangle 3"/>
          <p:cNvSpPr>
            <a:spLocks noGrp="1" noChangeArrowheads="1"/>
          </p:cNvSpPr>
          <p:nvPr>
            <p:ph idx="1"/>
          </p:nvPr>
        </p:nvSpPr>
        <p:spPr/>
        <p:txBody>
          <a:bodyPr>
            <a:normAutofit fontScale="92500" lnSpcReduction="10000"/>
          </a:bodyPr>
          <a:lstStyle/>
          <a:p>
            <a:pPr>
              <a:lnSpc>
                <a:spcPct val="90000"/>
              </a:lnSpc>
            </a:pPr>
            <a:r>
              <a:rPr lang="en-US" sz="1800" dirty="0">
                <a:latin typeface="Courier" charset="0"/>
              </a:rPr>
              <a:t>interface Cloneable {</a:t>
            </a:r>
            <a:br>
              <a:rPr lang="en-US" sz="1800" dirty="0">
                <a:latin typeface="Courier" charset="0"/>
              </a:rPr>
            </a:br>
            <a:r>
              <a:rPr lang="en-US" sz="1800" dirty="0">
                <a:latin typeface="Courier" charset="0"/>
              </a:rPr>
              <a:t>    fun clone(): Cloneable</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pPr>
              <a:lnSpc>
                <a:spcPct val="90000"/>
              </a:lnSpc>
            </a:pPr>
            <a:r>
              <a:rPr lang="en-US" sz="1800" dirty="0">
                <a:latin typeface="Courier" charset="0"/>
              </a:rPr>
              <a:t>class Color (</a:t>
            </a:r>
            <a:br>
              <a:rPr lang="en-US" sz="1800" dirty="0">
                <a:latin typeface="Courier" charset="0"/>
              </a:rPr>
            </a:br>
            <a:r>
              <a:rPr lang="en-US" sz="1800" dirty="0">
                <a:latin typeface="Courier" charset="0"/>
              </a:rPr>
              <a:t>    private var red: Int,</a:t>
            </a:r>
            <a:br>
              <a:rPr lang="en-US" sz="1800" dirty="0">
                <a:latin typeface="Courier" charset="0"/>
              </a:rPr>
            </a:br>
            <a:r>
              <a:rPr lang="en-US" sz="1800" dirty="0">
                <a:latin typeface="Courier" charset="0"/>
              </a:rPr>
              <a:t>    private var green: Int,</a:t>
            </a:r>
            <a:br>
              <a:rPr lang="en-US" sz="1800" dirty="0">
                <a:latin typeface="Courier" charset="0"/>
              </a:rPr>
            </a:br>
            <a:r>
              <a:rPr lang="en-US" sz="1800" dirty="0">
                <a:latin typeface="Courier" charset="0"/>
              </a:rPr>
              <a:t>    private var blue: Int</a:t>
            </a:r>
            <a:br>
              <a:rPr lang="en-US" sz="1800" dirty="0">
                <a:latin typeface="Courier" charset="0"/>
              </a:rPr>
            </a:br>
            <a:r>
              <a:rPr lang="en-US" sz="1800" dirty="0">
                <a:latin typeface="Courier" charset="0"/>
              </a:rPr>
              <a:t>) : Cloneable {    </a:t>
            </a:r>
            <a:br>
              <a:rPr lang="en-US" sz="1800" dirty="0">
                <a:latin typeface="Courier" charset="0"/>
              </a:rPr>
            </a:br>
            <a:r>
              <a:rPr lang="en-US" sz="1800" dirty="0">
                <a:latin typeface="Courier" charset="0"/>
              </a:rPr>
              <a:t>    override fun clone(): Cloneable {</a:t>
            </a:r>
            <a:br>
              <a:rPr lang="en-US" sz="1800" dirty="0">
                <a:latin typeface="Courier" charset="0"/>
              </a:rPr>
            </a:br>
            <a:r>
              <a:rPr lang="en-US" sz="1800" dirty="0">
                <a:latin typeface="Courier" charset="0"/>
              </a:rPr>
              <a:t>        return Color( red, green, blue )</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a:t>
            </a:r>
          </a:p>
          <a:p>
            <a:pPr>
              <a:lnSpc>
                <a:spcPct val="90000"/>
              </a:lnSpc>
            </a:pPr>
            <a:endParaRPr lang="en-US" sz="1800" dirty="0">
              <a:latin typeface="Courier" charset="0"/>
            </a:endParaRPr>
          </a:p>
          <a:p>
            <a:pPr>
              <a:lnSpc>
                <a:spcPct val="90000"/>
              </a:lnSpc>
            </a:pPr>
            <a:r>
              <a:rPr lang="en-US" sz="1800" dirty="0" err="1">
                <a:latin typeface="Courier" charset="0"/>
              </a:rPr>
              <a:t>val</a:t>
            </a:r>
            <a:r>
              <a:rPr lang="en-US" sz="1800" dirty="0">
                <a:latin typeface="Courier" charset="0"/>
              </a:rPr>
              <a:t> red = Color( 255, 0, 0 )</a:t>
            </a:r>
            <a:br>
              <a:rPr lang="en-US" sz="1800" dirty="0">
                <a:latin typeface="Courier" charset="0"/>
              </a:rPr>
            </a:br>
            <a:r>
              <a:rPr lang="en-US" sz="1800" dirty="0" err="1">
                <a:latin typeface="Courier" charset="0"/>
              </a:rPr>
              <a:t>val</a:t>
            </a:r>
            <a:r>
              <a:rPr lang="en-US" sz="1800" dirty="0">
                <a:latin typeface="Courier" charset="0"/>
              </a:rPr>
              <a:t> </a:t>
            </a:r>
            <a:r>
              <a:rPr lang="en-US" sz="1800" dirty="0" err="1">
                <a:latin typeface="Courier" charset="0"/>
              </a:rPr>
              <a:t>redClone</a:t>
            </a:r>
            <a:r>
              <a:rPr lang="en-US" sz="1800" dirty="0">
                <a:latin typeface="Courier" charset="0"/>
              </a:rPr>
              <a:t>: Cloneable = </a:t>
            </a:r>
            <a:r>
              <a:rPr lang="en-US" sz="1800" dirty="0" err="1">
                <a:latin typeface="Courier" charset="0"/>
              </a:rPr>
              <a:t>red.clone</a:t>
            </a:r>
            <a:r>
              <a:rPr lang="en-US" sz="1800" dirty="0">
                <a:latin typeface="Courier" charset="0"/>
              </a:rPr>
              <a:t>()</a:t>
            </a:r>
            <a:br>
              <a:rPr lang="en-US" sz="1800" dirty="0">
                <a:latin typeface="Courier" charset="0"/>
              </a:rPr>
            </a:br>
            <a:r>
              <a:rPr lang="en-US" sz="1800" dirty="0" err="1">
                <a:latin typeface="Courier" charset="0"/>
              </a:rPr>
              <a:t>val</a:t>
            </a:r>
            <a:r>
              <a:rPr lang="en-US" sz="1800" dirty="0">
                <a:latin typeface="Courier" charset="0"/>
              </a:rPr>
              <a:t> redClone2: Cloneable = </a:t>
            </a:r>
            <a:r>
              <a:rPr lang="en-US" sz="1800" dirty="0" err="1">
                <a:latin typeface="Courier" charset="0"/>
              </a:rPr>
              <a:t>redClone.clone</a:t>
            </a:r>
            <a:r>
              <a:rPr lang="en-US" sz="1800" dirty="0">
                <a:latin typeface="Courier" charset="0"/>
              </a:rPr>
              <a:t>()</a:t>
            </a:r>
          </a:p>
        </p:txBody>
      </p:sp>
      <p:sp>
        <p:nvSpPr>
          <p:cNvPr id="4" name="Slide Number Placeholder 5"/>
          <p:cNvSpPr>
            <a:spLocks noGrp="1"/>
          </p:cNvSpPr>
          <p:nvPr>
            <p:ph type="sldNum" sz="quarter" idx="12"/>
          </p:nvPr>
        </p:nvSpPr>
        <p:spPr/>
        <p:txBody>
          <a:bodyPr/>
          <a:lstStyle/>
          <a:p>
            <a:fld id="{A5F9FF75-39B8-9747-9115-D69A3C3B0655}" type="slidenum">
              <a:rPr lang="en-US"/>
              <a:pPr/>
              <a:t>57</a:t>
            </a:fld>
            <a:endParaRPr lang="en-US"/>
          </a:p>
        </p:txBody>
      </p:sp>
    </p:spTree>
  </p:cSld>
  <p:clrMapOvr>
    <a:masterClrMapping/>
  </p:clrMapOvr>
  <p:extLst>
    <p:ext uri="{6950BFC3-D8DA-4A85-94F7-54DA5524770B}">
      <p188:commentRel xmlns:p188="http://schemas.microsoft.com/office/powerpoint/2018/8/main" r:id="rId3"/>
    </p:ext>
  </p:extLs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8" name="Rectangle 2"/>
          <p:cNvSpPr>
            <a:spLocks noGrp="1" noChangeArrowheads="1"/>
          </p:cNvSpPr>
          <p:nvPr>
            <p:ph type="title"/>
          </p:nvPr>
        </p:nvSpPr>
        <p:spPr/>
        <p:txBody>
          <a:bodyPr/>
          <a:lstStyle/>
          <a:p>
            <a:r>
              <a:rPr lang="en-US"/>
              <a:t>UML Interface </a:t>
            </a:r>
          </a:p>
        </p:txBody>
      </p:sp>
      <p:sp>
        <p:nvSpPr>
          <p:cNvPr id="6" name="Slide Number Placeholder 5"/>
          <p:cNvSpPr>
            <a:spLocks noGrp="1"/>
          </p:cNvSpPr>
          <p:nvPr>
            <p:ph type="sldNum" sz="quarter" idx="12"/>
          </p:nvPr>
        </p:nvSpPr>
        <p:spPr/>
        <p:txBody>
          <a:bodyPr/>
          <a:lstStyle/>
          <a:p>
            <a:fld id="{E13464F4-2A1E-C84C-88FC-2E959F57F0C6}" type="slidenum">
              <a:rPr lang="en-US"/>
              <a:pPr/>
              <a:t>58</a:t>
            </a:fld>
            <a:endParaRPr lang="en-US"/>
          </a:p>
        </p:txBody>
      </p:sp>
      <p:sp>
        <p:nvSpPr>
          <p:cNvPr id="500742" name="Text Box 6"/>
          <p:cNvSpPr txBox="1">
            <a:spLocks noChangeArrowheads="1"/>
          </p:cNvSpPr>
          <p:nvPr/>
        </p:nvSpPr>
        <p:spPr bwMode="auto">
          <a:xfrm>
            <a:off x="8948317" y="1362834"/>
            <a:ext cx="1180131"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i="1" dirty="0"/>
              <a:t>Guillemets</a:t>
            </a:r>
          </a:p>
          <a:p>
            <a:r>
              <a:rPr lang="en-US" i="1" dirty="0"/>
              <a:t>denote a</a:t>
            </a:r>
          </a:p>
          <a:p>
            <a:r>
              <a:rPr lang="en-US" i="1" dirty="0"/>
              <a:t>stereotype</a:t>
            </a:r>
          </a:p>
        </p:txBody>
      </p:sp>
      <p:grpSp>
        <p:nvGrpSpPr>
          <p:cNvPr id="4" name="Group 3">
            <a:extLst>
              <a:ext uri="{FF2B5EF4-FFF2-40B4-BE49-F238E27FC236}">
                <a16:creationId xmlns:a16="http://schemas.microsoft.com/office/drawing/2014/main" id="{91847589-F014-9064-1196-0E492026F2C5}"/>
              </a:ext>
            </a:extLst>
          </p:cNvPr>
          <p:cNvGrpSpPr/>
          <p:nvPr/>
        </p:nvGrpSpPr>
        <p:grpSpPr>
          <a:xfrm>
            <a:off x="6168008" y="1412776"/>
            <a:ext cx="2600624" cy="4032448"/>
            <a:chOff x="6960096" y="1988840"/>
            <a:chExt cx="2600624" cy="4032448"/>
          </a:xfrm>
        </p:grpSpPr>
        <p:sp>
          <p:nvSpPr>
            <p:cNvPr id="11" name="Rectangle 10"/>
            <p:cNvSpPr>
              <a:spLocks noChangeArrowheads="1"/>
            </p:cNvSpPr>
            <p:nvPr/>
          </p:nvSpPr>
          <p:spPr bwMode="auto">
            <a:xfrm>
              <a:off x="6960096" y="1988840"/>
              <a:ext cx="2600624" cy="82562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«interface»</a:t>
              </a:r>
            </a:p>
            <a:p>
              <a:pPr algn="ctr"/>
              <a:r>
                <a:rPr lang="en-US" dirty="0" err="1"/>
                <a:t>Cloneable</a:t>
              </a:r>
              <a:endParaRPr lang="en-US" dirty="0"/>
            </a:p>
          </p:txBody>
        </p:sp>
        <p:sp>
          <p:nvSpPr>
            <p:cNvPr id="12" name="Rectangle 11"/>
            <p:cNvSpPr>
              <a:spLocks noChangeArrowheads="1"/>
            </p:cNvSpPr>
            <p:nvPr/>
          </p:nvSpPr>
          <p:spPr bwMode="auto">
            <a:xfrm>
              <a:off x="6960096" y="2814464"/>
              <a:ext cx="2600624" cy="21602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3" name="Rectangle 12"/>
            <p:cNvSpPr>
              <a:spLocks noChangeArrowheads="1"/>
            </p:cNvSpPr>
            <p:nvPr/>
          </p:nvSpPr>
          <p:spPr bwMode="auto">
            <a:xfrm>
              <a:off x="6960096" y="3030488"/>
              <a:ext cx="2600624" cy="432048"/>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cxnSp>
          <p:nvCxnSpPr>
            <p:cNvPr id="14" name="Straight Connector 13"/>
            <p:cNvCxnSpPr>
              <a:cxnSpLocks/>
              <a:stCxn id="13" idx="2"/>
              <a:endCxn id="16" idx="0"/>
            </p:cNvCxnSpPr>
            <p:nvPr/>
          </p:nvCxnSpPr>
          <p:spPr>
            <a:xfrm>
              <a:off x="8260408" y="3462536"/>
              <a:ext cx="3492" cy="1296144"/>
            </a:xfrm>
            <a:prstGeom prst="line">
              <a:avLst/>
            </a:prstGeom>
            <a:ln w="28575" cmpd="sng">
              <a:solidFill>
                <a:schemeClr val="tx1"/>
              </a:solidFill>
              <a:prstDash val="dash"/>
            </a:ln>
            <a:effectLst/>
          </p:spPr>
          <p:style>
            <a:lnRef idx="2">
              <a:schemeClr val="accent1"/>
            </a:lnRef>
            <a:fillRef idx="0">
              <a:schemeClr val="accent1"/>
            </a:fillRef>
            <a:effectRef idx="1">
              <a:schemeClr val="accent1"/>
            </a:effectRef>
            <a:fontRef idx="minor">
              <a:schemeClr val="tx1"/>
            </a:fontRef>
          </p:style>
        </p:cxnSp>
        <p:sp>
          <p:nvSpPr>
            <p:cNvPr id="15" name="Isosceles Triangle 14"/>
            <p:cNvSpPr/>
            <p:nvPr/>
          </p:nvSpPr>
          <p:spPr>
            <a:xfrm>
              <a:off x="8080388" y="3501009"/>
              <a:ext cx="360040" cy="310379"/>
            </a:xfrm>
            <a:prstGeom prst="triangl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6" name="Rectangle 15"/>
            <p:cNvSpPr>
              <a:spLocks noChangeArrowheads="1"/>
            </p:cNvSpPr>
            <p:nvPr/>
          </p:nvSpPr>
          <p:spPr bwMode="auto">
            <a:xfrm>
              <a:off x="6979692" y="4758680"/>
              <a:ext cx="2568416" cy="609600"/>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Color</a:t>
              </a:r>
            </a:p>
          </p:txBody>
        </p:sp>
        <p:sp>
          <p:nvSpPr>
            <p:cNvPr id="17" name="Rectangle 16"/>
            <p:cNvSpPr>
              <a:spLocks noChangeArrowheads="1"/>
            </p:cNvSpPr>
            <p:nvPr/>
          </p:nvSpPr>
          <p:spPr bwMode="auto">
            <a:xfrm>
              <a:off x="6979692" y="5368280"/>
              <a:ext cx="2568416" cy="21602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18" name="Rectangle 17"/>
            <p:cNvSpPr>
              <a:spLocks noChangeArrowheads="1"/>
            </p:cNvSpPr>
            <p:nvPr/>
          </p:nvSpPr>
          <p:spPr bwMode="auto">
            <a:xfrm>
              <a:off x="6979692" y="5589240"/>
              <a:ext cx="2568416" cy="432048"/>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dirty="0"/>
            </a:p>
          </p:txBody>
        </p:sp>
        <p:sp>
          <p:nvSpPr>
            <p:cNvPr id="3" name="TextBox 2"/>
            <p:cNvSpPr txBox="1"/>
            <p:nvPr/>
          </p:nvSpPr>
          <p:spPr>
            <a:xfrm>
              <a:off x="7051700" y="5589240"/>
              <a:ext cx="2140330" cy="369332"/>
            </a:xfrm>
            <a:prstGeom prst="rect">
              <a:avLst/>
            </a:prstGeom>
            <a:noFill/>
          </p:spPr>
          <p:txBody>
            <a:bodyPr wrap="none" rtlCol="0">
              <a:spAutoFit/>
            </a:bodyPr>
            <a:lstStyle/>
            <a:p>
              <a:r>
                <a:rPr lang="en-US" dirty="0"/>
                <a:t>+clone(): Cloneable</a:t>
              </a:r>
            </a:p>
          </p:txBody>
        </p:sp>
        <p:sp>
          <p:nvSpPr>
            <p:cNvPr id="24" name="TextBox 23"/>
            <p:cNvSpPr txBox="1"/>
            <p:nvPr/>
          </p:nvSpPr>
          <p:spPr>
            <a:xfrm>
              <a:off x="7051700" y="3030488"/>
              <a:ext cx="2140330" cy="369332"/>
            </a:xfrm>
            <a:prstGeom prst="rect">
              <a:avLst/>
            </a:prstGeom>
            <a:noFill/>
          </p:spPr>
          <p:txBody>
            <a:bodyPr wrap="none" rtlCol="0">
              <a:spAutoFit/>
            </a:bodyPr>
            <a:lstStyle/>
            <a:p>
              <a:r>
                <a:rPr lang="en-US" dirty="0"/>
                <a:t>+clone(): Cloneable</a:t>
              </a:r>
            </a:p>
          </p:txBody>
        </p:sp>
      </p:grpSp>
      <p:grpSp>
        <p:nvGrpSpPr>
          <p:cNvPr id="2" name="Group 1">
            <a:extLst>
              <a:ext uri="{FF2B5EF4-FFF2-40B4-BE49-F238E27FC236}">
                <a16:creationId xmlns:a16="http://schemas.microsoft.com/office/drawing/2014/main" id="{F6BE309A-CF88-10C3-6D85-218BAEA07EDB}"/>
              </a:ext>
            </a:extLst>
          </p:cNvPr>
          <p:cNvGrpSpPr/>
          <p:nvPr/>
        </p:nvGrpSpPr>
        <p:grpSpPr>
          <a:xfrm>
            <a:off x="3287688" y="1916832"/>
            <a:ext cx="1800200" cy="3024336"/>
            <a:chOff x="3503712" y="2996952"/>
            <a:chExt cx="1800200" cy="3024336"/>
          </a:xfrm>
        </p:grpSpPr>
        <p:cxnSp>
          <p:nvCxnSpPr>
            <p:cNvPr id="28" name="Straight Connector 27"/>
            <p:cNvCxnSpPr>
              <a:endCxn id="30" idx="0"/>
            </p:cNvCxnSpPr>
            <p:nvPr/>
          </p:nvCxnSpPr>
          <p:spPr>
            <a:xfrm>
              <a:off x="4399608" y="4005064"/>
              <a:ext cx="4204" cy="792088"/>
            </a:xfrm>
            <a:prstGeom prst="line">
              <a:avLst/>
            </a:prstGeom>
            <a:ln w="28575" cmpd="sng">
              <a:solidFill>
                <a:schemeClr val="tx1"/>
              </a:solidFill>
              <a:prstDash val="solid"/>
            </a:ln>
            <a:effectLst/>
          </p:spPr>
          <p:style>
            <a:lnRef idx="2">
              <a:schemeClr val="accent1"/>
            </a:lnRef>
            <a:fillRef idx="0">
              <a:schemeClr val="accent1"/>
            </a:fillRef>
            <a:effectRef idx="1">
              <a:schemeClr val="accent1"/>
            </a:effectRef>
            <a:fontRef idx="minor">
              <a:schemeClr val="tx1"/>
            </a:fontRef>
          </p:style>
        </p:cxnSp>
        <p:sp>
          <p:nvSpPr>
            <p:cNvPr id="30" name="Rectangle 29"/>
            <p:cNvSpPr>
              <a:spLocks noChangeArrowheads="1"/>
            </p:cNvSpPr>
            <p:nvPr/>
          </p:nvSpPr>
          <p:spPr bwMode="auto">
            <a:xfrm>
              <a:off x="3503712" y="4797152"/>
              <a:ext cx="1800200" cy="57606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r>
                <a:rPr lang="en-US" dirty="0"/>
                <a:t>Color</a:t>
              </a:r>
            </a:p>
          </p:txBody>
        </p:sp>
        <p:sp>
          <p:nvSpPr>
            <p:cNvPr id="31" name="Rectangle 30"/>
            <p:cNvSpPr>
              <a:spLocks noChangeArrowheads="1"/>
            </p:cNvSpPr>
            <p:nvPr/>
          </p:nvSpPr>
          <p:spPr bwMode="auto">
            <a:xfrm>
              <a:off x="3503712" y="5373216"/>
              <a:ext cx="1800200" cy="216024"/>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a:p>
          </p:txBody>
        </p:sp>
        <p:sp>
          <p:nvSpPr>
            <p:cNvPr id="32" name="Rectangle 31"/>
            <p:cNvSpPr>
              <a:spLocks noChangeArrowheads="1"/>
            </p:cNvSpPr>
            <p:nvPr/>
          </p:nvSpPr>
          <p:spPr bwMode="auto">
            <a:xfrm>
              <a:off x="3503712" y="5589240"/>
              <a:ext cx="1800200" cy="432048"/>
            </a:xfrm>
            <a:prstGeom prst="rect">
              <a:avLst/>
            </a:prstGeom>
            <a:noFill/>
            <a:ln w="28575">
              <a:solidFill>
                <a:schemeClr val="tx1"/>
              </a:solidFill>
              <a:miter lim="800000"/>
              <a:headEnd/>
              <a:tailEnd/>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dirty="0"/>
            </a:p>
          </p:txBody>
        </p:sp>
        <p:sp>
          <p:nvSpPr>
            <p:cNvPr id="34" name="TextBox 33"/>
            <p:cNvSpPr txBox="1"/>
            <p:nvPr/>
          </p:nvSpPr>
          <p:spPr>
            <a:xfrm>
              <a:off x="3791744" y="2996952"/>
              <a:ext cx="1213794" cy="369332"/>
            </a:xfrm>
            <a:prstGeom prst="rect">
              <a:avLst/>
            </a:prstGeom>
            <a:noFill/>
          </p:spPr>
          <p:txBody>
            <a:bodyPr wrap="none" rtlCol="0">
              <a:spAutoFit/>
            </a:bodyPr>
            <a:lstStyle/>
            <a:p>
              <a:r>
                <a:rPr lang="en-US" dirty="0"/>
                <a:t>Cloneable</a:t>
              </a:r>
            </a:p>
          </p:txBody>
        </p:sp>
        <p:sp>
          <p:nvSpPr>
            <p:cNvPr id="5" name="Oval 4"/>
            <p:cNvSpPr/>
            <p:nvPr/>
          </p:nvSpPr>
          <p:spPr>
            <a:xfrm>
              <a:off x="4151784" y="3501008"/>
              <a:ext cx="504056" cy="504056"/>
            </a:xfrm>
            <a:prstGeom prst="ellips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grpSp>
    </p:spTree>
    <p:extLst>
      <p:ext uri="{BB962C8B-B14F-4D97-AF65-F5344CB8AC3E}">
        <p14:creationId xmlns:p14="http://schemas.microsoft.com/office/powerpoint/2010/main" val="77648215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6" name="Rectangle 4"/>
          <p:cNvSpPr>
            <a:spLocks noGrp="1" noChangeArrowheads="1"/>
          </p:cNvSpPr>
          <p:nvPr>
            <p:ph type="title"/>
          </p:nvPr>
        </p:nvSpPr>
        <p:spPr/>
        <p:txBody>
          <a:bodyPr/>
          <a:lstStyle/>
          <a:p>
            <a:r>
              <a:rPr lang="en-US"/>
              <a:t>Abstract Class versus Interface</a:t>
            </a:r>
          </a:p>
        </p:txBody>
      </p:sp>
      <p:sp>
        <p:nvSpPr>
          <p:cNvPr id="504837" name="Rectangle 5"/>
          <p:cNvSpPr>
            <a:spLocks noGrp="1" noChangeArrowheads="1"/>
          </p:cNvSpPr>
          <p:nvPr>
            <p:ph idx="1"/>
          </p:nvPr>
        </p:nvSpPr>
        <p:spPr/>
        <p:txBody>
          <a:bodyPr/>
          <a:lstStyle/>
          <a:p>
            <a:r>
              <a:rPr lang="en-US" dirty="0"/>
              <a:t>Differences:</a:t>
            </a:r>
          </a:p>
          <a:p>
            <a:pPr lvl="1"/>
            <a:r>
              <a:rPr lang="en-US" dirty="0"/>
              <a:t>An abstract class may provide a partial implementation</a:t>
            </a:r>
          </a:p>
          <a:p>
            <a:pPr lvl="1"/>
            <a:r>
              <a:rPr lang="en-US" dirty="0"/>
              <a:t>A class may implement any number of interfaces, but inherit from only one superclass</a:t>
            </a:r>
          </a:p>
          <a:p>
            <a:pPr lvl="1"/>
            <a:r>
              <a:rPr lang="en-US" dirty="0"/>
              <a:t>Adding a function to an interface will “break</a:t>
            </a:r>
            <a:r>
              <a:rPr lang="en-CA" dirty="0"/>
              <a:t>” </a:t>
            </a:r>
            <a:r>
              <a:rPr lang="en-US" dirty="0"/>
              <a:t>any class that previously implemented it, unless a default implementation is provided</a:t>
            </a:r>
          </a:p>
          <a:p>
            <a:pPr lvl="1"/>
            <a:r>
              <a:rPr lang="en-US" dirty="0"/>
              <a:t>A function with a default body does not break existing implementing classes</a:t>
            </a:r>
          </a:p>
        </p:txBody>
      </p:sp>
      <p:sp>
        <p:nvSpPr>
          <p:cNvPr id="4" name="Slide Number Placeholder 5"/>
          <p:cNvSpPr>
            <a:spLocks noGrp="1"/>
          </p:cNvSpPr>
          <p:nvPr>
            <p:ph type="sldNum" sz="quarter" idx="12"/>
          </p:nvPr>
        </p:nvSpPr>
        <p:spPr/>
        <p:txBody>
          <a:bodyPr/>
          <a:lstStyle/>
          <a:p>
            <a:fld id="{BE8563C0-915B-1642-A811-7509E8EB8A69}" type="slidenum">
              <a:rPr lang="en-US"/>
              <a:pPr/>
              <a:t>59</a:t>
            </a:fld>
            <a:endParaRPr lang="en-US"/>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ACE692-4442-23E1-6419-8C89899AFB11}"/>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F1E14F2D-D7F4-6418-233B-9B7AE4F691D1}"/>
              </a:ext>
            </a:extLst>
          </p:cNvPr>
          <p:cNvSpPr>
            <a:spLocks noGrp="1"/>
          </p:cNvSpPr>
          <p:nvPr>
            <p:ph idx="1"/>
          </p:nvPr>
        </p:nvSpPr>
        <p:spPr/>
        <p:txBody>
          <a:bodyPr/>
          <a:lstStyle/>
          <a:p>
            <a:endParaRPr lang="en-US" dirty="0"/>
          </a:p>
          <a:p>
            <a:endParaRPr lang="en-US" dirty="0"/>
          </a:p>
          <a:p>
            <a:endParaRPr lang="en-US" dirty="0"/>
          </a:p>
          <a:p>
            <a:endParaRPr lang="en-US" dirty="0"/>
          </a:p>
          <a:p>
            <a:endParaRPr lang="en-US" dirty="0"/>
          </a:p>
          <a:p>
            <a:endParaRPr lang="en-US" dirty="0"/>
          </a:p>
          <a:p>
            <a:pPr marL="82296" indent="0">
              <a:buNone/>
            </a:pPr>
            <a:endParaRPr lang="en-US" dirty="0"/>
          </a:p>
          <a:p>
            <a:r>
              <a:rPr lang="en-US" dirty="0"/>
              <a:t>Implement the corresponding Kotlin code.</a:t>
            </a:r>
          </a:p>
        </p:txBody>
      </p:sp>
      <p:sp>
        <p:nvSpPr>
          <p:cNvPr id="4" name="Slide Number Placeholder 3">
            <a:extLst>
              <a:ext uri="{FF2B5EF4-FFF2-40B4-BE49-F238E27FC236}">
                <a16:creationId xmlns:a16="http://schemas.microsoft.com/office/drawing/2014/main" id="{1883FA14-3AF0-230C-4EBF-7771578DA88F}"/>
              </a:ext>
            </a:extLst>
          </p:cNvPr>
          <p:cNvSpPr>
            <a:spLocks noGrp="1"/>
          </p:cNvSpPr>
          <p:nvPr>
            <p:ph type="sldNum" sz="quarter" idx="12"/>
          </p:nvPr>
        </p:nvSpPr>
        <p:spPr/>
        <p:txBody>
          <a:bodyPr/>
          <a:lstStyle/>
          <a:p>
            <a:fld id="{D3F25697-57D3-0D49-8FC5-4BE2D6D757CB}" type="slidenum">
              <a:rPr lang="en-US" smtClean="0"/>
              <a:pPr/>
              <a:t>60</a:t>
            </a:fld>
            <a:endParaRPr lang="en-US"/>
          </a:p>
        </p:txBody>
      </p:sp>
      <p:pic>
        <p:nvPicPr>
          <p:cNvPr id="5" name="Picture 4">
            <a:extLst>
              <a:ext uri="{FF2B5EF4-FFF2-40B4-BE49-F238E27FC236}">
                <a16:creationId xmlns:a16="http://schemas.microsoft.com/office/drawing/2014/main" id="{A2B02AD9-102E-0C2B-7C16-50A259599C34}"/>
              </a:ext>
            </a:extLst>
          </p:cNvPr>
          <p:cNvPicPr>
            <a:picLocks noChangeAspect="1"/>
          </p:cNvPicPr>
          <p:nvPr/>
        </p:nvPicPr>
        <p:blipFill>
          <a:blip r:embed="rId4"/>
          <a:stretch>
            <a:fillRect/>
          </a:stretch>
        </p:blipFill>
        <p:spPr>
          <a:xfrm>
            <a:off x="2603500" y="2171700"/>
            <a:ext cx="6985000" cy="2514600"/>
          </a:xfrm>
          <a:prstGeom prst="rect">
            <a:avLst/>
          </a:prstGeom>
        </p:spPr>
      </p:pic>
    </p:spTree>
    <p:extLst>
      <p:ext uri="{BB962C8B-B14F-4D97-AF65-F5344CB8AC3E}">
        <p14:creationId xmlns:p14="http://schemas.microsoft.com/office/powerpoint/2010/main" val="868140942"/>
      </p:ext>
    </p:extLst>
  </p:cSld>
  <p:clrMapOvr>
    <a:masterClrMapping/>
  </p:clrMapOvr>
  <p:extLst>
    <p:ext uri="{6950BFC3-D8DA-4A85-94F7-54DA5524770B}">
      <p188:commentRel xmlns:p188="http://schemas.microsoft.com/office/powerpoint/2018/8/main" r:id="rId3"/>
    </p:ext>
  </p:extLs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Kotlin Subtleties</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3693E2C0-D7FA-E54A-B614-B3CE362612AF}" type="slidenum">
              <a:rPr lang="en-US" smtClean="0"/>
              <a:pPr/>
              <a:t>61</a:t>
            </a:fld>
            <a:endParaRPr lang="en-US"/>
          </a:p>
        </p:txBody>
      </p:sp>
    </p:spTree>
    <p:extLst>
      <p:ext uri="{BB962C8B-B14F-4D97-AF65-F5344CB8AC3E}">
        <p14:creationId xmlns:p14="http://schemas.microsoft.com/office/powerpoint/2010/main" val="2380451917"/>
      </p:ext>
    </p:extLst>
  </p:cSld>
  <p:clrMapOvr>
    <a:masterClrMapping/>
  </p:clrMapOvr>
  <p:extLst>
    <p:ext uri="{6950BFC3-D8DA-4A85-94F7-54DA5524770B}">
      <p188:commentRel xmlns:p188="http://schemas.microsoft.com/office/powerpoint/2018/8/main" r:id="rId2"/>
    </p:ext>
  </p:extLs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0418" name="Rectangle 2"/>
          <p:cNvSpPr>
            <a:spLocks noGrp="1" noChangeArrowheads="1"/>
          </p:cNvSpPr>
          <p:nvPr>
            <p:ph type="title"/>
          </p:nvPr>
        </p:nvSpPr>
        <p:spPr/>
        <p:txBody>
          <a:bodyPr/>
          <a:lstStyle/>
          <a:p>
            <a:r>
              <a:rPr lang="en-US" dirty="0"/>
              <a:t>Kotlin Call-by-Value</a:t>
            </a:r>
          </a:p>
        </p:txBody>
      </p:sp>
      <p:sp>
        <p:nvSpPr>
          <p:cNvPr id="700419" name="Rectangle 3"/>
          <p:cNvSpPr>
            <a:spLocks noGrp="1" noChangeArrowheads="1"/>
          </p:cNvSpPr>
          <p:nvPr>
            <p:ph idx="1"/>
          </p:nvPr>
        </p:nvSpPr>
        <p:spPr>
          <a:xfrm>
            <a:off x="983432" y="1484784"/>
            <a:ext cx="7498080" cy="4800600"/>
          </a:xfrm>
        </p:spPr>
        <p:txBody>
          <a:bodyPr>
            <a:normAutofit lnSpcReduction="10000"/>
          </a:bodyPr>
          <a:lstStyle/>
          <a:p>
            <a:r>
              <a:rPr lang="en-US" sz="1800" dirty="0">
                <a:latin typeface="Courier"/>
                <a:cs typeface="Courier"/>
              </a:rPr>
              <a:t>class Sender {</a:t>
            </a:r>
            <a:br>
              <a:rPr lang="en-US" sz="1800" dirty="0">
                <a:latin typeface="Courier"/>
                <a:cs typeface="Courier"/>
              </a:rPr>
            </a:br>
            <a:r>
              <a:rPr lang="en-US" sz="1800" dirty="0">
                <a:latin typeface="Courier"/>
                <a:cs typeface="Courier"/>
              </a:rPr>
              <a:t>    </a:t>
            </a:r>
            <a:r>
              <a:rPr lang="en-US" sz="1800" dirty="0">
                <a:solidFill>
                  <a:srgbClr val="3366FF"/>
                </a:solidFill>
                <a:latin typeface="Courier" charset="0"/>
              </a:rPr>
              <a:t>…</a:t>
            </a:r>
            <a:br>
              <a:rPr lang="en-US" sz="1800" dirty="0">
                <a:latin typeface="Courier"/>
                <a:cs typeface="Courier"/>
              </a:rPr>
            </a:br>
            <a:r>
              <a:rPr lang="en-US" sz="1800" dirty="0">
                <a:latin typeface="Courier"/>
                <a:cs typeface="Courier"/>
              </a:rPr>
              <a:t>    fun send() {</a:t>
            </a:r>
            <a:br>
              <a:rPr lang="en-US" sz="1800" dirty="0">
                <a:latin typeface="Courier"/>
                <a:cs typeface="Courier"/>
              </a:rPr>
            </a:br>
            <a:r>
              <a:rPr lang="en-US" sz="1800" dirty="0">
                <a:latin typeface="Courier"/>
                <a:cs typeface="Courier"/>
              </a:rPr>
              <a:t>        </a:t>
            </a:r>
            <a:r>
              <a:rPr lang="en-US" sz="1800" dirty="0" err="1">
                <a:latin typeface="Courier"/>
                <a:cs typeface="Courier"/>
              </a:rPr>
              <a:t>val</a:t>
            </a:r>
            <a:r>
              <a:rPr lang="en-US" sz="1800" dirty="0">
                <a:latin typeface="Courier"/>
                <a:cs typeface="Courier"/>
              </a:rPr>
              <a:t> r = Receiver()</a:t>
            </a:r>
            <a:br>
              <a:rPr lang="en-US" sz="1800" dirty="0">
                <a:latin typeface="Courier"/>
                <a:cs typeface="Courier"/>
              </a:rPr>
            </a:br>
            <a:r>
              <a:rPr lang="en-US" sz="1800" dirty="0">
                <a:latin typeface="Courier"/>
                <a:cs typeface="Courier"/>
              </a:rPr>
              <a:t>        </a:t>
            </a:r>
            <a:r>
              <a:rPr lang="en-US" sz="1800" dirty="0" err="1">
                <a:latin typeface="Courier"/>
                <a:cs typeface="Courier"/>
              </a:rPr>
              <a:t>val</a:t>
            </a:r>
            <a:r>
              <a:rPr lang="en-US" sz="1800" dirty="0">
                <a:latin typeface="Courier"/>
                <a:cs typeface="Courier"/>
              </a:rPr>
              <a:t> </a:t>
            </a:r>
            <a:r>
              <a:rPr lang="en-US" sz="1800" dirty="0" err="1">
                <a:solidFill>
                  <a:srgbClr val="008000"/>
                </a:solidFill>
                <a:latin typeface="Courier"/>
                <a:cs typeface="Courier"/>
              </a:rPr>
              <a:t>argRef</a:t>
            </a:r>
            <a:r>
              <a:rPr lang="en-US" sz="1800" dirty="0">
                <a:latin typeface="Courier"/>
                <a:cs typeface="Courier"/>
              </a:rPr>
              <a:t> = Info()</a:t>
            </a:r>
            <a:br>
              <a:rPr lang="en-US" sz="1800" dirty="0">
                <a:latin typeface="Courier"/>
                <a:cs typeface="Courier"/>
              </a:rPr>
            </a:br>
            <a:r>
              <a:rPr lang="en-US" sz="1800" dirty="0">
                <a:latin typeface="Courier"/>
                <a:cs typeface="Courier"/>
              </a:rPr>
              <a:t>        </a:t>
            </a:r>
            <a:br>
              <a:rPr lang="en-US" sz="1800" dirty="0">
                <a:latin typeface="Courier"/>
                <a:cs typeface="Courier"/>
              </a:rPr>
            </a:br>
            <a:r>
              <a:rPr lang="en-US" sz="1800" dirty="0">
                <a:latin typeface="Courier"/>
                <a:cs typeface="Courier"/>
              </a:rPr>
              <a:t>        </a:t>
            </a:r>
            <a:r>
              <a:rPr lang="en-US" sz="1800" dirty="0" err="1">
                <a:latin typeface="Courier"/>
                <a:cs typeface="Courier"/>
              </a:rPr>
              <a:t>r.receive</a:t>
            </a:r>
            <a:r>
              <a:rPr lang="en-US" sz="1800" dirty="0">
                <a:latin typeface="Courier"/>
                <a:cs typeface="Courier"/>
              </a:rPr>
              <a:t>( </a:t>
            </a:r>
            <a:r>
              <a:rPr lang="en-US" sz="1800" dirty="0" err="1">
                <a:solidFill>
                  <a:srgbClr val="008000"/>
                </a:solidFill>
                <a:latin typeface="Courier"/>
                <a:cs typeface="Courier"/>
              </a:rPr>
              <a:t>argRef</a:t>
            </a:r>
            <a:r>
              <a:rPr lang="en-US" sz="1800" dirty="0">
                <a:latin typeface="Courier"/>
                <a:cs typeface="Courier"/>
              </a:rPr>
              <a:t> )</a:t>
            </a:r>
            <a:br>
              <a:rPr lang="en-US" sz="1800" dirty="0">
                <a:latin typeface="Courier"/>
                <a:cs typeface="Courier"/>
              </a:rPr>
            </a:br>
            <a:r>
              <a:rPr lang="en-US" sz="1800" dirty="0">
                <a:latin typeface="Courier"/>
                <a:cs typeface="Courier"/>
              </a:rPr>
              <a:t>        </a:t>
            </a:r>
            <a:r>
              <a:rPr lang="en-US" sz="1800" dirty="0" err="1">
                <a:solidFill>
                  <a:srgbClr val="008000"/>
                </a:solidFill>
                <a:latin typeface="Courier"/>
                <a:cs typeface="Courier"/>
              </a:rPr>
              <a:t>argRef</a:t>
            </a:r>
            <a:r>
              <a:rPr lang="en-US" sz="1800" dirty="0">
                <a:solidFill>
                  <a:srgbClr val="008000"/>
                </a:solidFill>
                <a:latin typeface="Courier"/>
                <a:cs typeface="Courier"/>
              </a:rPr>
              <a:t>?</a:t>
            </a:r>
            <a:r>
              <a:rPr lang="en-US" sz="1800" dirty="0">
                <a:latin typeface="Courier"/>
                <a:cs typeface="Courier"/>
              </a:rPr>
              <a:t>.</a:t>
            </a:r>
            <a:r>
              <a:rPr lang="en-US" sz="1800" dirty="0" err="1">
                <a:latin typeface="Courier"/>
                <a:cs typeface="Courier"/>
              </a:rPr>
              <a:t>doSomeMore</a:t>
            </a:r>
            <a:r>
              <a:rPr lang="en-US" sz="1800" dirty="0">
                <a:latin typeface="Courier"/>
                <a:cs typeface="Courier"/>
              </a:rPr>
              <a:t>()</a:t>
            </a:r>
            <a:br>
              <a:rPr lang="en-US" sz="1800" dirty="0">
                <a:latin typeface="Courier"/>
                <a:cs typeface="Courier"/>
              </a:rPr>
            </a:br>
            <a:r>
              <a:rPr lang="en-US" sz="1800" dirty="0">
                <a:latin typeface="Courier"/>
                <a:cs typeface="Courier"/>
              </a:rPr>
              <a:t>    }</a:t>
            </a:r>
            <a:br>
              <a:rPr lang="en-US" sz="1800" dirty="0">
                <a:latin typeface="Courier"/>
                <a:cs typeface="Courier"/>
              </a:rPr>
            </a:br>
            <a:r>
              <a:rPr lang="en-US" sz="1800" dirty="0">
                <a:latin typeface="Courier"/>
                <a:cs typeface="Courier"/>
              </a:rPr>
              <a:t>}</a:t>
            </a:r>
          </a:p>
          <a:p>
            <a:r>
              <a:rPr lang="en-US" sz="1800" dirty="0">
                <a:latin typeface="Courier"/>
                <a:cs typeface="Courier"/>
              </a:rPr>
              <a:t>class Receiver {</a:t>
            </a:r>
            <a:br>
              <a:rPr lang="en-US" sz="1800" dirty="0">
                <a:latin typeface="Courier"/>
                <a:cs typeface="Courier"/>
              </a:rPr>
            </a:br>
            <a:r>
              <a:rPr lang="en-US" sz="1800" dirty="0">
                <a:latin typeface="Courier" charset="0"/>
              </a:rPr>
              <a:t>    </a:t>
            </a:r>
            <a:r>
              <a:rPr lang="en-US" sz="1800" dirty="0">
                <a:solidFill>
                  <a:srgbClr val="3366FF"/>
                </a:solidFill>
                <a:latin typeface="Courier" charset="0"/>
              </a:rPr>
              <a:t>…</a:t>
            </a:r>
            <a:r>
              <a:rPr lang="en-US" sz="1800" dirty="0">
                <a:latin typeface="Courier"/>
                <a:cs typeface="Courier"/>
              </a:rPr>
              <a:t>    </a:t>
            </a:r>
            <a:br>
              <a:rPr lang="en-US" sz="1800" dirty="0">
                <a:latin typeface="Courier"/>
                <a:cs typeface="Courier"/>
              </a:rPr>
            </a:br>
            <a:r>
              <a:rPr lang="en-US" sz="1800" dirty="0">
                <a:latin typeface="Courier"/>
                <a:cs typeface="Courier"/>
              </a:rPr>
              <a:t>    fun receive( </a:t>
            </a:r>
            <a:r>
              <a:rPr lang="en-US" sz="1800" dirty="0" err="1">
                <a:solidFill>
                  <a:srgbClr val="008000"/>
                </a:solidFill>
                <a:latin typeface="Courier"/>
                <a:cs typeface="Courier"/>
              </a:rPr>
              <a:t>infoRef</a:t>
            </a:r>
            <a:r>
              <a:rPr lang="en-US" sz="1800" dirty="0">
                <a:solidFill>
                  <a:srgbClr val="008000"/>
                </a:solidFill>
                <a:latin typeface="Courier"/>
                <a:cs typeface="Courier"/>
              </a:rPr>
              <a:t>: Info?</a:t>
            </a:r>
            <a:r>
              <a:rPr lang="en-US" sz="1800" dirty="0">
                <a:latin typeface="Courier"/>
                <a:cs typeface="Courier"/>
              </a:rPr>
              <a:t> ) {</a:t>
            </a:r>
            <a:br>
              <a:rPr lang="en-US" sz="1800" dirty="0">
                <a:latin typeface="Courier"/>
                <a:cs typeface="Courier"/>
              </a:rPr>
            </a:br>
            <a:r>
              <a:rPr lang="en-US" sz="1800" dirty="0">
                <a:latin typeface="Courier"/>
                <a:cs typeface="Courier"/>
              </a:rPr>
              <a:t>        </a:t>
            </a:r>
            <a:r>
              <a:rPr lang="en-US" sz="1800" dirty="0" err="1">
                <a:solidFill>
                  <a:srgbClr val="008000"/>
                </a:solidFill>
                <a:latin typeface="Courier"/>
                <a:cs typeface="Courier"/>
              </a:rPr>
              <a:t>infoRef</a:t>
            </a:r>
            <a:r>
              <a:rPr lang="en-US" sz="1800" dirty="0" err="1">
                <a:latin typeface="Courier"/>
                <a:cs typeface="Courier"/>
              </a:rPr>
              <a:t>.doSomething</a:t>
            </a:r>
            <a:r>
              <a:rPr lang="en-US" sz="1800" dirty="0">
                <a:latin typeface="Courier"/>
                <a:cs typeface="Courier"/>
              </a:rPr>
              <a:t>()</a:t>
            </a:r>
            <a:br>
              <a:rPr lang="en-US" sz="1800" dirty="0">
                <a:latin typeface="Courier"/>
                <a:cs typeface="Courier"/>
              </a:rPr>
            </a:br>
            <a:r>
              <a:rPr lang="en-US" sz="1800" dirty="0">
                <a:latin typeface="Courier"/>
                <a:cs typeface="Courier"/>
              </a:rPr>
              <a:t>        </a:t>
            </a:r>
            <a:r>
              <a:rPr lang="en-US" sz="1800" dirty="0">
                <a:solidFill>
                  <a:srgbClr val="008000"/>
                </a:solidFill>
                <a:latin typeface="Courier"/>
                <a:cs typeface="Courier"/>
              </a:rPr>
              <a:t>// </a:t>
            </a:r>
            <a:r>
              <a:rPr lang="en-US" sz="1800" dirty="0" err="1">
                <a:solidFill>
                  <a:srgbClr val="008000"/>
                </a:solidFill>
                <a:latin typeface="Courier"/>
                <a:cs typeface="Courier"/>
              </a:rPr>
              <a:t>infoRef</a:t>
            </a:r>
            <a:r>
              <a:rPr lang="en-US" sz="1800" dirty="0">
                <a:solidFill>
                  <a:srgbClr val="008000"/>
                </a:solidFill>
                <a:latin typeface="Courier"/>
                <a:cs typeface="Courier"/>
              </a:rPr>
              <a:t> = Info()   </a:t>
            </a:r>
            <a:br>
              <a:rPr lang="en-US" sz="1800" dirty="0">
                <a:solidFill>
                  <a:srgbClr val="008000"/>
                </a:solidFill>
                <a:latin typeface="Courier"/>
                <a:cs typeface="Courier"/>
              </a:rPr>
            </a:br>
            <a:r>
              <a:rPr lang="en-US" sz="1800" dirty="0">
                <a:solidFill>
                  <a:srgbClr val="008000"/>
                </a:solidFill>
                <a:latin typeface="Courier"/>
                <a:cs typeface="Courier"/>
              </a:rPr>
              <a:t>        // error: parameter cannot be reassigned</a:t>
            </a:r>
            <a:br>
              <a:rPr lang="en-US" sz="1800" dirty="0">
                <a:solidFill>
                  <a:srgbClr val="008000"/>
                </a:solidFill>
                <a:latin typeface="Courier"/>
                <a:cs typeface="Courier"/>
              </a:rPr>
            </a:br>
            <a:r>
              <a:rPr lang="en-US" sz="1800" dirty="0">
                <a:solidFill>
                  <a:srgbClr val="008000"/>
                </a:solidFill>
                <a:latin typeface="Courier"/>
                <a:cs typeface="Courier"/>
              </a:rPr>
              <a:t>        // Kotlin enforces this at compile time</a:t>
            </a:r>
            <a:br>
              <a:rPr lang="en-US" sz="1800" dirty="0">
                <a:latin typeface="Courier"/>
                <a:cs typeface="Courier"/>
              </a:rPr>
            </a:br>
            <a:r>
              <a:rPr lang="en-US" sz="1800" dirty="0">
                <a:latin typeface="Courier"/>
                <a:cs typeface="Courier"/>
              </a:rPr>
              <a:t>    }</a:t>
            </a:r>
            <a:br>
              <a:rPr lang="en-US" sz="1800" dirty="0">
                <a:latin typeface="Courier"/>
                <a:cs typeface="Courier"/>
              </a:rPr>
            </a:br>
            <a:r>
              <a:rPr lang="en-US" sz="1800" dirty="0">
                <a:latin typeface="Courier"/>
                <a:cs typeface="Courier"/>
              </a:rPr>
              <a:t>}</a:t>
            </a:r>
            <a:r>
              <a:rPr lang="en-US" sz="1800" dirty="0">
                <a:latin typeface="Courier" charset="0"/>
              </a:rPr>
              <a:t> </a:t>
            </a:r>
          </a:p>
          <a:p>
            <a:endParaRPr lang="en-US" sz="1800" dirty="0">
              <a:latin typeface="Courier" charset="0"/>
            </a:endParaRPr>
          </a:p>
        </p:txBody>
      </p:sp>
      <p:sp>
        <p:nvSpPr>
          <p:cNvPr id="4" name="Slide Number Placeholder 5"/>
          <p:cNvSpPr>
            <a:spLocks noGrp="1"/>
          </p:cNvSpPr>
          <p:nvPr>
            <p:ph type="sldNum" sz="quarter" idx="12"/>
          </p:nvPr>
        </p:nvSpPr>
        <p:spPr/>
        <p:txBody>
          <a:bodyPr/>
          <a:lstStyle/>
          <a:p>
            <a:fld id="{208694FD-0C8B-DF47-8D57-2ECF3E0C3914}" type="slidenum">
              <a:rPr lang="en-US" smtClean="0"/>
              <a:pPr/>
              <a:t>62</a:t>
            </a:fld>
            <a:endParaRPr lang="en-US"/>
          </a:p>
        </p:txBody>
      </p:sp>
      <p:cxnSp>
        <p:nvCxnSpPr>
          <p:cNvPr id="3" name="Straight Arrow Connector 2">
            <a:extLst>
              <a:ext uri="{FF2B5EF4-FFF2-40B4-BE49-F238E27FC236}">
                <a16:creationId xmlns:a16="http://schemas.microsoft.com/office/drawing/2014/main" id="{7A53F63E-82D0-7ADF-8E0F-A2DE73DBC2CD}"/>
              </a:ext>
            </a:extLst>
          </p:cNvPr>
          <p:cNvCxnSpPr/>
          <p:nvPr/>
        </p:nvCxnSpPr>
        <p:spPr>
          <a:xfrm flipH="1">
            <a:off x="5591944" y="3429000"/>
            <a:ext cx="792088" cy="0"/>
          </a:xfrm>
          <a:prstGeom prst="straightConnector1">
            <a:avLst/>
          </a:prstGeom>
          <a:ln w="9525" cap="flat" cmpd="sng" algn="ctr">
            <a:solidFill>
              <a:schemeClr val="dk1"/>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dirty="0"/>
              <a:t>Kotlin Constructors</a:t>
            </a:r>
          </a:p>
        </p:txBody>
      </p:sp>
      <p:sp>
        <p:nvSpPr>
          <p:cNvPr id="508931" name="Rectangle 3"/>
          <p:cNvSpPr>
            <a:spLocks noGrp="1" noChangeArrowheads="1"/>
          </p:cNvSpPr>
          <p:nvPr>
            <p:ph idx="1"/>
          </p:nvPr>
        </p:nvSpPr>
        <p:spPr>
          <a:xfrm>
            <a:off x="983432" y="1483519"/>
            <a:ext cx="7717160" cy="5237956"/>
          </a:xfrm>
        </p:spPr>
        <p:txBody>
          <a:bodyPr>
            <a:normAutofit/>
          </a:bodyPr>
          <a:lstStyle/>
          <a:p>
            <a:pPr>
              <a:lnSpc>
                <a:spcPct val="90000"/>
              </a:lnSpc>
            </a:pPr>
            <a:r>
              <a:rPr lang="en-US" sz="1800" dirty="0">
                <a:latin typeface="Courier" charset="0"/>
              </a:rPr>
              <a:t>open class Base {</a:t>
            </a:r>
            <a:br>
              <a:rPr lang="en-US" sz="1800" dirty="0">
                <a:latin typeface="Courier" charset="0"/>
              </a:rPr>
            </a:br>
            <a:r>
              <a:rPr lang="en-US" sz="1800" dirty="0">
                <a:latin typeface="Courier" charset="0"/>
              </a:rPr>
              <a:t>    protected var value: Int = -1</a:t>
            </a:r>
            <a:br>
              <a:rPr lang="en-US" sz="1800" dirty="0">
                <a:latin typeface="Courier" charset="0"/>
              </a:rPr>
            </a:br>
            <a:r>
              <a:rPr lang="en-US" sz="1800" dirty="0">
                <a:latin typeface="Courier" charset="0"/>
              </a:rPr>
              <a:t>}</a:t>
            </a:r>
          </a:p>
          <a:p>
            <a:pPr>
              <a:lnSpc>
                <a:spcPct val="90000"/>
              </a:lnSpc>
            </a:pPr>
            <a:endParaRPr lang="en-US" sz="1800" dirty="0">
              <a:latin typeface="Courier" charset="0"/>
            </a:endParaRPr>
          </a:p>
          <a:p>
            <a:pPr>
              <a:lnSpc>
                <a:spcPct val="90000"/>
              </a:lnSpc>
            </a:pPr>
            <a:r>
              <a:rPr lang="en-US" sz="1800" dirty="0">
                <a:latin typeface="Courier" charset="0"/>
              </a:rPr>
              <a:t>class Derived : Base()</a:t>
            </a:r>
          </a:p>
          <a:p>
            <a:pPr>
              <a:lnSpc>
                <a:spcPct val="90000"/>
              </a:lnSpc>
            </a:pPr>
            <a:endParaRPr lang="en-US" sz="1800" dirty="0">
              <a:latin typeface="Courier" charset="0"/>
            </a:endParaRPr>
          </a:p>
          <a:p>
            <a:pPr>
              <a:lnSpc>
                <a:spcPct val="90000"/>
              </a:lnSpc>
            </a:pPr>
            <a:r>
              <a:rPr lang="en-US" sz="1800" dirty="0" err="1">
                <a:latin typeface="Courier" charset="0"/>
              </a:rPr>
              <a:t>val</a:t>
            </a:r>
            <a:r>
              <a:rPr lang="en-US" sz="1800" dirty="0">
                <a:latin typeface="Courier" charset="0"/>
              </a:rPr>
              <a:t> d = Derived()</a:t>
            </a:r>
            <a:br>
              <a:rPr lang="en-US" sz="1800" dirty="0">
                <a:latin typeface="Courier" charset="0"/>
              </a:rPr>
            </a:br>
            <a:endParaRPr lang="en-US" sz="1800" dirty="0"/>
          </a:p>
        </p:txBody>
      </p:sp>
      <p:sp>
        <p:nvSpPr>
          <p:cNvPr id="4" name="Slide Number Placeholder 5"/>
          <p:cNvSpPr>
            <a:spLocks noGrp="1"/>
          </p:cNvSpPr>
          <p:nvPr>
            <p:ph type="sldNum" sz="quarter" idx="12"/>
          </p:nvPr>
        </p:nvSpPr>
        <p:spPr/>
        <p:txBody>
          <a:bodyPr/>
          <a:lstStyle/>
          <a:p>
            <a:fld id="{663225D5-2EB6-0344-895B-2916E9976874}" type="slidenum">
              <a:rPr lang="en-US"/>
              <a:pPr/>
              <a:t>63</a:t>
            </a:fld>
            <a:endParaRPr lang="en-US"/>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dirty="0"/>
              <a:t>Kotlin Constructors</a:t>
            </a:r>
          </a:p>
        </p:txBody>
      </p:sp>
      <p:sp>
        <p:nvSpPr>
          <p:cNvPr id="508931" name="Rectangle 3"/>
          <p:cNvSpPr>
            <a:spLocks noGrp="1" noChangeArrowheads="1"/>
          </p:cNvSpPr>
          <p:nvPr>
            <p:ph idx="1"/>
          </p:nvPr>
        </p:nvSpPr>
        <p:spPr>
          <a:xfrm>
            <a:off x="983432" y="1483519"/>
            <a:ext cx="9721080" cy="5009356"/>
          </a:xfrm>
        </p:spPr>
        <p:txBody>
          <a:bodyPr>
            <a:normAutofit/>
          </a:bodyPr>
          <a:lstStyle/>
          <a:p>
            <a:pPr>
              <a:lnSpc>
                <a:spcPct val="90000"/>
              </a:lnSpc>
            </a:pPr>
            <a:r>
              <a:rPr lang="en-US" sz="1800" dirty="0">
                <a:latin typeface="Courier" charset="0"/>
              </a:rPr>
              <a:t>open class Base (</a:t>
            </a:r>
            <a:br>
              <a:rPr lang="en-US" sz="1800" dirty="0">
                <a:latin typeface="Courier" charset="0"/>
              </a:rPr>
            </a:br>
            <a:r>
              <a:rPr lang="en-US" sz="1800" dirty="0">
                <a:latin typeface="Courier" charset="0"/>
              </a:rPr>
              <a:t>    protected var value: Int = -1</a:t>
            </a:r>
            <a:br>
              <a:rPr lang="en-US" sz="1800" dirty="0">
                <a:latin typeface="Courier" charset="0"/>
              </a:rPr>
            </a:br>
            <a:r>
              <a:rPr lang="en-US" sz="1800" dirty="0">
                <a:latin typeface="Courier" charset="0"/>
              </a:rPr>
              <a:t>    </a:t>
            </a:r>
            <a:r>
              <a:rPr lang="en-US" sz="1800" dirty="0">
                <a:solidFill>
                  <a:srgbClr val="008000"/>
                </a:solidFill>
                <a:latin typeface="Courier" charset="0"/>
              </a:rPr>
              <a:t>// super() called implicitly, no explicit constructor needed</a:t>
            </a:r>
            <a:br>
              <a:rPr lang="en-US" sz="1800" dirty="0">
                <a:latin typeface="Courier" charset="0"/>
              </a:rPr>
            </a:br>
            <a:r>
              <a:rPr lang="en-US" sz="1800" dirty="0">
                <a:latin typeface="Courier" charset="0"/>
              </a:rPr>
              <a:t>)</a:t>
            </a:r>
          </a:p>
          <a:p>
            <a:pPr>
              <a:lnSpc>
                <a:spcPct val="90000"/>
              </a:lnSpc>
            </a:pPr>
            <a:endParaRPr lang="en-US" sz="1800" dirty="0">
              <a:latin typeface="Courier" charset="0"/>
            </a:endParaRPr>
          </a:p>
          <a:p>
            <a:r>
              <a:rPr lang="en-US" sz="1800" dirty="0">
                <a:latin typeface="Courier" charset="0"/>
              </a:rPr>
              <a:t>class Derived : Base() {</a:t>
            </a:r>
            <a:br>
              <a:rPr lang="en-US" sz="1800" dirty="0">
                <a:latin typeface="Courier" charset="0"/>
              </a:rPr>
            </a:br>
            <a:r>
              <a:rPr lang="en-US" sz="1800" dirty="0">
                <a:latin typeface="Courier" charset="0"/>
              </a:rPr>
              <a:t>    </a:t>
            </a:r>
            <a:r>
              <a:rPr lang="en-US" sz="1800" dirty="0">
                <a:solidFill>
                  <a:srgbClr val="008000"/>
                </a:solidFill>
                <a:latin typeface="Courier" charset="0"/>
              </a:rPr>
              <a:t>// Base() is called before Derived is initialized</a:t>
            </a:r>
            <a:br>
              <a:rPr lang="en-US" sz="1800" dirty="0">
                <a:latin typeface="Courier" charset="0"/>
              </a:rPr>
            </a:br>
            <a:r>
              <a:rPr lang="en-US" sz="1800" dirty="0">
                <a:latin typeface="Courier" charset="0"/>
              </a:rPr>
              <a:t>}</a:t>
            </a:r>
          </a:p>
          <a:p>
            <a:pPr>
              <a:lnSpc>
                <a:spcPct val="90000"/>
              </a:lnSpc>
            </a:pPr>
            <a:endParaRPr lang="en-US" sz="1800" dirty="0">
              <a:latin typeface="Courier" charset="0"/>
            </a:endParaRPr>
          </a:p>
          <a:p>
            <a:pPr>
              <a:lnSpc>
                <a:spcPct val="90000"/>
              </a:lnSpc>
            </a:pPr>
            <a:r>
              <a:rPr lang="en-US" sz="1800" dirty="0" err="1">
                <a:latin typeface="Courier" charset="0"/>
              </a:rPr>
              <a:t>val</a:t>
            </a:r>
            <a:r>
              <a:rPr lang="en-US" sz="1800" dirty="0">
                <a:latin typeface="Courier" charset="0"/>
              </a:rPr>
              <a:t> d = Derived();</a:t>
            </a:r>
            <a:br>
              <a:rPr lang="en-US" sz="1800" dirty="0">
                <a:latin typeface="Courier" charset="0"/>
              </a:rPr>
            </a:br>
            <a:endParaRPr lang="en-US" sz="1800" dirty="0"/>
          </a:p>
        </p:txBody>
      </p:sp>
      <p:sp>
        <p:nvSpPr>
          <p:cNvPr id="4" name="Slide Number Placeholder 5"/>
          <p:cNvSpPr>
            <a:spLocks noGrp="1"/>
          </p:cNvSpPr>
          <p:nvPr>
            <p:ph type="sldNum" sz="quarter" idx="12"/>
          </p:nvPr>
        </p:nvSpPr>
        <p:spPr/>
        <p:txBody>
          <a:bodyPr/>
          <a:lstStyle/>
          <a:p>
            <a:fld id="{663225D5-2EB6-0344-895B-2916E9976874}" type="slidenum">
              <a:rPr lang="en-US"/>
              <a:pPr/>
              <a:t>64</a:t>
            </a:fld>
            <a:endParaRPr lang="en-US"/>
          </a:p>
        </p:txBody>
      </p:sp>
    </p:spTree>
    <p:extLst>
      <p:ext uri="{BB962C8B-B14F-4D97-AF65-F5344CB8AC3E}">
        <p14:creationId xmlns:p14="http://schemas.microsoft.com/office/powerpoint/2010/main" val="87710459"/>
      </p:ext>
    </p:extLst>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title"/>
          </p:nvPr>
        </p:nvSpPr>
        <p:spPr/>
        <p:txBody>
          <a:bodyPr/>
          <a:lstStyle/>
          <a:p>
            <a:r>
              <a:rPr lang="en-US" dirty="0"/>
              <a:t>Kotlin Constructors</a:t>
            </a:r>
          </a:p>
        </p:txBody>
      </p:sp>
      <p:sp>
        <p:nvSpPr>
          <p:cNvPr id="508931" name="Rectangle 3"/>
          <p:cNvSpPr>
            <a:spLocks noGrp="1" noChangeArrowheads="1"/>
          </p:cNvSpPr>
          <p:nvPr>
            <p:ph idx="1"/>
          </p:nvPr>
        </p:nvSpPr>
        <p:spPr>
          <a:xfrm>
            <a:off x="983432" y="1483518"/>
            <a:ext cx="9361040" cy="5374481"/>
          </a:xfrm>
        </p:spPr>
        <p:txBody>
          <a:bodyPr>
            <a:normAutofit/>
          </a:bodyPr>
          <a:lstStyle/>
          <a:p>
            <a:r>
              <a:rPr lang="en-US" sz="1800" dirty="0">
                <a:latin typeface="Courier" charset="0"/>
              </a:rPr>
              <a:t>open class Base (</a:t>
            </a:r>
            <a:br>
              <a:rPr lang="en-US" sz="1800" dirty="0">
                <a:latin typeface="Courier" charset="0"/>
              </a:rPr>
            </a:br>
            <a:r>
              <a:rPr lang="en-US" sz="1800" dirty="0">
                <a:latin typeface="Courier" charset="0"/>
              </a:rPr>
              <a:t>    protected var value: Int</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pPr>
              <a:lnSpc>
                <a:spcPct val="90000"/>
              </a:lnSpc>
            </a:pPr>
            <a:r>
              <a:rPr lang="en-US" sz="1800" dirty="0">
                <a:latin typeface="Courier" charset="0"/>
              </a:rPr>
              <a:t>class Derived( </a:t>
            </a:r>
            <a:br>
              <a:rPr lang="en-US" sz="1800" dirty="0">
                <a:latin typeface="Courier" charset="0"/>
              </a:rPr>
            </a:br>
            <a:r>
              <a:rPr lang="en-US" sz="1800" dirty="0">
                <a:latin typeface="Courier" charset="0"/>
              </a:rPr>
              <a:t>    </a:t>
            </a:r>
            <a:r>
              <a:rPr lang="en-US" sz="1800" dirty="0" err="1">
                <a:latin typeface="Courier" charset="0"/>
              </a:rPr>
              <a:t>initValue</a:t>
            </a:r>
            <a:r>
              <a:rPr lang="en-US" sz="1800" dirty="0">
                <a:latin typeface="Courier" charset="0"/>
              </a:rPr>
              <a:t>: Int</a:t>
            </a:r>
            <a:br>
              <a:rPr lang="en-US" sz="1800" dirty="0">
                <a:latin typeface="Courier" charset="0"/>
              </a:rPr>
            </a:br>
            <a:r>
              <a:rPr lang="en-US" sz="1800" dirty="0">
                <a:latin typeface="Courier" charset="0"/>
              </a:rPr>
              <a:t>    ) : Base( </a:t>
            </a:r>
            <a:r>
              <a:rPr lang="en-US" sz="1800" dirty="0" err="1">
                <a:latin typeface="Courier" charset="0"/>
              </a:rPr>
              <a:t>initValue</a:t>
            </a:r>
            <a:r>
              <a:rPr lang="en-US" sz="1800" dirty="0">
                <a:latin typeface="Courier" charset="0"/>
              </a:rPr>
              <a:t> ) </a:t>
            </a:r>
            <a:br>
              <a:rPr lang="en-US" sz="1800" dirty="0">
                <a:latin typeface="Courier" charset="0"/>
              </a:rPr>
            </a:br>
            <a:r>
              <a:rPr lang="en-US" sz="1800" dirty="0">
                <a:latin typeface="Courier" charset="0"/>
              </a:rPr>
              <a:t>    </a:t>
            </a:r>
            <a:r>
              <a:rPr lang="en-US" sz="1800" dirty="0">
                <a:solidFill>
                  <a:srgbClr val="008000"/>
                </a:solidFill>
                <a:latin typeface="Courier" charset="0"/>
              </a:rPr>
              <a:t>// Base( </a:t>
            </a:r>
            <a:r>
              <a:rPr lang="en-US" sz="1800" dirty="0" err="1">
                <a:solidFill>
                  <a:srgbClr val="008000"/>
                </a:solidFill>
                <a:latin typeface="Courier" charset="0"/>
              </a:rPr>
              <a:t>initValue</a:t>
            </a:r>
            <a:r>
              <a:rPr lang="en-US" sz="1800" dirty="0">
                <a:solidFill>
                  <a:srgbClr val="008000"/>
                </a:solidFill>
                <a:latin typeface="Courier" charset="0"/>
              </a:rPr>
              <a:t> ) calls the superclass constructor</a:t>
            </a:r>
            <a:br>
              <a:rPr lang="en-US" sz="1800" dirty="0">
                <a:latin typeface="Courier" charset="0"/>
              </a:rPr>
            </a:br>
            <a:endParaRPr lang="en-US" sz="1800" dirty="0">
              <a:latin typeface="Courier" charset="0"/>
            </a:endParaRPr>
          </a:p>
          <a:p>
            <a:r>
              <a:rPr lang="en-US" sz="1800" dirty="0" err="1">
                <a:latin typeface="Courier" charset="0"/>
              </a:rPr>
              <a:t>val</a:t>
            </a:r>
            <a:r>
              <a:rPr lang="en-US" sz="1800" dirty="0">
                <a:latin typeface="Courier" charset="0"/>
              </a:rPr>
              <a:t> d = Derived(-1)</a:t>
            </a:r>
            <a:br>
              <a:rPr lang="en-US" sz="1800" dirty="0">
                <a:latin typeface="Courier" charset="0"/>
              </a:rPr>
            </a:br>
            <a:br>
              <a:rPr lang="en-US" sz="1800" dirty="0">
                <a:latin typeface="Courier" charset="0"/>
              </a:rPr>
            </a:br>
            <a:endParaRPr lang="en-US" sz="1800" dirty="0"/>
          </a:p>
        </p:txBody>
      </p:sp>
      <p:sp>
        <p:nvSpPr>
          <p:cNvPr id="4" name="Slide Number Placeholder 5"/>
          <p:cNvSpPr>
            <a:spLocks noGrp="1"/>
          </p:cNvSpPr>
          <p:nvPr>
            <p:ph type="sldNum" sz="quarter" idx="12"/>
          </p:nvPr>
        </p:nvSpPr>
        <p:spPr/>
        <p:txBody>
          <a:bodyPr/>
          <a:lstStyle/>
          <a:p>
            <a:fld id="{663225D5-2EB6-0344-895B-2916E9976874}" type="slidenum">
              <a:rPr lang="en-US"/>
              <a:pPr/>
              <a:t>65</a:t>
            </a:fld>
            <a:endParaRPr lang="en-US"/>
          </a:p>
        </p:txBody>
      </p:sp>
    </p:spTree>
    <p:extLst>
      <p:ext uri="{BB962C8B-B14F-4D97-AF65-F5344CB8AC3E}">
        <p14:creationId xmlns:p14="http://schemas.microsoft.com/office/powerpoint/2010/main" val="263780491"/>
      </p:ext>
    </p:extLst>
  </p:cSld>
  <p:clrMapOvr>
    <a:masterClrMapping/>
  </p:clrMapOvr>
  <p:transition/>
  <p:extLst>
    <p:ext uri="{6950BFC3-D8DA-4A85-94F7-54DA5524770B}">
      <p188:commentRel xmlns:p188="http://schemas.microsoft.com/office/powerpoint/2018/8/main" r:id="rId3"/>
    </p:ext>
  </p:extLs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0978" name="Rectangle 2"/>
          <p:cNvSpPr>
            <a:spLocks noGrp="1" noChangeArrowheads="1"/>
          </p:cNvSpPr>
          <p:nvPr>
            <p:ph type="title"/>
          </p:nvPr>
        </p:nvSpPr>
        <p:spPr/>
        <p:txBody>
          <a:bodyPr/>
          <a:lstStyle/>
          <a:p>
            <a:r>
              <a:rPr lang="en-US" dirty="0"/>
              <a:t>Kotlin Prevents Accidental Data Shadowing</a:t>
            </a:r>
          </a:p>
        </p:txBody>
      </p:sp>
      <p:sp>
        <p:nvSpPr>
          <p:cNvPr id="510979" name="Rectangle 3"/>
          <p:cNvSpPr>
            <a:spLocks noGrp="1" noChangeArrowheads="1"/>
          </p:cNvSpPr>
          <p:nvPr>
            <p:ph idx="1"/>
          </p:nvPr>
        </p:nvSpPr>
        <p:spPr/>
        <p:txBody>
          <a:bodyPr/>
          <a:lstStyle/>
          <a:p>
            <a:pPr>
              <a:lnSpc>
                <a:spcPct val="90000"/>
              </a:lnSpc>
            </a:pPr>
            <a:r>
              <a:rPr lang="en-US" sz="1800" dirty="0">
                <a:latin typeface="Courier" charset="0"/>
              </a:rPr>
              <a:t>open class Base {</a:t>
            </a:r>
            <a:br>
              <a:rPr lang="en-US" sz="1800" dirty="0">
                <a:latin typeface="Courier" charset="0"/>
              </a:rPr>
            </a:br>
            <a:r>
              <a:rPr lang="en-US" sz="1800" dirty="0">
                <a:latin typeface="Courier" charset="0"/>
              </a:rPr>
              <a:t>    protected var value: Int = 0</a:t>
            </a:r>
            <a:br>
              <a:rPr lang="en-US" sz="1800" dirty="0">
                <a:solidFill>
                  <a:schemeClr val="hlink"/>
                </a:solidFill>
                <a:latin typeface="Courier" charset="0"/>
              </a:rPr>
            </a:br>
            <a:r>
              <a:rPr lang="en-US" sz="1800" dirty="0">
                <a:latin typeface="Courier" charset="0"/>
              </a:rPr>
              <a:t>}</a:t>
            </a:r>
            <a:br>
              <a:rPr lang="en-US" sz="1800" dirty="0">
                <a:latin typeface="Courier" charset="0"/>
              </a:rPr>
            </a:br>
            <a:endParaRPr lang="en-US" sz="1800" dirty="0">
              <a:latin typeface="Courier" charset="0"/>
            </a:endParaRPr>
          </a:p>
          <a:p>
            <a:r>
              <a:rPr lang="en-US" sz="1800" dirty="0">
                <a:latin typeface="Courier" charset="0"/>
              </a:rPr>
              <a:t>class Derived : Base() {</a:t>
            </a:r>
            <a:br>
              <a:rPr lang="en-US" sz="1800" dirty="0">
                <a:latin typeface="Courier" charset="0"/>
              </a:rPr>
            </a:br>
            <a:r>
              <a:rPr lang="en-US" sz="1800" dirty="0">
                <a:latin typeface="Courier" charset="0"/>
              </a:rPr>
              <a:t>    </a:t>
            </a:r>
            <a:r>
              <a:rPr lang="en-US" sz="1800" dirty="0">
                <a:solidFill>
                  <a:srgbClr val="008000"/>
                </a:solidFill>
                <a:latin typeface="Courier" charset="0"/>
              </a:rPr>
              <a:t>// private var value: Int = 0 </a:t>
            </a:r>
            <a:br>
              <a:rPr lang="en-US" sz="1800" dirty="0">
                <a:solidFill>
                  <a:srgbClr val="008000"/>
                </a:solidFill>
                <a:latin typeface="Courier" charset="0"/>
              </a:rPr>
            </a:br>
            <a:r>
              <a:rPr lang="en-US" sz="1800" dirty="0">
                <a:solidFill>
                  <a:srgbClr val="008000"/>
                </a:solidFill>
                <a:latin typeface="Courier" charset="0"/>
              </a:rPr>
              <a:t>    // Error: would hide </a:t>
            </a:r>
            <a:r>
              <a:rPr lang="en-US" sz="1800" dirty="0" err="1">
                <a:solidFill>
                  <a:srgbClr val="008000"/>
                </a:solidFill>
                <a:latin typeface="Courier" charset="0"/>
              </a:rPr>
              <a:t>Base.value</a:t>
            </a:r>
            <a:br>
              <a:rPr lang="en-US" sz="1800" dirty="0">
                <a:solidFill>
                  <a:srgbClr val="008000"/>
                </a:solidFill>
                <a:latin typeface="Courier" charset="0"/>
              </a:rPr>
            </a:br>
            <a:r>
              <a:rPr lang="en-US" sz="1800" dirty="0">
                <a:solidFill>
                  <a:srgbClr val="008000"/>
                </a:solidFill>
                <a:latin typeface="Courier" charset="0"/>
              </a:rPr>
              <a:t>    // Kotlin prevents accidental data shadowing</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    fun test() {</a:t>
            </a:r>
            <a:br>
              <a:rPr lang="en-US" sz="1800" dirty="0">
                <a:latin typeface="Courier" charset="0"/>
              </a:rPr>
            </a:br>
            <a:r>
              <a:rPr lang="en-US" sz="1800" dirty="0">
                <a:latin typeface="Courier" charset="0"/>
              </a:rPr>
              <a:t>    value = 0</a:t>
            </a:r>
            <a:br>
              <a:rPr lang="en-US" sz="1800" dirty="0">
                <a:latin typeface="Courier" charset="0"/>
              </a:rPr>
            </a:br>
            <a:r>
              <a:rPr lang="en-US" sz="1800" dirty="0">
                <a:latin typeface="Courier" charset="0"/>
              </a:rPr>
              <a:t>    </a:t>
            </a:r>
            <a:r>
              <a:rPr lang="en-US" sz="1800" dirty="0">
                <a:solidFill>
                  <a:srgbClr val="008000"/>
                </a:solidFill>
                <a:latin typeface="Courier" charset="0"/>
              </a:rPr>
              <a:t>// refers to inherited </a:t>
            </a:r>
            <a:r>
              <a:rPr lang="en-US" sz="1800" dirty="0" err="1">
                <a:solidFill>
                  <a:srgbClr val="008000"/>
                </a:solidFill>
                <a:latin typeface="Courier" charset="0"/>
              </a:rPr>
              <a:t>Base.value</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 </a:t>
            </a:r>
            <a:r>
              <a:rPr lang="en-US" sz="1800" dirty="0"/>
              <a:t>  </a:t>
            </a:r>
          </a:p>
        </p:txBody>
      </p:sp>
      <p:sp>
        <p:nvSpPr>
          <p:cNvPr id="4" name="Slide Number Placeholder 5"/>
          <p:cNvSpPr>
            <a:spLocks noGrp="1"/>
          </p:cNvSpPr>
          <p:nvPr>
            <p:ph type="sldNum" sz="quarter" idx="12"/>
          </p:nvPr>
        </p:nvSpPr>
        <p:spPr/>
        <p:txBody>
          <a:bodyPr/>
          <a:lstStyle/>
          <a:p>
            <a:fld id="{05CBA72E-9B0E-4C4D-9FFD-0178F4261E4F}" type="slidenum">
              <a:rPr lang="en-US"/>
              <a:pPr/>
              <a:t>66</a:t>
            </a:fld>
            <a:endParaRPr lang="en-US"/>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FD074A-7E4A-D10E-B9A4-A3D0615F5A9A}"/>
            </a:ext>
          </a:extLst>
        </p:cNvPr>
        <p:cNvGrpSpPr/>
        <p:nvPr/>
      </p:nvGrpSpPr>
      <p:grpSpPr>
        <a:xfrm>
          <a:off x="0" y="0"/>
          <a:ext cx="0" cy="0"/>
          <a:chOff x="0" y="0"/>
          <a:chExt cx="0" cy="0"/>
        </a:xfrm>
      </p:grpSpPr>
      <p:sp>
        <p:nvSpPr>
          <p:cNvPr id="510978" name="Rectangle 2">
            <a:extLst>
              <a:ext uri="{FF2B5EF4-FFF2-40B4-BE49-F238E27FC236}">
                <a16:creationId xmlns:a16="http://schemas.microsoft.com/office/drawing/2014/main" id="{2C621AAD-0035-8E2B-367C-4824C8AAF2C7}"/>
              </a:ext>
            </a:extLst>
          </p:cNvPr>
          <p:cNvSpPr>
            <a:spLocks noGrp="1" noChangeArrowheads="1"/>
          </p:cNvSpPr>
          <p:nvPr>
            <p:ph type="title"/>
          </p:nvPr>
        </p:nvSpPr>
        <p:spPr/>
        <p:txBody>
          <a:bodyPr/>
          <a:lstStyle/>
          <a:p>
            <a:r>
              <a:rPr lang="en-US" dirty="0"/>
              <a:t>Kotlin Prevents Accidental Data Shadowing</a:t>
            </a:r>
          </a:p>
        </p:txBody>
      </p:sp>
      <p:sp>
        <p:nvSpPr>
          <p:cNvPr id="510979" name="Rectangle 3">
            <a:extLst>
              <a:ext uri="{FF2B5EF4-FFF2-40B4-BE49-F238E27FC236}">
                <a16:creationId xmlns:a16="http://schemas.microsoft.com/office/drawing/2014/main" id="{3293CBA8-F5BD-D55F-C3E5-D9439401FC40}"/>
              </a:ext>
            </a:extLst>
          </p:cNvPr>
          <p:cNvSpPr>
            <a:spLocks noGrp="1" noChangeArrowheads="1"/>
          </p:cNvSpPr>
          <p:nvPr>
            <p:ph idx="1"/>
          </p:nvPr>
        </p:nvSpPr>
        <p:spPr/>
        <p:txBody>
          <a:bodyPr/>
          <a:lstStyle/>
          <a:p>
            <a:pPr>
              <a:lnSpc>
                <a:spcPct val="90000"/>
              </a:lnSpc>
            </a:pPr>
            <a:r>
              <a:rPr lang="en-US" sz="1800" dirty="0">
                <a:latin typeface="Courier" charset="0"/>
              </a:rPr>
              <a:t>open class Base {</a:t>
            </a:r>
            <a:br>
              <a:rPr lang="en-US" sz="1800" dirty="0">
                <a:latin typeface="Courier" charset="0"/>
              </a:rPr>
            </a:br>
            <a:r>
              <a:rPr lang="en-US" sz="1800" dirty="0">
                <a:latin typeface="Courier" charset="0"/>
              </a:rPr>
              <a:t>    protected open var value: Int = 0</a:t>
            </a:r>
            <a:br>
              <a:rPr lang="en-US" sz="1800" dirty="0">
                <a:solidFill>
                  <a:schemeClr val="hlink"/>
                </a:solidFill>
                <a:latin typeface="Courier" charset="0"/>
              </a:rPr>
            </a:br>
            <a:r>
              <a:rPr lang="en-US" sz="1800" dirty="0">
                <a:latin typeface="Courier" charset="0"/>
              </a:rPr>
              <a:t>}</a:t>
            </a:r>
            <a:br>
              <a:rPr lang="en-US" sz="1800" dirty="0">
                <a:latin typeface="Courier" charset="0"/>
              </a:rPr>
            </a:br>
            <a:endParaRPr lang="en-US" sz="1800" dirty="0">
              <a:latin typeface="Courier" charset="0"/>
            </a:endParaRPr>
          </a:p>
          <a:p>
            <a:r>
              <a:rPr lang="en-US" sz="1800" dirty="0">
                <a:latin typeface="Courier" charset="0"/>
              </a:rPr>
              <a:t>class Derived : Base() {</a:t>
            </a:r>
            <a:br>
              <a:rPr lang="en-US" sz="1800" dirty="0">
                <a:latin typeface="Courier" charset="0"/>
              </a:rPr>
            </a:br>
            <a:r>
              <a:rPr lang="en-US" sz="1800" dirty="0">
                <a:latin typeface="Courier" charset="0"/>
              </a:rPr>
              <a:t>    override var value: Int = 0</a:t>
            </a:r>
            <a:br>
              <a:rPr lang="en-US" sz="1800" dirty="0">
                <a:solidFill>
                  <a:schemeClr val="hlink"/>
                </a:solidFill>
                <a:latin typeface="Courier" charset="0"/>
              </a:rPr>
            </a:br>
            <a:r>
              <a:rPr lang="en-US" sz="1800" dirty="0">
                <a:latin typeface="Courier" charset="0"/>
              </a:rPr>
              <a:t>    </a:t>
            </a:r>
            <a:br>
              <a:rPr lang="en-US" sz="1800" dirty="0">
                <a:latin typeface="Courier" charset="0"/>
              </a:rPr>
            </a:br>
            <a:r>
              <a:rPr lang="en-US" sz="1800" dirty="0">
                <a:latin typeface="Courier" charset="0"/>
              </a:rPr>
              <a:t>    fun test() {</a:t>
            </a:r>
            <a:br>
              <a:rPr lang="en-US" sz="1800" dirty="0">
                <a:latin typeface="Courier" charset="0"/>
              </a:rPr>
            </a:br>
            <a:r>
              <a:rPr lang="en-US" sz="1800" dirty="0">
                <a:latin typeface="Courier" charset="0"/>
              </a:rPr>
              <a:t>        value = 0 </a:t>
            </a:r>
            <a:r>
              <a:rPr lang="en-US" sz="1800" dirty="0">
                <a:solidFill>
                  <a:srgbClr val="008000"/>
                </a:solidFill>
                <a:latin typeface="Courier" charset="0"/>
              </a:rPr>
              <a:t>// subclass property</a:t>
            </a:r>
            <a:br>
              <a:rPr lang="en-US" sz="1800" dirty="0">
                <a:solidFill>
                  <a:srgbClr val="008000"/>
                </a:solidFill>
                <a:latin typeface="Courier" charset="0"/>
              </a:rPr>
            </a:br>
            <a:r>
              <a:rPr lang="en-US" sz="1800" dirty="0">
                <a:latin typeface="Courier" charset="0"/>
              </a:rPr>
              <a:t>        </a:t>
            </a:r>
            <a:r>
              <a:rPr lang="en-US" sz="1800" dirty="0" err="1">
                <a:latin typeface="Courier" charset="0"/>
              </a:rPr>
              <a:t>this.value</a:t>
            </a:r>
            <a:r>
              <a:rPr lang="en-US" sz="1800" dirty="0">
                <a:latin typeface="Courier" charset="0"/>
              </a:rPr>
              <a:t> = 1 </a:t>
            </a:r>
            <a:r>
              <a:rPr lang="en-US" sz="1800" dirty="0">
                <a:solidFill>
                  <a:srgbClr val="008000"/>
                </a:solidFill>
                <a:latin typeface="Courier" charset="0"/>
              </a:rPr>
              <a:t>// subclass property</a:t>
            </a:r>
            <a:br>
              <a:rPr lang="en-US" sz="1800" dirty="0">
                <a:solidFill>
                  <a:srgbClr val="008000"/>
                </a:solidFill>
                <a:latin typeface="Courier" charset="0"/>
              </a:rPr>
            </a:br>
            <a:r>
              <a:rPr lang="en-US" sz="1800" dirty="0">
                <a:latin typeface="Courier" charset="0"/>
              </a:rPr>
              <a:t>        </a:t>
            </a:r>
            <a:r>
              <a:rPr lang="en-US" sz="1800" dirty="0" err="1">
                <a:latin typeface="Courier" charset="0"/>
              </a:rPr>
              <a:t>super.value</a:t>
            </a:r>
            <a:r>
              <a:rPr lang="en-US" sz="1800" dirty="0">
                <a:latin typeface="Courier" charset="0"/>
              </a:rPr>
              <a:t> = 2 </a:t>
            </a:r>
            <a:r>
              <a:rPr lang="en-US" sz="1800" dirty="0">
                <a:solidFill>
                  <a:srgbClr val="008000"/>
                </a:solidFill>
                <a:latin typeface="Courier" charset="0"/>
              </a:rPr>
              <a:t>// superclass property</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a:t>
            </a:r>
            <a:r>
              <a:rPr lang="en-US" sz="1800" dirty="0"/>
              <a:t>  </a:t>
            </a:r>
          </a:p>
        </p:txBody>
      </p:sp>
      <p:sp>
        <p:nvSpPr>
          <p:cNvPr id="4" name="Slide Number Placeholder 5">
            <a:extLst>
              <a:ext uri="{FF2B5EF4-FFF2-40B4-BE49-F238E27FC236}">
                <a16:creationId xmlns:a16="http://schemas.microsoft.com/office/drawing/2014/main" id="{E931F2EC-E5B3-0787-8C74-638A5FE0394A}"/>
              </a:ext>
            </a:extLst>
          </p:cNvPr>
          <p:cNvSpPr>
            <a:spLocks noGrp="1"/>
          </p:cNvSpPr>
          <p:nvPr>
            <p:ph type="sldNum" sz="quarter" idx="12"/>
          </p:nvPr>
        </p:nvSpPr>
        <p:spPr/>
        <p:txBody>
          <a:bodyPr/>
          <a:lstStyle/>
          <a:p>
            <a:fld id="{05CBA72E-9B0E-4C4D-9FFD-0178F4261E4F}" type="slidenum">
              <a:rPr lang="en-US"/>
              <a:pPr/>
              <a:t>67</a:t>
            </a:fld>
            <a:endParaRPr lang="en-US"/>
          </a:p>
        </p:txBody>
      </p:sp>
    </p:spTree>
    <p:extLst>
      <p:ext uri="{BB962C8B-B14F-4D97-AF65-F5344CB8AC3E}">
        <p14:creationId xmlns:p14="http://schemas.microsoft.com/office/powerpoint/2010/main" val="1869286594"/>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6098" name="Rectangle 2"/>
          <p:cNvSpPr>
            <a:spLocks noGrp="1" noChangeArrowheads="1"/>
          </p:cNvSpPr>
          <p:nvPr>
            <p:ph type="title"/>
          </p:nvPr>
        </p:nvSpPr>
        <p:spPr/>
        <p:txBody>
          <a:bodyPr/>
          <a:lstStyle/>
          <a:p>
            <a:r>
              <a:rPr lang="en-US" dirty="0"/>
              <a:t>Kotlin Dynamic Binding</a:t>
            </a:r>
          </a:p>
        </p:txBody>
      </p:sp>
      <p:sp>
        <p:nvSpPr>
          <p:cNvPr id="516099" name="Rectangle 3"/>
          <p:cNvSpPr>
            <a:spLocks noGrp="1" noChangeArrowheads="1"/>
          </p:cNvSpPr>
          <p:nvPr>
            <p:ph idx="1"/>
          </p:nvPr>
        </p:nvSpPr>
        <p:spPr>
          <a:xfrm>
            <a:off x="838200" y="1825625"/>
            <a:ext cx="10515600" cy="4895850"/>
          </a:xfrm>
        </p:spPr>
        <p:txBody>
          <a:bodyPr>
            <a:normAutofit/>
          </a:bodyPr>
          <a:lstStyle/>
          <a:p>
            <a:pPr>
              <a:lnSpc>
                <a:spcPct val="90000"/>
              </a:lnSpc>
            </a:pPr>
            <a:r>
              <a:rPr lang="en-US" sz="1800" dirty="0">
                <a:latin typeface="Courier" charset="0"/>
              </a:rPr>
              <a:t>open class Base {</a:t>
            </a:r>
            <a:br>
              <a:rPr lang="en-US" sz="1800" dirty="0">
                <a:latin typeface="Courier" charset="0"/>
              </a:rPr>
            </a:br>
            <a:r>
              <a:rPr lang="en-US" sz="1800" dirty="0">
                <a:latin typeface="Courier" charset="0"/>
              </a:rPr>
              <a:t>    open var </a:t>
            </a:r>
            <a:r>
              <a:rPr lang="en-US" sz="1800" dirty="0" err="1">
                <a:latin typeface="Courier" charset="0"/>
              </a:rPr>
              <a:t>i</a:t>
            </a:r>
            <a:r>
              <a:rPr lang="en-US" sz="1800" dirty="0">
                <a:latin typeface="Courier" charset="0"/>
              </a:rPr>
              <a:t>: Int = 1</a:t>
            </a:r>
            <a:br>
              <a:rPr lang="en-US" sz="1800" dirty="0">
                <a:latin typeface="Courier" charset="0"/>
              </a:rPr>
            </a:br>
            <a:r>
              <a:rPr lang="en-US" sz="1800" dirty="0">
                <a:latin typeface="Courier" charset="0"/>
              </a:rPr>
              <a:t>    open fun f(): Int { return </a:t>
            </a:r>
            <a:r>
              <a:rPr lang="en-US" sz="1800" dirty="0" err="1">
                <a:latin typeface="Courier" charset="0"/>
              </a:rPr>
              <a:t>i</a:t>
            </a:r>
            <a:r>
              <a:rPr lang="en-US" sz="1800" dirty="0">
                <a:latin typeface="Courier" charset="0"/>
              </a:rPr>
              <a:t> }</a:t>
            </a:r>
            <a:br>
              <a:rPr lang="en-US" sz="1800" dirty="0">
                <a:latin typeface="Courier" charset="0"/>
              </a:rPr>
            </a:br>
            <a:r>
              <a:rPr lang="en-US" sz="1800" dirty="0">
                <a:latin typeface="Courier" charset="0"/>
              </a:rPr>
              <a:t>}</a:t>
            </a:r>
          </a:p>
          <a:p>
            <a:pPr>
              <a:lnSpc>
                <a:spcPct val="90000"/>
              </a:lnSpc>
            </a:pPr>
            <a:r>
              <a:rPr lang="en-US" sz="1800" dirty="0">
                <a:latin typeface="Courier" charset="0"/>
              </a:rPr>
              <a:t>class Derived : Base() {</a:t>
            </a:r>
            <a:br>
              <a:rPr lang="en-US" sz="1800" dirty="0">
                <a:latin typeface="Courier" charset="0"/>
              </a:rPr>
            </a:br>
            <a:r>
              <a:rPr lang="en-US" sz="1800" dirty="0">
                <a:latin typeface="Courier" charset="0"/>
              </a:rPr>
              <a:t>    override var </a:t>
            </a:r>
            <a:r>
              <a:rPr lang="en-US" sz="1800" dirty="0" err="1">
                <a:latin typeface="Courier" charset="0"/>
              </a:rPr>
              <a:t>i</a:t>
            </a:r>
            <a:r>
              <a:rPr lang="en-US" sz="1800" dirty="0">
                <a:latin typeface="Courier" charset="0"/>
              </a:rPr>
              <a:t>: Int = 2                </a:t>
            </a:r>
            <a:r>
              <a:rPr lang="en-US" sz="1800" dirty="0">
                <a:solidFill>
                  <a:srgbClr val="008000"/>
                </a:solidFill>
                <a:latin typeface="Courier" charset="0"/>
              </a:rPr>
              <a:t>// overriding</a:t>
            </a:r>
            <a:br>
              <a:rPr lang="en-US" sz="1800" dirty="0">
                <a:latin typeface="Courier" charset="0"/>
              </a:rPr>
            </a:br>
            <a:r>
              <a:rPr lang="en-US" sz="1800" dirty="0">
                <a:latin typeface="Courier" charset="0"/>
              </a:rPr>
              <a:t>    override fun f(): Int { return -</a:t>
            </a:r>
            <a:r>
              <a:rPr lang="en-US" sz="1800" dirty="0" err="1">
                <a:latin typeface="Courier" charset="0"/>
              </a:rPr>
              <a:t>i</a:t>
            </a:r>
            <a:r>
              <a:rPr lang="en-US" sz="1800" dirty="0">
                <a:latin typeface="Courier" charset="0"/>
              </a:rPr>
              <a:t> }   </a:t>
            </a:r>
            <a:r>
              <a:rPr lang="en-US" sz="1800" dirty="0">
                <a:solidFill>
                  <a:srgbClr val="008000"/>
                </a:solidFill>
                <a:latin typeface="Courier" charset="0"/>
              </a:rPr>
              <a:t>// overriding</a:t>
            </a:r>
            <a:br>
              <a:rPr lang="en-US" sz="1800" dirty="0">
                <a:solidFill>
                  <a:srgbClr val="008000"/>
                </a:solidFill>
                <a:latin typeface="Courier" charset="0"/>
              </a:rPr>
            </a:br>
            <a:r>
              <a:rPr lang="en-US" sz="1800" dirty="0">
                <a:latin typeface="Courier" charset="0"/>
              </a:rPr>
              <a:t>}</a:t>
            </a:r>
          </a:p>
          <a:p>
            <a:pPr>
              <a:lnSpc>
                <a:spcPct val="90000"/>
              </a:lnSpc>
            </a:pPr>
            <a:r>
              <a:rPr lang="en-US" sz="1800" dirty="0">
                <a:latin typeface="Courier" charset="0"/>
              </a:rPr>
              <a:t>fun Test() {</a:t>
            </a:r>
            <a:br>
              <a:rPr lang="en-US" sz="1800" dirty="0">
                <a:latin typeface="Courier" charset="0"/>
              </a:rPr>
            </a:br>
            <a:r>
              <a:rPr lang="en-US" sz="1800" dirty="0">
                <a:latin typeface="Courier" charset="0"/>
              </a:rPr>
              <a:t>    </a:t>
            </a:r>
            <a:r>
              <a:rPr lang="en-US" sz="1800" dirty="0" err="1">
                <a:latin typeface="Courier" charset="0"/>
              </a:rPr>
              <a:t>val</a:t>
            </a:r>
            <a:r>
              <a:rPr lang="en-US" sz="1800" dirty="0">
                <a:latin typeface="Courier" charset="0"/>
              </a:rPr>
              <a:t> d = Derived()</a:t>
            </a:r>
            <a:br>
              <a:rPr lang="en-US" sz="1800" dirty="0">
                <a:latin typeface="Courier" charset="0"/>
              </a:rPr>
            </a:br>
            <a:r>
              <a:rPr lang="en-US" sz="1800" dirty="0">
                <a:latin typeface="Courier" charset="0"/>
              </a:rPr>
              <a:t>        </a:t>
            </a:r>
            <a:r>
              <a:rPr lang="en-US" sz="1800" dirty="0">
                <a:solidFill>
                  <a:srgbClr val="008000"/>
                </a:solidFill>
                <a:latin typeface="Courier" charset="0"/>
              </a:rPr>
              <a:t>// </a:t>
            </a:r>
            <a:r>
              <a:rPr lang="en-US" sz="1800" dirty="0" err="1">
                <a:solidFill>
                  <a:srgbClr val="008000"/>
                </a:solidFill>
                <a:latin typeface="Courier" charset="0"/>
              </a:rPr>
              <a:t>d.i</a:t>
            </a:r>
            <a:r>
              <a:rPr lang="en-US" sz="1800" dirty="0">
                <a:solidFill>
                  <a:srgbClr val="008000"/>
                </a:solidFill>
                <a:latin typeface="Courier" charset="0"/>
              </a:rPr>
              <a:t> is 2</a:t>
            </a:r>
            <a:br>
              <a:rPr lang="en-US" sz="1800" dirty="0">
                <a:solidFill>
                  <a:schemeClr val="hlink"/>
                </a:solidFill>
                <a:latin typeface="Courier" charset="0"/>
              </a:rPr>
            </a:br>
            <a:r>
              <a:rPr lang="en-US" sz="1800" dirty="0">
                <a:solidFill>
                  <a:schemeClr val="hlink"/>
                </a:solidFill>
                <a:latin typeface="Courier" charset="0"/>
              </a:rPr>
              <a:t>        </a:t>
            </a:r>
            <a:r>
              <a:rPr lang="en-US" sz="1800" dirty="0">
                <a:solidFill>
                  <a:srgbClr val="008000"/>
                </a:solidFill>
                <a:latin typeface="Courier" charset="0"/>
              </a:rPr>
              <a:t>// </a:t>
            </a:r>
            <a:r>
              <a:rPr lang="en-US" sz="1800" dirty="0" err="1">
                <a:solidFill>
                  <a:srgbClr val="008000"/>
                </a:solidFill>
                <a:latin typeface="Courier" charset="0"/>
              </a:rPr>
              <a:t>d.f</a:t>
            </a:r>
            <a:r>
              <a:rPr lang="en-US" sz="1800" dirty="0">
                <a:solidFill>
                  <a:srgbClr val="008000"/>
                </a:solidFill>
                <a:latin typeface="Courier" charset="0"/>
              </a:rPr>
              <a:t>() returns -2</a:t>
            </a:r>
            <a:br>
              <a:rPr lang="en-US" sz="1800" dirty="0">
                <a:solidFill>
                  <a:schemeClr val="hlink"/>
                </a:solidFill>
                <a:latin typeface="Courier" charset="0"/>
              </a:rPr>
            </a:br>
            <a:r>
              <a:rPr lang="en-US" sz="1800" dirty="0">
                <a:latin typeface="Courier" charset="0"/>
              </a:rPr>
              <a:t>        </a:t>
            </a:r>
            <a:r>
              <a:rPr lang="en-US" sz="1800" dirty="0" err="1">
                <a:latin typeface="Courier" charset="0"/>
              </a:rPr>
              <a:t>val</a:t>
            </a:r>
            <a:r>
              <a:rPr lang="en-US" sz="1800" dirty="0">
                <a:latin typeface="Courier" charset="0"/>
              </a:rPr>
              <a:t> b: Base = d</a:t>
            </a:r>
            <a:br>
              <a:rPr lang="en-US" sz="1800" dirty="0">
                <a:latin typeface="Courier" charset="0"/>
              </a:rPr>
            </a:br>
            <a:r>
              <a:rPr lang="en-US" sz="1800" dirty="0">
                <a:latin typeface="Courier" charset="0"/>
              </a:rPr>
              <a:t>        </a:t>
            </a:r>
            <a:r>
              <a:rPr lang="en-US" sz="1800" dirty="0">
                <a:solidFill>
                  <a:srgbClr val="008000"/>
                </a:solidFill>
                <a:latin typeface="Courier" charset="0"/>
              </a:rPr>
              <a:t>// </a:t>
            </a:r>
            <a:r>
              <a:rPr lang="en-US" sz="1800" dirty="0" err="1">
                <a:solidFill>
                  <a:srgbClr val="008000"/>
                </a:solidFill>
                <a:latin typeface="Courier" charset="0"/>
              </a:rPr>
              <a:t>b.i</a:t>
            </a:r>
            <a:r>
              <a:rPr lang="en-US" sz="1800" dirty="0">
                <a:solidFill>
                  <a:srgbClr val="008000"/>
                </a:solidFill>
                <a:latin typeface="Courier" charset="0"/>
              </a:rPr>
              <a:t> is 2 – overridden property</a:t>
            </a:r>
            <a:br>
              <a:rPr lang="en-US" sz="1800" dirty="0">
                <a:solidFill>
                  <a:schemeClr val="hlink"/>
                </a:solidFill>
                <a:latin typeface="Courier" charset="0"/>
              </a:rPr>
            </a:br>
            <a:r>
              <a:rPr lang="en-US" sz="1800" dirty="0">
                <a:solidFill>
                  <a:schemeClr val="hlink"/>
                </a:solidFill>
                <a:latin typeface="Courier" charset="0"/>
              </a:rPr>
              <a:t>        </a:t>
            </a:r>
            <a:r>
              <a:rPr lang="en-US" sz="1800" dirty="0">
                <a:solidFill>
                  <a:srgbClr val="008000"/>
                </a:solidFill>
                <a:latin typeface="Courier" charset="0"/>
              </a:rPr>
              <a:t>// </a:t>
            </a:r>
            <a:r>
              <a:rPr lang="en-US" sz="1800" dirty="0" err="1">
                <a:solidFill>
                  <a:srgbClr val="008000"/>
                </a:solidFill>
                <a:latin typeface="Courier" charset="0"/>
              </a:rPr>
              <a:t>b.f</a:t>
            </a:r>
            <a:r>
              <a:rPr lang="en-US" sz="1800" dirty="0">
                <a:solidFill>
                  <a:srgbClr val="008000"/>
                </a:solidFill>
                <a:latin typeface="Courier" charset="0"/>
              </a:rPr>
              <a:t>() returns -2, ‘dynamic </a:t>
            </a:r>
            <a:r>
              <a:rPr lang="en-US" sz="1800" dirty="0" err="1">
                <a:solidFill>
                  <a:srgbClr val="008000"/>
                </a:solidFill>
                <a:latin typeface="Courier" charset="0"/>
              </a:rPr>
              <a:t>bindin</a:t>
            </a:r>
            <a:r>
              <a:rPr lang="en-CA" sz="1800" dirty="0">
                <a:solidFill>
                  <a:srgbClr val="008000"/>
                </a:solidFill>
                <a:latin typeface="Courier" charset="0"/>
              </a:rPr>
              <a:t>g’</a:t>
            </a:r>
            <a:br>
              <a:rPr lang="en-US" sz="1800" dirty="0">
                <a:latin typeface="Courier" charset="0"/>
              </a:rPr>
            </a:br>
            <a:r>
              <a:rPr lang="en-US" sz="1800" dirty="0">
                <a:latin typeface="Courier" charset="0"/>
              </a:rPr>
              <a:t>    }</a:t>
            </a:r>
            <a:br>
              <a:rPr lang="en-US" sz="1800" dirty="0">
                <a:latin typeface="Courier" charset="0"/>
              </a:rPr>
            </a:br>
            <a:r>
              <a:rPr lang="en-US" sz="1800" dirty="0">
                <a:latin typeface="Courier" charset="0"/>
              </a:rPr>
              <a:t>}</a:t>
            </a:r>
            <a:endParaRPr lang="en-US" sz="1800" dirty="0"/>
          </a:p>
        </p:txBody>
      </p:sp>
      <p:sp>
        <p:nvSpPr>
          <p:cNvPr id="4" name="Slide Number Placeholder 5"/>
          <p:cNvSpPr>
            <a:spLocks noGrp="1"/>
          </p:cNvSpPr>
          <p:nvPr>
            <p:ph type="sldNum" sz="quarter" idx="12"/>
          </p:nvPr>
        </p:nvSpPr>
        <p:spPr/>
        <p:txBody>
          <a:bodyPr/>
          <a:lstStyle/>
          <a:p>
            <a:fld id="{8FAB7EC4-5C34-7145-BFA5-E723028180B8}" type="slidenum">
              <a:rPr lang="en-US"/>
              <a:pPr/>
              <a:t>68</a:t>
            </a:fld>
            <a:endParaRPr lang="en-US"/>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3026" name="Rectangle 2"/>
          <p:cNvSpPr>
            <a:spLocks noGrp="1" noChangeArrowheads="1"/>
          </p:cNvSpPr>
          <p:nvPr>
            <p:ph type="title"/>
          </p:nvPr>
        </p:nvSpPr>
        <p:spPr/>
        <p:txBody>
          <a:bodyPr/>
          <a:lstStyle/>
          <a:p>
            <a:r>
              <a:rPr lang="en-US" dirty="0"/>
              <a:t>Kotlin Dynamic Binding</a:t>
            </a:r>
          </a:p>
        </p:txBody>
      </p:sp>
      <p:sp>
        <p:nvSpPr>
          <p:cNvPr id="513027" name="Rectangle 3"/>
          <p:cNvSpPr>
            <a:spLocks noGrp="1" noChangeArrowheads="1"/>
          </p:cNvSpPr>
          <p:nvPr>
            <p:ph idx="1"/>
          </p:nvPr>
        </p:nvSpPr>
        <p:spPr>
          <a:xfrm>
            <a:off x="981000" y="1484784"/>
            <a:ext cx="10515600" cy="5373215"/>
          </a:xfrm>
        </p:spPr>
        <p:txBody>
          <a:bodyPr>
            <a:normAutofit/>
          </a:bodyPr>
          <a:lstStyle/>
          <a:p>
            <a:pPr>
              <a:lnSpc>
                <a:spcPct val="90000"/>
              </a:lnSpc>
            </a:pPr>
            <a:r>
              <a:rPr lang="en-US" sz="1800" dirty="0">
                <a:latin typeface="Courier" charset="0"/>
              </a:rPr>
              <a:t>open class Base {</a:t>
            </a:r>
            <a:br>
              <a:rPr lang="en-US" sz="1800" dirty="0">
                <a:latin typeface="Courier" charset="0"/>
              </a:rPr>
            </a:br>
            <a:r>
              <a:rPr lang="en-US" sz="1800" dirty="0">
                <a:latin typeface="Courier" charset="0"/>
              </a:rPr>
              <a:t>    </a:t>
            </a:r>
            <a:r>
              <a:rPr lang="en-US" sz="1800" dirty="0">
                <a:solidFill>
                  <a:srgbClr val="008000"/>
                </a:solidFill>
                <a:latin typeface="Courier" charset="0"/>
              </a:rPr>
              <a:t>// default implementation</a:t>
            </a:r>
            <a:br>
              <a:rPr lang="en-US" sz="1800" dirty="0">
                <a:solidFill>
                  <a:schemeClr val="hlink"/>
                </a:solidFill>
                <a:latin typeface="Courier" charset="0"/>
              </a:rPr>
            </a:br>
            <a:r>
              <a:rPr lang="en-US" sz="1800" dirty="0">
                <a:latin typeface="Courier" charset="0"/>
              </a:rPr>
              <a:t>    open fun op()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a:t>
            </a:r>
          </a:p>
          <a:p>
            <a:pPr>
              <a:lnSpc>
                <a:spcPct val="90000"/>
              </a:lnSpc>
            </a:pPr>
            <a:r>
              <a:rPr lang="en-US" sz="1800" dirty="0">
                <a:latin typeface="Courier" charset="0"/>
              </a:rPr>
              <a:t>class Derived1 : Base() {</a:t>
            </a:r>
            <a:br>
              <a:rPr lang="en-US" sz="1800" dirty="0">
                <a:latin typeface="Courier" charset="0"/>
              </a:rPr>
            </a:br>
            <a:r>
              <a:rPr lang="en-US" sz="1800" dirty="0">
                <a:latin typeface="Courier" charset="0"/>
              </a:rPr>
              <a:t>    </a:t>
            </a:r>
            <a:r>
              <a:rPr lang="en-US" sz="1800" dirty="0">
                <a:solidFill>
                  <a:srgbClr val="008000"/>
                </a:solidFill>
                <a:latin typeface="Courier" charset="0"/>
              </a:rPr>
              <a:t>// does not override op()</a:t>
            </a:r>
            <a:br>
              <a:rPr lang="en-US" sz="1800" dirty="0">
                <a:latin typeface="Courier" charset="0"/>
              </a:rPr>
            </a:br>
            <a:r>
              <a:rPr lang="en-US" sz="1800" dirty="0">
                <a:latin typeface="Courier" charset="0"/>
              </a:rPr>
              <a:t>}</a:t>
            </a:r>
          </a:p>
          <a:p>
            <a:pPr>
              <a:lnSpc>
                <a:spcPct val="90000"/>
              </a:lnSpc>
            </a:pPr>
            <a:r>
              <a:rPr lang="en-US" sz="1800" dirty="0">
                <a:latin typeface="Courier" charset="0"/>
              </a:rPr>
              <a:t>class Derived2 : Base() {</a:t>
            </a:r>
            <a:br>
              <a:rPr lang="en-US" sz="1800" dirty="0">
                <a:latin typeface="Courier" charset="0"/>
              </a:rPr>
            </a:br>
            <a:r>
              <a:rPr lang="en-US" sz="1800" dirty="0">
                <a:latin typeface="Courier" charset="0"/>
              </a:rPr>
              <a:t>    </a:t>
            </a:r>
            <a:r>
              <a:rPr lang="en-US" sz="1800" dirty="0">
                <a:solidFill>
                  <a:srgbClr val="008000"/>
                </a:solidFill>
                <a:latin typeface="Courier" charset="0"/>
              </a:rPr>
              <a:t>// override ...</a:t>
            </a:r>
            <a:br>
              <a:rPr lang="en-US" sz="1800" dirty="0">
                <a:solidFill>
                  <a:schemeClr val="hlink"/>
                </a:solidFill>
                <a:latin typeface="Courier" charset="0"/>
              </a:rPr>
            </a:br>
            <a:r>
              <a:rPr lang="en-US" sz="1800" dirty="0">
                <a:solidFill>
                  <a:schemeClr val="hlink"/>
                </a:solidFill>
                <a:latin typeface="Courier" charset="0"/>
              </a:rPr>
              <a:t>    </a:t>
            </a:r>
            <a:r>
              <a:rPr lang="en-US" sz="1800" dirty="0">
                <a:latin typeface="Courier" charset="0"/>
              </a:rPr>
              <a:t>override fun op() { </a:t>
            </a:r>
            <a:r>
              <a:rPr lang="en-US" sz="1800" dirty="0">
                <a:solidFill>
                  <a:srgbClr val="3366FF"/>
                </a:solidFill>
                <a:latin typeface="Courier" charset="0"/>
              </a:rPr>
              <a:t>…</a:t>
            </a:r>
            <a:r>
              <a:rPr lang="en-US" sz="1800" dirty="0">
                <a:latin typeface="Courier" charset="0"/>
              </a:rPr>
              <a:t> }</a:t>
            </a:r>
            <a:br>
              <a:rPr lang="en-US" sz="1800" dirty="0">
                <a:latin typeface="Courier" charset="0"/>
              </a:rPr>
            </a:br>
            <a:r>
              <a:rPr lang="en-US" sz="1800" dirty="0">
                <a:latin typeface="Courier" charset="0"/>
              </a:rPr>
              <a:t>}</a:t>
            </a:r>
            <a:br>
              <a:rPr lang="en-US" sz="1800" dirty="0">
                <a:latin typeface="Courier" charset="0"/>
              </a:rPr>
            </a:br>
            <a:endParaRPr lang="en-US" sz="1800" dirty="0">
              <a:latin typeface="Courier" charset="0"/>
            </a:endParaRPr>
          </a:p>
          <a:p>
            <a:pPr>
              <a:lnSpc>
                <a:spcPct val="90000"/>
              </a:lnSpc>
            </a:pPr>
            <a:endParaRPr lang="en-US" sz="1800" dirty="0">
              <a:latin typeface="Courier" charset="0"/>
            </a:endParaRPr>
          </a:p>
          <a:p>
            <a:pPr>
              <a:lnSpc>
                <a:spcPct val="90000"/>
              </a:lnSpc>
            </a:pPr>
            <a:r>
              <a:rPr lang="en-US" sz="1800" dirty="0">
                <a:latin typeface="Courier" charset="0"/>
              </a:rPr>
              <a:t>var base: Base</a:t>
            </a:r>
            <a:br>
              <a:rPr lang="en-US" sz="1800" dirty="0">
                <a:latin typeface="Courier" charset="0"/>
              </a:rPr>
            </a:br>
            <a:r>
              <a:rPr lang="en-US" sz="1800" dirty="0">
                <a:latin typeface="Courier" charset="0"/>
              </a:rPr>
              <a:t>base = Derived1()    </a:t>
            </a:r>
            <a:r>
              <a:rPr lang="en-US" sz="1800" dirty="0">
                <a:solidFill>
                  <a:srgbClr val="008000"/>
                </a:solidFill>
                <a:latin typeface="Courier" charset="0"/>
              </a:rPr>
              <a:t>// implicit upcast</a:t>
            </a:r>
            <a:br>
              <a:rPr lang="en-US" sz="1800" dirty="0">
                <a:latin typeface="Courier" charset="0"/>
              </a:rPr>
            </a:br>
            <a:r>
              <a:rPr lang="en-US" sz="1800" dirty="0" err="1">
                <a:latin typeface="Courier" charset="0"/>
              </a:rPr>
              <a:t>base.op</a:t>
            </a:r>
            <a:r>
              <a:rPr lang="en-US" sz="1800" dirty="0">
                <a:latin typeface="Courier" charset="0"/>
              </a:rPr>
              <a:t>()             </a:t>
            </a:r>
            <a:r>
              <a:rPr lang="en-US" sz="1800" dirty="0">
                <a:solidFill>
                  <a:srgbClr val="008000"/>
                </a:solidFill>
                <a:latin typeface="Courier" charset="0"/>
              </a:rPr>
              <a:t>// calls op() in Base</a:t>
            </a:r>
            <a:br>
              <a:rPr lang="en-US" sz="1800" dirty="0">
                <a:latin typeface="Courier" charset="0"/>
              </a:rPr>
            </a:br>
            <a:r>
              <a:rPr lang="en-US" sz="1800" dirty="0">
                <a:latin typeface="Courier" charset="0"/>
              </a:rPr>
              <a:t>base = Derived2()  </a:t>
            </a:r>
            <a:r>
              <a:rPr lang="en-US" sz="1800" dirty="0">
                <a:solidFill>
                  <a:srgbClr val="008000"/>
                </a:solidFill>
                <a:latin typeface="Courier" charset="0"/>
              </a:rPr>
              <a:t>// implicit upcast</a:t>
            </a:r>
            <a:br>
              <a:rPr lang="en-US" sz="1800" dirty="0">
                <a:latin typeface="Courier" charset="0"/>
              </a:rPr>
            </a:br>
            <a:r>
              <a:rPr lang="en-US" sz="1800" dirty="0" err="1">
                <a:latin typeface="Courier" charset="0"/>
              </a:rPr>
              <a:t>base.op</a:t>
            </a:r>
            <a:r>
              <a:rPr lang="en-US" sz="1800" dirty="0">
                <a:latin typeface="Courier" charset="0"/>
              </a:rPr>
              <a:t>()              </a:t>
            </a:r>
            <a:r>
              <a:rPr lang="en-US" sz="1800" dirty="0">
                <a:solidFill>
                  <a:srgbClr val="008000"/>
                </a:solidFill>
                <a:latin typeface="Courier" charset="0"/>
              </a:rPr>
              <a:t>// calls op() in Derived2</a:t>
            </a:r>
            <a:endParaRPr lang="en-US" sz="1800" dirty="0">
              <a:solidFill>
                <a:srgbClr val="008000"/>
              </a:solidFill>
            </a:endParaRPr>
          </a:p>
        </p:txBody>
      </p:sp>
      <p:sp>
        <p:nvSpPr>
          <p:cNvPr id="6" name="Slide Number Placeholder 5"/>
          <p:cNvSpPr>
            <a:spLocks noGrp="1"/>
          </p:cNvSpPr>
          <p:nvPr>
            <p:ph type="sldNum" sz="quarter" idx="12"/>
          </p:nvPr>
        </p:nvSpPr>
        <p:spPr/>
        <p:txBody>
          <a:bodyPr/>
          <a:lstStyle/>
          <a:p>
            <a:fld id="{B0E9199F-02A1-854F-8474-14B8122CE7EC}" type="slidenum">
              <a:rPr lang="en-US"/>
              <a:pPr/>
              <a:t>69</a:t>
            </a:fld>
            <a:endParaRPr lang="en-US"/>
          </a:p>
        </p:txBody>
      </p:sp>
      <p:sp>
        <p:nvSpPr>
          <p:cNvPr id="513028" name="Text Box 4"/>
          <p:cNvSpPr txBox="1">
            <a:spLocks noChangeArrowheads="1"/>
          </p:cNvSpPr>
          <p:nvPr/>
        </p:nvSpPr>
        <p:spPr bwMode="auto">
          <a:xfrm>
            <a:off x="8422862" y="1768048"/>
            <a:ext cx="2281650" cy="1477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i="1" dirty="0"/>
              <a:t>Selection of function to be run is made at run time, depending on type of receiving object</a:t>
            </a:r>
          </a:p>
        </p:txBody>
      </p:sp>
      <p:sp>
        <p:nvSpPr>
          <p:cNvPr id="513029" name="Text Box 5"/>
          <p:cNvSpPr txBox="1">
            <a:spLocks noChangeArrowheads="1"/>
          </p:cNvSpPr>
          <p:nvPr/>
        </p:nvSpPr>
        <p:spPr bwMode="auto">
          <a:xfrm>
            <a:off x="8422862" y="5301208"/>
            <a:ext cx="2281650" cy="1477328"/>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i="1" dirty="0"/>
              <a:t>Receiving object does the “right thin</a:t>
            </a:r>
            <a:r>
              <a:rPr lang="en-CA" i="1" dirty="0"/>
              <a:t>g”</a:t>
            </a:r>
            <a:r>
              <a:rPr lang="en-US" i="1" dirty="0"/>
              <a:t>, even if the calling code does not show its actual type</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5074" name="Rectangle 2"/>
          <p:cNvSpPr>
            <a:spLocks noGrp="1" noChangeArrowheads="1"/>
          </p:cNvSpPr>
          <p:nvPr>
            <p:ph type="title"/>
          </p:nvPr>
        </p:nvSpPr>
        <p:spPr/>
        <p:txBody>
          <a:bodyPr/>
          <a:lstStyle/>
          <a:p>
            <a:r>
              <a:rPr lang="en-US" dirty="0"/>
              <a:t>Kotlin Dynamic Binding</a:t>
            </a:r>
          </a:p>
        </p:txBody>
      </p:sp>
      <p:sp>
        <p:nvSpPr>
          <p:cNvPr id="515075" name="Rectangle 3"/>
          <p:cNvSpPr>
            <a:spLocks noGrp="1" noChangeArrowheads="1"/>
          </p:cNvSpPr>
          <p:nvPr>
            <p:ph idx="1"/>
          </p:nvPr>
        </p:nvSpPr>
        <p:spPr>
          <a:xfrm>
            <a:off x="838200" y="1825625"/>
            <a:ext cx="10586392" cy="4351338"/>
          </a:xfrm>
        </p:spPr>
        <p:txBody>
          <a:bodyPr>
            <a:normAutofit lnSpcReduction="10000"/>
          </a:bodyPr>
          <a:lstStyle/>
          <a:p>
            <a:r>
              <a:rPr lang="en-US" dirty="0" err="1"/>
              <a:t>Upcast</a:t>
            </a:r>
            <a:r>
              <a:rPr lang="en-US" dirty="0"/>
              <a:t>:</a:t>
            </a:r>
          </a:p>
          <a:p>
            <a:pPr lvl="1"/>
            <a:r>
              <a:rPr lang="en-US" dirty="0"/>
              <a:t>“Widening” cast is safe due to the principle of substitutability</a:t>
            </a:r>
          </a:p>
          <a:p>
            <a:pPr lvl="1"/>
            <a:r>
              <a:rPr lang="en-US" dirty="0" err="1">
                <a:latin typeface="Courier" charset="0"/>
              </a:rPr>
              <a:t>val</a:t>
            </a:r>
            <a:r>
              <a:rPr lang="en-US" dirty="0">
                <a:latin typeface="Courier" charset="0"/>
              </a:rPr>
              <a:t> base: Base = Derived2()</a:t>
            </a:r>
            <a:r>
              <a:rPr lang="en-US" dirty="0">
                <a:solidFill>
                  <a:srgbClr val="008000"/>
                </a:solidFill>
                <a:latin typeface="Courier" charset="0"/>
              </a:rPr>
              <a:t> // implicit upcast</a:t>
            </a:r>
            <a:br>
              <a:rPr lang="en-US" dirty="0">
                <a:latin typeface="Courier" charset="0"/>
              </a:rPr>
            </a:br>
            <a:r>
              <a:rPr lang="en-US" dirty="0" err="1">
                <a:latin typeface="Courier" charset="0"/>
              </a:rPr>
              <a:t>base.op</a:t>
            </a:r>
            <a:r>
              <a:rPr lang="en-US" dirty="0">
                <a:latin typeface="Courier" charset="0"/>
              </a:rPr>
              <a:t>()</a:t>
            </a:r>
            <a:r>
              <a:rPr lang="en-US" dirty="0">
                <a:solidFill>
                  <a:srgbClr val="008000"/>
                </a:solidFill>
                <a:latin typeface="Courier" charset="0"/>
              </a:rPr>
              <a:t> // calls op() in Derived2</a:t>
            </a:r>
            <a:endParaRPr lang="en-US" dirty="0">
              <a:solidFill>
                <a:srgbClr val="008000"/>
              </a:solidFill>
            </a:endParaRPr>
          </a:p>
          <a:p>
            <a:endParaRPr lang="en-US" dirty="0"/>
          </a:p>
          <a:p>
            <a:r>
              <a:rPr lang="en-US" dirty="0"/>
              <a:t>Downcast:</a:t>
            </a:r>
          </a:p>
          <a:p>
            <a:pPr lvl="1"/>
            <a:r>
              <a:rPr lang="en-US" dirty="0"/>
              <a:t>“Narrowing” cast must be explicit</a:t>
            </a:r>
          </a:p>
          <a:p>
            <a:pPr lvl="1"/>
            <a:r>
              <a:rPr lang="en-US" dirty="0" err="1">
                <a:latin typeface="Courier" charset="0"/>
              </a:rPr>
              <a:t>val</a:t>
            </a:r>
            <a:r>
              <a:rPr lang="en-US" dirty="0">
                <a:latin typeface="Courier" charset="0"/>
              </a:rPr>
              <a:t> base: Base = Derived2()</a:t>
            </a:r>
            <a:r>
              <a:rPr lang="en-US" dirty="0">
                <a:solidFill>
                  <a:srgbClr val="008000"/>
                </a:solidFill>
                <a:latin typeface="Courier" charset="0"/>
              </a:rPr>
              <a:t> // implicit upcast</a:t>
            </a:r>
            <a:br>
              <a:rPr lang="en-US" dirty="0">
                <a:latin typeface="Courier" charset="0"/>
              </a:rPr>
            </a:br>
            <a:r>
              <a:rPr lang="en-US" dirty="0" err="1">
                <a:latin typeface="Courier" charset="0"/>
              </a:rPr>
              <a:t>val</a:t>
            </a:r>
            <a:r>
              <a:rPr lang="en-US" dirty="0">
                <a:latin typeface="Courier" charset="0"/>
              </a:rPr>
              <a:t> derived: Derived2() = base as Derived2</a:t>
            </a:r>
            <a:br>
              <a:rPr lang="en-US" dirty="0">
                <a:latin typeface="Courier" charset="0"/>
              </a:rPr>
            </a:br>
            <a:r>
              <a:rPr lang="en-US" dirty="0">
                <a:solidFill>
                  <a:srgbClr val="008000"/>
                </a:solidFill>
                <a:latin typeface="Courier" charset="0"/>
              </a:rPr>
              <a:t>// explicit downcast</a:t>
            </a:r>
            <a:br>
              <a:rPr lang="en-US" dirty="0">
                <a:latin typeface="Courier" charset="0"/>
              </a:rPr>
            </a:br>
            <a:r>
              <a:rPr lang="en-US" dirty="0" err="1">
                <a:latin typeface="Courier" charset="0"/>
              </a:rPr>
              <a:t>derived.op</a:t>
            </a:r>
            <a:r>
              <a:rPr lang="en-US" dirty="0">
                <a:latin typeface="Courier" charset="0"/>
              </a:rPr>
              <a:t>()</a:t>
            </a:r>
            <a:r>
              <a:rPr lang="en-US" dirty="0">
                <a:solidFill>
                  <a:srgbClr val="008000"/>
                </a:solidFill>
                <a:latin typeface="Courier" charset="0"/>
              </a:rPr>
              <a:t> // calls op() in Derived2</a:t>
            </a:r>
            <a:endParaRPr lang="en-US" dirty="0">
              <a:solidFill>
                <a:srgbClr val="008000"/>
              </a:solidFill>
            </a:endParaRPr>
          </a:p>
        </p:txBody>
      </p:sp>
      <p:sp>
        <p:nvSpPr>
          <p:cNvPr id="4" name="Slide Number Placeholder 5"/>
          <p:cNvSpPr>
            <a:spLocks noGrp="1"/>
          </p:cNvSpPr>
          <p:nvPr>
            <p:ph type="sldNum" sz="quarter" idx="12"/>
          </p:nvPr>
        </p:nvSpPr>
        <p:spPr/>
        <p:txBody>
          <a:bodyPr/>
          <a:lstStyle/>
          <a:p>
            <a:fld id="{A273963F-8438-5044-83B4-39841402C752}" type="slidenum">
              <a:rPr lang="en-US"/>
              <a:pPr/>
              <a:t>70</a:t>
            </a:fld>
            <a:endParaRPr lang="en-US"/>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Object-Oriented Analysis and Design</a:t>
            </a:r>
          </a:p>
        </p:txBody>
      </p:sp>
      <p:sp>
        <p:nvSpPr>
          <p:cNvPr id="3" name="Text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2"/>
          </p:nvPr>
        </p:nvSpPr>
        <p:spPr/>
        <p:txBody>
          <a:bodyPr/>
          <a:lstStyle/>
          <a:p>
            <a:fld id="{3693E2C0-D7FA-E54A-B614-B3CE362612AF}" type="slidenum">
              <a:rPr lang="en-US" smtClean="0"/>
              <a:pPr/>
              <a:t>71</a:t>
            </a:fld>
            <a:endParaRPr lang="en-US"/>
          </a:p>
        </p:txBody>
      </p:sp>
    </p:spTree>
    <p:extLst>
      <p:ext uri="{BB962C8B-B14F-4D97-AF65-F5344CB8AC3E}">
        <p14:creationId xmlns:p14="http://schemas.microsoft.com/office/powerpoint/2010/main" val="196084429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2682" name="Rectangle 10"/>
          <p:cNvSpPr>
            <a:spLocks noGrp="1" noChangeArrowheads="1"/>
          </p:cNvSpPr>
          <p:nvPr>
            <p:ph type="title"/>
          </p:nvPr>
        </p:nvSpPr>
        <p:spPr/>
        <p:txBody>
          <a:bodyPr/>
          <a:lstStyle/>
          <a:p>
            <a:r>
              <a:rPr lang="en-US" dirty="0"/>
              <a:t>UML and OOA&amp;D</a:t>
            </a:r>
          </a:p>
        </p:txBody>
      </p:sp>
      <p:sp>
        <p:nvSpPr>
          <p:cNvPr id="412683" name="Rectangle 11"/>
          <p:cNvSpPr>
            <a:spLocks noGrp="1" noChangeArrowheads="1"/>
          </p:cNvSpPr>
          <p:nvPr>
            <p:ph idx="1"/>
          </p:nvPr>
        </p:nvSpPr>
        <p:spPr/>
        <p:txBody>
          <a:bodyPr>
            <a:normAutofit/>
          </a:bodyPr>
          <a:lstStyle/>
          <a:p>
            <a:r>
              <a:rPr lang="en-US" dirty="0"/>
              <a:t>Analysis:</a:t>
            </a:r>
          </a:p>
          <a:p>
            <a:pPr lvl="1"/>
            <a:r>
              <a:rPr lang="en-US" dirty="0"/>
              <a:t>Requirements specification activity</a:t>
            </a:r>
          </a:p>
          <a:p>
            <a:pPr lvl="2"/>
            <a:r>
              <a:rPr lang="en-US" dirty="0"/>
              <a:t>Create UML use cases and class diagrams</a:t>
            </a:r>
          </a:p>
          <a:p>
            <a:r>
              <a:rPr lang="en-US" dirty="0"/>
              <a:t>Design:</a:t>
            </a:r>
          </a:p>
          <a:p>
            <a:pPr lvl="1"/>
            <a:r>
              <a:rPr lang="en-US" dirty="0"/>
              <a:t>Architectural design activity</a:t>
            </a:r>
          </a:p>
          <a:p>
            <a:pPr lvl="2"/>
            <a:r>
              <a:rPr lang="en-US" dirty="0"/>
              <a:t>Refine UML class diagrams</a:t>
            </a:r>
          </a:p>
          <a:p>
            <a:pPr lvl="1"/>
            <a:r>
              <a:rPr lang="en-US" dirty="0"/>
              <a:t>Detailed design activity</a:t>
            </a:r>
          </a:p>
          <a:p>
            <a:pPr lvl="2"/>
            <a:r>
              <a:rPr lang="en-US" dirty="0"/>
              <a:t>Refine UML class diagrams</a:t>
            </a:r>
          </a:p>
          <a:p>
            <a:pPr lvl="2"/>
            <a:r>
              <a:rPr lang="en-US" dirty="0"/>
              <a:t>Create UML sequence and state diagrams</a:t>
            </a:r>
          </a:p>
        </p:txBody>
      </p:sp>
      <p:sp>
        <p:nvSpPr>
          <p:cNvPr id="4" name="Slide Number Placeholder 5"/>
          <p:cNvSpPr>
            <a:spLocks noGrp="1"/>
          </p:cNvSpPr>
          <p:nvPr>
            <p:ph type="sldNum" sz="quarter" idx="12"/>
          </p:nvPr>
        </p:nvSpPr>
        <p:spPr/>
        <p:txBody>
          <a:bodyPr/>
          <a:lstStyle/>
          <a:p>
            <a:fld id="{81147AD4-90D1-9143-A5C1-455662FE0869}" type="slidenum">
              <a:rPr lang="en-US"/>
              <a:pPr/>
              <a:t>72</a:t>
            </a:fld>
            <a:endParaRPr lang="en-US"/>
          </a:p>
        </p:txBody>
      </p:sp>
    </p:spTree>
    <p:extLst>
      <p:ext uri="{BB962C8B-B14F-4D97-AF65-F5344CB8AC3E}">
        <p14:creationId xmlns:p14="http://schemas.microsoft.com/office/powerpoint/2010/main" val="281001162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0130" name="Rectangle 2"/>
          <p:cNvSpPr>
            <a:spLocks noGrp="1" noChangeArrowheads="1"/>
          </p:cNvSpPr>
          <p:nvPr>
            <p:ph type="title"/>
          </p:nvPr>
        </p:nvSpPr>
        <p:spPr/>
        <p:txBody>
          <a:bodyPr/>
          <a:lstStyle/>
          <a:p>
            <a:r>
              <a:rPr lang="en-US"/>
              <a:t>Object-Oriented Analysis</a:t>
            </a:r>
          </a:p>
        </p:txBody>
      </p:sp>
      <p:sp>
        <p:nvSpPr>
          <p:cNvPr id="4" name="Slide Number Placeholder 5"/>
          <p:cNvSpPr>
            <a:spLocks noGrp="1"/>
          </p:cNvSpPr>
          <p:nvPr>
            <p:ph type="sldNum" sz="quarter" idx="12"/>
          </p:nvPr>
        </p:nvSpPr>
        <p:spPr/>
        <p:txBody>
          <a:bodyPr/>
          <a:lstStyle/>
          <a:p>
            <a:fld id="{8B0815D3-8012-2F42-8C5C-457F665F0004}" type="slidenum">
              <a:rPr lang="en-US" smtClean="0"/>
              <a:pPr/>
              <a:t>73</a:t>
            </a:fld>
            <a:endParaRPr lang="en-US"/>
          </a:p>
        </p:txBody>
      </p:sp>
      <p:sp>
        <p:nvSpPr>
          <p:cNvPr id="2" name="Rectangle 11">
            <a:extLst>
              <a:ext uri="{FF2B5EF4-FFF2-40B4-BE49-F238E27FC236}">
                <a16:creationId xmlns:a16="http://schemas.microsoft.com/office/drawing/2014/main" id="{B5427049-97F8-B42F-8A58-17F3B59A848D}"/>
              </a:ext>
            </a:extLst>
          </p:cNvPr>
          <p:cNvSpPr txBox="1">
            <a:spLocks noChangeArrowheads="1"/>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Steps:</a:t>
            </a:r>
          </a:p>
          <a:p>
            <a:pPr lvl="1"/>
            <a:r>
              <a:rPr lang="en-US" dirty="0"/>
              <a:t>Discover objects from problem domain</a:t>
            </a:r>
          </a:p>
          <a:p>
            <a:pPr lvl="2"/>
            <a:r>
              <a:rPr lang="en-US" dirty="0"/>
              <a:t>Nouns may lead to classes and attributes</a:t>
            </a:r>
          </a:p>
          <a:p>
            <a:pPr lvl="2"/>
            <a:r>
              <a:rPr lang="en-US" dirty="0"/>
              <a:t>Verbs may lead to relationships and methods</a:t>
            </a:r>
          </a:p>
          <a:p>
            <a:pPr lvl="1"/>
            <a:r>
              <a:rPr lang="en-US" dirty="0"/>
              <a:t>Use CRC cards to note the analysis</a:t>
            </a:r>
          </a:p>
          <a:p>
            <a:pPr lvl="1"/>
            <a:r>
              <a:rPr lang="en-US" dirty="0"/>
              <a:t>Evaluate</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r>
              <a:rPr lang="en-US"/>
              <a:t>Problem Description</a:t>
            </a:r>
          </a:p>
        </p:txBody>
      </p:sp>
      <p:sp>
        <p:nvSpPr>
          <p:cNvPr id="562179" name="Rectangle 3"/>
          <p:cNvSpPr>
            <a:spLocks noGrp="1" noChangeArrowheads="1"/>
          </p:cNvSpPr>
          <p:nvPr>
            <p:ph idx="1"/>
          </p:nvPr>
        </p:nvSpPr>
        <p:spPr/>
        <p:txBody>
          <a:bodyPr/>
          <a:lstStyle/>
          <a:p>
            <a:r>
              <a:rPr lang="en-US" dirty="0"/>
              <a:t>The library has books and magazines.  Books may be borrowed by any patron for four weeks while magazines may only be borrowed for two days. Up to six items at a time may be borrowed. The system tracks when books and magazines are borrowed.</a:t>
            </a:r>
          </a:p>
        </p:txBody>
      </p:sp>
      <p:sp>
        <p:nvSpPr>
          <p:cNvPr id="4" name="Slide Number Placeholder 5"/>
          <p:cNvSpPr>
            <a:spLocks noGrp="1"/>
          </p:cNvSpPr>
          <p:nvPr>
            <p:ph type="sldNum" sz="quarter" idx="12"/>
          </p:nvPr>
        </p:nvSpPr>
        <p:spPr/>
        <p:txBody>
          <a:bodyPr/>
          <a:lstStyle/>
          <a:p>
            <a:fld id="{870F59AC-4081-3F45-A24D-ECDACDA16ECF}" type="slidenum">
              <a:rPr lang="en-US" smtClean="0"/>
              <a:pPr/>
              <a:t>74</a:t>
            </a:fld>
            <a:endParaRPr 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r>
              <a:rPr lang="en-US" dirty="0"/>
              <a:t>Nouns</a:t>
            </a:r>
          </a:p>
        </p:txBody>
      </p:sp>
      <p:sp>
        <p:nvSpPr>
          <p:cNvPr id="562179" name="Rectangle 3"/>
          <p:cNvSpPr>
            <a:spLocks noGrp="1" noChangeArrowheads="1"/>
          </p:cNvSpPr>
          <p:nvPr>
            <p:ph idx="1"/>
          </p:nvPr>
        </p:nvSpPr>
        <p:spPr/>
        <p:txBody>
          <a:bodyPr/>
          <a:lstStyle/>
          <a:p>
            <a:r>
              <a:rPr lang="en-US" dirty="0"/>
              <a:t>The </a:t>
            </a:r>
            <a:r>
              <a:rPr lang="en-US" dirty="0">
                <a:solidFill>
                  <a:srgbClr val="FF0000"/>
                </a:solidFill>
              </a:rPr>
              <a:t>library</a:t>
            </a:r>
            <a:r>
              <a:rPr lang="en-US" dirty="0"/>
              <a:t> has </a:t>
            </a:r>
            <a:r>
              <a:rPr lang="en-US" dirty="0">
                <a:solidFill>
                  <a:srgbClr val="FF0000"/>
                </a:solidFill>
              </a:rPr>
              <a:t>books</a:t>
            </a:r>
            <a:r>
              <a:rPr lang="en-US" dirty="0"/>
              <a:t> and </a:t>
            </a:r>
            <a:r>
              <a:rPr lang="en-US" dirty="0">
                <a:solidFill>
                  <a:srgbClr val="FF0000"/>
                </a:solidFill>
              </a:rPr>
              <a:t>magazines</a:t>
            </a:r>
            <a:r>
              <a:rPr lang="en-US" dirty="0"/>
              <a:t>.  Books may be borrowed by any </a:t>
            </a:r>
            <a:r>
              <a:rPr lang="en-US" dirty="0">
                <a:solidFill>
                  <a:srgbClr val="FF0000"/>
                </a:solidFill>
              </a:rPr>
              <a:t>patron</a:t>
            </a:r>
            <a:r>
              <a:rPr lang="en-US" dirty="0"/>
              <a:t> for four </a:t>
            </a:r>
            <a:r>
              <a:rPr lang="en-US" dirty="0">
                <a:solidFill>
                  <a:srgbClr val="FF0000"/>
                </a:solidFill>
              </a:rPr>
              <a:t>weeks</a:t>
            </a:r>
            <a:r>
              <a:rPr lang="en-US" dirty="0"/>
              <a:t> while magazines may only be borrowed for two </a:t>
            </a:r>
            <a:r>
              <a:rPr lang="en-US" dirty="0">
                <a:solidFill>
                  <a:srgbClr val="FF0000"/>
                </a:solidFill>
              </a:rPr>
              <a:t>days</a:t>
            </a:r>
            <a:r>
              <a:rPr lang="en-US" dirty="0"/>
              <a:t>. Up to six </a:t>
            </a:r>
            <a:r>
              <a:rPr lang="en-US" dirty="0">
                <a:solidFill>
                  <a:srgbClr val="FF0000"/>
                </a:solidFill>
              </a:rPr>
              <a:t>items</a:t>
            </a:r>
            <a:r>
              <a:rPr lang="en-US" dirty="0"/>
              <a:t> at a time may be borrowed. The </a:t>
            </a:r>
            <a:r>
              <a:rPr lang="en-US" dirty="0">
                <a:solidFill>
                  <a:srgbClr val="FF0000"/>
                </a:solidFill>
              </a:rPr>
              <a:t>system</a:t>
            </a:r>
            <a:r>
              <a:rPr lang="en-US" dirty="0"/>
              <a:t> tracks when books and magazines are borrowed.</a:t>
            </a:r>
          </a:p>
        </p:txBody>
      </p:sp>
      <p:sp>
        <p:nvSpPr>
          <p:cNvPr id="4" name="Slide Number Placeholder 5"/>
          <p:cNvSpPr>
            <a:spLocks noGrp="1"/>
          </p:cNvSpPr>
          <p:nvPr>
            <p:ph type="sldNum" sz="quarter" idx="12"/>
          </p:nvPr>
        </p:nvSpPr>
        <p:spPr/>
        <p:txBody>
          <a:bodyPr/>
          <a:lstStyle/>
          <a:p>
            <a:fld id="{870F59AC-4081-3F45-A24D-ECDACDA16ECF}" type="slidenum">
              <a:rPr lang="en-US" smtClean="0"/>
              <a:pPr/>
              <a:t>75</a:t>
            </a:fld>
            <a:endParaRPr lang="en-US"/>
          </a:p>
        </p:txBody>
      </p:sp>
    </p:spTree>
    <p:extLst>
      <p:ext uri="{BB962C8B-B14F-4D97-AF65-F5344CB8AC3E}">
        <p14:creationId xmlns:p14="http://schemas.microsoft.com/office/powerpoint/2010/main" val="42762806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2178" name="Rectangle 2"/>
          <p:cNvSpPr>
            <a:spLocks noGrp="1" noChangeArrowheads="1"/>
          </p:cNvSpPr>
          <p:nvPr>
            <p:ph type="title"/>
          </p:nvPr>
        </p:nvSpPr>
        <p:spPr/>
        <p:txBody>
          <a:bodyPr/>
          <a:lstStyle/>
          <a:p>
            <a:r>
              <a:rPr lang="en-US" dirty="0"/>
              <a:t>Verbs</a:t>
            </a:r>
          </a:p>
        </p:txBody>
      </p:sp>
      <p:sp>
        <p:nvSpPr>
          <p:cNvPr id="562179" name="Rectangle 3"/>
          <p:cNvSpPr>
            <a:spLocks noGrp="1" noChangeArrowheads="1"/>
          </p:cNvSpPr>
          <p:nvPr>
            <p:ph idx="1"/>
          </p:nvPr>
        </p:nvSpPr>
        <p:spPr/>
        <p:txBody>
          <a:bodyPr/>
          <a:lstStyle/>
          <a:p>
            <a:r>
              <a:rPr lang="en-US" dirty="0"/>
              <a:t>The library </a:t>
            </a:r>
            <a:r>
              <a:rPr lang="en-US" dirty="0">
                <a:solidFill>
                  <a:srgbClr val="FF0000"/>
                </a:solidFill>
              </a:rPr>
              <a:t>has</a:t>
            </a:r>
            <a:r>
              <a:rPr lang="en-US" dirty="0"/>
              <a:t> books and magazines.  Books may be </a:t>
            </a:r>
            <a:r>
              <a:rPr lang="en-US" dirty="0">
                <a:solidFill>
                  <a:srgbClr val="FF0000"/>
                </a:solidFill>
              </a:rPr>
              <a:t>borrowed</a:t>
            </a:r>
            <a:r>
              <a:rPr lang="en-US" dirty="0"/>
              <a:t> by any patron for four weeks while magazines may only be borrowed for two days. Up to six items at a time may be borrowed. The system </a:t>
            </a:r>
            <a:r>
              <a:rPr lang="en-US" dirty="0">
                <a:solidFill>
                  <a:srgbClr val="FF0000"/>
                </a:solidFill>
              </a:rPr>
              <a:t>tracks</a:t>
            </a:r>
            <a:r>
              <a:rPr lang="en-US" dirty="0"/>
              <a:t> when books and magazines are borrowed.</a:t>
            </a:r>
          </a:p>
        </p:txBody>
      </p:sp>
      <p:sp>
        <p:nvSpPr>
          <p:cNvPr id="4" name="Slide Number Placeholder 5"/>
          <p:cNvSpPr>
            <a:spLocks noGrp="1"/>
          </p:cNvSpPr>
          <p:nvPr>
            <p:ph type="sldNum" sz="quarter" idx="12"/>
          </p:nvPr>
        </p:nvSpPr>
        <p:spPr/>
        <p:txBody>
          <a:bodyPr/>
          <a:lstStyle/>
          <a:p>
            <a:fld id="{870F59AC-4081-3F45-A24D-ECDACDA16ECF}" type="slidenum">
              <a:rPr lang="en-US" smtClean="0"/>
              <a:pPr/>
              <a:t>76</a:t>
            </a:fld>
            <a:endParaRPr lang="en-US"/>
          </a:p>
        </p:txBody>
      </p:sp>
    </p:spTree>
    <p:extLst>
      <p:ext uri="{BB962C8B-B14F-4D97-AF65-F5344CB8AC3E}">
        <p14:creationId xmlns:p14="http://schemas.microsoft.com/office/powerpoint/2010/main" val="172691989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5250" name="Rectangle 2"/>
          <p:cNvSpPr>
            <a:spLocks noGrp="1" noChangeArrowheads="1"/>
          </p:cNvSpPr>
          <p:nvPr>
            <p:ph type="title"/>
          </p:nvPr>
        </p:nvSpPr>
        <p:spPr/>
        <p:txBody>
          <a:bodyPr/>
          <a:lstStyle/>
          <a:p>
            <a:r>
              <a:rPr lang="en-US"/>
              <a:t>Discover Objects</a:t>
            </a:r>
          </a:p>
        </p:txBody>
      </p:sp>
      <p:sp>
        <p:nvSpPr>
          <p:cNvPr id="565251" name="Rectangle 3"/>
          <p:cNvSpPr>
            <a:spLocks noGrp="1" noChangeArrowheads="1"/>
          </p:cNvSpPr>
          <p:nvPr>
            <p:ph idx="1"/>
          </p:nvPr>
        </p:nvSpPr>
        <p:spPr/>
        <p:txBody>
          <a:bodyPr>
            <a:normAutofit/>
          </a:bodyPr>
          <a:lstStyle/>
          <a:p>
            <a:r>
              <a:rPr lang="en-US" dirty="0"/>
              <a:t>Entity objects:</a:t>
            </a:r>
          </a:p>
          <a:p>
            <a:pPr lvl="1"/>
            <a:r>
              <a:rPr lang="en-US" dirty="0"/>
              <a:t>Things that model the problem domain</a:t>
            </a:r>
          </a:p>
          <a:p>
            <a:r>
              <a:rPr lang="en-US" dirty="0"/>
              <a:t>Control objects:</a:t>
            </a:r>
          </a:p>
          <a:p>
            <a:pPr lvl="1"/>
            <a:r>
              <a:rPr lang="en-US" dirty="0"/>
              <a:t>Things that respond to events and coordinate services</a:t>
            </a:r>
          </a:p>
          <a:p>
            <a:r>
              <a:rPr lang="en-US" dirty="0"/>
              <a:t>Boundary objects:</a:t>
            </a:r>
          </a:p>
          <a:p>
            <a:pPr lvl="1"/>
            <a:r>
              <a:rPr lang="en-US" dirty="0"/>
              <a:t>Things that interact with the system</a:t>
            </a:r>
          </a:p>
          <a:p>
            <a:pPr lvl="2"/>
            <a:r>
              <a:rPr lang="en-US" dirty="0"/>
              <a:t>E.g., other applications, devices, sensors, actors, roles, windows, forms </a:t>
            </a:r>
          </a:p>
        </p:txBody>
      </p:sp>
      <p:sp>
        <p:nvSpPr>
          <p:cNvPr id="4" name="Slide Number Placeholder 5"/>
          <p:cNvSpPr>
            <a:spLocks noGrp="1"/>
          </p:cNvSpPr>
          <p:nvPr>
            <p:ph type="sldNum" sz="quarter" idx="12"/>
          </p:nvPr>
        </p:nvSpPr>
        <p:spPr/>
        <p:txBody>
          <a:bodyPr/>
          <a:lstStyle/>
          <a:p>
            <a:fld id="{4C377404-1A46-CE4A-A367-BF84147383DC}" type="slidenum">
              <a:rPr lang="en-US"/>
              <a:pPr/>
              <a:t>77</a:t>
            </a:fld>
            <a:endParaRPr 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r>
              <a:rPr lang="en-US" dirty="0"/>
              <a:t>Use CRC Cards</a:t>
            </a:r>
          </a:p>
        </p:txBody>
      </p:sp>
      <p:sp>
        <p:nvSpPr>
          <p:cNvPr id="567299" name="Rectangle 3"/>
          <p:cNvSpPr>
            <a:spLocks noGrp="1" noChangeArrowheads="1"/>
          </p:cNvSpPr>
          <p:nvPr>
            <p:ph idx="1"/>
          </p:nvPr>
        </p:nvSpPr>
        <p:spPr/>
        <p:txBody>
          <a:bodyPr/>
          <a:lstStyle/>
          <a:p>
            <a:r>
              <a:rPr lang="en-US" dirty="0"/>
              <a:t>Class-Responsibility-Collaborator</a:t>
            </a:r>
          </a:p>
          <a:p>
            <a:pPr lvl="1"/>
            <a:r>
              <a:rPr lang="en-US" dirty="0"/>
              <a:t>Explore classes, their responsibilities, and their interactions</a:t>
            </a:r>
          </a:p>
          <a:p>
            <a:pPr lvl="1"/>
            <a:r>
              <a:rPr lang="en-US" dirty="0"/>
              <a:t>Organize index cards on a table</a:t>
            </a:r>
          </a:p>
        </p:txBody>
      </p:sp>
      <p:sp>
        <p:nvSpPr>
          <p:cNvPr id="15" name="Slide Number Placeholder 5"/>
          <p:cNvSpPr>
            <a:spLocks noGrp="1"/>
          </p:cNvSpPr>
          <p:nvPr>
            <p:ph type="sldNum" sz="quarter" idx="12"/>
          </p:nvPr>
        </p:nvSpPr>
        <p:spPr/>
        <p:txBody>
          <a:bodyPr/>
          <a:lstStyle/>
          <a:p>
            <a:fld id="{2B610B18-6C7C-4F43-B1F7-AD4A2A43C65F}" type="slidenum">
              <a:rPr lang="en-US"/>
              <a:pPr/>
              <a:t>78</a:t>
            </a:fld>
            <a:endParaRPr lang="en-US"/>
          </a:p>
        </p:txBody>
      </p:sp>
      <p:grpSp>
        <p:nvGrpSpPr>
          <p:cNvPr id="3" name="Group 2">
            <a:extLst>
              <a:ext uri="{FF2B5EF4-FFF2-40B4-BE49-F238E27FC236}">
                <a16:creationId xmlns:a16="http://schemas.microsoft.com/office/drawing/2014/main" id="{E2111CC1-B5F0-64D4-1D7B-8D09F483A306}"/>
              </a:ext>
            </a:extLst>
          </p:cNvPr>
          <p:cNvGrpSpPr/>
          <p:nvPr/>
        </p:nvGrpSpPr>
        <p:grpSpPr>
          <a:xfrm>
            <a:off x="3371850" y="3337520"/>
            <a:ext cx="5448300" cy="2971800"/>
            <a:chOff x="2903483" y="3337520"/>
            <a:chExt cx="5448300" cy="2971800"/>
          </a:xfrm>
        </p:grpSpPr>
        <p:sp>
          <p:nvSpPr>
            <p:cNvPr id="567301" name="Rectangle 5"/>
            <p:cNvSpPr>
              <a:spLocks noChangeArrowheads="1"/>
            </p:cNvSpPr>
            <p:nvPr/>
          </p:nvSpPr>
          <p:spPr bwMode="auto">
            <a:xfrm>
              <a:off x="2903483" y="3337520"/>
              <a:ext cx="5448300" cy="2971800"/>
            </a:xfrm>
            <a:prstGeom prst="rect">
              <a:avLst/>
            </a:prstGeom>
            <a:noFill/>
            <a:ln w="28575" cmpd="sng">
              <a:solidFill>
                <a:schemeClr val="tx1"/>
              </a:solidFill>
              <a:miter lim="800000"/>
              <a:headEnd/>
              <a:tailEnd/>
            </a:ln>
            <a:effectLst/>
            <a:extLst>
              <a:ext uri="{909E8E84-426E-40dd-AFC4-6F175D3DCCD1}">
                <a14:hiddenFill xmlns="" xmlns:a14="http://schemas.microsoft.com/office/drawing/2010/main">
                  <a:solidFill>
                    <a:schemeClr val="tx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sz="2400">
                <a:latin typeface="Times" charset="0"/>
              </a:endParaRPr>
            </a:p>
          </p:txBody>
        </p:sp>
        <p:sp>
          <p:nvSpPr>
            <p:cNvPr id="567302" name="Text Box 6"/>
            <p:cNvSpPr txBox="1">
              <a:spLocks noChangeArrowheads="1"/>
            </p:cNvSpPr>
            <p:nvPr/>
          </p:nvSpPr>
          <p:spPr bwMode="auto">
            <a:xfrm>
              <a:off x="2979683" y="3454996"/>
              <a:ext cx="1995488"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Verdana"/>
                  <a:cs typeface="Verdana"/>
                </a:rPr>
                <a:t>Class Name</a:t>
              </a:r>
            </a:p>
          </p:txBody>
        </p:sp>
        <p:sp>
          <p:nvSpPr>
            <p:cNvPr id="567303" name="Text Box 7"/>
            <p:cNvSpPr txBox="1">
              <a:spLocks noChangeArrowheads="1"/>
            </p:cNvSpPr>
            <p:nvPr/>
          </p:nvSpPr>
          <p:spPr bwMode="auto">
            <a:xfrm>
              <a:off x="2979683" y="4064596"/>
              <a:ext cx="2547938"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Verdana"/>
                  <a:cs typeface="Verdana"/>
                </a:rPr>
                <a:t>Responsibilities</a:t>
              </a:r>
            </a:p>
          </p:txBody>
        </p:sp>
        <p:sp>
          <p:nvSpPr>
            <p:cNvPr id="567304" name="Text Box 8"/>
            <p:cNvSpPr txBox="1">
              <a:spLocks noChangeArrowheads="1"/>
            </p:cNvSpPr>
            <p:nvPr/>
          </p:nvSpPr>
          <p:spPr bwMode="auto">
            <a:xfrm>
              <a:off x="5875283" y="4064596"/>
              <a:ext cx="2228850"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Verdana"/>
                  <a:cs typeface="Verdana"/>
                </a:rPr>
                <a:t>Collaborators</a:t>
              </a:r>
            </a:p>
          </p:txBody>
        </p:sp>
        <p:sp>
          <p:nvSpPr>
            <p:cNvPr id="567305" name="Line 9"/>
            <p:cNvSpPr>
              <a:spLocks noChangeShapeType="1"/>
            </p:cNvSpPr>
            <p:nvPr/>
          </p:nvSpPr>
          <p:spPr bwMode="auto">
            <a:xfrm>
              <a:off x="3055883" y="3947120"/>
              <a:ext cx="5105400" cy="0"/>
            </a:xfrm>
            <a:prstGeom prst="line">
              <a:avLst/>
            </a:prstGeom>
            <a:noFill/>
            <a:ln w="19050" cmpd="sng">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7306" name="Line 10"/>
            <p:cNvSpPr>
              <a:spLocks noChangeShapeType="1"/>
            </p:cNvSpPr>
            <p:nvPr/>
          </p:nvSpPr>
          <p:spPr bwMode="auto">
            <a:xfrm>
              <a:off x="5646683" y="4023320"/>
              <a:ext cx="0" cy="2209800"/>
            </a:xfrm>
            <a:prstGeom prst="line">
              <a:avLst/>
            </a:prstGeom>
            <a:noFill/>
            <a:ln w="19050" cmpd="sng">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7307" name="Text Box 11"/>
            <p:cNvSpPr txBox="1">
              <a:spLocks noChangeArrowheads="1"/>
            </p:cNvSpPr>
            <p:nvPr/>
          </p:nvSpPr>
          <p:spPr bwMode="auto">
            <a:xfrm>
              <a:off x="2979684" y="4709120"/>
              <a:ext cx="251383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i="1" dirty="0">
                  <a:latin typeface="Verdana"/>
                  <a:cs typeface="Verdana"/>
                </a:rPr>
                <a:t>What the class does</a:t>
              </a:r>
            </a:p>
          </p:txBody>
        </p:sp>
        <p:sp>
          <p:nvSpPr>
            <p:cNvPr id="567308" name="Text Box 12"/>
            <p:cNvSpPr txBox="1">
              <a:spLocks noChangeArrowheads="1"/>
            </p:cNvSpPr>
            <p:nvPr/>
          </p:nvSpPr>
          <p:spPr bwMode="auto">
            <a:xfrm>
              <a:off x="5875283" y="4709121"/>
              <a:ext cx="2285993"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i="1" dirty="0">
                  <a:latin typeface="Verdana"/>
                  <a:cs typeface="Verdana"/>
                </a:rPr>
                <a:t>Other classes that provide needed services or info</a:t>
              </a:r>
            </a:p>
          </p:txBody>
        </p:sp>
        <p:sp>
          <p:nvSpPr>
            <p:cNvPr id="567309" name="Text Box 13"/>
            <p:cNvSpPr txBox="1">
              <a:spLocks noChangeArrowheads="1"/>
            </p:cNvSpPr>
            <p:nvPr/>
          </p:nvSpPr>
          <p:spPr bwMode="auto">
            <a:xfrm>
              <a:off x="5108521" y="3489920"/>
              <a:ext cx="1718740" cy="36933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i="1" dirty="0">
                  <a:latin typeface="Verdana"/>
                  <a:cs typeface="Verdana"/>
                </a:rPr>
                <a:t>A good name</a:t>
              </a:r>
            </a:p>
          </p:txBody>
        </p:sp>
      </p:grpSp>
      <p:sp>
        <p:nvSpPr>
          <p:cNvPr id="567310" name="Text Box 14"/>
          <p:cNvSpPr txBox="1">
            <a:spLocks noChangeArrowheads="1"/>
          </p:cNvSpPr>
          <p:nvPr/>
        </p:nvSpPr>
        <p:spPr bwMode="auto">
          <a:xfrm>
            <a:off x="8874765" y="4428132"/>
            <a:ext cx="1613723"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i="1" dirty="0"/>
              <a:t>Use the back for more details</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7298" name="Rectangle 2"/>
          <p:cNvSpPr>
            <a:spLocks noGrp="1" noChangeArrowheads="1"/>
          </p:cNvSpPr>
          <p:nvPr>
            <p:ph type="title"/>
          </p:nvPr>
        </p:nvSpPr>
        <p:spPr/>
        <p:txBody>
          <a:bodyPr/>
          <a:lstStyle/>
          <a:p>
            <a:r>
              <a:rPr lang="en-US" dirty="0"/>
              <a:t>Use CRC Cards</a:t>
            </a:r>
          </a:p>
        </p:txBody>
      </p:sp>
      <p:sp>
        <p:nvSpPr>
          <p:cNvPr id="15" name="Slide Number Placeholder 5"/>
          <p:cNvSpPr>
            <a:spLocks noGrp="1"/>
          </p:cNvSpPr>
          <p:nvPr>
            <p:ph type="sldNum" sz="quarter" idx="12"/>
          </p:nvPr>
        </p:nvSpPr>
        <p:spPr/>
        <p:txBody>
          <a:bodyPr/>
          <a:lstStyle/>
          <a:p>
            <a:fld id="{2B610B18-6C7C-4F43-B1F7-AD4A2A43C65F}" type="slidenum">
              <a:rPr lang="en-US"/>
              <a:pPr/>
              <a:t>79</a:t>
            </a:fld>
            <a:endParaRPr lang="en-US"/>
          </a:p>
        </p:txBody>
      </p:sp>
      <p:grpSp>
        <p:nvGrpSpPr>
          <p:cNvPr id="2" name="Group 1">
            <a:extLst>
              <a:ext uri="{FF2B5EF4-FFF2-40B4-BE49-F238E27FC236}">
                <a16:creationId xmlns:a16="http://schemas.microsoft.com/office/drawing/2014/main" id="{8D061EFF-2E0B-8DEF-51EA-685CEB285F93}"/>
              </a:ext>
            </a:extLst>
          </p:cNvPr>
          <p:cNvGrpSpPr/>
          <p:nvPr/>
        </p:nvGrpSpPr>
        <p:grpSpPr>
          <a:xfrm>
            <a:off x="3371850" y="2348880"/>
            <a:ext cx="5448300" cy="2971800"/>
            <a:chOff x="3371850" y="2348880"/>
            <a:chExt cx="5448300" cy="2971800"/>
          </a:xfrm>
        </p:grpSpPr>
        <p:sp>
          <p:nvSpPr>
            <p:cNvPr id="567301" name="Rectangle 5"/>
            <p:cNvSpPr>
              <a:spLocks noChangeArrowheads="1"/>
            </p:cNvSpPr>
            <p:nvPr/>
          </p:nvSpPr>
          <p:spPr bwMode="auto">
            <a:xfrm>
              <a:off x="3371850" y="2348880"/>
              <a:ext cx="5448300" cy="2971800"/>
            </a:xfrm>
            <a:prstGeom prst="rect">
              <a:avLst/>
            </a:prstGeom>
            <a:noFill/>
            <a:ln w="28575" cmpd="sng">
              <a:solidFill>
                <a:schemeClr val="tx1"/>
              </a:solidFill>
              <a:miter lim="800000"/>
              <a:headEnd/>
              <a:tailEnd/>
            </a:ln>
            <a:effectLst/>
            <a:extLst>
              <a:ext uri="{909E8E84-426E-40dd-AFC4-6F175D3DCCD1}">
                <a14:hiddenFill xmlns="" xmlns:a14="http://schemas.microsoft.com/office/drawing/2010/main">
                  <a:solidFill>
                    <a:schemeClr val="tx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algn="ctr"/>
              <a:endParaRPr lang="en-US" sz="2400">
                <a:latin typeface="Times" charset="0"/>
              </a:endParaRPr>
            </a:p>
          </p:txBody>
        </p:sp>
        <p:sp>
          <p:nvSpPr>
            <p:cNvPr id="567302" name="Text Box 6"/>
            <p:cNvSpPr txBox="1">
              <a:spLocks noChangeArrowheads="1"/>
            </p:cNvSpPr>
            <p:nvPr/>
          </p:nvSpPr>
          <p:spPr bwMode="auto">
            <a:xfrm>
              <a:off x="3448051" y="2466356"/>
              <a:ext cx="954107" cy="46166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Verdana"/>
                  <a:cs typeface="Verdana"/>
                </a:rPr>
                <a:t>Book</a:t>
              </a:r>
            </a:p>
          </p:txBody>
        </p:sp>
        <p:sp>
          <p:nvSpPr>
            <p:cNvPr id="567303" name="Text Box 7"/>
            <p:cNvSpPr txBox="1">
              <a:spLocks noChangeArrowheads="1"/>
            </p:cNvSpPr>
            <p:nvPr/>
          </p:nvSpPr>
          <p:spPr bwMode="auto">
            <a:xfrm>
              <a:off x="3448050" y="3075956"/>
              <a:ext cx="2547938"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Verdana"/>
                  <a:cs typeface="Verdana"/>
                </a:rPr>
                <a:t>Responsibilities</a:t>
              </a:r>
            </a:p>
          </p:txBody>
        </p:sp>
        <p:sp>
          <p:nvSpPr>
            <p:cNvPr id="567304" name="Text Box 8"/>
            <p:cNvSpPr txBox="1">
              <a:spLocks noChangeArrowheads="1"/>
            </p:cNvSpPr>
            <p:nvPr/>
          </p:nvSpPr>
          <p:spPr bwMode="auto">
            <a:xfrm>
              <a:off x="6343650" y="3075956"/>
              <a:ext cx="2228850" cy="46196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sz="2400" dirty="0">
                  <a:latin typeface="Verdana"/>
                  <a:cs typeface="Verdana"/>
                </a:rPr>
                <a:t>Collaborators</a:t>
              </a:r>
            </a:p>
          </p:txBody>
        </p:sp>
        <p:sp>
          <p:nvSpPr>
            <p:cNvPr id="567305" name="Line 9"/>
            <p:cNvSpPr>
              <a:spLocks noChangeShapeType="1"/>
            </p:cNvSpPr>
            <p:nvPr/>
          </p:nvSpPr>
          <p:spPr bwMode="auto">
            <a:xfrm>
              <a:off x="3524250" y="2958480"/>
              <a:ext cx="5105400" cy="0"/>
            </a:xfrm>
            <a:prstGeom prst="line">
              <a:avLst/>
            </a:prstGeom>
            <a:noFill/>
            <a:ln w="19050" cmpd="sng">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7306" name="Line 10"/>
            <p:cNvSpPr>
              <a:spLocks noChangeShapeType="1"/>
            </p:cNvSpPr>
            <p:nvPr/>
          </p:nvSpPr>
          <p:spPr bwMode="auto">
            <a:xfrm>
              <a:off x="6115050" y="3034680"/>
              <a:ext cx="0" cy="2209800"/>
            </a:xfrm>
            <a:prstGeom prst="line">
              <a:avLst/>
            </a:prstGeom>
            <a:noFill/>
            <a:ln w="19050" cmpd="sng">
              <a:solidFill>
                <a:schemeClr val="tx1"/>
              </a:solidFill>
              <a:round/>
              <a:headEnd/>
              <a:tailEnd/>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endParaRPr lang="en-US"/>
            </a:p>
          </p:txBody>
        </p:sp>
        <p:sp>
          <p:nvSpPr>
            <p:cNvPr id="567307" name="Text Box 11"/>
            <p:cNvSpPr txBox="1">
              <a:spLocks noChangeArrowheads="1"/>
            </p:cNvSpPr>
            <p:nvPr/>
          </p:nvSpPr>
          <p:spPr bwMode="auto">
            <a:xfrm>
              <a:off x="3448051" y="3720480"/>
              <a:ext cx="2628895" cy="92333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square">
              <a:spAutoFit/>
            </a:bodyPr>
            <a:lstStyle/>
            <a:p>
              <a:r>
                <a:rPr lang="en-US" dirty="0">
                  <a:latin typeface="Verdana"/>
                  <a:cs typeface="Verdana"/>
                </a:rPr>
                <a:t>Maintain information about a book</a:t>
              </a:r>
              <a:br>
                <a:rPr lang="en-US" dirty="0">
                  <a:latin typeface="Verdana"/>
                  <a:cs typeface="Verdana"/>
                </a:rPr>
              </a:br>
              <a:r>
                <a:rPr lang="en-US" dirty="0">
                  <a:latin typeface="Verdana"/>
                  <a:cs typeface="Verdana"/>
                </a:rPr>
                <a:t>…</a:t>
              </a:r>
            </a:p>
          </p:txBody>
        </p:sp>
        <p:sp>
          <p:nvSpPr>
            <p:cNvPr id="567308" name="Text Box 12"/>
            <p:cNvSpPr txBox="1">
              <a:spLocks noChangeArrowheads="1"/>
            </p:cNvSpPr>
            <p:nvPr/>
          </p:nvSpPr>
          <p:spPr bwMode="auto">
            <a:xfrm>
              <a:off x="6343650" y="3720481"/>
              <a:ext cx="988522" cy="6463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r>
                <a:rPr lang="en-US" dirty="0">
                  <a:latin typeface="Verdana"/>
                  <a:cs typeface="Verdana"/>
                </a:rPr>
                <a:t>Library</a:t>
              </a:r>
              <a:br>
                <a:rPr lang="en-US" dirty="0">
                  <a:latin typeface="Verdana"/>
                  <a:cs typeface="Verdana"/>
                </a:rPr>
              </a:br>
              <a:r>
                <a:rPr lang="en-US" dirty="0">
                  <a:latin typeface="Verdana"/>
                  <a:cs typeface="Verdana"/>
                </a:rPr>
                <a:t>…</a:t>
              </a:r>
            </a:p>
          </p:txBody>
        </p:sp>
      </p:grpSp>
    </p:spTree>
    <p:extLst>
      <p:ext uri="{BB962C8B-B14F-4D97-AF65-F5344CB8AC3E}">
        <p14:creationId xmlns:p14="http://schemas.microsoft.com/office/powerpoint/2010/main" val="32309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9346" name="Rectangle 2"/>
          <p:cNvSpPr>
            <a:spLocks noGrp="1" noChangeArrowheads="1"/>
          </p:cNvSpPr>
          <p:nvPr>
            <p:ph type="title"/>
          </p:nvPr>
        </p:nvSpPr>
        <p:spPr/>
        <p:txBody>
          <a:bodyPr/>
          <a:lstStyle/>
          <a:p>
            <a:r>
              <a:rPr lang="en-US" dirty="0"/>
              <a:t>Use CRC Cards</a:t>
            </a:r>
          </a:p>
        </p:txBody>
      </p:sp>
      <p:sp>
        <p:nvSpPr>
          <p:cNvPr id="569347" name="Rectangle 3"/>
          <p:cNvSpPr>
            <a:spLocks noGrp="1" noChangeArrowheads="1"/>
          </p:cNvSpPr>
          <p:nvPr>
            <p:ph idx="1"/>
          </p:nvPr>
        </p:nvSpPr>
        <p:spPr/>
        <p:txBody>
          <a:bodyPr/>
          <a:lstStyle/>
          <a:p>
            <a:pPr>
              <a:lnSpc>
                <a:spcPct val="90000"/>
              </a:lnSpc>
            </a:pPr>
            <a:r>
              <a:rPr lang="en-US" dirty="0"/>
              <a:t>Role playing:</a:t>
            </a:r>
          </a:p>
          <a:p>
            <a:pPr lvl="1">
              <a:lnSpc>
                <a:spcPct val="90000"/>
              </a:lnSpc>
            </a:pPr>
            <a:r>
              <a:rPr lang="en-US" dirty="0"/>
              <a:t>Refine the cards by acting out a particular scenario with the candidate objects</a:t>
            </a:r>
          </a:p>
          <a:p>
            <a:pPr lvl="1">
              <a:lnSpc>
                <a:spcPct val="90000"/>
              </a:lnSpc>
            </a:pPr>
            <a:r>
              <a:rPr lang="en-US" dirty="0"/>
              <a:t>“Become” the object</a:t>
            </a:r>
          </a:p>
          <a:p>
            <a:pPr lvl="2"/>
            <a:r>
              <a:rPr lang="en-US" dirty="0"/>
              <a:t>What do I do?</a:t>
            </a:r>
          </a:p>
          <a:p>
            <a:pPr lvl="2"/>
            <a:r>
              <a:rPr lang="en-US" dirty="0"/>
              <a:t>What do I need to remember?</a:t>
            </a:r>
          </a:p>
          <a:p>
            <a:pPr lvl="2"/>
            <a:r>
              <a:rPr lang="en-US" dirty="0"/>
              <a:t>With whom do I need to interact?</a:t>
            </a:r>
          </a:p>
          <a:p>
            <a:pPr lvl="2"/>
            <a:r>
              <a:rPr lang="en-US" dirty="0"/>
              <a:t>How do I respond?</a:t>
            </a:r>
          </a:p>
          <a:p>
            <a:pPr lvl="1">
              <a:lnSpc>
                <a:spcPct val="90000"/>
              </a:lnSpc>
            </a:pPr>
            <a:endParaRPr lang="en-US" dirty="0"/>
          </a:p>
          <a:p>
            <a:pPr lvl="1">
              <a:lnSpc>
                <a:spcPct val="90000"/>
              </a:lnSpc>
            </a:pPr>
            <a:endParaRPr lang="en-US" dirty="0"/>
          </a:p>
          <a:p>
            <a:pPr lvl="1">
              <a:lnSpc>
                <a:spcPct val="90000"/>
              </a:lnSpc>
            </a:pPr>
            <a:endParaRPr lang="en-US" dirty="0"/>
          </a:p>
          <a:p>
            <a:pPr lvl="1">
              <a:lnSpc>
                <a:spcPct val="90000"/>
              </a:lnSpc>
            </a:pPr>
            <a:endParaRPr lang="en-US" dirty="0"/>
          </a:p>
          <a:p>
            <a:pPr>
              <a:lnSpc>
                <a:spcPct val="90000"/>
              </a:lnSpc>
            </a:pPr>
            <a:endParaRPr lang="en-US" dirty="0"/>
          </a:p>
          <a:p>
            <a:pPr>
              <a:lnSpc>
                <a:spcPct val="90000"/>
              </a:lnSpc>
            </a:pPr>
            <a:endParaRPr lang="en-US" dirty="0"/>
          </a:p>
        </p:txBody>
      </p:sp>
      <p:sp>
        <p:nvSpPr>
          <p:cNvPr id="4" name="Slide Number Placeholder 5"/>
          <p:cNvSpPr>
            <a:spLocks noGrp="1"/>
          </p:cNvSpPr>
          <p:nvPr>
            <p:ph type="sldNum" sz="quarter" idx="12"/>
          </p:nvPr>
        </p:nvSpPr>
        <p:spPr/>
        <p:txBody>
          <a:bodyPr/>
          <a:lstStyle/>
          <a:p>
            <a:fld id="{7BB136B9-ECAC-3846-A0A7-279FA5B7FD22}" type="slidenum">
              <a:rPr lang="en-US"/>
              <a:pPr/>
              <a:t>80</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69347">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69347">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69347">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69347">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69347">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2418" name="Rectangle 2"/>
          <p:cNvSpPr>
            <a:spLocks noGrp="1" noChangeArrowheads="1"/>
          </p:cNvSpPr>
          <p:nvPr>
            <p:ph type="title"/>
          </p:nvPr>
        </p:nvSpPr>
        <p:spPr/>
        <p:txBody>
          <a:bodyPr/>
          <a:lstStyle/>
          <a:p>
            <a:r>
              <a:rPr lang="en-US" dirty="0"/>
              <a:t>Evaluate</a:t>
            </a:r>
          </a:p>
        </p:txBody>
      </p:sp>
      <p:sp>
        <p:nvSpPr>
          <p:cNvPr id="572419" name="Rectangle 3"/>
          <p:cNvSpPr>
            <a:spLocks noGrp="1" noChangeArrowheads="1"/>
          </p:cNvSpPr>
          <p:nvPr>
            <p:ph idx="1"/>
          </p:nvPr>
        </p:nvSpPr>
        <p:spPr/>
        <p:txBody>
          <a:bodyPr/>
          <a:lstStyle/>
          <a:p>
            <a:r>
              <a:rPr lang="en-US" dirty="0"/>
              <a:t>Principles:</a:t>
            </a:r>
          </a:p>
          <a:p>
            <a:pPr lvl="1"/>
            <a:r>
              <a:rPr lang="en-US" dirty="0"/>
              <a:t>During analysis, objects should initially be technology independent</a:t>
            </a:r>
          </a:p>
          <a:p>
            <a:pPr lvl="1"/>
            <a:r>
              <a:rPr lang="en-US" dirty="0"/>
              <a:t>If an object has only one attribute, perhaps it should not be a separate object at all</a:t>
            </a:r>
          </a:p>
          <a:p>
            <a:pPr lvl="1"/>
            <a:r>
              <a:rPr lang="en-US" dirty="0"/>
              <a:t>If an object has several highly related attributes, perhaps these attributes should form a separate object</a:t>
            </a:r>
          </a:p>
        </p:txBody>
      </p:sp>
      <p:sp>
        <p:nvSpPr>
          <p:cNvPr id="4" name="Slide Number Placeholder 5"/>
          <p:cNvSpPr>
            <a:spLocks noGrp="1"/>
          </p:cNvSpPr>
          <p:nvPr>
            <p:ph type="sldNum" sz="quarter" idx="12"/>
          </p:nvPr>
        </p:nvSpPr>
        <p:spPr/>
        <p:txBody>
          <a:bodyPr/>
          <a:lstStyle/>
          <a:p>
            <a:fld id="{649E5A25-E746-4345-ABBD-B5F1A22CFB2F}" type="slidenum">
              <a:rPr lang="en-US"/>
              <a:pPr/>
              <a:t>81</a:t>
            </a:fld>
            <a:endParaRPr lang="en-US"/>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C73696-FE0D-A54F-BFC1-2DC7279BF755}"/>
              </a:ext>
            </a:extLst>
          </p:cNvPr>
          <p:cNvSpPr>
            <a:spLocks noGrp="1"/>
          </p:cNvSpPr>
          <p:nvPr>
            <p:ph type="title"/>
          </p:nvPr>
        </p:nvSpPr>
        <p:spPr/>
        <p:txBody>
          <a:bodyPr/>
          <a:lstStyle/>
          <a:p>
            <a:r>
              <a:rPr lang="en-US" dirty="0"/>
              <a:t>Exercise</a:t>
            </a:r>
          </a:p>
        </p:txBody>
      </p:sp>
      <p:sp>
        <p:nvSpPr>
          <p:cNvPr id="3" name="Content Placeholder 2">
            <a:extLst>
              <a:ext uri="{FF2B5EF4-FFF2-40B4-BE49-F238E27FC236}">
                <a16:creationId xmlns:a16="http://schemas.microsoft.com/office/drawing/2014/main" id="{B42C9ED5-DC21-7A03-2B8A-D5A4DD7E547D}"/>
              </a:ext>
            </a:extLst>
          </p:cNvPr>
          <p:cNvSpPr>
            <a:spLocks noGrp="1"/>
          </p:cNvSpPr>
          <p:nvPr>
            <p:ph idx="1"/>
          </p:nvPr>
        </p:nvSpPr>
        <p:spPr/>
        <p:txBody>
          <a:bodyPr>
            <a:noAutofit/>
          </a:bodyPr>
          <a:lstStyle/>
          <a:p>
            <a:r>
              <a:rPr lang="en-CA" sz="2000" dirty="0"/>
              <a:t>Chess is a two-player, turn-based game where players move pieces on an 8x8 board. Each player begins a game with 16 initial pieces: 1 king, 1 queen, 2 rooks, 2 bishops, 2 knights, and 8 pawns. One player has the white pieces, and the other player has the black pieces. Pieces of different types move in specific ways or situations (e.g., navigating directionally, capturing an opponent's piece, castling, promoting, etc.).</a:t>
            </a:r>
          </a:p>
          <a:p>
            <a:r>
              <a:rPr lang="en-CA" sz="2000" dirty="0"/>
              <a:t>Consider a chess tutorial app, where a learner can tap on a piece and see its possible moves from which to choose. A learner can make a move upon the board. After making successive move(s), the learner can take back move(s).</a:t>
            </a:r>
          </a:p>
          <a:p>
            <a:r>
              <a:rPr lang="en-CA" sz="2000" dirty="0"/>
              <a:t>Using CRC cards, identify the key entity classes (and their generalizations as appropriate) in a well-designed, object-oriented model for this app. For each class, give it a good name, outline its main responsibilities, and list its collaborators.</a:t>
            </a:r>
            <a:endParaRPr lang="en-US" sz="2000" dirty="0"/>
          </a:p>
        </p:txBody>
      </p:sp>
      <p:sp>
        <p:nvSpPr>
          <p:cNvPr id="4" name="Slide Number Placeholder 3">
            <a:extLst>
              <a:ext uri="{FF2B5EF4-FFF2-40B4-BE49-F238E27FC236}">
                <a16:creationId xmlns:a16="http://schemas.microsoft.com/office/drawing/2014/main" id="{AF3BD48A-AB52-11AE-85F7-12403528C12D}"/>
              </a:ext>
            </a:extLst>
          </p:cNvPr>
          <p:cNvSpPr>
            <a:spLocks noGrp="1"/>
          </p:cNvSpPr>
          <p:nvPr>
            <p:ph type="sldNum" sz="quarter" idx="12"/>
          </p:nvPr>
        </p:nvSpPr>
        <p:spPr/>
        <p:txBody>
          <a:bodyPr/>
          <a:lstStyle/>
          <a:p>
            <a:fld id="{D3F25697-57D3-0D49-8FC5-4BE2D6D757CB}" type="slidenum">
              <a:rPr lang="en-US" smtClean="0"/>
              <a:pPr/>
              <a:t>82</a:t>
            </a:fld>
            <a:endParaRPr lang="en-US"/>
          </a:p>
        </p:txBody>
      </p:sp>
    </p:spTree>
    <p:extLst>
      <p:ext uri="{BB962C8B-B14F-4D97-AF65-F5344CB8AC3E}">
        <p14:creationId xmlns:p14="http://schemas.microsoft.com/office/powerpoint/2010/main" val="3049756600"/>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5492" name="Rectangle 4"/>
          <p:cNvSpPr>
            <a:spLocks noGrp="1" noChangeArrowheads="1"/>
          </p:cNvSpPr>
          <p:nvPr>
            <p:ph type="title"/>
          </p:nvPr>
        </p:nvSpPr>
        <p:spPr/>
        <p:txBody>
          <a:bodyPr/>
          <a:lstStyle/>
          <a:p>
            <a:r>
              <a:rPr lang="en-US" dirty="0"/>
              <a:t>Guidelines</a:t>
            </a:r>
          </a:p>
        </p:txBody>
      </p:sp>
      <p:sp>
        <p:nvSpPr>
          <p:cNvPr id="575493" name="Rectangle 5"/>
          <p:cNvSpPr>
            <a:spLocks noGrp="1" noChangeArrowheads="1"/>
          </p:cNvSpPr>
          <p:nvPr>
            <p:ph idx="1"/>
          </p:nvPr>
        </p:nvSpPr>
        <p:spPr/>
        <p:txBody>
          <a:bodyPr/>
          <a:lstStyle/>
          <a:p>
            <a:r>
              <a:rPr lang="en-US" dirty="0"/>
              <a:t>Get the big picture:</a:t>
            </a:r>
          </a:p>
          <a:p>
            <a:pPr lvl="1"/>
            <a:r>
              <a:rPr lang="en-US" dirty="0"/>
              <a:t>Understand the problem</a:t>
            </a:r>
          </a:p>
          <a:p>
            <a:pPr lvl="2"/>
            <a:r>
              <a:rPr lang="en-US" dirty="0"/>
              <a:t>Talk to the customer, end users, domain experts</a:t>
            </a:r>
          </a:p>
          <a:p>
            <a:pPr lvl="1"/>
            <a:r>
              <a:rPr lang="en-US" dirty="0"/>
              <a:t>Understand the target environment</a:t>
            </a:r>
          </a:p>
          <a:p>
            <a:pPr lvl="2"/>
            <a:r>
              <a:rPr lang="en-US" dirty="0"/>
              <a:t>Know the implementation constraints</a:t>
            </a:r>
          </a:p>
          <a:p>
            <a:pPr lvl="1"/>
            <a:r>
              <a:rPr lang="en-CA" dirty="0"/>
              <a:t>Avoid </a:t>
            </a:r>
            <a:r>
              <a:rPr lang="en-US" dirty="0"/>
              <a:t>reinventing the wheel</a:t>
            </a:r>
          </a:p>
          <a:p>
            <a:pPr lvl="2"/>
            <a:r>
              <a:rPr lang="en-US" dirty="0"/>
              <a:t>Reuse designs</a:t>
            </a:r>
          </a:p>
        </p:txBody>
      </p:sp>
      <p:sp>
        <p:nvSpPr>
          <p:cNvPr id="4" name="Slide Number Placeholder 5"/>
          <p:cNvSpPr>
            <a:spLocks noGrp="1"/>
          </p:cNvSpPr>
          <p:nvPr>
            <p:ph type="sldNum" sz="quarter" idx="12"/>
          </p:nvPr>
        </p:nvSpPr>
        <p:spPr/>
        <p:txBody>
          <a:bodyPr/>
          <a:lstStyle/>
          <a:p>
            <a:fld id="{FCEEF601-312F-5344-B4B8-83BC81DB10A6}" type="slidenum">
              <a:rPr lang="en-US"/>
              <a:pPr/>
              <a:t>83</a:t>
            </a:fld>
            <a:endParaRPr lang="en-US"/>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6514" name="Rectangle 2"/>
          <p:cNvSpPr>
            <a:spLocks noGrp="1" noChangeArrowheads="1"/>
          </p:cNvSpPr>
          <p:nvPr>
            <p:ph type="title"/>
          </p:nvPr>
        </p:nvSpPr>
        <p:spPr/>
        <p:txBody>
          <a:bodyPr/>
          <a:lstStyle/>
          <a:p>
            <a:r>
              <a:rPr lang="en-US" dirty="0"/>
              <a:t>Guidelines</a:t>
            </a:r>
          </a:p>
        </p:txBody>
      </p:sp>
      <p:sp>
        <p:nvSpPr>
          <p:cNvPr id="4" name="Slide Number Placeholder 5"/>
          <p:cNvSpPr>
            <a:spLocks noGrp="1"/>
          </p:cNvSpPr>
          <p:nvPr>
            <p:ph type="sldNum" sz="quarter" idx="12"/>
          </p:nvPr>
        </p:nvSpPr>
        <p:spPr/>
        <p:txBody>
          <a:bodyPr/>
          <a:lstStyle/>
          <a:p>
            <a:fld id="{6F7B350D-28EC-4E42-A7C0-BA654D18D7EB}" type="slidenum">
              <a:rPr lang="en-US"/>
              <a:pPr/>
              <a:t>84</a:t>
            </a:fld>
            <a:endParaRPr lang="en-US"/>
          </a:p>
        </p:txBody>
      </p:sp>
      <p:sp>
        <p:nvSpPr>
          <p:cNvPr id="2" name="Rectangle 5">
            <a:extLst>
              <a:ext uri="{FF2B5EF4-FFF2-40B4-BE49-F238E27FC236}">
                <a16:creationId xmlns:a16="http://schemas.microsoft.com/office/drawing/2014/main" id="{B2D3038D-4357-76AB-9187-F9DA0C09330A}"/>
              </a:ext>
            </a:extLst>
          </p:cNvPr>
          <p:cNvSpPr txBox="1">
            <a:spLocks noChangeArrowheads="1"/>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Modularity:</a:t>
            </a:r>
          </a:p>
          <a:p>
            <a:pPr lvl="1"/>
            <a:r>
              <a:rPr lang="en-US" dirty="0"/>
              <a:t>Increase cohesion</a:t>
            </a:r>
          </a:p>
          <a:p>
            <a:pPr lvl="2"/>
            <a:r>
              <a:rPr lang="en-US" dirty="0"/>
              <a:t>Class has a clear specific responsibility</a:t>
            </a:r>
          </a:p>
          <a:p>
            <a:pPr lvl="1"/>
            <a:r>
              <a:rPr lang="en-US" dirty="0"/>
              <a:t>Reduce coupling</a:t>
            </a:r>
          </a:p>
          <a:p>
            <a:pPr lvl="2"/>
            <a:r>
              <a:rPr lang="en-US" dirty="0"/>
              <a:t>Class is not connected to or knows too many others</a:t>
            </a:r>
          </a:p>
          <a:p>
            <a:pPr lvl="1"/>
            <a:r>
              <a:rPr lang="en-US" dirty="0"/>
              <a:t>Separate the layers</a:t>
            </a:r>
          </a:p>
          <a:p>
            <a:pPr lvl="2"/>
            <a:r>
              <a:rPr lang="en-US" dirty="0"/>
              <a:t>Identify entity, control, and boundary objects</a:t>
            </a:r>
          </a:p>
          <a:p>
            <a:pPr lvl="2"/>
            <a:r>
              <a:rPr lang="en-US" dirty="0"/>
              <a:t>Allow replacing layers</a:t>
            </a:r>
          </a:p>
          <a:p>
            <a:pPr lvl="2"/>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7538" name="Rectangle 2"/>
          <p:cNvSpPr>
            <a:spLocks noGrp="1" noChangeArrowheads="1"/>
          </p:cNvSpPr>
          <p:nvPr>
            <p:ph type="title"/>
          </p:nvPr>
        </p:nvSpPr>
        <p:spPr/>
        <p:txBody>
          <a:bodyPr/>
          <a:lstStyle/>
          <a:p>
            <a:r>
              <a:rPr lang="en-US" dirty="0"/>
              <a:t>Guidelines</a:t>
            </a:r>
          </a:p>
        </p:txBody>
      </p:sp>
      <p:sp>
        <p:nvSpPr>
          <p:cNvPr id="577539" name="Rectangle 3"/>
          <p:cNvSpPr>
            <a:spLocks noGrp="1" noChangeArrowheads="1"/>
          </p:cNvSpPr>
          <p:nvPr>
            <p:ph idx="1"/>
          </p:nvPr>
        </p:nvSpPr>
        <p:spPr/>
        <p:txBody>
          <a:bodyPr/>
          <a:lstStyle/>
          <a:p>
            <a:r>
              <a:rPr lang="en-US" dirty="0"/>
              <a:t>Classes:</a:t>
            </a:r>
          </a:p>
          <a:p>
            <a:pPr lvl="1"/>
            <a:r>
              <a:rPr lang="en-US" dirty="0"/>
              <a:t>Use good names</a:t>
            </a:r>
          </a:p>
          <a:p>
            <a:pPr lvl="2"/>
            <a:r>
              <a:rPr lang="en-US" dirty="0"/>
              <a:t>Should be meaningful and explanatory</a:t>
            </a:r>
          </a:p>
          <a:p>
            <a:pPr lvl="1"/>
            <a:r>
              <a:rPr lang="en-US" dirty="0"/>
              <a:t>Avoid huge “blob” classes</a:t>
            </a:r>
          </a:p>
          <a:p>
            <a:pPr lvl="2"/>
            <a:r>
              <a:rPr lang="en-US" dirty="0"/>
              <a:t>A single class should not do everything</a:t>
            </a:r>
          </a:p>
          <a:p>
            <a:pPr lvl="1"/>
            <a:r>
              <a:rPr lang="en-US" dirty="0"/>
              <a:t>Use information hiding</a:t>
            </a:r>
          </a:p>
          <a:p>
            <a:pPr lvl="2"/>
            <a:r>
              <a:rPr lang="en-US" dirty="0"/>
              <a:t>Hide changeable details, reveal assumptions</a:t>
            </a:r>
          </a:p>
          <a:p>
            <a:pPr lvl="2"/>
            <a:endParaRPr lang="en-US" dirty="0"/>
          </a:p>
        </p:txBody>
      </p:sp>
      <p:sp>
        <p:nvSpPr>
          <p:cNvPr id="4" name="Slide Number Placeholder 5"/>
          <p:cNvSpPr>
            <a:spLocks noGrp="1"/>
          </p:cNvSpPr>
          <p:nvPr>
            <p:ph type="sldNum" sz="quarter" idx="12"/>
          </p:nvPr>
        </p:nvSpPr>
        <p:spPr/>
        <p:txBody>
          <a:bodyPr/>
          <a:lstStyle/>
          <a:p>
            <a:fld id="{200D00CB-A36F-7C47-8A1A-75B4CD04FD73}" type="slidenum">
              <a:rPr lang="en-US"/>
              <a:pPr/>
              <a:t>85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753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7539">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77539">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77539">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564" name="Rectangle 4"/>
          <p:cNvSpPr>
            <a:spLocks noGrp="1" noChangeArrowheads="1"/>
          </p:cNvSpPr>
          <p:nvPr>
            <p:ph type="title"/>
          </p:nvPr>
        </p:nvSpPr>
        <p:spPr/>
        <p:txBody>
          <a:bodyPr/>
          <a:lstStyle/>
          <a:p>
            <a:r>
              <a:rPr lang="en-US" dirty="0"/>
              <a:t>Guidelines</a:t>
            </a:r>
          </a:p>
        </p:txBody>
      </p:sp>
      <p:sp>
        <p:nvSpPr>
          <p:cNvPr id="578565" name="Rectangle 5"/>
          <p:cNvSpPr>
            <a:spLocks noGrp="1" noChangeArrowheads="1"/>
          </p:cNvSpPr>
          <p:nvPr>
            <p:ph idx="1"/>
          </p:nvPr>
        </p:nvSpPr>
        <p:spPr/>
        <p:txBody>
          <a:bodyPr/>
          <a:lstStyle/>
          <a:p>
            <a:r>
              <a:rPr lang="en-US" dirty="0"/>
              <a:t>Generalization:</a:t>
            </a:r>
          </a:p>
          <a:p>
            <a:pPr lvl="1"/>
            <a:r>
              <a:rPr lang="en-US" dirty="0"/>
              <a:t>Find </a:t>
            </a:r>
            <a:r>
              <a:rPr lang="en-US" dirty="0" err="1"/>
              <a:t>superclasses</a:t>
            </a:r>
            <a:endParaRPr lang="en-US" dirty="0"/>
          </a:p>
          <a:p>
            <a:pPr lvl="2"/>
            <a:r>
              <a:rPr lang="en-US" dirty="0"/>
              <a:t>Look for and factor commonalities among classes</a:t>
            </a:r>
          </a:p>
          <a:p>
            <a:pPr lvl="1"/>
            <a:r>
              <a:rPr lang="en-US" dirty="0"/>
              <a:t>Apply </a:t>
            </a:r>
            <a:r>
              <a:rPr lang="en-US" dirty="0" err="1"/>
              <a:t>Liskov</a:t>
            </a:r>
            <a:r>
              <a:rPr lang="en-US" dirty="0"/>
              <a:t> principle for proper inheritance</a:t>
            </a:r>
          </a:p>
          <a:p>
            <a:pPr lvl="2"/>
            <a:r>
              <a:rPr lang="en-US" dirty="0"/>
              <a:t>Or use “is-a” test</a:t>
            </a:r>
          </a:p>
          <a:p>
            <a:pPr lvl="1"/>
            <a:r>
              <a:rPr lang="en-US" dirty="0"/>
              <a:t>“Is-a” test is not always enough</a:t>
            </a:r>
          </a:p>
          <a:p>
            <a:pPr lvl="2"/>
            <a:r>
              <a:rPr lang="en-US" dirty="0"/>
              <a:t>Class names can mislead, look at specific </a:t>
            </a:r>
            <a:r>
              <a:rPr lang="en-US" dirty="0" err="1"/>
              <a:t>behaviour</a:t>
            </a:r>
            <a:endParaRPr lang="en-US" dirty="0"/>
          </a:p>
        </p:txBody>
      </p:sp>
      <p:sp>
        <p:nvSpPr>
          <p:cNvPr id="4" name="Slide Number Placeholder 5"/>
          <p:cNvSpPr>
            <a:spLocks noGrp="1"/>
          </p:cNvSpPr>
          <p:nvPr>
            <p:ph type="sldNum" sz="quarter" idx="12"/>
          </p:nvPr>
        </p:nvSpPr>
        <p:spPr/>
        <p:txBody>
          <a:bodyPr/>
          <a:lstStyle/>
          <a:p>
            <a:fld id="{CAB79445-1E8A-084D-BB8F-FC50D81175B7}" type="slidenum">
              <a:rPr lang="en-US"/>
              <a:pPr/>
              <a:t>86</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78565">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78565">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78565">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57856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0610" name="Rectangle 2"/>
          <p:cNvSpPr>
            <a:spLocks noGrp="1" noChangeArrowheads="1"/>
          </p:cNvSpPr>
          <p:nvPr>
            <p:ph type="title"/>
          </p:nvPr>
        </p:nvSpPr>
        <p:spPr/>
        <p:txBody>
          <a:bodyPr/>
          <a:lstStyle/>
          <a:p>
            <a:r>
              <a:rPr lang="en-US" dirty="0"/>
              <a:t>Guidelines</a:t>
            </a:r>
          </a:p>
        </p:txBody>
      </p:sp>
      <p:sp>
        <p:nvSpPr>
          <p:cNvPr id="580611" name="Rectangle 3"/>
          <p:cNvSpPr>
            <a:spLocks noGrp="1" noChangeArrowheads="1"/>
          </p:cNvSpPr>
          <p:nvPr>
            <p:ph idx="1"/>
          </p:nvPr>
        </p:nvSpPr>
        <p:spPr/>
        <p:txBody>
          <a:bodyPr/>
          <a:lstStyle/>
          <a:p>
            <a:r>
              <a:rPr lang="en-US" dirty="0"/>
              <a:t>Adaptation:</a:t>
            </a:r>
          </a:p>
          <a:p>
            <a:pPr lvl="1"/>
            <a:r>
              <a:rPr lang="en-CA" dirty="0"/>
              <a:t>Hard to</a:t>
            </a:r>
            <a:r>
              <a:rPr lang="en-US" dirty="0"/>
              <a:t> get it right the first time</a:t>
            </a:r>
          </a:p>
          <a:p>
            <a:pPr lvl="2"/>
            <a:r>
              <a:rPr lang="en-US" dirty="0"/>
              <a:t>Recognize problems and fix them</a:t>
            </a:r>
          </a:p>
          <a:p>
            <a:pPr lvl="1"/>
            <a:r>
              <a:rPr lang="en-US" dirty="0"/>
              <a:t>Your software wo</a:t>
            </a:r>
            <a:r>
              <a:rPr lang="en-CA" dirty="0"/>
              <a:t>n’</a:t>
            </a:r>
            <a:r>
              <a:rPr lang="en-US" dirty="0"/>
              <a:t>t go away</a:t>
            </a:r>
          </a:p>
          <a:p>
            <a:pPr lvl="2"/>
            <a:r>
              <a:rPr lang="en-US" dirty="0"/>
              <a:t>Make it easy to adapt to change</a:t>
            </a:r>
          </a:p>
          <a:p>
            <a:pPr lvl="1"/>
            <a:r>
              <a:rPr lang="en-US" dirty="0"/>
              <a:t>Simplicity (as simple as possible)</a:t>
            </a:r>
          </a:p>
          <a:p>
            <a:pPr lvl="2"/>
            <a:r>
              <a:rPr lang="en-US" dirty="0"/>
              <a:t>Does not always mean using the first thing that comes to mind</a:t>
            </a:r>
          </a:p>
          <a:p>
            <a:pPr lvl="2"/>
            <a:r>
              <a:rPr lang="en-US" dirty="0"/>
              <a:t>Elegant designs may need effort</a:t>
            </a:r>
          </a:p>
        </p:txBody>
      </p:sp>
      <p:sp>
        <p:nvSpPr>
          <p:cNvPr id="4" name="Slide Number Placeholder 5"/>
          <p:cNvSpPr>
            <a:spLocks noGrp="1"/>
          </p:cNvSpPr>
          <p:nvPr>
            <p:ph type="sldNum" sz="quarter" idx="12"/>
          </p:nvPr>
        </p:nvSpPr>
        <p:spPr/>
        <p:txBody>
          <a:bodyPr/>
          <a:lstStyle/>
          <a:p>
            <a:fld id="{98A67375-821B-A64E-9548-D40C35E3479B}" type="slidenum">
              <a:rPr lang="en-US"/>
              <a:pPr/>
              <a:t>87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80611">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80611">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0611">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0611">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0611">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429D6E0E-4851-C34B-2F73-ED5945CBB72F}"/>
              </a:ext>
            </a:extLst>
          </p:cNvPr>
          <p:cNvSpPr>
            <a:spLocks noGrp="1"/>
          </p:cNvSpPr>
          <p:nvPr>
            <p:ph type="sldNum" sz="quarter" idx="12"/>
          </p:nvPr>
        </p:nvSpPr>
        <p:spPr/>
        <p:txBody>
          <a:bodyPr/>
          <a:lstStyle/>
          <a:p>
            <a:fld id="{D3F25697-57D3-0D49-8FC5-4BE2D6D757CB}" type="slidenum">
              <a:rPr lang="en-US" smtClean="0"/>
              <a:pPr/>
              <a:t>88</a:t>
            </a:fld>
            <a:endParaRPr lang="en-US"/>
          </a:p>
        </p:txBody>
      </p:sp>
      <p:grpSp>
        <p:nvGrpSpPr>
          <p:cNvPr id="2" name="Group 1">
            <a:extLst>
              <a:ext uri="{FF2B5EF4-FFF2-40B4-BE49-F238E27FC236}">
                <a16:creationId xmlns:a16="http://schemas.microsoft.com/office/drawing/2014/main" id="{24F0D093-BAC4-0DC4-74EF-16A8519C0394}"/>
              </a:ext>
            </a:extLst>
          </p:cNvPr>
          <p:cNvGrpSpPr/>
          <p:nvPr/>
        </p:nvGrpSpPr>
        <p:grpSpPr>
          <a:xfrm>
            <a:off x="1435761" y="857818"/>
            <a:ext cx="9320479" cy="5258452"/>
            <a:chOff x="1240017" y="857818"/>
            <a:chExt cx="9320479" cy="5258452"/>
          </a:xfrm>
        </p:grpSpPr>
        <p:pic>
          <p:nvPicPr>
            <p:cNvPr id="8" name="Picture 7">
              <a:extLst>
                <a:ext uri="{FF2B5EF4-FFF2-40B4-BE49-F238E27FC236}">
                  <a16:creationId xmlns:a16="http://schemas.microsoft.com/office/drawing/2014/main" id="{4BC13D54-6BBC-E9C0-4317-6F7D89BA816D}"/>
                </a:ext>
              </a:extLst>
            </p:cNvPr>
            <p:cNvPicPr>
              <a:picLocks noChangeAspect="1"/>
            </p:cNvPicPr>
            <p:nvPr/>
          </p:nvPicPr>
          <p:blipFill>
            <a:blip r:embed="rId2"/>
            <a:stretch>
              <a:fillRect/>
            </a:stretch>
          </p:blipFill>
          <p:spPr>
            <a:xfrm>
              <a:off x="2461484" y="980729"/>
              <a:ext cx="2657846" cy="142895"/>
            </a:xfrm>
            <a:prstGeom prst="rect">
              <a:avLst/>
            </a:prstGeom>
          </p:spPr>
        </p:pic>
        <p:sp>
          <p:nvSpPr>
            <p:cNvPr id="10" name="TextBox 9">
              <a:extLst>
                <a:ext uri="{FF2B5EF4-FFF2-40B4-BE49-F238E27FC236}">
                  <a16:creationId xmlns:a16="http://schemas.microsoft.com/office/drawing/2014/main" id="{DCEDFC97-24C7-B717-A0AC-0828E57B3137}"/>
                </a:ext>
              </a:extLst>
            </p:cNvPr>
            <p:cNvSpPr txBox="1"/>
            <p:nvPr/>
          </p:nvSpPr>
          <p:spPr>
            <a:xfrm>
              <a:off x="1502251" y="1234523"/>
              <a:ext cx="4576312" cy="923330"/>
            </a:xfrm>
            <a:prstGeom prst="rect">
              <a:avLst/>
            </a:prstGeom>
            <a:noFill/>
          </p:spPr>
          <p:txBody>
            <a:bodyPr wrap="square">
              <a:spAutoFit/>
            </a:bodyPr>
            <a:lstStyle/>
            <a:p>
              <a:pPr algn="ctr"/>
              <a:r>
                <a:rPr lang="en-CA" dirty="0"/>
                <a:t>Association</a:t>
              </a:r>
            </a:p>
            <a:p>
              <a:pPr algn="ctr"/>
              <a:r>
                <a:rPr lang="en-CA" dirty="0"/>
                <a:t>Usually two-way navigability,</a:t>
              </a:r>
            </a:p>
            <a:p>
              <a:pPr algn="ctr"/>
              <a:r>
                <a:rPr lang="en-CA" dirty="0"/>
                <a:t>but sometimes just not specified</a:t>
              </a:r>
            </a:p>
          </p:txBody>
        </p:sp>
        <p:pic>
          <p:nvPicPr>
            <p:cNvPr id="14" name="Picture 13">
              <a:extLst>
                <a:ext uri="{FF2B5EF4-FFF2-40B4-BE49-F238E27FC236}">
                  <a16:creationId xmlns:a16="http://schemas.microsoft.com/office/drawing/2014/main" id="{9D4448ED-68CE-4510-9BA5-0F08CC6B62CE}"/>
                </a:ext>
              </a:extLst>
            </p:cNvPr>
            <p:cNvPicPr>
              <a:picLocks noChangeAspect="1"/>
            </p:cNvPicPr>
            <p:nvPr/>
          </p:nvPicPr>
          <p:blipFill>
            <a:blip r:embed="rId3"/>
            <a:stretch>
              <a:fillRect/>
            </a:stretch>
          </p:blipFill>
          <p:spPr>
            <a:xfrm>
              <a:off x="2156643" y="2711199"/>
              <a:ext cx="3267531" cy="400106"/>
            </a:xfrm>
            <a:prstGeom prst="rect">
              <a:avLst/>
            </a:prstGeom>
          </p:spPr>
        </p:pic>
        <p:sp>
          <p:nvSpPr>
            <p:cNvPr id="16" name="TextBox 15">
              <a:extLst>
                <a:ext uri="{FF2B5EF4-FFF2-40B4-BE49-F238E27FC236}">
                  <a16:creationId xmlns:a16="http://schemas.microsoft.com/office/drawing/2014/main" id="{312550B0-94F0-E8A4-4059-5EA1FF414952}"/>
                </a:ext>
              </a:extLst>
            </p:cNvPr>
            <p:cNvSpPr txBox="1"/>
            <p:nvPr/>
          </p:nvSpPr>
          <p:spPr>
            <a:xfrm>
              <a:off x="1240017" y="3060849"/>
              <a:ext cx="5100781" cy="646331"/>
            </a:xfrm>
            <a:prstGeom prst="rect">
              <a:avLst/>
            </a:prstGeom>
            <a:noFill/>
          </p:spPr>
          <p:txBody>
            <a:bodyPr wrap="square">
              <a:spAutoFit/>
            </a:bodyPr>
            <a:lstStyle/>
            <a:p>
              <a:pPr algn="ctr"/>
              <a:r>
                <a:rPr lang="en-CA" dirty="0"/>
                <a:t>One-way Navigability</a:t>
              </a:r>
            </a:p>
            <a:p>
              <a:pPr algn="ctr"/>
              <a:r>
                <a:rPr lang="en-CA" dirty="0"/>
                <a:t>We can only follow references from A to B</a:t>
              </a:r>
            </a:p>
          </p:txBody>
        </p:sp>
        <p:pic>
          <p:nvPicPr>
            <p:cNvPr id="18" name="Picture 17">
              <a:extLst>
                <a:ext uri="{FF2B5EF4-FFF2-40B4-BE49-F238E27FC236}">
                  <a16:creationId xmlns:a16="http://schemas.microsoft.com/office/drawing/2014/main" id="{71CD159A-1672-689C-20A0-FF99EA184C2A}"/>
                </a:ext>
              </a:extLst>
            </p:cNvPr>
            <p:cNvPicPr>
              <a:picLocks noChangeAspect="1"/>
            </p:cNvPicPr>
            <p:nvPr/>
          </p:nvPicPr>
          <p:blipFill>
            <a:blip r:embed="rId4"/>
            <a:stretch>
              <a:fillRect/>
            </a:stretch>
          </p:blipFill>
          <p:spPr>
            <a:xfrm>
              <a:off x="2137589" y="4239459"/>
              <a:ext cx="3267531" cy="619211"/>
            </a:xfrm>
            <a:prstGeom prst="rect">
              <a:avLst/>
            </a:prstGeom>
          </p:spPr>
        </p:pic>
        <p:pic>
          <p:nvPicPr>
            <p:cNvPr id="20" name="Picture 19">
              <a:extLst>
                <a:ext uri="{FF2B5EF4-FFF2-40B4-BE49-F238E27FC236}">
                  <a16:creationId xmlns:a16="http://schemas.microsoft.com/office/drawing/2014/main" id="{8408DCA4-6291-06DB-5F05-15155792FECB}"/>
                </a:ext>
              </a:extLst>
            </p:cNvPr>
            <p:cNvPicPr>
              <a:picLocks noChangeAspect="1"/>
            </p:cNvPicPr>
            <p:nvPr/>
          </p:nvPicPr>
          <p:blipFill>
            <a:blip r:embed="rId5"/>
            <a:stretch>
              <a:fillRect/>
            </a:stretch>
          </p:blipFill>
          <p:spPr>
            <a:xfrm>
              <a:off x="2137589" y="5373216"/>
              <a:ext cx="3305636" cy="743054"/>
            </a:xfrm>
            <a:prstGeom prst="rect">
              <a:avLst/>
            </a:prstGeom>
          </p:spPr>
        </p:pic>
        <p:pic>
          <p:nvPicPr>
            <p:cNvPr id="22" name="Picture 21">
              <a:extLst>
                <a:ext uri="{FF2B5EF4-FFF2-40B4-BE49-F238E27FC236}">
                  <a16:creationId xmlns:a16="http://schemas.microsoft.com/office/drawing/2014/main" id="{65B7DC63-F62C-C89C-359D-C05CE7D2BE30}"/>
                </a:ext>
              </a:extLst>
            </p:cNvPr>
            <p:cNvPicPr>
              <a:picLocks noChangeAspect="1"/>
            </p:cNvPicPr>
            <p:nvPr/>
          </p:nvPicPr>
          <p:blipFill>
            <a:blip r:embed="rId6"/>
            <a:stretch>
              <a:fillRect/>
            </a:stretch>
          </p:blipFill>
          <p:spPr>
            <a:xfrm>
              <a:off x="6377873" y="857818"/>
              <a:ext cx="3324689" cy="743054"/>
            </a:xfrm>
            <a:prstGeom prst="rect">
              <a:avLst/>
            </a:prstGeom>
          </p:spPr>
        </p:pic>
        <p:sp>
          <p:nvSpPr>
            <p:cNvPr id="24" name="TextBox 23">
              <a:extLst>
                <a:ext uri="{FF2B5EF4-FFF2-40B4-BE49-F238E27FC236}">
                  <a16:creationId xmlns:a16="http://schemas.microsoft.com/office/drawing/2014/main" id="{2E868165-4AED-DDBB-CEE2-13A82676598A}"/>
                </a:ext>
              </a:extLst>
            </p:cNvPr>
            <p:cNvSpPr txBox="1"/>
            <p:nvPr/>
          </p:nvSpPr>
          <p:spPr>
            <a:xfrm>
              <a:off x="5519936" y="1569445"/>
              <a:ext cx="5040560" cy="1200329"/>
            </a:xfrm>
            <a:prstGeom prst="rect">
              <a:avLst/>
            </a:prstGeom>
            <a:noFill/>
          </p:spPr>
          <p:txBody>
            <a:bodyPr wrap="square">
              <a:spAutoFit/>
            </a:bodyPr>
            <a:lstStyle/>
            <a:p>
              <a:pPr algn="ctr"/>
              <a:r>
                <a:rPr lang="en-CA" dirty="0"/>
                <a:t>A has some Bs</a:t>
              </a:r>
            </a:p>
            <a:p>
              <a:pPr algn="ctr"/>
              <a:r>
                <a:rPr lang="en-CA" dirty="0"/>
                <a:t>The same Bs that A has can </a:t>
              </a:r>
            </a:p>
            <a:p>
              <a:pPr algn="ctr"/>
              <a:r>
                <a:rPr lang="en-CA" dirty="0"/>
                <a:t>be shared</a:t>
              </a:r>
            </a:p>
            <a:p>
              <a:pPr algn="ctr"/>
              <a:r>
                <a:rPr lang="en-CA" dirty="0"/>
                <a:t>Not exclusive!</a:t>
              </a:r>
            </a:p>
          </p:txBody>
        </p:sp>
        <p:pic>
          <p:nvPicPr>
            <p:cNvPr id="26" name="Picture 25">
              <a:extLst>
                <a:ext uri="{FF2B5EF4-FFF2-40B4-BE49-F238E27FC236}">
                  <a16:creationId xmlns:a16="http://schemas.microsoft.com/office/drawing/2014/main" id="{41E3324F-C3A1-C33F-0C80-C4E6D314865C}"/>
                </a:ext>
              </a:extLst>
            </p:cNvPr>
            <p:cNvPicPr>
              <a:picLocks noChangeAspect="1"/>
            </p:cNvPicPr>
            <p:nvPr/>
          </p:nvPicPr>
          <p:blipFill>
            <a:blip r:embed="rId7"/>
            <a:stretch>
              <a:fillRect/>
            </a:stretch>
          </p:blipFill>
          <p:spPr>
            <a:xfrm>
              <a:off x="6290315" y="4012887"/>
              <a:ext cx="3410426" cy="790685"/>
            </a:xfrm>
            <a:prstGeom prst="rect">
              <a:avLst/>
            </a:prstGeom>
          </p:spPr>
        </p:pic>
        <p:sp>
          <p:nvSpPr>
            <p:cNvPr id="28" name="TextBox 27">
              <a:extLst>
                <a:ext uri="{FF2B5EF4-FFF2-40B4-BE49-F238E27FC236}">
                  <a16:creationId xmlns:a16="http://schemas.microsoft.com/office/drawing/2014/main" id="{11E80243-9A1A-6CBE-C7CB-397CD888DCCC}"/>
                </a:ext>
              </a:extLst>
            </p:cNvPr>
            <p:cNvSpPr txBox="1"/>
            <p:nvPr/>
          </p:nvSpPr>
          <p:spPr>
            <a:xfrm>
              <a:off x="5545627" y="4803571"/>
              <a:ext cx="4899802" cy="923330"/>
            </a:xfrm>
            <a:prstGeom prst="rect">
              <a:avLst/>
            </a:prstGeom>
            <a:noFill/>
          </p:spPr>
          <p:txBody>
            <a:bodyPr wrap="square">
              <a:spAutoFit/>
            </a:bodyPr>
            <a:lstStyle/>
            <a:p>
              <a:pPr algn="ctr"/>
              <a:r>
                <a:rPr lang="en-CA" dirty="0"/>
                <a:t>B is a part of A:</a:t>
              </a:r>
            </a:p>
            <a:p>
              <a:pPr algn="ctr"/>
              <a:r>
                <a:rPr lang="en-CA" dirty="0"/>
                <a:t>When instance of A is deleted,</a:t>
              </a:r>
            </a:p>
            <a:p>
              <a:pPr algn="ctr"/>
              <a:r>
                <a:rPr lang="en-CA" dirty="0"/>
                <a:t>all of its B are also deleted</a:t>
              </a:r>
            </a:p>
          </p:txBody>
        </p:sp>
      </p:grpSp>
    </p:spTree>
    <p:extLst>
      <p:ext uri="{BB962C8B-B14F-4D97-AF65-F5344CB8AC3E}">
        <p14:creationId xmlns:p14="http://schemas.microsoft.com/office/powerpoint/2010/main" val="235128957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1650" name="Rectangle 2"/>
          <p:cNvSpPr>
            <a:spLocks noGrp="1" noChangeArrowheads="1"/>
          </p:cNvSpPr>
          <p:nvPr>
            <p:ph type="title"/>
          </p:nvPr>
        </p:nvSpPr>
        <p:spPr/>
        <p:txBody>
          <a:bodyPr/>
          <a:lstStyle/>
          <a:p>
            <a:r>
              <a:rPr lang="en-US" dirty="0"/>
              <a:t>More Information</a:t>
            </a:r>
          </a:p>
        </p:txBody>
      </p:sp>
      <p:sp>
        <p:nvSpPr>
          <p:cNvPr id="2" name="Content Placeholder 1"/>
          <p:cNvSpPr>
            <a:spLocks noGrp="1"/>
          </p:cNvSpPr>
          <p:nvPr>
            <p:ph idx="1"/>
          </p:nvPr>
        </p:nvSpPr>
        <p:spPr/>
        <p:txBody>
          <a:bodyPr/>
          <a:lstStyle/>
          <a:p>
            <a:r>
              <a:rPr lang="en-US" dirty="0"/>
              <a:t>Books:</a:t>
            </a:r>
          </a:p>
          <a:p>
            <a:pPr lvl="1"/>
            <a:r>
              <a:rPr lang="en-US" dirty="0"/>
              <a:t>The Essence of Object-Oriented Programming with Java and UML</a:t>
            </a:r>
          </a:p>
          <a:p>
            <a:pPr lvl="2"/>
            <a:r>
              <a:rPr lang="en-US" dirty="0"/>
              <a:t>B. </a:t>
            </a:r>
            <a:r>
              <a:rPr lang="en-US" dirty="0" err="1"/>
              <a:t>Wampler</a:t>
            </a:r>
            <a:endParaRPr lang="en-US" dirty="0"/>
          </a:p>
          <a:p>
            <a:pPr lvl="2"/>
            <a:r>
              <a:rPr lang="en-US" dirty="0"/>
              <a:t>Addison-Wesley, 2002</a:t>
            </a:r>
          </a:p>
          <a:p>
            <a:pPr lvl="1"/>
            <a:r>
              <a:rPr lang="en-US" dirty="0"/>
              <a:t>Java in a Nutshell</a:t>
            </a:r>
          </a:p>
          <a:p>
            <a:pPr lvl="2"/>
            <a:r>
              <a:rPr lang="en-US" dirty="0"/>
              <a:t>D. Flanagan</a:t>
            </a:r>
          </a:p>
          <a:p>
            <a:pPr lvl="2"/>
            <a:r>
              <a:rPr lang="en-US" dirty="0"/>
              <a:t>O’Reilly, 2005</a:t>
            </a:r>
          </a:p>
        </p:txBody>
      </p:sp>
      <p:sp>
        <p:nvSpPr>
          <p:cNvPr id="6" name="Slide Number Placeholder 6"/>
          <p:cNvSpPr>
            <a:spLocks noGrp="1"/>
          </p:cNvSpPr>
          <p:nvPr>
            <p:ph type="sldNum" sz="quarter" idx="12"/>
          </p:nvPr>
        </p:nvSpPr>
        <p:spPr/>
        <p:txBody>
          <a:bodyPr/>
          <a:lstStyle/>
          <a:p>
            <a:fld id="{614F90F8-B6C2-8C41-90BF-141DEDBC0DBC}" type="slidenum">
              <a:rPr lang="en-US"/>
              <a:pPr/>
              <a:t>89</a:t>
            </a:fld>
            <a:endParaRPr 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More Information</a:t>
            </a:r>
          </a:p>
        </p:txBody>
      </p:sp>
      <p:sp>
        <p:nvSpPr>
          <p:cNvPr id="3" name="Content Placeholder 2"/>
          <p:cNvSpPr>
            <a:spLocks noGrp="1"/>
          </p:cNvSpPr>
          <p:nvPr>
            <p:ph idx="1"/>
          </p:nvPr>
        </p:nvSpPr>
        <p:spPr/>
        <p:txBody>
          <a:bodyPr/>
          <a:lstStyle/>
          <a:p>
            <a:r>
              <a:rPr lang="en-US" dirty="0"/>
              <a:t>Books:</a:t>
            </a:r>
          </a:p>
          <a:p>
            <a:pPr lvl="1"/>
            <a:r>
              <a:rPr lang="en-US" dirty="0"/>
              <a:t>UML Distilled</a:t>
            </a:r>
          </a:p>
          <a:p>
            <a:pPr lvl="2"/>
            <a:r>
              <a:rPr lang="en-US" dirty="0"/>
              <a:t>M. Fowler</a:t>
            </a:r>
          </a:p>
          <a:p>
            <a:pPr lvl="2"/>
            <a:r>
              <a:rPr lang="en-US" dirty="0"/>
              <a:t>Addison-Wesley, 2003</a:t>
            </a:r>
          </a:p>
          <a:p>
            <a:pPr lvl="1"/>
            <a:r>
              <a:rPr lang="en-US" dirty="0"/>
              <a:t>The Elements of UML 2.0 Style</a:t>
            </a:r>
          </a:p>
          <a:p>
            <a:pPr lvl="2"/>
            <a:r>
              <a:rPr lang="en-US" dirty="0"/>
              <a:t>S. W. Ambler</a:t>
            </a:r>
          </a:p>
          <a:p>
            <a:pPr lvl="2"/>
            <a:r>
              <a:rPr lang="en-US" dirty="0"/>
              <a:t>Cambridge, 2005</a:t>
            </a:r>
          </a:p>
        </p:txBody>
      </p:sp>
      <p:sp>
        <p:nvSpPr>
          <p:cNvPr id="4" name="Slide Number Placeholder 3"/>
          <p:cNvSpPr>
            <a:spLocks noGrp="1"/>
          </p:cNvSpPr>
          <p:nvPr>
            <p:ph type="sldNum" sz="quarter" idx="12"/>
          </p:nvPr>
        </p:nvSpPr>
        <p:spPr/>
        <p:txBody>
          <a:bodyPr/>
          <a:lstStyle/>
          <a:p>
            <a:fld id="{D3F25697-57D3-0D49-8FC5-4BE2D6D757CB}" type="slidenum">
              <a:rPr lang="en-US" smtClean="0"/>
              <a:pPr/>
              <a:t>90</a:t>
            </a:fld>
            <a:endParaRPr lang="en-US"/>
          </a:p>
        </p:txBody>
      </p:sp>
    </p:spTree>
    <p:extLst>
      <p:ext uri="{BB962C8B-B14F-4D97-AF65-F5344CB8AC3E}">
        <p14:creationId xmlns:p14="http://schemas.microsoft.com/office/powerpoint/2010/main" val="191830816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7362" name="Rectangle 2"/>
          <p:cNvSpPr>
            <a:spLocks noGrp="1" noChangeArrowheads="1"/>
          </p:cNvSpPr>
          <p:nvPr>
            <p:ph type="title"/>
          </p:nvPr>
        </p:nvSpPr>
        <p:spPr/>
        <p:txBody>
          <a:bodyPr/>
          <a:lstStyle/>
          <a:p>
            <a:r>
              <a:rPr lang="en-US" dirty="0"/>
              <a:t>More Information</a:t>
            </a:r>
          </a:p>
        </p:txBody>
      </p:sp>
      <p:sp>
        <p:nvSpPr>
          <p:cNvPr id="527363" name="Rectangle 3"/>
          <p:cNvSpPr>
            <a:spLocks noGrp="1" noChangeArrowheads="1"/>
          </p:cNvSpPr>
          <p:nvPr>
            <p:ph idx="1"/>
          </p:nvPr>
        </p:nvSpPr>
        <p:spPr/>
        <p:txBody>
          <a:bodyPr>
            <a:normAutofit/>
          </a:bodyPr>
          <a:lstStyle/>
          <a:p>
            <a:r>
              <a:rPr lang="en-US" dirty="0"/>
              <a:t>Link:</a:t>
            </a:r>
          </a:p>
          <a:p>
            <a:pPr lvl="1"/>
            <a:r>
              <a:rPr lang="en-US" dirty="0"/>
              <a:t>UML Quick Reference</a:t>
            </a:r>
          </a:p>
          <a:p>
            <a:pPr lvl="2"/>
            <a:r>
              <a:rPr lang="en-US" dirty="0">
                <a:hlinkClick r:id="rId3"/>
              </a:rPr>
              <a:t>http://www.holub.com/uml/</a:t>
            </a:r>
            <a:endParaRPr lang="en-US" dirty="0"/>
          </a:p>
          <a:p>
            <a:r>
              <a:rPr lang="en-US" dirty="0"/>
              <a:t>Books:</a:t>
            </a:r>
          </a:p>
          <a:p>
            <a:pPr lvl="1">
              <a:buFont typeface="Arial" panose="020B0604020202020204" pitchFamily="34" charset="0"/>
              <a:buChar char="•"/>
            </a:pPr>
            <a:r>
              <a:rPr lang="en-US" sz="2400" dirty="0">
                <a:hlinkClick r:id="rId4"/>
              </a:rPr>
              <a:t>Book: Developing applications with Java and UML</a:t>
            </a:r>
            <a:endParaRPr lang="en-US" sz="2400" dirty="0"/>
          </a:p>
          <a:p>
            <a:pPr lvl="1">
              <a:buFont typeface="Arial" panose="020B0604020202020204" pitchFamily="34" charset="0"/>
              <a:buChar char="•"/>
            </a:pPr>
            <a:r>
              <a:rPr lang="en-US" sz="2400" dirty="0">
                <a:hlinkClick r:id="rId5"/>
              </a:rPr>
              <a:t>Book: Java Design: Objects, UML and Process</a:t>
            </a:r>
            <a:endParaRPr lang="en-US" sz="2400" dirty="0"/>
          </a:p>
          <a:p>
            <a:pPr lvl="1">
              <a:buFont typeface="Arial" panose="020B0604020202020204" pitchFamily="34" charset="0"/>
              <a:buChar char="•"/>
            </a:pPr>
            <a:r>
              <a:rPr lang="en-US" sz="2400" dirty="0">
                <a:hlinkClick r:id="rId6"/>
              </a:rPr>
              <a:t>Book: Object-oriented design with UML and Java</a:t>
            </a:r>
            <a:endParaRPr lang="en-US" sz="2400" dirty="0"/>
          </a:p>
          <a:p>
            <a:pPr lvl="1"/>
            <a:endParaRPr lang="en-US" dirty="0"/>
          </a:p>
        </p:txBody>
      </p:sp>
      <p:sp>
        <p:nvSpPr>
          <p:cNvPr id="5" name="Slide Number Placeholder 5"/>
          <p:cNvSpPr>
            <a:spLocks noGrp="1"/>
          </p:cNvSpPr>
          <p:nvPr>
            <p:ph type="sldNum" sz="quarter" idx="12"/>
          </p:nvPr>
        </p:nvSpPr>
        <p:spPr/>
        <p:txBody>
          <a:bodyPr/>
          <a:lstStyle/>
          <a:p>
            <a:fld id="{0E23750B-A782-504A-83C5-467D375F3E0B}" type="slidenum">
              <a:rPr lang="en-US"/>
              <a:pPr/>
              <a:t>91</a:t>
            </a:fld>
            <a:endParaRPr lang="en-US"/>
          </a:p>
        </p:txBody>
      </p:sp>
    </p:spTree>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Corbel">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Office Theme</Template>
  <TotalTime>79883</TotalTime>
  <Words>6101</Words>
  <Application>Microsoft Macintosh PowerPoint</Application>
  <PresentationFormat>Widescreen</PresentationFormat>
  <Paragraphs>1094</Paragraphs>
  <Slides>91</Slides>
  <Notes>80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91</vt:i4>
      </vt:variant>
    </vt:vector>
  </HeadingPairs>
  <TitlesOfParts>
    <vt:vector size="99" baseType="lpstr">
      <vt:lpstr>Times</vt:lpstr>
      <vt:lpstr>Arial</vt:lpstr>
      <vt:lpstr>Corbel</vt:lpstr>
      <vt:lpstr>Courier</vt:lpstr>
      <vt:lpstr>Gill Sans MT</vt:lpstr>
      <vt:lpstr>Verdana</vt:lpstr>
      <vt:lpstr>Wingdings</vt:lpstr>
      <vt:lpstr>Office Theme</vt:lpstr>
      <vt:lpstr>Objects, UML, and Kotlin</vt:lpstr>
      <vt:lpstr>Modeling Principles</vt:lpstr>
      <vt:lpstr>Language Evolution</vt:lpstr>
      <vt:lpstr>Language Evolution</vt:lpstr>
      <vt:lpstr>Language Evolution</vt:lpstr>
      <vt:lpstr>Language Evolution</vt:lpstr>
      <vt:lpstr>Discussion</vt:lpstr>
      <vt:lpstr>Abstraction</vt:lpstr>
      <vt:lpstr>Encapsulation</vt:lpstr>
      <vt:lpstr>Decomposition</vt:lpstr>
      <vt:lpstr>Generalization</vt:lpstr>
      <vt:lpstr>Object-Oriented Models</vt:lpstr>
      <vt:lpstr>Object-Oriented Models</vt:lpstr>
      <vt:lpstr>Kotlin</vt:lpstr>
      <vt:lpstr>Kotlin</vt:lpstr>
      <vt:lpstr>Unified Modeling Language (UML)</vt:lpstr>
      <vt:lpstr>Why UML?</vt:lpstr>
      <vt:lpstr>Abstraction</vt:lpstr>
      <vt:lpstr>Kotlin and UML Class</vt:lpstr>
      <vt:lpstr>Encapsulation</vt:lpstr>
      <vt:lpstr>Kotlin Class</vt:lpstr>
      <vt:lpstr>Kotlin Class</vt:lpstr>
      <vt:lpstr>UML Class</vt:lpstr>
      <vt:lpstr>Decomposition</vt:lpstr>
      <vt:lpstr>UML Association</vt:lpstr>
      <vt:lpstr>Decomposition</vt:lpstr>
      <vt:lpstr>Kotlin and UML Aggregation</vt:lpstr>
      <vt:lpstr>Kotlin and UML Aggregation</vt:lpstr>
      <vt:lpstr>Decomposition</vt:lpstr>
      <vt:lpstr>UML Composition</vt:lpstr>
      <vt:lpstr>PowerPoint Presentation</vt:lpstr>
      <vt:lpstr>Navigability</vt:lpstr>
      <vt:lpstr>PowerPoint Presentation</vt:lpstr>
      <vt:lpstr>PowerPoint Presentation</vt:lpstr>
      <vt:lpstr>Exercise</vt:lpstr>
      <vt:lpstr>PowerPoint Presentation</vt:lpstr>
      <vt:lpstr>Exercise</vt:lpstr>
      <vt:lpstr>Generalization</vt:lpstr>
      <vt:lpstr>Generalization</vt:lpstr>
      <vt:lpstr>Generalization</vt:lpstr>
      <vt:lpstr>Implementation Inheritance</vt:lpstr>
      <vt:lpstr>Kotlin Implementation Inheritance</vt:lpstr>
      <vt:lpstr>UML Inheritance</vt:lpstr>
      <vt:lpstr>Generalization Principles</vt:lpstr>
      <vt:lpstr>Generalization Principles</vt:lpstr>
      <vt:lpstr>Inheritance Example</vt:lpstr>
      <vt:lpstr>Inheritance Example</vt:lpstr>
      <vt:lpstr>Inheritance Example</vt:lpstr>
      <vt:lpstr>Inheritance Issue</vt:lpstr>
      <vt:lpstr>Inheritance Issue </vt:lpstr>
      <vt:lpstr>Override the Method Approach</vt:lpstr>
      <vt:lpstr>Aggregation Approach</vt:lpstr>
      <vt:lpstr>Restructuring Approach</vt:lpstr>
      <vt:lpstr>Inheritance</vt:lpstr>
      <vt:lpstr>Interface Inheritance</vt:lpstr>
      <vt:lpstr>Interface Inheritance</vt:lpstr>
      <vt:lpstr>Kotlin Interface</vt:lpstr>
      <vt:lpstr>UML Interface </vt:lpstr>
      <vt:lpstr>Abstract Class versus Interface</vt:lpstr>
      <vt:lpstr>Exercise</vt:lpstr>
      <vt:lpstr>Kotlin Subtleties</vt:lpstr>
      <vt:lpstr>Kotlin Call-by-Value</vt:lpstr>
      <vt:lpstr>Kotlin Constructors</vt:lpstr>
      <vt:lpstr>Kotlin Constructors</vt:lpstr>
      <vt:lpstr>Kotlin Constructors</vt:lpstr>
      <vt:lpstr>Kotlin Prevents Accidental Data Shadowing</vt:lpstr>
      <vt:lpstr>Kotlin Prevents Accidental Data Shadowing</vt:lpstr>
      <vt:lpstr>Kotlin Dynamic Binding</vt:lpstr>
      <vt:lpstr>Kotlin Dynamic Binding</vt:lpstr>
      <vt:lpstr>Kotlin Dynamic Binding</vt:lpstr>
      <vt:lpstr>Object-Oriented Analysis and Design</vt:lpstr>
      <vt:lpstr>UML and OOA&amp;D</vt:lpstr>
      <vt:lpstr>Object-Oriented Analysis</vt:lpstr>
      <vt:lpstr>Problem Description</vt:lpstr>
      <vt:lpstr>Nouns</vt:lpstr>
      <vt:lpstr>Verbs</vt:lpstr>
      <vt:lpstr>Discover Objects</vt:lpstr>
      <vt:lpstr>Use CRC Cards</vt:lpstr>
      <vt:lpstr>Use CRC Cards</vt:lpstr>
      <vt:lpstr>Use CRC Cards</vt:lpstr>
      <vt:lpstr>Evaluate</vt:lpstr>
      <vt:lpstr>Exercise</vt:lpstr>
      <vt:lpstr>Guidelines</vt:lpstr>
      <vt:lpstr>Guidelines</vt:lpstr>
      <vt:lpstr>Guidelines</vt:lpstr>
      <vt:lpstr>Guidelines</vt:lpstr>
      <vt:lpstr>Guidelines</vt:lpstr>
      <vt:lpstr>PowerPoint Presentation</vt:lpstr>
      <vt:lpstr>More Information</vt:lpstr>
      <vt:lpstr>More Information</vt:lpstr>
      <vt:lpstr>More Information</vt:lpstr>
    </vt:vector>
  </TitlesOfParts>
  <Manager/>
  <Company>University of Alberta</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Objects, UML, and Java</dc:title>
  <dc:subject/>
  <dc:creator>Kenny Wong</dc:creator>
  <cp:keywords/>
  <dc:description/>
  <cp:lastModifiedBy>Raj Prasad</cp:lastModifiedBy>
  <cp:revision>651</cp:revision>
  <cp:lastPrinted>2000-01-17T05:36:58Z</cp:lastPrinted>
  <dcterms:created xsi:type="dcterms:W3CDTF">2000-09-08T05:00:21Z</dcterms:created>
  <dcterms:modified xsi:type="dcterms:W3CDTF">2026-05-11T19:19:56Z</dcterms:modified>
  <cp:category/>
</cp:coreProperties>
</file>