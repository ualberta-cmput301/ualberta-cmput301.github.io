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79" r:id="rId1"/>
  </p:sldMasterIdLst>
  <p:notesMasterIdLst>
    <p:notesMasterId r:id="rId77"/>
  </p:notesMasterIdLst>
  <p:handoutMasterIdLst>
    <p:handoutMasterId r:id="rId78"/>
  </p:handoutMasterIdLst>
  <p:sldIdLst>
    <p:sldId id="722" r:id="rId2"/>
    <p:sldId id="723" r:id="rId3"/>
    <p:sldId id="724" r:id="rId4"/>
    <p:sldId id="534" r:id="rId5"/>
    <p:sldId id="535" r:id="rId6"/>
    <p:sldId id="556" r:id="rId7"/>
    <p:sldId id="394" r:id="rId8"/>
    <p:sldId id="387" r:id="rId9"/>
    <p:sldId id="560" r:id="rId10"/>
    <p:sldId id="571" r:id="rId11"/>
    <p:sldId id="397" r:id="rId12"/>
    <p:sldId id="395" r:id="rId13"/>
    <p:sldId id="396" r:id="rId14"/>
    <p:sldId id="398" r:id="rId15"/>
    <p:sldId id="562" r:id="rId16"/>
    <p:sldId id="561" r:id="rId17"/>
    <p:sldId id="425" r:id="rId18"/>
    <p:sldId id="428" r:id="rId19"/>
    <p:sldId id="435" r:id="rId20"/>
    <p:sldId id="436" r:id="rId21"/>
    <p:sldId id="430" r:id="rId22"/>
    <p:sldId id="432" r:id="rId23"/>
    <p:sldId id="524" r:id="rId24"/>
    <p:sldId id="564" r:id="rId25"/>
    <p:sldId id="623" r:id="rId26"/>
    <p:sldId id="553" r:id="rId27"/>
    <p:sldId id="563" r:id="rId28"/>
    <p:sldId id="565" r:id="rId29"/>
    <p:sldId id="568" r:id="rId30"/>
    <p:sldId id="439" r:id="rId31"/>
    <p:sldId id="572" r:id="rId32"/>
    <p:sldId id="477" r:id="rId33"/>
    <p:sldId id="478" r:id="rId34"/>
    <p:sldId id="531" r:id="rId35"/>
    <p:sldId id="444" r:id="rId36"/>
    <p:sldId id="445" r:id="rId37"/>
    <p:sldId id="615" r:id="rId38"/>
    <p:sldId id="592" r:id="rId39"/>
    <p:sldId id="593" r:id="rId40"/>
    <p:sldId id="582" r:id="rId41"/>
    <p:sldId id="725" r:id="rId42"/>
    <p:sldId id="600" r:id="rId43"/>
    <p:sldId id="583" r:id="rId44"/>
    <p:sldId id="601" r:id="rId45"/>
    <p:sldId id="726" r:id="rId46"/>
    <p:sldId id="727" r:id="rId47"/>
    <p:sldId id="728" r:id="rId48"/>
    <p:sldId id="729" r:id="rId49"/>
    <p:sldId id="731" r:id="rId50"/>
    <p:sldId id="730" r:id="rId51"/>
    <p:sldId id="603" r:id="rId52"/>
    <p:sldId id="576" r:id="rId53"/>
    <p:sldId id="598" r:id="rId54"/>
    <p:sldId id="594" r:id="rId55"/>
    <p:sldId id="597" r:id="rId56"/>
    <p:sldId id="599" r:id="rId57"/>
    <p:sldId id="596" r:id="rId58"/>
    <p:sldId id="595" r:id="rId59"/>
    <p:sldId id="602" r:id="rId60"/>
    <p:sldId id="606" r:id="rId61"/>
    <p:sldId id="610" r:id="rId62"/>
    <p:sldId id="604" r:id="rId63"/>
    <p:sldId id="577" r:id="rId64"/>
    <p:sldId id="605" r:id="rId65"/>
    <p:sldId id="578" r:id="rId66"/>
    <p:sldId id="614" r:id="rId67"/>
    <p:sldId id="616" r:id="rId68"/>
    <p:sldId id="617" r:id="rId69"/>
    <p:sldId id="618" r:id="rId70"/>
    <p:sldId id="620" r:id="rId71"/>
    <p:sldId id="619" r:id="rId72"/>
    <p:sldId id="621" r:id="rId73"/>
    <p:sldId id="622" r:id="rId74"/>
    <p:sldId id="570" r:id="rId75"/>
    <p:sldId id="569"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75170" autoAdjust="0"/>
  </p:normalViewPr>
  <p:slideViewPr>
    <p:cSldViewPr showGuides="1">
      <p:cViewPr varScale="1">
        <p:scale>
          <a:sx n="115" d="100"/>
          <a:sy n="115" d="100"/>
        </p:scale>
        <p:origin x="2296" y="1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4" d="100"/>
          <a:sy n="84" d="100"/>
        </p:scale>
        <p:origin x="391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cs typeface="+mn-cs"/>
              </a:defRPr>
            </a:lvl1pPr>
          </a:lstStyle>
          <a:p>
            <a:pPr>
              <a:defRPr/>
            </a:pPr>
            <a:endParaRPr lang="en-US"/>
          </a:p>
        </p:txBody>
      </p:sp>
      <p:sp>
        <p:nvSpPr>
          <p:cNvPr id="1966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cs typeface="+mn-cs"/>
              </a:defRPr>
            </a:lvl1pPr>
          </a:lstStyle>
          <a:p>
            <a:pPr>
              <a:defRPr/>
            </a:pPr>
            <a:endParaRPr lang="en-US"/>
          </a:p>
        </p:txBody>
      </p:sp>
      <p:sp>
        <p:nvSpPr>
          <p:cNvPr id="1966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cs typeface="+mn-cs"/>
              </a:defRPr>
            </a:lvl1pPr>
          </a:lstStyle>
          <a:p>
            <a:pPr>
              <a:defRPr/>
            </a:pPr>
            <a:endParaRPr lang="en-US"/>
          </a:p>
        </p:txBody>
      </p:sp>
      <p:sp>
        <p:nvSpPr>
          <p:cNvPr id="1966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cs typeface="+mn-cs"/>
              </a:defRPr>
            </a:lvl1pPr>
          </a:lstStyle>
          <a:p>
            <a:pPr>
              <a:defRPr/>
            </a:pPr>
            <a:fld id="{EAE72DC5-0BA4-7848-A274-1FFC4E7035CD}" type="slidenum">
              <a:rPr lang="en-US"/>
              <a:pPr>
                <a:defRPr/>
              </a:pPr>
              <a:t>‹#›</a:t>
            </a:fld>
            <a:endParaRPr lang="en-US"/>
          </a:p>
        </p:txBody>
      </p:sp>
    </p:spTree>
    <p:extLst>
      <p:ext uri="{BB962C8B-B14F-4D97-AF65-F5344CB8AC3E}">
        <p14:creationId xmlns:p14="http://schemas.microsoft.com/office/powerpoint/2010/main" val="23922462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cs typeface="+mn-cs"/>
              </a:defRPr>
            </a:lvl1pPr>
          </a:lstStyle>
          <a:p>
            <a:pPr>
              <a:defRPr/>
            </a:pPr>
            <a:fld id="{02F3C9C6-B73A-7440-9503-970942BD1FD9}" type="slidenum">
              <a:rPr lang="en-US"/>
              <a:pPr>
                <a:defRPr/>
              </a:pPr>
              <a:t>‹#›</a:t>
            </a:fld>
            <a:endParaRPr lang="en-US"/>
          </a:p>
        </p:txBody>
      </p:sp>
    </p:spTree>
    <p:extLst>
      <p:ext uri="{BB962C8B-B14F-4D97-AF65-F5344CB8AC3E}">
        <p14:creationId xmlns:p14="http://schemas.microsoft.com/office/powerpoint/2010/main" val="34881359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FontTx/>
      <a:buNone/>
      <a:defRPr sz="1200" kern="1200">
        <a:solidFill>
          <a:schemeClr val="tx1"/>
        </a:solidFill>
        <a:latin typeface="Verdana"/>
        <a:ea typeface="ＭＳ Ｐゴシック" charset="0"/>
        <a:cs typeface="Verdana"/>
      </a:defRPr>
    </a:lvl1pPr>
    <a:lvl2pPr marL="4572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2pPr>
    <a:lvl3pPr marL="9144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3pPr>
    <a:lvl4pPr marL="13716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4pPr>
    <a:lvl5pPr marL="18288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gather measures (defect rates) and instill practices to improve (code inspection)</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4</a:t>
            </a:fld>
            <a:endParaRPr lang="en-US"/>
          </a:p>
        </p:txBody>
      </p:sp>
    </p:spTree>
    <p:extLst>
      <p:ext uri="{BB962C8B-B14F-4D97-AF65-F5344CB8AC3E}">
        <p14:creationId xmlns:p14="http://schemas.microsoft.com/office/powerpoint/2010/main" val="1859046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about users later</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a:t>
            </a:fld>
            <a:endParaRPr lang="en-US"/>
          </a:p>
        </p:txBody>
      </p:sp>
    </p:spTree>
    <p:extLst>
      <p:ext uri="{BB962C8B-B14F-4D97-AF65-F5344CB8AC3E}">
        <p14:creationId xmlns:p14="http://schemas.microsoft.com/office/powerpoint/2010/main" val="227748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Tx/>
              <a:buNone/>
              <a:defRPr/>
            </a:pPr>
            <a:endParaRPr lang="en-US" dirty="0"/>
          </a:p>
        </p:txBody>
      </p:sp>
      <p:sp>
        <p:nvSpPr>
          <p:cNvPr id="4" name="Slide Number Placeholder 3"/>
          <p:cNvSpPr>
            <a:spLocks noGrp="1"/>
          </p:cNvSpPr>
          <p:nvPr>
            <p:ph type="sldNum" sz="quarter" idx="5"/>
          </p:nvPr>
        </p:nvSpPr>
        <p:spPr/>
        <p:txBody>
          <a:bodyPr/>
          <a:lstStyle/>
          <a:p>
            <a:pPr>
              <a:defRPr/>
            </a:pPr>
            <a:fld id="{71CCBF3B-08A8-344B-9EE3-1C02344C4BD4}" type="slidenum">
              <a:rPr lang="en-US" smtClean="0"/>
              <a:pPr>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Tx/>
              <a:buNone/>
              <a:defRPr/>
            </a:pPr>
            <a:r>
              <a:rPr lang="en-US" dirty="0"/>
              <a:t>not hacked together</a:t>
            </a:r>
          </a:p>
          <a:p>
            <a:pPr>
              <a:buFontTx/>
              <a:buNone/>
              <a:defRPr/>
            </a:pPr>
            <a:endParaRPr lang="en-US" dirty="0"/>
          </a:p>
          <a:p>
            <a:pPr>
              <a:buFontTx/>
              <a:buNone/>
              <a:defRPr/>
            </a:pPr>
            <a:r>
              <a:rPr lang="en-US" dirty="0"/>
              <a:t>given requirements (user out of the loop)</a:t>
            </a:r>
          </a:p>
          <a:p>
            <a:pPr>
              <a:buFontTx/>
              <a:buNone/>
              <a:defRPr/>
            </a:pPr>
            <a:endParaRPr lang="en-US" dirty="0"/>
          </a:p>
          <a:p>
            <a:pPr>
              <a:buFontTx/>
              <a:buNone/>
              <a:defRPr/>
            </a:pPr>
            <a:r>
              <a:rPr lang="en-US" dirty="0"/>
              <a:t>verification</a:t>
            </a:r>
          </a:p>
          <a:p>
            <a:pPr marL="171450" indent="-171450">
              <a:buFontTx/>
              <a:buChar char="-"/>
              <a:defRPr/>
            </a:pPr>
            <a:r>
              <a:rPr lang="en-US" dirty="0"/>
              <a:t>testing</a:t>
            </a:r>
          </a:p>
          <a:p>
            <a:pPr marL="171450" indent="-171450">
              <a:buFontTx/>
              <a:buChar char="-"/>
              <a:defRPr/>
            </a:pPr>
            <a:endParaRPr lang="en-US" dirty="0"/>
          </a:p>
          <a:p>
            <a:pPr marL="0" indent="0">
              <a:buFontTx/>
              <a:buNone/>
              <a:defRPr/>
            </a:pPr>
            <a:endParaRPr lang="en-US" dirty="0"/>
          </a:p>
        </p:txBody>
      </p:sp>
      <p:sp>
        <p:nvSpPr>
          <p:cNvPr id="4" name="Slide Number Placeholder 3"/>
          <p:cNvSpPr>
            <a:spLocks noGrp="1"/>
          </p:cNvSpPr>
          <p:nvPr>
            <p:ph type="sldNum" sz="quarter" idx="5"/>
          </p:nvPr>
        </p:nvSpPr>
        <p:spPr/>
        <p:txBody>
          <a:bodyPr/>
          <a:lstStyle/>
          <a:p>
            <a:pPr>
              <a:defRPr/>
            </a:pPr>
            <a:fld id="{2C58A7AB-A41C-474A-87C6-8CF2D2F00FED}" type="slidenum">
              <a:rPr lang="en-US" smtClean="0"/>
              <a:pPr>
                <a:defRPr/>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Tx/>
              <a:buNone/>
              <a:defRPr/>
            </a:pPr>
            <a:r>
              <a:rPr lang="en-US" dirty="0"/>
              <a:t>some developer activities</a:t>
            </a:r>
          </a:p>
          <a:p>
            <a:pPr marL="171450" indent="-171450">
              <a:buFontTx/>
              <a:buChar char="-"/>
              <a:defRPr/>
            </a:pPr>
            <a:r>
              <a:rPr lang="en-US" dirty="0"/>
              <a:t>requirements specification (what the</a:t>
            </a:r>
            <a:r>
              <a:rPr lang="en-US" baseline="0" dirty="0"/>
              <a:t> system should do, and how well)</a:t>
            </a:r>
          </a:p>
          <a:p>
            <a:pPr marL="171450" indent="-171450">
              <a:buFontTx/>
              <a:buChar char="-"/>
              <a:defRPr/>
            </a:pPr>
            <a:r>
              <a:rPr lang="en-US" baseline="0" dirty="0"/>
              <a:t>architectural design (high-level components and dependencies)</a:t>
            </a:r>
          </a:p>
          <a:p>
            <a:pPr marL="171450" indent="-171450">
              <a:buFontTx/>
              <a:buChar char="-"/>
              <a:defRPr/>
            </a:pPr>
            <a:r>
              <a:rPr lang="en-US" baseline="0" dirty="0"/>
              <a:t>detailed design (data structures and algorithms)</a:t>
            </a:r>
          </a:p>
          <a:p>
            <a:pPr marL="171450" indent="-171450">
              <a:buFontTx/>
              <a:buChar char="-"/>
              <a:defRPr/>
            </a:pPr>
            <a:r>
              <a:rPr lang="en-US" baseline="0" dirty="0"/>
              <a:t>coding</a:t>
            </a:r>
          </a:p>
          <a:p>
            <a:pPr marL="171450" indent="-171450">
              <a:buFontTx/>
              <a:buChar char="-"/>
              <a:defRPr/>
            </a:pPr>
            <a:r>
              <a:rPr lang="en-US" baseline="0" dirty="0"/>
              <a:t>testing</a:t>
            </a:r>
          </a:p>
          <a:p>
            <a:pPr marL="171450" indent="-171450">
              <a:buFontTx/>
              <a:buChar char="-"/>
              <a:defRPr/>
            </a:pPr>
            <a:r>
              <a:rPr lang="en-US" baseline="0" dirty="0"/>
              <a:t>delivery</a:t>
            </a:r>
          </a:p>
          <a:p>
            <a:pPr marL="171450" indent="-171450">
              <a:buFontTx/>
              <a:buChar char="-"/>
              <a:defRPr/>
            </a:pPr>
            <a:r>
              <a:rPr lang="en-US" baseline="0" dirty="0"/>
              <a:t>maintenance</a:t>
            </a:r>
            <a:endParaRPr lang="en-US" dirty="0"/>
          </a:p>
          <a:p>
            <a:pPr>
              <a:buFontTx/>
              <a:buNone/>
              <a:defRPr/>
            </a:pPr>
            <a:endParaRPr lang="en-US" dirty="0"/>
          </a:p>
          <a:p>
            <a:pPr>
              <a:buFontTx/>
              <a:buNone/>
              <a:defRPr/>
            </a:pPr>
            <a:r>
              <a:rPr lang="en-US" dirty="0"/>
              <a:t>natural way might be to do them in order</a:t>
            </a:r>
          </a:p>
          <a:p>
            <a:pPr marL="171450" indent="-171450">
              <a:buFontTx/>
              <a:buChar char="-"/>
              <a:defRPr/>
            </a:pPr>
            <a:r>
              <a:rPr lang="en-US" dirty="0"/>
              <a:t>waterfall</a:t>
            </a:r>
          </a:p>
          <a:p>
            <a:pPr>
              <a:buFontTx/>
              <a:buNone/>
              <a:defRPr/>
            </a:pPr>
            <a:endParaRPr lang="en-US" dirty="0"/>
          </a:p>
          <a:p>
            <a:pPr>
              <a:buFontTx/>
              <a:buNone/>
              <a:defRPr/>
            </a:pPr>
            <a:r>
              <a:rPr lang="en-US" dirty="0"/>
              <a:t>code first, ask questions later?</a:t>
            </a:r>
          </a:p>
          <a:p>
            <a:pPr>
              <a:buFontTx/>
              <a:buNone/>
              <a:defRPr/>
            </a:pPr>
            <a:endParaRPr lang="en-US" dirty="0"/>
          </a:p>
          <a:p>
            <a:pPr>
              <a:buFontTx/>
              <a:buNone/>
              <a:defRPr/>
            </a:pPr>
            <a:r>
              <a:rPr lang="en-US" dirty="0"/>
              <a:t>these activities can be structured or enacted in various ways, called process models</a:t>
            </a:r>
          </a:p>
          <a:p>
            <a:pPr marL="171450" indent="-171450">
              <a:buFontTx/>
              <a:buChar char="-"/>
              <a:defRPr/>
            </a:pPr>
            <a:r>
              <a:rPr lang="en-US" dirty="0"/>
              <a:t>sequence</a:t>
            </a:r>
          </a:p>
          <a:p>
            <a:pPr marL="171450" indent="-171450">
              <a:buFontTx/>
              <a:buChar char="-"/>
              <a:defRPr/>
            </a:pPr>
            <a:r>
              <a:rPr lang="en-US" dirty="0"/>
              <a:t>notations</a:t>
            </a:r>
          </a:p>
          <a:p>
            <a:pPr marL="171450" indent="-171450">
              <a:buFontTx/>
              <a:buChar char="-"/>
              <a:defRPr/>
            </a:pPr>
            <a:r>
              <a:rPr lang="en-US" dirty="0"/>
              <a:t>tool support</a:t>
            </a:r>
          </a:p>
          <a:p>
            <a:pPr>
              <a:buFontTx/>
              <a:buNone/>
              <a:defRPr/>
            </a:pPr>
            <a:endParaRPr lang="en-US" dirty="0"/>
          </a:p>
        </p:txBody>
      </p:sp>
      <p:sp>
        <p:nvSpPr>
          <p:cNvPr id="4" name="Slide Number Placeholder 3"/>
          <p:cNvSpPr>
            <a:spLocks noGrp="1"/>
          </p:cNvSpPr>
          <p:nvPr>
            <p:ph type="sldNum" sz="quarter" idx="5"/>
          </p:nvPr>
        </p:nvSpPr>
        <p:spPr/>
        <p:txBody>
          <a:bodyPr/>
          <a:lstStyle/>
          <a:p>
            <a:pPr>
              <a:defRPr/>
            </a:pPr>
            <a:fld id="{4F7118CA-6421-D348-A693-DABFDCDCDD6F}" type="slidenum">
              <a:rPr lang="en-US" smtClean="0"/>
              <a:pPr>
                <a:defRPr/>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Tx/>
              <a:buNone/>
              <a:defRPr/>
            </a:pPr>
            <a:r>
              <a:rPr lang="en-US" dirty="0"/>
              <a:t>classical SE method, no real surprises</a:t>
            </a:r>
          </a:p>
          <a:p>
            <a:pPr>
              <a:buFontTx/>
              <a:buNone/>
              <a:defRPr/>
            </a:pPr>
            <a:endParaRPr lang="en-US" dirty="0"/>
          </a:p>
          <a:p>
            <a:pPr>
              <a:buFontTx/>
              <a:buNone/>
              <a:defRPr/>
            </a:pPr>
            <a:r>
              <a:rPr lang="en-US" dirty="0"/>
              <a:t>Winston Royce 1970, idea not the term, did not advocate this</a:t>
            </a:r>
            <a:r>
              <a:rPr lang="en-US" baseline="0" dirty="0"/>
              <a:t> but prototyping</a:t>
            </a:r>
            <a:endParaRPr lang="en-US" dirty="0"/>
          </a:p>
          <a:p>
            <a:pPr>
              <a:buFontTx/>
              <a:buNone/>
              <a:defRPr/>
            </a:pPr>
            <a:endParaRPr lang="en-US" dirty="0"/>
          </a:p>
          <a:p>
            <a:pPr>
              <a:buNone/>
            </a:pPr>
            <a:r>
              <a:rPr lang="en-US" dirty="0"/>
              <a:t>shown are phases or activities</a:t>
            </a:r>
          </a:p>
          <a:p>
            <a:pPr>
              <a:buFontTx/>
              <a:buNone/>
              <a:defRPr/>
            </a:pPr>
            <a:r>
              <a:rPr lang="en-US" dirty="0"/>
              <a:t>documents produced at each phase</a:t>
            </a:r>
          </a:p>
          <a:p>
            <a:pPr>
              <a:buFontTx/>
              <a:buNone/>
              <a:defRPr/>
            </a:pPr>
            <a:r>
              <a:rPr lang="en-US" dirty="0"/>
              <a:t>each phase begins after the previous phase is completed</a:t>
            </a:r>
          </a:p>
          <a:p>
            <a:pPr>
              <a:buFontTx/>
              <a:buNone/>
              <a:defRPr/>
            </a:pPr>
            <a:endParaRPr lang="en-US" dirty="0"/>
          </a:p>
          <a:p>
            <a:pPr>
              <a:buFontTx/>
              <a:buNone/>
              <a:defRPr/>
            </a:pPr>
            <a:r>
              <a:rPr lang="en-US" dirty="0"/>
              <a:t>linear, there is no going back</a:t>
            </a:r>
          </a:p>
          <a:p>
            <a:pPr>
              <a:buFontTx/>
              <a:buNone/>
              <a:defRPr/>
            </a:pPr>
            <a:endParaRPr lang="en-US" dirty="0"/>
          </a:p>
          <a:p>
            <a:pPr>
              <a:buFontTx/>
              <a:buNone/>
              <a:defRPr/>
            </a:pPr>
            <a:r>
              <a:rPr lang="en-US" dirty="0"/>
              <a:t>alternative has feedback edges</a:t>
            </a:r>
          </a:p>
          <a:p>
            <a:pPr>
              <a:buNone/>
            </a:pPr>
            <a:endParaRPr lang="en-US" dirty="0"/>
          </a:p>
          <a:p>
            <a:pPr>
              <a:buNone/>
            </a:pPr>
            <a:r>
              <a:rPr lang="en-US" dirty="0"/>
              <a:t>case when you do not need maintenance?</a:t>
            </a:r>
          </a:p>
          <a:p>
            <a:pPr>
              <a:buNone/>
            </a:pPr>
            <a:r>
              <a:rPr lang="en-US" dirty="0"/>
              <a:t>ICBM example</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10</a:t>
            </a:fld>
            <a:endParaRPr lang="en-US"/>
          </a:p>
        </p:txBody>
      </p:sp>
    </p:spTree>
    <p:extLst>
      <p:ext uri="{BB962C8B-B14F-4D97-AF65-F5344CB8AC3E}">
        <p14:creationId xmlns:p14="http://schemas.microsoft.com/office/powerpoint/2010/main" val="3031110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all models are wrong, but some are useful</a:t>
            </a:r>
          </a:p>
          <a:p>
            <a:endParaRPr lang="en-US" dirty="0"/>
          </a:p>
          <a:p>
            <a:r>
              <a:rPr lang="en-US" dirty="0"/>
              <a:t>signing</a:t>
            </a:r>
            <a:r>
              <a:rPr lang="en-US" baseline="0" dirty="0"/>
              <a:t> off</a:t>
            </a:r>
          </a:p>
          <a:p>
            <a:endParaRPr lang="en-US" baseline="0" dirty="0"/>
          </a:p>
          <a:p>
            <a:r>
              <a:rPr lang="en-US" baseline="0" dirty="0"/>
              <a:t>which government</a:t>
            </a:r>
          </a:p>
          <a:p>
            <a:r>
              <a:rPr lang="en-US" baseline="0" dirty="0"/>
              <a:t>military software needs documentation</a:t>
            </a:r>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12</a:t>
            </a:fld>
            <a:endParaRPr lang="en-US"/>
          </a:p>
        </p:txBody>
      </p:sp>
    </p:spTree>
    <p:extLst>
      <p:ext uri="{BB962C8B-B14F-4D97-AF65-F5344CB8AC3E}">
        <p14:creationId xmlns:p14="http://schemas.microsoft.com/office/powerpoint/2010/main" val="1896257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some users seem to think that way</a:t>
            </a:r>
          </a:p>
          <a:p>
            <a:pPr marL="171450" indent="-171450">
              <a:buFontTx/>
              <a:buChar char="-"/>
            </a:pPr>
            <a:r>
              <a:rPr lang="en-US" dirty="0"/>
              <a:t>that is, once it is written, it should work forever</a:t>
            </a:r>
          </a:p>
          <a:p>
            <a:pPr marL="171450" indent="-171450">
              <a:buFontTx/>
              <a:buChar char="-"/>
            </a:pPr>
            <a:endParaRPr lang="en-US" dirty="0"/>
          </a:p>
          <a:p>
            <a:pPr marL="0" indent="0">
              <a:buFontTx/>
              <a:buNone/>
            </a:pPr>
            <a:r>
              <a:rPr lang="en-US" dirty="0"/>
              <a:t>how to</a:t>
            </a:r>
            <a:r>
              <a:rPr lang="en-US" baseline="0" dirty="0"/>
              <a:t> involve the customer?</a:t>
            </a:r>
          </a:p>
          <a:p>
            <a:pPr marL="0" indent="0">
              <a:buFontTx/>
              <a:buNone/>
            </a:pPr>
            <a:endParaRPr lang="en-US" baseline="0" dirty="0"/>
          </a:p>
          <a:p>
            <a:pPr marL="0" indent="0">
              <a:buFontTx/>
              <a:buNone/>
            </a:pPr>
            <a:r>
              <a:rPr lang="en-US" dirty="0"/>
              <a:t>marshmallow tower</a:t>
            </a:r>
            <a:r>
              <a:rPr lang="en-US" baseline="0" dirty="0"/>
              <a:t> challenge</a:t>
            </a:r>
          </a:p>
          <a:p>
            <a:pPr marL="171450" indent="-171450">
              <a:buFontTx/>
              <a:buChar char="-"/>
            </a:pPr>
            <a:r>
              <a:rPr lang="en-US" baseline="0" dirty="0"/>
              <a:t>20 strands of dry spaghetti</a:t>
            </a:r>
          </a:p>
          <a:p>
            <a:pPr marL="171450" indent="-171450">
              <a:buFontTx/>
              <a:buChar char="-"/>
            </a:pPr>
            <a:r>
              <a:rPr lang="en-US" baseline="0" dirty="0"/>
              <a:t>tape</a:t>
            </a:r>
          </a:p>
          <a:p>
            <a:pPr marL="171450" indent="-171450">
              <a:buFontTx/>
              <a:buChar char="-"/>
            </a:pPr>
            <a:r>
              <a:rPr lang="en-US" baseline="0" dirty="0"/>
              <a:t>1 marshmallow</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13</a:t>
            </a:fld>
            <a:endParaRPr lang="en-US"/>
          </a:p>
        </p:txBody>
      </p:sp>
    </p:spTree>
    <p:extLst>
      <p:ext uri="{BB962C8B-B14F-4D97-AF65-F5344CB8AC3E}">
        <p14:creationId xmlns:p14="http://schemas.microsoft.com/office/powerpoint/2010/main" val="1806388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not the way most software is developed,</a:t>
            </a:r>
            <a:r>
              <a:rPr lang="en-US" baseline="0" dirty="0"/>
              <a:t> but it is still something to aim for (in part)</a:t>
            </a:r>
          </a:p>
          <a:p>
            <a:pPr>
              <a:buNone/>
            </a:pPr>
            <a:endParaRPr lang="en-US" baseline="0" dirty="0"/>
          </a:p>
          <a:p>
            <a:pPr>
              <a:buNone/>
            </a:pPr>
            <a:r>
              <a:rPr lang="en-US" baseline="0" dirty="0"/>
              <a:t>documenting the system as if we followed waterfall</a:t>
            </a:r>
          </a:p>
          <a:p>
            <a:pPr>
              <a:buNone/>
            </a:pPr>
            <a:endParaRPr lang="en-US" baseline="0" dirty="0"/>
          </a:p>
          <a:p>
            <a:pPr>
              <a:buNone/>
            </a:pPr>
            <a:r>
              <a:rPr lang="en-US" baseline="0" dirty="0" err="1"/>
              <a:t>Parnas</a:t>
            </a:r>
            <a:r>
              <a:rPr lang="en-US" baseline="0" dirty="0"/>
              <a:t> and Clements (1985)—A Rational Design Process: How and Why to Fake It</a:t>
            </a:r>
          </a:p>
          <a:p>
            <a:pPr>
              <a:buNone/>
            </a:pPr>
            <a:endParaRPr lang="en-US" baseline="0" dirty="0"/>
          </a:p>
          <a:p>
            <a:pPr>
              <a:buNone/>
            </a:pPr>
            <a:r>
              <a:rPr lang="en-US" baseline="0" dirty="0"/>
              <a:t>even if you don’t do it this way, you fake it</a:t>
            </a:r>
          </a:p>
          <a:p>
            <a:pPr marL="171450" indent="-171450">
              <a:buFontTx/>
              <a:buChar char="-"/>
            </a:pPr>
            <a:r>
              <a:rPr lang="en-US" baseline="0" dirty="0"/>
              <a:t>like scientific method</a:t>
            </a:r>
          </a:p>
          <a:p>
            <a:pPr marL="171450" indent="-171450">
              <a:buFontTx/>
              <a:buChar char="-"/>
            </a:pPr>
            <a:r>
              <a:rPr lang="en-US" baseline="0" dirty="0"/>
              <a:t>like mathematical proof</a:t>
            </a:r>
          </a:p>
          <a:p>
            <a:pPr marL="171450" indent="-171450">
              <a:buFontTx/>
              <a:buChar char="-"/>
            </a:pPr>
            <a:endParaRPr lang="en-US" baseline="0" dirty="0"/>
          </a:p>
          <a:p>
            <a:pPr marL="0" indent="0">
              <a:buFontTx/>
              <a:buNone/>
            </a:pPr>
            <a:r>
              <a:rPr lang="en-US" baseline="0" dirty="0"/>
              <a:t>some still contend a waterfall model</a:t>
            </a:r>
          </a:p>
          <a:p>
            <a:pPr marL="0" indent="0">
              <a:buFontTx/>
              <a:buNone/>
            </a:pPr>
            <a:endParaRPr lang="en-US" baseline="0" dirty="0"/>
          </a:p>
          <a:p>
            <a:pPr marL="0" indent="0">
              <a:buFontTx/>
              <a:buNone/>
            </a:pPr>
            <a:r>
              <a:rPr lang="en-US" baseline="0" dirty="0"/>
              <a:t>has anyone had a project that was a pure waterfall?</a:t>
            </a:r>
          </a:p>
          <a:p>
            <a:pPr marL="0" indent="0">
              <a:buFontTx/>
              <a:buNone/>
            </a:pPr>
            <a:r>
              <a:rPr lang="en-US" baseline="0" dirty="0"/>
              <a:t>- outsourced contract</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14</a:t>
            </a:fld>
            <a:endParaRPr lang="en-US"/>
          </a:p>
        </p:txBody>
      </p:sp>
    </p:spTree>
    <p:extLst>
      <p:ext uri="{BB962C8B-B14F-4D97-AF65-F5344CB8AC3E}">
        <p14:creationId xmlns:p14="http://schemas.microsoft.com/office/powerpoint/2010/main" val="2567603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Tx/>
              <a:buNone/>
              <a:defRPr/>
            </a:pPr>
            <a:r>
              <a:rPr lang="en-US" dirty="0"/>
              <a:t>validation</a:t>
            </a:r>
          </a:p>
          <a:p>
            <a:pPr marL="171450" indent="-171450">
              <a:buFontTx/>
              <a:buChar char="-"/>
              <a:defRPr/>
            </a:pPr>
            <a:r>
              <a:rPr lang="en-US" dirty="0"/>
              <a:t>user involvement and feedback</a:t>
            </a:r>
          </a:p>
          <a:p>
            <a:pPr marL="171450" indent="-171450">
              <a:buFontTx/>
              <a:buChar char="-"/>
              <a:defRPr/>
            </a:pPr>
            <a:r>
              <a:rPr lang="en-US" dirty="0"/>
              <a:t>user doesn’t always know what he or she wants</a:t>
            </a:r>
          </a:p>
        </p:txBody>
      </p:sp>
      <p:sp>
        <p:nvSpPr>
          <p:cNvPr id="4" name="Slide Number Placeholder 3"/>
          <p:cNvSpPr>
            <a:spLocks noGrp="1"/>
          </p:cNvSpPr>
          <p:nvPr>
            <p:ph type="sldNum" sz="quarter" idx="5"/>
          </p:nvPr>
        </p:nvSpPr>
        <p:spPr/>
        <p:txBody>
          <a:bodyPr/>
          <a:lstStyle/>
          <a:p>
            <a:pPr>
              <a:defRPr/>
            </a:pPr>
            <a:fld id="{2C58A7AB-A41C-474A-87C6-8CF2D2F00FED}" type="slidenum">
              <a:rPr lang="en-US" smtClean="0"/>
              <a:pPr>
                <a:defRPr/>
              </a:pPr>
              <a:t>16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passes</a:t>
            </a:r>
          </a:p>
          <a:p>
            <a:pPr marL="171450" indent="-171450">
              <a:buFontTx/>
              <a:buChar char="-"/>
            </a:pPr>
            <a:r>
              <a:rPr lang="en-US" dirty="0"/>
              <a:t>conceptual prototype</a:t>
            </a:r>
          </a:p>
          <a:p>
            <a:pPr marL="171450" indent="-171450">
              <a:buFontTx/>
              <a:buChar char="-"/>
            </a:pPr>
            <a:r>
              <a:rPr lang="en-US" dirty="0"/>
              <a:t>initial working prototype</a:t>
            </a:r>
          </a:p>
          <a:p>
            <a:pPr marL="171450" indent="-171450">
              <a:buFontTx/>
              <a:buChar char="-"/>
            </a:pPr>
            <a:r>
              <a:rPr lang="en-US" dirty="0"/>
              <a:t>improved</a:t>
            </a:r>
            <a:r>
              <a:rPr lang="en-US" baseline="0" dirty="0"/>
              <a:t> working prototype</a:t>
            </a:r>
          </a:p>
          <a:p>
            <a:pPr marL="171450" indent="-171450">
              <a:buFontTx/>
              <a:buChar char="-"/>
            </a:pPr>
            <a:endParaRPr lang="en-US" baseline="0" dirty="0"/>
          </a:p>
          <a:p>
            <a:pPr marL="0" indent="0">
              <a:buFontTx/>
              <a:buNone/>
            </a:pPr>
            <a:r>
              <a:rPr lang="en-US" baseline="0" dirty="0"/>
              <a:t>like spiral process model</a:t>
            </a:r>
          </a:p>
          <a:p>
            <a:pPr marL="171450" indent="-171450">
              <a:buFontTx/>
              <a:buChar char="-"/>
            </a:pPr>
            <a:r>
              <a:rPr lang="en-US" baseline="0" dirty="0"/>
              <a:t>determine goals</a:t>
            </a:r>
          </a:p>
          <a:p>
            <a:pPr marL="171450" indent="-171450">
              <a:buFontTx/>
              <a:buChar char="-"/>
            </a:pPr>
            <a:r>
              <a:rPr lang="en-US" baseline="0" dirty="0"/>
              <a:t>identify risks</a:t>
            </a:r>
          </a:p>
          <a:p>
            <a:pPr marL="171450" indent="-171450">
              <a:buFontTx/>
              <a:buChar char="-"/>
            </a:pPr>
            <a:r>
              <a:rPr lang="en-US" baseline="0" dirty="0"/>
              <a:t>development and test</a:t>
            </a:r>
          </a:p>
          <a:p>
            <a:pPr marL="171450" indent="-171450">
              <a:buFontTx/>
              <a:buChar char="-"/>
            </a:pPr>
            <a:r>
              <a:rPr lang="en-US" baseline="0" dirty="0"/>
              <a:t>plan next iteration</a:t>
            </a:r>
          </a:p>
          <a:p>
            <a:pPr marL="171450" indent="-171450">
              <a:buFontTx/>
              <a:buChar char="-"/>
            </a:pPr>
            <a:endParaRPr lang="en-US" baseline="0" dirty="0"/>
          </a:p>
          <a:p>
            <a:pPr marL="171450" indent="-171450">
              <a:buFontTx/>
              <a:buChar char="-"/>
            </a:pPr>
            <a:endParaRPr lang="en-US" baseline="0" dirty="0"/>
          </a:p>
          <a:p>
            <a:pPr marL="0" indent="0">
              <a:buFontTx/>
              <a:buNone/>
            </a:pPr>
            <a:endParaRPr lang="en-US" baseline="0"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17</a:t>
            </a:fld>
            <a:endParaRPr lang="en-US"/>
          </a:p>
        </p:txBody>
      </p:sp>
    </p:spTree>
    <p:extLst>
      <p:ext uri="{BB962C8B-B14F-4D97-AF65-F5344CB8AC3E}">
        <p14:creationId xmlns:p14="http://schemas.microsoft.com/office/powerpoint/2010/main" val="3344047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preliminary experiment (shown to user) before developing the real product</a:t>
            </a:r>
          </a:p>
          <a:p>
            <a:pPr marL="171450" indent="-171450">
              <a:buFontTx/>
              <a:buChar char="-"/>
            </a:pPr>
            <a:r>
              <a:rPr lang="en-US" dirty="0"/>
              <a:t>collect</a:t>
            </a:r>
            <a:r>
              <a:rPr lang="en-US" baseline="0" dirty="0"/>
              <a:t> requirements</a:t>
            </a:r>
          </a:p>
          <a:p>
            <a:pPr marL="171450" indent="-171450">
              <a:buFontTx/>
              <a:buChar char="-"/>
            </a:pPr>
            <a:r>
              <a:rPr lang="en-US" baseline="0" dirty="0"/>
              <a:t>collect design ideas</a:t>
            </a:r>
          </a:p>
          <a:p>
            <a:pPr>
              <a:buNone/>
            </a:pPr>
            <a:endParaRPr lang="en-US" dirty="0"/>
          </a:p>
          <a:p>
            <a:pPr>
              <a:buNone/>
            </a:pPr>
            <a:r>
              <a:rPr lang="en-US" dirty="0"/>
              <a:t>technologies</a:t>
            </a:r>
            <a:r>
              <a:rPr lang="en-US" baseline="0" dirty="0"/>
              <a:t> used in the prototype might be different from final implementation</a:t>
            </a:r>
            <a:endParaRPr lang="en-US" dirty="0"/>
          </a:p>
          <a:p>
            <a:pPr>
              <a:buNone/>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“develop” uses some other software process</a:t>
            </a:r>
          </a:p>
          <a:p>
            <a:pPr>
              <a:buNone/>
            </a:pPr>
            <a:endParaRPr lang="en-US" dirty="0"/>
          </a:p>
          <a:p>
            <a:pPr>
              <a:buNone/>
            </a:pPr>
            <a:r>
              <a:rPr lang="en-US" dirty="0"/>
              <a:t>“Plan to throw one away;</a:t>
            </a:r>
            <a:r>
              <a:rPr lang="en-US" baseline="0" dirty="0"/>
              <a:t> you will anyhow.”</a:t>
            </a:r>
          </a:p>
          <a:p>
            <a:pPr>
              <a:buNone/>
            </a:pPr>
            <a:r>
              <a:rPr lang="en-US" baseline="0" dirty="0"/>
              <a:t>— Fred Brooks, famous software engineer</a:t>
            </a:r>
          </a:p>
          <a:p>
            <a:pPr>
              <a:buNone/>
            </a:pPr>
            <a:endParaRPr lang="en-US" baseline="0" dirty="0"/>
          </a:p>
          <a:p>
            <a:pPr>
              <a:buNone/>
            </a:pPr>
            <a:r>
              <a:rPr lang="en-US" baseline="0" dirty="0"/>
              <a:t>backtracked</a:t>
            </a:r>
            <a:endParaRPr lang="en-US" dirty="0"/>
          </a:p>
          <a:p>
            <a:pPr>
              <a:buNone/>
            </a:pPr>
            <a:endParaRPr lang="en-US" baseline="0" dirty="0"/>
          </a:p>
          <a:p>
            <a:pPr>
              <a:buNone/>
            </a:pPr>
            <a:r>
              <a:rPr lang="en-US" baseline="0" dirty="0"/>
              <a:t>real product may still not be right</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18</a:t>
            </a:fld>
            <a:endParaRPr lang="en-US"/>
          </a:p>
        </p:txBody>
      </p:sp>
    </p:spTree>
    <p:extLst>
      <p:ext uri="{BB962C8B-B14F-4D97-AF65-F5344CB8AC3E}">
        <p14:creationId xmlns:p14="http://schemas.microsoft.com/office/powerpoint/2010/main" val="2393706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showing</a:t>
            </a:r>
            <a:r>
              <a:rPr lang="en-US" baseline="0" dirty="0"/>
              <a:t> mockups or wireframes to target audience, before spending lots of effort</a:t>
            </a:r>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19</a:t>
            </a:fld>
            <a:endParaRPr lang="en-US"/>
          </a:p>
        </p:txBody>
      </p:sp>
    </p:spTree>
    <p:extLst>
      <p:ext uri="{BB962C8B-B14F-4D97-AF65-F5344CB8AC3E}">
        <p14:creationId xmlns:p14="http://schemas.microsoft.com/office/powerpoint/2010/main" val="2915609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users see the system apparently</a:t>
            </a:r>
            <a:r>
              <a:rPr lang="en-US" baseline="0" dirty="0"/>
              <a:t> working, but may not understand the delay until they can really use it</a:t>
            </a:r>
          </a:p>
          <a:p>
            <a:pPr>
              <a:buNone/>
            </a:pPr>
            <a:endParaRPr lang="en-US" baseline="0" dirty="0"/>
          </a:p>
          <a:p>
            <a:pPr>
              <a:buNone/>
            </a:pPr>
            <a:r>
              <a:rPr lang="en-US" baseline="0" dirty="0"/>
              <a:t>cutting corners, then maintaining it, bad idea</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20</a:t>
            </a:fld>
            <a:endParaRPr lang="en-US"/>
          </a:p>
        </p:txBody>
      </p:sp>
    </p:spTree>
    <p:extLst>
      <p:ext uri="{BB962C8B-B14F-4D97-AF65-F5344CB8AC3E}">
        <p14:creationId xmlns:p14="http://schemas.microsoft.com/office/powerpoint/2010/main" val="327044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increments</a:t>
            </a:r>
            <a:r>
              <a:rPr lang="en-US" baseline="0" dirty="0"/>
              <a:t> or components or features</a:t>
            </a:r>
          </a:p>
          <a:p>
            <a:pPr>
              <a:buNone/>
            </a:pPr>
            <a:endParaRPr lang="en-US" baseline="0" dirty="0"/>
          </a:p>
          <a:p>
            <a:pPr>
              <a:buNone/>
            </a:pPr>
            <a:r>
              <a:rPr lang="en-US" baseline="0" dirty="0"/>
              <a:t>must</a:t>
            </a:r>
          </a:p>
          <a:p>
            <a:pPr marL="171450" indent="-171450">
              <a:buFontTx/>
              <a:buChar char="-"/>
            </a:pPr>
            <a:r>
              <a:rPr lang="en-US" baseline="0" dirty="0"/>
              <a:t>you have to do it</a:t>
            </a:r>
          </a:p>
          <a:p>
            <a:pPr>
              <a:buNone/>
            </a:pPr>
            <a:r>
              <a:rPr lang="en-US" baseline="0" dirty="0"/>
              <a:t>should</a:t>
            </a:r>
          </a:p>
          <a:p>
            <a:pPr marL="171450" indent="-171450">
              <a:buFontTx/>
              <a:buChar char="-"/>
            </a:pPr>
            <a:r>
              <a:rPr lang="en-US" baseline="0" dirty="0"/>
              <a:t>you don’t have to do it</a:t>
            </a:r>
          </a:p>
          <a:p>
            <a:pPr marL="0" indent="0">
              <a:buFontTx/>
              <a:buNone/>
            </a:pPr>
            <a:r>
              <a:rPr lang="en-US" baseline="0" dirty="0"/>
              <a:t>could</a:t>
            </a:r>
          </a:p>
          <a:p>
            <a:pPr marL="171450" indent="-171450">
              <a:buFontTx/>
              <a:buChar char="-"/>
            </a:pPr>
            <a:r>
              <a:rPr lang="en-US" baseline="0" dirty="0"/>
              <a:t>you want to do it</a:t>
            </a:r>
          </a:p>
          <a:p>
            <a:pPr marL="0" indent="0">
              <a:buFontTx/>
              <a:buNone/>
            </a:pPr>
            <a:r>
              <a:rPr lang="en-US" baseline="0" dirty="0"/>
              <a:t>lay down a foundation</a:t>
            </a:r>
          </a:p>
          <a:p>
            <a:pPr marL="0" indent="0">
              <a:buFontTx/>
              <a:buNone/>
            </a:pPr>
            <a:endParaRPr lang="en-US" baseline="0" dirty="0"/>
          </a:p>
          <a:p>
            <a:pPr marL="0" indent="0">
              <a:buFontTx/>
              <a:buNone/>
            </a:pPr>
            <a:r>
              <a:rPr lang="en-US" baseline="0" dirty="0"/>
              <a:t>general ledger</a:t>
            </a:r>
          </a:p>
          <a:p>
            <a:pPr marL="171450" indent="-171450">
              <a:buFontTx/>
              <a:buChar char="-"/>
            </a:pPr>
            <a:r>
              <a:rPr lang="en-US" baseline="0" dirty="0"/>
              <a:t>accounts with transactions (debits and credits)</a:t>
            </a:r>
          </a:p>
          <a:p>
            <a:pPr marL="0" indent="0">
              <a:buFontTx/>
              <a:buNone/>
            </a:pPr>
            <a:endParaRPr lang="en-US" baseline="0" dirty="0"/>
          </a:p>
          <a:p>
            <a:pPr marL="0" indent="0">
              <a:buFontTx/>
              <a:buNone/>
            </a:pPr>
            <a:r>
              <a:rPr lang="en-US" baseline="0" dirty="0"/>
              <a:t>accounts receivable</a:t>
            </a:r>
          </a:p>
          <a:p>
            <a:pPr marL="171450" indent="-171450">
              <a:buFontTx/>
              <a:buChar char="-"/>
            </a:pPr>
            <a:r>
              <a:rPr lang="en-US" baseline="0" dirty="0"/>
              <a:t>issue invoices</a:t>
            </a:r>
          </a:p>
          <a:p>
            <a:pPr marL="0" indent="0">
              <a:buFontTx/>
              <a:buNone/>
            </a:pPr>
            <a:r>
              <a:rPr lang="en-US" baseline="0" dirty="0"/>
              <a:t>accounts payable</a:t>
            </a:r>
          </a:p>
          <a:p>
            <a:pPr marL="171450" indent="-171450">
              <a:buFontTx/>
              <a:buChar char="-"/>
            </a:pPr>
            <a:r>
              <a:rPr lang="en-US" baseline="0" dirty="0"/>
              <a:t>issue </a:t>
            </a:r>
            <a:r>
              <a:rPr lang="en-US" baseline="0" dirty="0" err="1"/>
              <a:t>cheques</a:t>
            </a:r>
            <a:endParaRPr lang="en-US" baseline="0" dirty="0"/>
          </a:p>
          <a:p>
            <a:pPr marL="0" indent="0">
              <a:buFontTx/>
              <a:buNone/>
            </a:pPr>
            <a:endParaRPr lang="en-US" baseline="0" dirty="0"/>
          </a:p>
          <a:p>
            <a:pPr marL="0" indent="0">
              <a:buFontTx/>
              <a:buNone/>
            </a:pPr>
            <a:r>
              <a:rPr lang="en-US" baseline="0" dirty="0"/>
              <a:t>payroll</a:t>
            </a:r>
          </a:p>
          <a:p>
            <a:pPr marL="0" indent="0">
              <a:buFontTx/>
              <a:buNone/>
            </a:pPr>
            <a:r>
              <a:rPr lang="en-US" baseline="0" dirty="0"/>
              <a:t>- people being paid</a:t>
            </a:r>
          </a:p>
          <a:p>
            <a:pPr marL="0" indent="0">
              <a:buFontTx/>
              <a:buNone/>
            </a:pP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21</a:t>
            </a:fld>
            <a:endParaRPr lang="en-US"/>
          </a:p>
        </p:txBody>
      </p:sp>
    </p:spTree>
    <p:extLst>
      <p:ext uri="{BB962C8B-B14F-4D97-AF65-F5344CB8AC3E}">
        <p14:creationId xmlns:p14="http://schemas.microsoft.com/office/powerpoint/2010/main" val="3318066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building a shack first, then refine with better roof, windows</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22</a:t>
            </a:fld>
            <a:endParaRPr lang="en-US"/>
          </a:p>
        </p:txBody>
      </p:sp>
    </p:spTree>
    <p:extLst>
      <p:ext uri="{BB962C8B-B14F-4D97-AF65-F5344CB8AC3E}">
        <p14:creationId xmlns:p14="http://schemas.microsoft.com/office/powerpoint/2010/main" val="3395928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low fidelity prototypes</a:t>
            </a:r>
          </a:p>
          <a:p>
            <a:pPr>
              <a:buNone/>
            </a:pPr>
            <a:endParaRPr lang="en-US" dirty="0"/>
          </a:p>
          <a:p>
            <a:pPr>
              <a:buNone/>
            </a:pPr>
            <a:r>
              <a:rPr lang="en-US" dirty="0"/>
              <a:t>possibly</a:t>
            </a:r>
            <a:r>
              <a:rPr lang="en-US" baseline="0" dirty="0"/>
              <a:t> “</a:t>
            </a:r>
            <a:r>
              <a:rPr lang="en-US" dirty="0"/>
              <a:t>pixel perfect”</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23</a:t>
            </a:fld>
            <a:endParaRPr lang="en-US"/>
          </a:p>
        </p:txBody>
      </p:sp>
    </p:spTree>
    <p:extLst>
      <p:ext uri="{BB962C8B-B14F-4D97-AF65-F5344CB8AC3E}">
        <p14:creationId xmlns:p14="http://schemas.microsoft.com/office/powerpoint/2010/main" val="2053799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thinking</a:t>
            </a:r>
            <a:r>
              <a:rPr lang="en-US" baseline="0" dirty="0"/>
              <a:t> at a higher level</a:t>
            </a:r>
          </a:p>
          <a:p>
            <a:endParaRPr lang="en-US" baseline="0" dirty="0"/>
          </a:p>
          <a:p>
            <a:r>
              <a:rPr lang="en-US" baseline="0" dirty="0"/>
              <a:t>easy to make changes, rearrange, cluster, and connect</a:t>
            </a:r>
          </a:p>
          <a:p>
            <a:endParaRPr lang="en-US" baseline="0" dirty="0"/>
          </a:p>
          <a:p>
            <a:r>
              <a:rPr lang="en-US" baseline="0" dirty="0"/>
              <a:t>no need to erase</a:t>
            </a:r>
          </a:p>
          <a:p>
            <a:endParaRPr lang="en-US" baseline="0" dirty="0"/>
          </a:p>
          <a:p>
            <a:r>
              <a:rPr lang="en-US" baseline="0" dirty="0"/>
              <a:t>planning and status wall using post-it notes</a:t>
            </a:r>
          </a:p>
          <a:p>
            <a:endParaRPr lang="en-US" baseline="0" dirty="0"/>
          </a:p>
          <a:p>
            <a:r>
              <a:rPr lang="en-US" baseline="0" dirty="0"/>
              <a:t>working things out on napkins in bars</a:t>
            </a:r>
          </a:p>
          <a:p>
            <a:endParaRPr lang="en-US" baseline="0"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24</a:t>
            </a:fld>
            <a:endParaRPr lang="en-US"/>
          </a:p>
        </p:txBody>
      </p:sp>
    </p:spTree>
    <p:extLst>
      <p:ext uri="{BB962C8B-B14F-4D97-AF65-F5344CB8AC3E}">
        <p14:creationId xmlns:p14="http://schemas.microsoft.com/office/powerpoint/2010/main" val="747041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clay to sculpture the right curves at the hand grip</a:t>
            </a:r>
          </a:p>
          <a:p>
            <a:endParaRPr lang="en-US" dirty="0"/>
          </a:p>
          <a:p>
            <a:r>
              <a:rPr lang="en-US" dirty="0"/>
              <a:t>clay prototype</a:t>
            </a:r>
            <a:r>
              <a:rPr lang="en-US" baseline="0" dirty="0"/>
              <a:t> for a car, to better visualize it in 3D</a:t>
            </a:r>
          </a:p>
          <a:p>
            <a:endParaRPr lang="en-US" baseline="0" dirty="0"/>
          </a:p>
          <a:p>
            <a:r>
              <a:rPr lang="en-US" baseline="0" dirty="0"/>
              <a:t>3D printing</a:t>
            </a:r>
          </a:p>
          <a:p>
            <a:endParaRPr lang="en-US" baseline="0" dirty="0"/>
          </a:p>
          <a:p>
            <a:r>
              <a:rPr lang="en-US" baseline="0" dirty="0"/>
              <a:t>mouse design</a:t>
            </a:r>
          </a:p>
          <a:p>
            <a:endParaRPr lang="en-US" baseline="0" dirty="0"/>
          </a:p>
          <a:p>
            <a:r>
              <a:rPr lang="en-US" baseline="0" dirty="0"/>
              <a:t>testing of phones</a:t>
            </a:r>
            <a:endParaRPr lang="en-US" dirty="0"/>
          </a:p>
          <a:p>
            <a:endParaRPr lang="en-CA" dirty="0"/>
          </a:p>
        </p:txBody>
      </p:sp>
      <p:sp>
        <p:nvSpPr>
          <p:cNvPr id="4" name="Slide Number Placeholder 3"/>
          <p:cNvSpPr>
            <a:spLocks noGrp="1"/>
          </p:cNvSpPr>
          <p:nvPr>
            <p:ph type="sldNum" sz="quarter" idx="5"/>
          </p:nvPr>
        </p:nvSpPr>
        <p:spPr/>
        <p:txBody>
          <a:bodyPr/>
          <a:lstStyle/>
          <a:p>
            <a:pPr>
              <a:defRPr/>
            </a:pPr>
            <a:fld id="{02F3C9C6-B73A-7440-9503-970942BD1FD9}" type="slidenum">
              <a:rPr lang="en-US" smtClean="0"/>
              <a:pPr>
                <a:defRPr/>
              </a:pPr>
              <a:t>26</a:t>
            </a:fld>
            <a:endParaRPr lang="en-US"/>
          </a:p>
        </p:txBody>
      </p:sp>
    </p:spTree>
    <p:extLst>
      <p:ext uri="{BB962C8B-B14F-4D97-AF65-F5344CB8AC3E}">
        <p14:creationId xmlns:p14="http://schemas.microsoft.com/office/powerpoint/2010/main" val="2379534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Alan Kay (1968)—</a:t>
            </a:r>
            <a:r>
              <a:rPr lang="en-US" dirty="0" err="1"/>
              <a:t>Dynabook</a:t>
            </a:r>
            <a:endParaRPr lang="en-US" dirty="0"/>
          </a:p>
          <a:p>
            <a:pPr>
              <a:buNone/>
            </a:pPr>
            <a:endParaRPr lang="en-US" dirty="0"/>
          </a:p>
          <a:p>
            <a:pPr>
              <a:buNone/>
            </a:pPr>
            <a:r>
              <a:rPr lang="en-US" dirty="0"/>
              <a:t>father of personal/mobile</a:t>
            </a:r>
            <a:r>
              <a:rPr lang="en-US" baseline="0" dirty="0"/>
              <a:t> computing</a:t>
            </a:r>
            <a:endParaRPr lang="en-US" dirty="0"/>
          </a:p>
          <a:p>
            <a:pPr>
              <a:buNone/>
            </a:pPr>
            <a:r>
              <a:rPr lang="en-US" dirty="0"/>
              <a:t>believing</a:t>
            </a:r>
            <a:r>
              <a:rPr lang="en-US" baseline="0" dirty="0"/>
              <a:t> that anyone could use a computer, on-the-go, maybe at the beach</a:t>
            </a:r>
          </a:p>
          <a:p>
            <a:pPr>
              <a:buNone/>
            </a:pPr>
            <a:r>
              <a:rPr lang="en-US" baseline="0" dirty="0"/>
              <a:t>computing is for the masses</a:t>
            </a:r>
          </a:p>
          <a:p>
            <a:pPr>
              <a:buNone/>
            </a:pPr>
            <a:r>
              <a:rPr lang="en-US" baseline="0" dirty="0"/>
              <a:t>graphical user interfaces not command lines</a:t>
            </a:r>
          </a:p>
          <a:p>
            <a:pPr>
              <a:buNone/>
            </a:pPr>
            <a:r>
              <a:rPr lang="en-US" baseline="0" dirty="0"/>
              <a:t>enable people to learning, think, create</a:t>
            </a:r>
          </a:p>
          <a:p>
            <a:pPr>
              <a:buNone/>
            </a:pPr>
            <a:r>
              <a:rPr lang="en-US" baseline="0" dirty="0"/>
              <a:t>wheels for the mind</a:t>
            </a:r>
          </a:p>
          <a:p>
            <a:pPr>
              <a:buNone/>
            </a:pPr>
            <a:endParaRPr lang="en-US" baseline="0" dirty="0"/>
          </a:p>
          <a:p>
            <a:pPr>
              <a:buNone/>
            </a:pPr>
            <a:r>
              <a:rPr lang="en-US" baseline="0" dirty="0"/>
              <a:t>made out of card board</a:t>
            </a:r>
          </a:p>
          <a:p>
            <a:pPr>
              <a:buNone/>
            </a:pPr>
            <a:endParaRPr lang="en-US" baseline="0" dirty="0"/>
          </a:p>
          <a:p>
            <a:pPr>
              <a:buNone/>
            </a:pPr>
            <a:r>
              <a:rPr lang="en-US" baseline="0" dirty="0"/>
              <a:t>now, we can achieve such great things like:</a:t>
            </a:r>
          </a:p>
          <a:p>
            <a:pPr marL="171450" indent="-171450">
              <a:buFontTx/>
              <a:buChar char="-"/>
            </a:pPr>
            <a:r>
              <a:rPr lang="en-US" baseline="0" dirty="0"/>
              <a:t>cat videos</a:t>
            </a:r>
          </a:p>
          <a:p>
            <a:pPr marL="171450" indent="-171450">
              <a:buFontTx/>
              <a:buChar char="-"/>
            </a:pPr>
            <a:r>
              <a:rPr lang="en-US" baseline="0" dirty="0" err="1"/>
              <a:t>selfies</a:t>
            </a:r>
            <a:endParaRPr lang="en-US" baseline="0" dirty="0"/>
          </a:p>
          <a:p>
            <a:pPr marL="171450" indent="-171450">
              <a:buFontTx/>
              <a:buChar char="-"/>
            </a:pPr>
            <a:r>
              <a:rPr lang="en-US" baseline="0" dirty="0"/>
              <a:t>unlimited napping</a:t>
            </a:r>
          </a:p>
          <a:p>
            <a:pPr marL="171450" indent="-171450">
              <a:buFontTx/>
              <a:buChar char="-"/>
            </a:pPr>
            <a:endParaRPr lang="en-US" baseline="0" dirty="0"/>
          </a:p>
          <a:p>
            <a:pPr marL="0" indent="0">
              <a:buFontTx/>
              <a:buNone/>
            </a:pPr>
            <a:r>
              <a:rPr lang="en-US" baseline="0" dirty="0"/>
              <a:t>glorified TVs</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27</a:t>
            </a:fld>
            <a:endParaRPr lang="en-US"/>
          </a:p>
        </p:txBody>
      </p:sp>
    </p:spTree>
    <p:extLst>
      <p:ext uri="{BB962C8B-B14F-4D97-AF65-F5344CB8AC3E}">
        <p14:creationId xmlns:p14="http://schemas.microsoft.com/office/powerpoint/2010/main" val="429289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canned</a:t>
            </a:r>
            <a:r>
              <a:rPr lang="en-US" baseline="0" dirty="0"/>
              <a:t> data</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28</a:t>
            </a:fld>
            <a:endParaRPr lang="en-US"/>
          </a:p>
        </p:txBody>
      </p:sp>
    </p:spTree>
    <p:extLst>
      <p:ext uri="{BB962C8B-B14F-4D97-AF65-F5344CB8AC3E}">
        <p14:creationId xmlns:p14="http://schemas.microsoft.com/office/powerpoint/2010/main" val="367460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to gain feedback</a:t>
            </a:r>
          </a:p>
          <a:p>
            <a:pPr>
              <a:buNone/>
            </a:pPr>
            <a:endParaRPr lang="en-US" dirty="0"/>
          </a:p>
          <a:p>
            <a:r>
              <a:rPr lang="en-US" dirty="0"/>
              <a:t>developing prototypes</a:t>
            </a:r>
          </a:p>
          <a:p>
            <a:pPr marL="171450" indent="-171450">
              <a:buFontTx/>
              <a:buChar char="-"/>
            </a:pPr>
            <a:r>
              <a:rPr lang="en-US" dirty="0"/>
              <a:t>loops,</a:t>
            </a:r>
            <a:r>
              <a:rPr lang="en-US" baseline="0" dirty="0"/>
              <a:t> not one linear pass</a:t>
            </a:r>
            <a:endParaRPr lang="en-US" dirty="0"/>
          </a:p>
          <a:p>
            <a:pPr marL="171450" indent="-171450">
              <a:buFontTx/>
              <a:buChar char="-"/>
            </a:pPr>
            <a:r>
              <a:rPr lang="en-US" dirty="0"/>
              <a:t>initially </a:t>
            </a:r>
            <a:r>
              <a:rPr lang="en-US" baseline="0" dirty="0"/>
              <a:t>conceptual, later working</a:t>
            </a:r>
          </a:p>
          <a:p>
            <a:pPr marL="171450" indent="-171450">
              <a:buFontTx/>
              <a:buChar char="-"/>
            </a:pPr>
            <a:r>
              <a:rPr lang="en-US" dirty="0"/>
              <a:t>some</a:t>
            </a:r>
            <a:r>
              <a:rPr lang="en-US" baseline="0" dirty="0"/>
              <a:t> involving new features</a:t>
            </a:r>
          </a:p>
          <a:p>
            <a:pPr marL="171450" indent="-171450">
              <a:buFontTx/>
              <a:buChar char="-"/>
            </a:pPr>
            <a:r>
              <a:rPr lang="en-US" baseline="0" dirty="0"/>
              <a:t>some involving refined features</a:t>
            </a:r>
          </a:p>
          <a:p>
            <a:pPr marL="171450" indent="-171450">
              <a:buFontTx/>
              <a:buChar char="-"/>
            </a:pPr>
            <a:r>
              <a:rPr lang="en-US" baseline="0" dirty="0"/>
              <a:t>process followed in course project</a:t>
            </a:r>
          </a:p>
          <a:p>
            <a:pPr marL="171450" indent="-171450">
              <a:buFontTx/>
              <a:buChar char="-"/>
            </a:pPr>
            <a:r>
              <a:rPr lang="en-US" baseline="0" dirty="0"/>
              <a:t>some released to user for feedback</a:t>
            </a:r>
          </a:p>
          <a:p>
            <a:pPr marL="171450" indent="-171450">
              <a:buFontTx/>
              <a:buChar char="-"/>
            </a:pPr>
            <a:r>
              <a:rPr lang="en-US" baseline="0" dirty="0"/>
              <a:t>time scale of a prototype? year? month? week? day?</a:t>
            </a:r>
            <a:endParaRPr lang="en-US" dirty="0"/>
          </a:p>
          <a:p>
            <a:endParaRPr lang="en-US" dirty="0"/>
          </a:p>
          <a:p>
            <a:pPr>
              <a:buNone/>
            </a:pP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30</a:t>
            </a:fld>
            <a:endParaRPr lang="en-US"/>
          </a:p>
        </p:txBody>
      </p:sp>
    </p:spTree>
    <p:extLst>
      <p:ext uri="{BB962C8B-B14F-4D97-AF65-F5344CB8AC3E}">
        <p14:creationId xmlns:p14="http://schemas.microsoft.com/office/powerpoint/2010/main" val="7629190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could have some iteration within each build</a:t>
            </a:r>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31</a:t>
            </a:fld>
            <a:endParaRPr lang="en-US"/>
          </a:p>
        </p:txBody>
      </p:sp>
    </p:spTree>
    <p:extLst>
      <p:ext uri="{BB962C8B-B14F-4D97-AF65-F5344CB8AC3E}">
        <p14:creationId xmlns:p14="http://schemas.microsoft.com/office/powerpoint/2010/main" val="91369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options like not releasing</a:t>
            </a:r>
            <a:r>
              <a:rPr lang="en-US" baseline="0" dirty="0"/>
              <a:t> the build</a:t>
            </a:r>
          </a:p>
          <a:p>
            <a:pPr>
              <a:buNone/>
            </a:pPr>
            <a:endParaRPr lang="en-US" baseline="0" dirty="0"/>
          </a:p>
          <a:p>
            <a:pPr>
              <a:buNone/>
            </a:pPr>
            <a:r>
              <a:rPr lang="en-US" baseline="0" dirty="0"/>
              <a:t>provides continuous revenue</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32</a:t>
            </a:fld>
            <a:endParaRPr lang="en-US"/>
          </a:p>
        </p:txBody>
      </p:sp>
    </p:spTree>
    <p:extLst>
      <p:ext uri="{BB962C8B-B14F-4D97-AF65-F5344CB8AC3E}">
        <p14:creationId xmlns:p14="http://schemas.microsoft.com/office/powerpoint/2010/main" val="629375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33</a:t>
            </a:fld>
            <a:endParaRPr lang="en-US"/>
          </a:p>
        </p:txBody>
      </p:sp>
    </p:spTree>
    <p:extLst>
      <p:ext uri="{BB962C8B-B14F-4D97-AF65-F5344CB8AC3E}">
        <p14:creationId xmlns:p14="http://schemas.microsoft.com/office/powerpoint/2010/main" val="3676622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Microsoft team 1978</a:t>
            </a:r>
          </a:p>
          <a:p>
            <a:endParaRPr lang="en-US" dirty="0"/>
          </a:p>
          <a:p>
            <a:r>
              <a:rPr lang="en-US" dirty="0"/>
              <a:t>Bill Gates about 22</a:t>
            </a:r>
            <a:r>
              <a:rPr lang="en-US" baseline="0" dirty="0"/>
              <a:t> or 23 at the time</a:t>
            </a:r>
            <a:endParaRPr lang="en-US" dirty="0"/>
          </a:p>
          <a:p>
            <a:endParaRPr lang="en-US" dirty="0"/>
          </a:p>
          <a:p>
            <a:r>
              <a:rPr lang="en-US" dirty="0"/>
              <a:t>70’s show</a:t>
            </a:r>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34</a:t>
            </a:fld>
            <a:endParaRPr lang="en-US"/>
          </a:p>
        </p:txBody>
      </p:sp>
    </p:spTree>
    <p:extLst>
      <p:ext uri="{BB962C8B-B14F-4D97-AF65-F5344CB8AC3E}">
        <p14:creationId xmlns:p14="http://schemas.microsoft.com/office/powerpoint/2010/main" val="1808622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not every product</a:t>
            </a:r>
          </a:p>
          <a:p>
            <a:pPr>
              <a:buNone/>
            </a:pPr>
            <a:endParaRPr lang="en-US" dirty="0"/>
          </a:p>
          <a:p>
            <a:pPr>
              <a:buNone/>
            </a:pPr>
            <a:r>
              <a:rPr lang="en-US" dirty="0"/>
              <a:t>time</a:t>
            </a:r>
          </a:p>
          <a:p>
            <a:pPr marL="171450" indent="-171450">
              <a:buFontTx/>
              <a:buChar char="-"/>
            </a:pPr>
            <a:r>
              <a:rPr lang="en-US" baseline="0" dirty="0"/>
              <a:t>11:00 – 14:00 – check in</a:t>
            </a:r>
          </a:p>
          <a:p>
            <a:pPr marL="171450" indent="-171450">
              <a:buFontTx/>
              <a:buChar char="-"/>
            </a:pPr>
            <a:r>
              <a:rPr lang="en-US" baseline="0" dirty="0"/>
              <a:t>14:00 – 17:00 – build</a:t>
            </a:r>
          </a:p>
          <a:p>
            <a:pPr marL="171450" indent="-171450">
              <a:buFontTx/>
              <a:buChar char="-"/>
            </a:pPr>
            <a:r>
              <a:rPr lang="en-US" baseline="0" dirty="0"/>
              <a:t>18:00 – 09:00 – test</a:t>
            </a:r>
            <a:endParaRPr lang="en-US" dirty="0"/>
          </a:p>
          <a:p>
            <a:pPr>
              <a:buNone/>
            </a:pPr>
            <a:endParaRPr lang="en-US" dirty="0"/>
          </a:p>
          <a:p>
            <a:pPr>
              <a:buNone/>
            </a:pPr>
            <a:r>
              <a:rPr lang="en-US" dirty="0"/>
              <a:t>source</a:t>
            </a:r>
            <a:r>
              <a:rPr lang="en-US" baseline="0" dirty="0"/>
              <a:t> code management or version control system</a:t>
            </a:r>
            <a:endParaRPr lang="en-US" dirty="0"/>
          </a:p>
          <a:p>
            <a:pPr marL="171450" indent="-171450">
              <a:buFontTx/>
              <a:buChar char="-"/>
            </a:pPr>
            <a:r>
              <a:rPr lang="en-US" dirty="0"/>
              <a:t>in</a:t>
            </a:r>
            <a:r>
              <a:rPr lang="en-US" baseline="0" dirty="0"/>
              <a:t> team projects, typically have a system to store the source code</a:t>
            </a:r>
          </a:p>
          <a:p>
            <a:pPr marL="171450" indent="-171450">
              <a:buFontTx/>
              <a:buChar char="-"/>
            </a:pPr>
            <a:r>
              <a:rPr lang="en-US" baseline="0" dirty="0"/>
              <a:t>check out version for editing in your own sandbox to play with</a:t>
            </a:r>
          </a:p>
          <a:p>
            <a:pPr marL="171450" indent="-171450">
              <a:buFontTx/>
              <a:buChar char="-"/>
            </a:pPr>
            <a:r>
              <a:rPr lang="en-US" baseline="0" dirty="0"/>
              <a:t>check in changes</a:t>
            </a:r>
            <a:endParaRPr lang="en-US" dirty="0"/>
          </a:p>
          <a:p>
            <a:pPr>
              <a:buNone/>
            </a:pPr>
            <a:endParaRPr lang="en-US" dirty="0"/>
          </a:p>
          <a:p>
            <a:pPr>
              <a:buNone/>
            </a:pPr>
            <a:r>
              <a:rPr lang="en-US" dirty="0"/>
              <a:t>burnable to a CD to release</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35</a:t>
            </a:fld>
            <a:endParaRPr lang="en-US"/>
          </a:p>
        </p:txBody>
      </p:sp>
    </p:spTree>
    <p:extLst>
      <p:ext uri="{BB962C8B-B14F-4D97-AF65-F5344CB8AC3E}">
        <p14:creationId xmlns:p14="http://schemas.microsoft.com/office/powerpoint/2010/main" val="30505564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whoever breaks the build will have to supervise the build and overnight testing (no going home)</a:t>
            </a:r>
          </a:p>
          <a:p>
            <a:pPr>
              <a:buNone/>
            </a:pPr>
            <a:endParaRPr lang="en-US" dirty="0"/>
          </a:p>
          <a:p>
            <a:pPr>
              <a:buNone/>
            </a:pPr>
            <a:r>
              <a:rPr lang="en-US" dirty="0"/>
              <a:t>contentious</a:t>
            </a:r>
            <a:r>
              <a:rPr lang="en-US" baseline="0" dirty="0"/>
              <a:t> back then</a:t>
            </a:r>
          </a:p>
          <a:p>
            <a:pPr>
              <a:buNone/>
            </a:pPr>
            <a:endParaRPr lang="en-US" dirty="0"/>
          </a:p>
          <a:p>
            <a:pPr>
              <a:buNone/>
            </a:pPr>
            <a:r>
              <a:rPr lang="en-US" dirty="0"/>
              <a:t>perhaps discourages major changes</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36</a:t>
            </a:fld>
            <a:endParaRPr lang="en-US"/>
          </a:p>
        </p:txBody>
      </p:sp>
    </p:spTree>
    <p:extLst>
      <p:ext uri="{BB962C8B-B14F-4D97-AF65-F5344CB8AC3E}">
        <p14:creationId xmlns:p14="http://schemas.microsoft.com/office/powerpoint/2010/main" val="164520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37</a:t>
            </a:fld>
            <a:endParaRPr lang="en-US"/>
          </a:p>
        </p:txBody>
      </p:sp>
    </p:spTree>
    <p:extLst>
      <p:ext uri="{BB962C8B-B14F-4D97-AF65-F5344CB8AC3E}">
        <p14:creationId xmlns:p14="http://schemas.microsoft.com/office/powerpoint/2010/main" val="279814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planning and detailed upfront requirements</a:t>
            </a:r>
          </a:p>
          <a:p>
            <a:pPr marL="171450" indent="-171450">
              <a:buFontTx/>
              <a:buChar char="-"/>
            </a:pPr>
            <a:r>
              <a:rPr lang="en-US" baseline="0" dirty="0"/>
              <a:t>still needed for subcontracted development</a:t>
            </a:r>
          </a:p>
          <a:p>
            <a:pPr marL="171450" indent="-171450">
              <a:buFontTx/>
              <a:buChar char="-"/>
            </a:pPr>
            <a:r>
              <a:rPr lang="en-US" baseline="0" dirty="0"/>
              <a:t>but not always necessary for other applications</a:t>
            </a:r>
          </a:p>
          <a:p>
            <a:pPr marL="171450" indent="-171450">
              <a:buFontTx/>
              <a:buChar char="-"/>
            </a:pPr>
            <a:r>
              <a:rPr lang="en-US" baseline="0" dirty="0"/>
              <a:t>in reality, requirements change</a:t>
            </a:r>
          </a:p>
          <a:p>
            <a:pPr marL="171450" indent="-171450">
              <a:buFontTx/>
              <a:buChar char="-"/>
            </a:pPr>
            <a:endParaRPr lang="en-US" baseline="0" dirty="0"/>
          </a:p>
          <a:p>
            <a:pPr marL="0" indent="0">
              <a:buFontTx/>
              <a:buNone/>
            </a:pPr>
            <a:r>
              <a:rPr lang="en-US" baseline="0" dirty="0"/>
              <a:t>agile</a:t>
            </a:r>
          </a:p>
          <a:p>
            <a:pPr marL="171450" indent="-171450">
              <a:buFontTx/>
              <a:buChar char="-"/>
            </a:pPr>
            <a:r>
              <a:rPr lang="en-US" baseline="0" dirty="0"/>
              <a:t>adapting to change</a:t>
            </a:r>
          </a:p>
          <a:p>
            <a:pPr marL="171450" indent="-171450">
              <a:buFontTx/>
              <a:buChar char="-"/>
            </a:pPr>
            <a:r>
              <a:rPr lang="en-US" baseline="0" dirty="0"/>
              <a:t>some planning, but not heavyweight all up-front</a:t>
            </a:r>
          </a:p>
          <a:p>
            <a:pPr marL="171450" indent="-171450">
              <a:buFontTx/>
              <a:buChar char="-"/>
            </a:pPr>
            <a:r>
              <a:rPr lang="en-US" baseline="0" dirty="0"/>
              <a:t>some people don’t like plans, because it reveals how late they are</a:t>
            </a:r>
          </a:p>
          <a:p>
            <a:pPr marL="171450" indent="-171450">
              <a:buFontTx/>
              <a:buChar char="-"/>
            </a:pPr>
            <a:r>
              <a:rPr lang="en-US" baseline="0" dirty="0"/>
              <a:t>here, adaptive planning</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38</a:t>
            </a:fld>
            <a:endParaRPr lang="en-US"/>
          </a:p>
        </p:txBody>
      </p:sp>
    </p:spTree>
    <p:extLst>
      <p:ext uri="{BB962C8B-B14F-4D97-AF65-F5344CB8AC3E}">
        <p14:creationId xmlns:p14="http://schemas.microsoft.com/office/powerpoint/2010/main" val="279814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 entirely no process, no documentation, no plan</a:t>
            </a:r>
          </a:p>
          <a:p>
            <a:endParaRPr lang="en-US" dirty="0"/>
          </a:p>
          <a:p>
            <a:r>
              <a:rPr lang="en-US" dirty="0"/>
              <a:t>principles that benefit both developers</a:t>
            </a:r>
            <a:r>
              <a:rPr lang="en-US" baseline="0" dirty="0"/>
              <a:t> and users</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39</a:t>
            </a:fld>
            <a:endParaRPr lang="en-US"/>
          </a:p>
        </p:txBody>
      </p:sp>
    </p:spTree>
    <p:extLst>
      <p:ext uri="{BB962C8B-B14F-4D97-AF65-F5344CB8AC3E}">
        <p14:creationId xmlns:p14="http://schemas.microsoft.com/office/powerpoint/2010/main" val="1268715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737C79-55AF-EC40-AAA9-B7CF7E20883A}" type="slidenum">
              <a:rPr lang="en-US"/>
              <a:pPr>
                <a:defRPr/>
              </a:pPr>
              <a:t>40</a:t>
            </a:fld>
            <a:endParaRPr lang="en-US"/>
          </a:p>
        </p:txBody>
      </p:sp>
      <p:sp>
        <p:nvSpPr>
          <p:cNvPr id="497666"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766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dirty="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F3B76-A9E5-DCAE-DCC5-1605D71CB5B1}"/>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5817BFA3-D280-29BD-33BB-EF027C88E63F}"/>
              </a:ext>
            </a:extLst>
          </p:cNvPr>
          <p:cNvSpPr>
            <a:spLocks noGrp="1" noChangeArrowheads="1"/>
          </p:cNvSpPr>
          <p:nvPr>
            <p:ph type="sldNum" sz="quarter" idx="5"/>
          </p:nvPr>
        </p:nvSpPr>
        <p:spPr/>
        <p:txBody>
          <a:bodyPr/>
          <a:lstStyle/>
          <a:p>
            <a:pPr>
              <a:defRPr/>
            </a:pPr>
            <a:fld id="{83737C79-55AF-EC40-AAA9-B7CF7E20883A}" type="slidenum">
              <a:rPr lang="en-US"/>
              <a:pPr>
                <a:defRPr/>
              </a:pPr>
              <a:t>41</a:t>
            </a:fld>
            <a:endParaRPr lang="en-US"/>
          </a:p>
        </p:txBody>
      </p:sp>
      <p:sp>
        <p:nvSpPr>
          <p:cNvPr id="497666" name="Rectangle 2">
            <a:extLst>
              <a:ext uri="{FF2B5EF4-FFF2-40B4-BE49-F238E27FC236}">
                <a16:creationId xmlns:a16="http://schemas.microsoft.com/office/drawing/2014/main" id="{D8FA2EAE-D343-83DE-0CD3-B543A37B795F}"/>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ma14="http://schemas.microsoft.com/office/mac/drawingml/2011/main" xmlns="" val="1"/>
            </a:ext>
          </a:extLst>
        </p:spPr>
      </p:sp>
      <p:sp>
        <p:nvSpPr>
          <p:cNvPr id="497667" name="Rectangle 3">
            <a:extLst>
              <a:ext uri="{FF2B5EF4-FFF2-40B4-BE49-F238E27FC236}">
                <a16:creationId xmlns:a16="http://schemas.microsoft.com/office/drawing/2014/main" id="{C3C7683D-84F8-33CA-1858-BC38CF9489F4}"/>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dirty="0">
              <a:cs typeface="+mn-cs"/>
            </a:endParaRPr>
          </a:p>
        </p:txBody>
      </p:sp>
    </p:spTree>
    <p:extLst>
      <p:ext uri="{BB962C8B-B14F-4D97-AF65-F5344CB8AC3E}">
        <p14:creationId xmlns:p14="http://schemas.microsoft.com/office/powerpoint/2010/main" val="28246966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737C79-55AF-EC40-AAA9-B7CF7E20883A}" type="slidenum">
              <a:rPr lang="en-US"/>
              <a:pPr>
                <a:defRPr/>
              </a:pPr>
              <a:t>42</a:t>
            </a:fld>
            <a:endParaRPr lang="en-US"/>
          </a:p>
        </p:txBody>
      </p:sp>
      <p:sp>
        <p:nvSpPr>
          <p:cNvPr id="497666"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766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dirty="0">
                <a:cs typeface="+mn-cs"/>
              </a:rPr>
              <a:t>value</a:t>
            </a:r>
          </a:p>
          <a:p>
            <a:pPr>
              <a:defRPr/>
            </a:pPr>
            <a:r>
              <a:rPr lang="en-US" dirty="0">
                <a:cs typeface="+mn-cs"/>
              </a:rPr>
              <a:t>-</a:t>
            </a:r>
            <a:r>
              <a:rPr lang="en-US" baseline="0" dirty="0">
                <a:cs typeface="+mn-cs"/>
              </a:rPr>
              <a:t> tangible to user, not just documentation or software library</a:t>
            </a:r>
            <a:endParaRPr lang="en-US" dirty="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28F27F-91E4-BB45-B8AC-0D299CA6ADF8}" type="slidenum">
              <a:rPr lang="en-US"/>
              <a:pPr>
                <a:defRPr/>
              </a:pPr>
              <a:t>43</a:t>
            </a:fld>
            <a:endParaRPr lang="en-US"/>
          </a:p>
        </p:txBody>
      </p:sp>
      <p:sp>
        <p:nvSpPr>
          <p:cNvPr id="499714"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971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sz="1200" kern="1200" dirty="0">
                <a:solidFill>
                  <a:schemeClr val="tx1"/>
                </a:solidFill>
                <a:latin typeface="Verdana"/>
                <a:ea typeface="ＭＳ Ｐゴシック" charset="0"/>
                <a:cs typeface="Verdana"/>
              </a:rPr>
              <a:t>engaging the customer</a:t>
            </a:r>
          </a:p>
          <a:p>
            <a:pPr marL="171450" indent="-171450">
              <a:buFontTx/>
              <a:buChar char="-"/>
              <a:defRPr/>
            </a:pPr>
            <a:r>
              <a:rPr lang="en-US" sz="1200" kern="1200" dirty="0">
                <a:solidFill>
                  <a:schemeClr val="tx1"/>
                </a:solidFill>
                <a:latin typeface="Verdana"/>
                <a:ea typeface="ＭＳ Ｐゴシック" charset="0"/>
                <a:cs typeface="Verdana"/>
              </a:rPr>
              <a:t>involve them during the development</a:t>
            </a:r>
          </a:p>
          <a:p>
            <a:pPr marL="171450" indent="-171450">
              <a:buFontTx/>
              <a:buChar char="-"/>
              <a:defRPr/>
            </a:pPr>
            <a:r>
              <a:rPr lang="en-US" sz="1200" kern="1200" dirty="0">
                <a:solidFill>
                  <a:schemeClr val="tx1"/>
                </a:solidFill>
                <a:latin typeface="Verdana"/>
                <a:ea typeface="ＭＳ Ｐゴシック" charset="0"/>
                <a:cs typeface="Verdana"/>
              </a:rPr>
              <a:t>manages expectations</a:t>
            </a:r>
          </a:p>
          <a:p>
            <a:pPr marL="171450" indent="-171450">
              <a:buFontTx/>
              <a:buChar char="-"/>
              <a:defRPr/>
            </a:pPr>
            <a:r>
              <a:rPr lang="en-US" sz="1200" kern="1200" dirty="0">
                <a:solidFill>
                  <a:schemeClr val="tx1"/>
                </a:solidFill>
                <a:latin typeface="Verdana"/>
                <a:ea typeface="ＭＳ Ｐゴシック" charset="0"/>
                <a:cs typeface="Verdana"/>
              </a:rPr>
              <a:t>set priorities, focusing on the 20% of needs that</a:t>
            </a:r>
            <a:r>
              <a:rPr lang="en-US" sz="1200" kern="1200" baseline="0" dirty="0">
                <a:solidFill>
                  <a:schemeClr val="tx1"/>
                </a:solidFill>
                <a:latin typeface="Verdana"/>
                <a:ea typeface="ＭＳ Ｐゴシック" charset="0"/>
                <a:cs typeface="Verdana"/>
              </a:rPr>
              <a:t> produce 80% of the benefits</a:t>
            </a:r>
          </a:p>
          <a:p>
            <a:pPr marL="171450" indent="-171450">
              <a:buFontTx/>
              <a:buChar char="-"/>
              <a:defRPr/>
            </a:pPr>
            <a:endParaRPr lang="en-US" sz="1200" kern="1200" baseline="0" dirty="0">
              <a:solidFill>
                <a:schemeClr val="tx1"/>
              </a:solidFill>
              <a:latin typeface="Verdana"/>
              <a:ea typeface="ＭＳ Ｐゴシック" charset="0"/>
              <a:cs typeface="Verdana"/>
            </a:endParaRPr>
          </a:p>
          <a:p>
            <a:pPr marL="0" indent="0">
              <a:buFontTx/>
              <a:buNone/>
              <a:defRPr/>
            </a:pPr>
            <a:r>
              <a:rPr lang="en-US" sz="1200" kern="1200" baseline="0" dirty="0">
                <a:solidFill>
                  <a:schemeClr val="tx1"/>
                </a:solidFill>
                <a:latin typeface="Verdana"/>
                <a:ea typeface="ＭＳ Ｐゴシック" charset="0"/>
                <a:cs typeface="Verdana"/>
              </a:rPr>
              <a:t>satisfy early</a:t>
            </a:r>
          </a:p>
          <a:p>
            <a:pPr marL="171450" indent="-171450">
              <a:buFontTx/>
              <a:buChar char="-"/>
              <a:defRPr/>
            </a:pPr>
            <a:r>
              <a:rPr lang="en-US" sz="1200" kern="1200" baseline="0" dirty="0">
                <a:solidFill>
                  <a:schemeClr val="tx1"/>
                </a:solidFill>
                <a:latin typeface="Verdana"/>
                <a:ea typeface="ＭＳ Ｐゴシック" charset="0"/>
                <a:cs typeface="Verdana"/>
              </a:rPr>
              <a:t>early working prototype</a:t>
            </a:r>
          </a:p>
          <a:p>
            <a:pPr marL="171450" indent="-171450">
              <a:buFontTx/>
              <a:buChar char="-"/>
              <a:defRPr/>
            </a:pPr>
            <a:r>
              <a:rPr lang="en-US" sz="1200" kern="1200" baseline="0" dirty="0">
                <a:solidFill>
                  <a:schemeClr val="tx1"/>
                </a:solidFill>
                <a:latin typeface="Verdana"/>
                <a:ea typeface="ＭＳ Ｐゴシック" charset="0"/>
                <a:cs typeface="Verdana"/>
              </a:rPr>
              <a:t>not bottom up development, with late integration</a:t>
            </a:r>
          </a:p>
          <a:p>
            <a:pPr marL="171450" indent="-171450">
              <a:buFontTx/>
              <a:buChar char="-"/>
              <a:defRPr/>
            </a:pPr>
            <a:r>
              <a:rPr lang="en-US" sz="1200" kern="1200" baseline="0" dirty="0">
                <a:solidFill>
                  <a:schemeClr val="tx1"/>
                </a:solidFill>
                <a:latin typeface="Verdana"/>
                <a:ea typeface="ＭＳ Ｐゴシック" charset="0"/>
                <a:cs typeface="Verdana"/>
              </a:rPr>
              <a:t>integrate early</a:t>
            </a:r>
          </a:p>
          <a:p>
            <a:pPr marL="171450" indent="-171450">
              <a:buFontTx/>
              <a:buChar char="-"/>
              <a:defRPr/>
            </a:pPr>
            <a:r>
              <a:rPr lang="en-US" sz="1200" kern="1200" baseline="0" dirty="0">
                <a:solidFill>
                  <a:schemeClr val="tx1"/>
                </a:solidFill>
                <a:latin typeface="Verdana"/>
                <a:ea typeface="ＭＳ Ｐゴシック" charset="0"/>
                <a:cs typeface="Verdana"/>
              </a:rPr>
              <a:t>may need to go slow to go faster later, rather than delaying integration to keep people busy</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28F27F-91E4-BB45-B8AC-0D299CA6ADF8}" type="slidenum">
              <a:rPr lang="en-US"/>
              <a:pPr>
                <a:defRPr/>
              </a:pPr>
              <a:t>44</a:t>
            </a:fld>
            <a:endParaRPr lang="en-US"/>
          </a:p>
        </p:txBody>
      </p:sp>
      <p:sp>
        <p:nvSpPr>
          <p:cNvPr id="499714"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971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sz="1200" kern="1200" dirty="0">
                <a:solidFill>
                  <a:schemeClr val="tx1"/>
                </a:solidFill>
                <a:latin typeface="Verdana"/>
                <a:ea typeface="ＭＳ Ｐゴシック" charset="0"/>
                <a:cs typeface="Verdana"/>
              </a:rPr>
              <a:t>simplest thing that satisfies the</a:t>
            </a:r>
            <a:r>
              <a:rPr lang="en-US" sz="1200" kern="1200" baseline="0" dirty="0">
                <a:solidFill>
                  <a:schemeClr val="tx1"/>
                </a:solidFill>
                <a:latin typeface="Verdana"/>
                <a:ea typeface="ＭＳ Ｐゴシック" charset="0"/>
                <a:cs typeface="Verdana"/>
              </a:rPr>
              <a:t> need</a:t>
            </a:r>
          </a:p>
          <a:p>
            <a:pPr marL="171450" indent="-171450">
              <a:buFontTx/>
              <a:buChar char="-"/>
              <a:defRPr/>
            </a:pPr>
            <a:r>
              <a:rPr lang="en-US" sz="1200" kern="1200" baseline="0" dirty="0">
                <a:solidFill>
                  <a:schemeClr val="tx1"/>
                </a:solidFill>
                <a:latin typeface="Verdana"/>
                <a:ea typeface="ＭＳ Ｐゴシック" charset="0"/>
                <a:cs typeface="Verdana"/>
              </a:rPr>
              <a:t>rather than over-engineering and added complexity for the future</a:t>
            </a:r>
          </a:p>
          <a:p>
            <a:pPr marL="171450" indent="-171450">
              <a:buFontTx/>
              <a:buChar char="-"/>
              <a:defRPr/>
            </a:pPr>
            <a:r>
              <a:rPr lang="en-US" sz="1200" kern="1200" baseline="0" dirty="0">
                <a:solidFill>
                  <a:schemeClr val="tx1"/>
                </a:solidFill>
                <a:latin typeface="Verdana"/>
                <a:ea typeface="ＭＳ Ｐゴシック" charset="0"/>
                <a:cs typeface="Verdana"/>
              </a:rPr>
              <a:t>need balance</a:t>
            </a:r>
            <a:endParaRPr lang="en-US" sz="1200" kern="1200" dirty="0">
              <a:solidFill>
                <a:schemeClr val="tx1"/>
              </a:solidFill>
              <a:latin typeface="Verdana"/>
              <a:ea typeface="ＭＳ Ｐゴシック" charset="0"/>
              <a:cs typeface="Verdana"/>
            </a:endParaRPr>
          </a:p>
          <a:p>
            <a:pPr>
              <a:defRPr/>
            </a:pPr>
            <a:endParaRPr lang="en-US" sz="1200" kern="1200" dirty="0">
              <a:solidFill>
                <a:schemeClr val="tx1"/>
              </a:solidFill>
              <a:latin typeface="Verdana"/>
              <a:ea typeface="ＭＳ Ｐゴシック" charset="0"/>
              <a:cs typeface="Verdana"/>
            </a:endParaRPr>
          </a:p>
          <a:p>
            <a:pPr>
              <a:defRPr/>
            </a:pPr>
            <a:r>
              <a:rPr lang="en-US" sz="1200" kern="1200" dirty="0">
                <a:solidFill>
                  <a:schemeClr val="tx1"/>
                </a:solidFill>
                <a:latin typeface="Verdana"/>
                <a:ea typeface="ＭＳ Ｐゴシック" charset="0"/>
                <a:cs typeface="Verdana"/>
              </a:rPr>
              <a:t>nice,</a:t>
            </a:r>
            <a:r>
              <a:rPr lang="en-US" sz="1200" kern="1200" baseline="0" dirty="0">
                <a:solidFill>
                  <a:schemeClr val="tx1"/>
                </a:solidFill>
                <a:latin typeface="Verdana"/>
                <a:ea typeface="ＭＳ Ｐゴシック" charset="0"/>
                <a:cs typeface="Verdana"/>
              </a:rPr>
              <a:t> </a:t>
            </a:r>
            <a:r>
              <a:rPr lang="en-US" sz="1200" kern="1200" dirty="0">
                <a:solidFill>
                  <a:schemeClr val="tx1"/>
                </a:solidFill>
                <a:latin typeface="Verdana"/>
                <a:ea typeface="ＭＳ Ｐゴシック" charset="0"/>
                <a:cs typeface="Verdana"/>
              </a:rPr>
              <a:t>but how to turn principles into</a:t>
            </a:r>
            <a:r>
              <a:rPr lang="en-US" sz="1200" kern="1200" baseline="0" dirty="0">
                <a:solidFill>
                  <a:schemeClr val="tx1"/>
                </a:solidFill>
                <a:latin typeface="Verdana"/>
                <a:ea typeface="ＭＳ Ｐゴシック" charset="0"/>
                <a:cs typeface="Verdana"/>
              </a:rPr>
              <a:t> concrete practices</a:t>
            </a:r>
            <a:endParaRPr lang="en-US" sz="1200" kern="1200" dirty="0">
              <a:solidFill>
                <a:schemeClr val="tx1"/>
              </a:solidFill>
              <a:latin typeface="Verdana"/>
              <a:ea typeface="ＭＳ Ｐゴシック" charset="0"/>
              <a:cs typeface="Verdan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828F-EE6D-54A6-29A8-56406E237387}"/>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BF738515-7405-B96C-C8F1-5C36BEEF3585}"/>
              </a:ext>
            </a:extLst>
          </p:cNvPr>
          <p:cNvSpPr>
            <a:spLocks noGrp="1" noChangeArrowheads="1"/>
          </p:cNvSpPr>
          <p:nvPr>
            <p:ph type="sldNum" sz="quarter" idx="5"/>
          </p:nvPr>
        </p:nvSpPr>
        <p:spPr/>
        <p:txBody>
          <a:bodyPr/>
          <a:lstStyle/>
          <a:p>
            <a:pPr>
              <a:defRPr/>
            </a:pPr>
            <a:fld id="{DC28F27F-91E4-BB45-B8AC-0D299CA6ADF8}" type="slidenum">
              <a:rPr lang="en-US"/>
              <a:pPr>
                <a:defRPr/>
              </a:pPr>
              <a:t>45</a:t>
            </a:fld>
            <a:endParaRPr lang="en-US"/>
          </a:p>
        </p:txBody>
      </p:sp>
      <p:sp>
        <p:nvSpPr>
          <p:cNvPr id="499714" name="Rectangle 2">
            <a:extLst>
              <a:ext uri="{FF2B5EF4-FFF2-40B4-BE49-F238E27FC236}">
                <a16:creationId xmlns:a16="http://schemas.microsoft.com/office/drawing/2014/main" id="{91B8114B-F755-B419-B4BC-E752B984CF18}"/>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ma14="http://schemas.microsoft.com/office/mac/drawingml/2011/main" xmlns="" val="1"/>
            </a:ext>
          </a:extLst>
        </p:spPr>
      </p:sp>
      <p:sp>
        <p:nvSpPr>
          <p:cNvPr id="499715" name="Rectangle 3">
            <a:extLst>
              <a:ext uri="{FF2B5EF4-FFF2-40B4-BE49-F238E27FC236}">
                <a16:creationId xmlns:a16="http://schemas.microsoft.com/office/drawing/2014/main" id="{80060EB4-90F0-CF66-A154-49802C391CEB}"/>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sz="1200" kern="1200" dirty="0">
                <a:solidFill>
                  <a:schemeClr val="tx1"/>
                </a:solidFill>
                <a:latin typeface="Verdana"/>
                <a:ea typeface="ＭＳ Ｐゴシック" charset="0"/>
                <a:cs typeface="Verdana"/>
              </a:rPr>
              <a:t>Reference to Project User Stories as concrete example</a:t>
            </a:r>
          </a:p>
        </p:txBody>
      </p:sp>
    </p:spTree>
    <p:extLst>
      <p:ext uri="{BB962C8B-B14F-4D97-AF65-F5344CB8AC3E}">
        <p14:creationId xmlns:p14="http://schemas.microsoft.com/office/powerpoint/2010/main" val="8162501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2192-97CD-9C56-3C60-CFD786E6D137}"/>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2AE71248-F58D-92D6-A107-308EC1FB3EBE}"/>
              </a:ext>
            </a:extLst>
          </p:cNvPr>
          <p:cNvSpPr>
            <a:spLocks noGrp="1" noChangeArrowheads="1"/>
          </p:cNvSpPr>
          <p:nvPr>
            <p:ph type="sldNum" sz="quarter" idx="5"/>
          </p:nvPr>
        </p:nvSpPr>
        <p:spPr/>
        <p:txBody>
          <a:bodyPr/>
          <a:lstStyle/>
          <a:p>
            <a:pPr>
              <a:defRPr/>
            </a:pPr>
            <a:fld id="{DC28F27F-91E4-BB45-B8AC-0D299CA6ADF8}" type="slidenum">
              <a:rPr lang="en-US"/>
              <a:pPr>
                <a:defRPr/>
              </a:pPr>
              <a:t>46</a:t>
            </a:fld>
            <a:endParaRPr lang="en-US"/>
          </a:p>
        </p:txBody>
      </p:sp>
      <p:sp>
        <p:nvSpPr>
          <p:cNvPr id="499714" name="Rectangle 2">
            <a:extLst>
              <a:ext uri="{FF2B5EF4-FFF2-40B4-BE49-F238E27FC236}">
                <a16:creationId xmlns:a16="http://schemas.microsoft.com/office/drawing/2014/main" id="{D21C198E-C50C-C844-BA64-6B4A2005AFA8}"/>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9715" name="Rectangle 3">
            <a:extLst>
              <a:ext uri="{FF2B5EF4-FFF2-40B4-BE49-F238E27FC236}">
                <a16:creationId xmlns:a16="http://schemas.microsoft.com/office/drawing/2014/main" id="{0B929BD4-CC4B-93AF-B666-1E2D7108550C}"/>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sz="1200" kern="1200" dirty="0">
              <a:solidFill>
                <a:schemeClr val="tx1"/>
              </a:solidFill>
              <a:latin typeface="Verdana"/>
              <a:ea typeface="ＭＳ Ｐゴシック" charset="0"/>
              <a:cs typeface="Verdana"/>
            </a:endParaRPr>
          </a:p>
        </p:txBody>
      </p:sp>
    </p:spTree>
    <p:extLst>
      <p:ext uri="{BB962C8B-B14F-4D97-AF65-F5344CB8AC3E}">
        <p14:creationId xmlns:p14="http://schemas.microsoft.com/office/powerpoint/2010/main" val="12849580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61BF6-58F4-C096-5190-B9E8CB1F736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AE64438A-E7B8-DA5E-EF1E-9380BA518871}"/>
              </a:ext>
            </a:extLst>
          </p:cNvPr>
          <p:cNvSpPr>
            <a:spLocks noGrp="1" noChangeArrowheads="1"/>
          </p:cNvSpPr>
          <p:nvPr>
            <p:ph type="sldNum" sz="quarter" idx="5"/>
          </p:nvPr>
        </p:nvSpPr>
        <p:spPr/>
        <p:txBody>
          <a:bodyPr/>
          <a:lstStyle/>
          <a:p>
            <a:pPr>
              <a:defRPr/>
            </a:pPr>
            <a:fld id="{DC28F27F-91E4-BB45-B8AC-0D299CA6ADF8}" type="slidenum">
              <a:rPr lang="en-US"/>
              <a:pPr>
                <a:defRPr/>
              </a:pPr>
              <a:t>47</a:t>
            </a:fld>
            <a:endParaRPr lang="en-US"/>
          </a:p>
        </p:txBody>
      </p:sp>
      <p:sp>
        <p:nvSpPr>
          <p:cNvPr id="499714" name="Rectangle 2">
            <a:extLst>
              <a:ext uri="{FF2B5EF4-FFF2-40B4-BE49-F238E27FC236}">
                <a16:creationId xmlns:a16="http://schemas.microsoft.com/office/drawing/2014/main" id="{AE1CE0A0-D63B-D098-7A9A-9A9ED98E4DF7}"/>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ma14="http://schemas.microsoft.com/office/mac/drawingml/2011/main" xmlns="" val="1"/>
            </a:ext>
          </a:extLst>
        </p:spPr>
      </p:sp>
      <p:sp>
        <p:nvSpPr>
          <p:cNvPr id="499715" name="Rectangle 3">
            <a:extLst>
              <a:ext uri="{FF2B5EF4-FFF2-40B4-BE49-F238E27FC236}">
                <a16:creationId xmlns:a16="http://schemas.microsoft.com/office/drawing/2014/main" id="{0E7F4A45-2766-DE9F-4222-C2D3C767F1F6}"/>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sz="1200" kern="1200" dirty="0">
              <a:solidFill>
                <a:schemeClr val="tx1"/>
              </a:solidFill>
              <a:latin typeface="Verdana"/>
              <a:ea typeface="ＭＳ Ｐゴシック" charset="0"/>
              <a:cs typeface="Verdana"/>
            </a:endParaRPr>
          </a:p>
        </p:txBody>
      </p:sp>
    </p:spTree>
    <p:extLst>
      <p:ext uri="{BB962C8B-B14F-4D97-AF65-F5344CB8AC3E}">
        <p14:creationId xmlns:p14="http://schemas.microsoft.com/office/powerpoint/2010/main" val="2375057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54F97-83E7-B73F-96F8-5F4C29D4B63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8FE3102C-789E-219C-CDD6-7D673175EF7D}"/>
              </a:ext>
            </a:extLst>
          </p:cNvPr>
          <p:cNvSpPr>
            <a:spLocks noGrp="1" noChangeArrowheads="1"/>
          </p:cNvSpPr>
          <p:nvPr>
            <p:ph type="sldNum" sz="quarter" idx="5"/>
          </p:nvPr>
        </p:nvSpPr>
        <p:spPr/>
        <p:txBody>
          <a:bodyPr/>
          <a:lstStyle/>
          <a:p>
            <a:pPr>
              <a:defRPr/>
            </a:pPr>
            <a:fld id="{DC28F27F-91E4-BB45-B8AC-0D299CA6ADF8}" type="slidenum">
              <a:rPr lang="en-US"/>
              <a:pPr>
                <a:defRPr/>
              </a:pPr>
              <a:t>48</a:t>
            </a:fld>
            <a:endParaRPr lang="en-US"/>
          </a:p>
        </p:txBody>
      </p:sp>
      <p:sp>
        <p:nvSpPr>
          <p:cNvPr id="499714" name="Rectangle 2">
            <a:extLst>
              <a:ext uri="{FF2B5EF4-FFF2-40B4-BE49-F238E27FC236}">
                <a16:creationId xmlns:a16="http://schemas.microsoft.com/office/drawing/2014/main" id="{561EC59D-AE70-0449-0CB3-EE4F7403D8E5}"/>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99715" name="Rectangle 3">
            <a:extLst>
              <a:ext uri="{FF2B5EF4-FFF2-40B4-BE49-F238E27FC236}">
                <a16:creationId xmlns:a16="http://schemas.microsoft.com/office/drawing/2014/main" id="{22EABE4C-0B1F-8617-F543-C245CD5D7F4B}"/>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sz="1200" kern="1200" dirty="0">
              <a:solidFill>
                <a:schemeClr val="tx1"/>
              </a:solidFill>
              <a:latin typeface="Verdana"/>
              <a:ea typeface="ＭＳ Ｐゴシック" charset="0"/>
              <a:cs typeface="Verdana"/>
            </a:endParaRPr>
          </a:p>
        </p:txBody>
      </p:sp>
    </p:spTree>
    <p:extLst>
      <p:ext uri="{BB962C8B-B14F-4D97-AF65-F5344CB8AC3E}">
        <p14:creationId xmlns:p14="http://schemas.microsoft.com/office/powerpoint/2010/main" val="12920475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0B88B-4CA2-B931-6BD6-79826CE7187F}"/>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F1A71CC8-8514-D03F-E281-26A93E4395E0}"/>
              </a:ext>
            </a:extLst>
          </p:cNvPr>
          <p:cNvSpPr>
            <a:spLocks noGrp="1" noChangeArrowheads="1"/>
          </p:cNvSpPr>
          <p:nvPr>
            <p:ph type="sldNum" sz="quarter" idx="5"/>
          </p:nvPr>
        </p:nvSpPr>
        <p:spPr/>
        <p:txBody>
          <a:bodyPr/>
          <a:lstStyle/>
          <a:p>
            <a:pPr>
              <a:defRPr/>
            </a:pPr>
            <a:fld id="{DC28F27F-91E4-BB45-B8AC-0D299CA6ADF8}" type="slidenum">
              <a:rPr lang="en-US"/>
              <a:pPr>
                <a:defRPr/>
              </a:pPr>
              <a:t>49</a:t>
            </a:fld>
            <a:endParaRPr lang="en-US"/>
          </a:p>
        </p:txBody>
      </p:sp>
      <p:sp>
        <p:nvSpPr>
          <p:cNvPr id="499714" name="Rectangle 2">
            <a:extLst>
              <a:ext uri="{FF2B5EF4-FFF2-40B4-BE49-F238E27FC236}">
                <a16:creationId xmlns:a16="http://schemas.microsoft.com/office/drawing/2014/main" id="{0C671A44-9BC5-5E9B-DB74-E952B1C44D43}"/>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ma14="http://schemas.microsoft.com/office/mac/drawingml/2011/main" xmlns="" val="1"/>
            </a:ext>
          </a:extLst>
        </p:spPr>
      </p:sp>
      <p:sp>
        <p:nvSpPr>
          <p:cNvPr id="499715" name="Rectangle 3">
            <a:extLst>
              <a:ext uri="{FF2B5EF4-FFF2-40B4-BE49-F238E27FC236}">
                <a16:creationId xmlns:a16="http://schemas.microsoft.com/office/drawing/2014/main" id="{26A89F9E-9CD9-01DF-EEA8-BE8791E567E6}"/>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sz="1200" kern="1200" dirty="0">
              <a:solidFill>
                <a:schemeClr val="tx1"/>
              </a:solidFill>
              <a:latin typeface="Verdana"/>
              <a:ea typeface="ＭＳ Ｐゴシック" charset="0"/>
              <a:cs typeface="Verdana"/>
            </a:endParaRPr>
          </a:p>
        </p:txBody>
      </p:sp>
    </p:spTree>
    <p:extLst>
      <p:ext uri="{BB962C8B-B14F-4D97-AF65-F5344CB8AC3E}">
        <p14:creationId xmlns:p14="http://schemas.microsoft.com/office/powerpoint/2010/main" val="34705081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763BF-E515-C42F-B76F-1B61989AFCD6}"/>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1B00B191-FE2E-5EE6-634C-8B3837CE6F06}"/>
              </a:ext>
            </a:extLst>
          </p:cNvPr>
          <p:cNvSpPr>
            <a:spLocks noGrp="1" noChangeArrowheads="1"/>
          </p:cNvSpPr>
          <p:nvPr>
            <p:ph type="sldNum" sz="quarter" idx="5"/>
          </p:nvPr>
        </p:nvSpPr>
        <p:spPr/>
        <p:txBody>
          <a:bodyPr/>
          <a:lstStyle/>
          <a:p>
            <a:pPr>
              <a:defRPr/>
            </a:pPr>
            <a:fld id="{DC28F27F-91E4-BB45-B8AC-0D299CA6ADF8}" type="slidenum">
              <a:rPr lang="en-US"/>
              <a:pPr>
                <a:defRPr/>
              </a:pPr>
              <a:t>50</a:t>
            </a:fld>
            <a:endParaRPr lang="en-US"/>
          </a:p>
        </p:txBody>
      </p:sp>
      <p:sp>
        <p:nvSpPr>
          <p:cNvPr id="499714" name="Rectangle 2">
            <a:extLst>
              <a:ext uri="{FF2B5EF4-FFF2-40B4-BE49-F238E27FC236}">
                <a16:creationId xmlns:a16="http://schemas.microsoft.com/office/drawing/2014/main" id="{9A53C496-370F-BC28-9BF5-5B00DE6A6435}"/>
              </a:ext>
            </a:extLst>
          </p:cNvPr>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ma14="http://schemas.microsoft.com/office/mac/drawingml/2011/main" xmlns="" val="1"/>
            </a:ext>
          </a:extLst>
        </p:spPr>
      </p:sp>
      <p:sp>
        <p:nvSpPr>
          <p:cNvPr id="499715" name="Rectangle 3">
            <a:extLst>
              <a:ext uri="{FF2B5EF4-FFF2-40B4-BE49-F238E27FC236}">
                <a16:creationId xmlns:a16="http://schemas.microsoft.com/office/drawing/2014/main" id="{C83A29C2-FAA7-4627-A61A-9848ED55C053}"/>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sz="1200" kern="1200" dirty="0">
              <a:solidFill>
                <a:schemeClr val="tx1"/>
              </a:solidFill>
              <a:latin typeface="Verdana"/>
              <a:ea typeface="ＭＳ Ｐゴシック" charset="0"/>
              <a:cs typeface="Verdana"/>
            </a:endParaRPr>
          </a:p>
        </p:txBody>
      </p:sp>
    </p:spTree>
    <p:extLst>
      <p:ext uri="{BB962C8B-B14F-4D97-AF65-F5344CB8AC3E}">
        <p14:creationId xmlns:p14="http://schemas.microsoft.com/office/powerpoint/2010/main" val="5643860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Kent Beck</a:t>
            </a:r>
          </a:p>
          <a:p>
            <a:endParaRPr lang="en-US" dirty="0"/>
          </a:p>
          <a:p>
            <a:r>
              <a:rPr lang="en-US" dirty="0"/>
              <a:t>makes</a:t>
            </a:r>
            <a:r>
              <a:rPr lang="en-US" baseline="0" dirty="0"/>
              <a:t> it sound like programming is exciting and dangerous</a:t>
            </a:r>
          </a:p>
          <a:p>
            <a:pPr marL="171450" indent="-171450">
              <a:buFontTx/>
              <a:buChar char="-"/>
            </a:pPr>
            <a:r>
              <a:rPr lang="en-US" baseline="0" dirty="0"/>
              <a:t>not related to extreme sports</a:t>
            </a:r>
          </a:p>
          <a:p>
            <a:pPr marL="171450" indent="-171450">
              <a:buFontTx/>
              <a:buChar char="-"/>
            </a:pPr>
            <a:r>
              <a:rPr lang="en-US" baseline="0" dirty="0"/>
              <a:t>not about coding in the morning, then jumping off a cliff in the afternoon (even if you might want to)</a:t>
            </a:r>
          </a:p>
          <a:p>
            <a:pPr marL="171450" indent="-171450">
              <a:buFontTx/>
              <a:buChar char="-"/>
            </a:pPr>
            <a:r>
              <a:rPr lang="en-US" baseline="0" dirty="0"/>
              <a:t>counter cultural aspect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51</a:t>
            </a:fld>
            <a:endParaRPr lang="en-US"/>
          </a:p>
        </p:txBody>
      </p:sp>
    </p:spTree>
    <p:extLst>
      <p:ext uri="{BB962C8B-B14F-4D97-AF65-F5344CB8AC3E}">
        <p14:creationId xmlns:p14="http://schemas.microsoft.com/office/powerpoint/2010/main" val="4577969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3830443-6C80-5B47-92BE-2E49235581D3}" type="slidenum">
              <a:rPr lang="en-US"/>
              <a:pPr>
                <a:defRPr/>
              </a:pPr>
              <a:t>52</a:t>
            </a:fld>
            <a:endParaRPr lang="en-US"/>
          </a:p>
        </p:txBody>
      </p:sp>
      <p:sp>
        <p:nvSpPr>
          <p:cNvPr id="481282"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812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dirty="0">
                <a:cs typeface="+mn-cs"/>
              </a:rPr>
              <a:t>quite disciplined</a:t>
            </a:r>
          </a:p>
          <a:p>
            <a:pPr marL="171450" indent="-171450">
              <a:buFontTx/>
              <a:buChar char="-"/>
              <a:defRPr/>
            </a:pPr>
            <a:r>
              <a:rPr lang="en-US" dirty="0">
                <a:cs typeface="+mn-cs"/>
              </a:rPr>
              <a:t>not about just giving programmers a license to hack</a:t>
            </a:r>
          </a:p>
          <a:p>
            <a:pPr marL="171450" indent="-171450">
              <a:buFontTx/>
              <a:buChar char="-"/>
              <a:defRPr/>
            </a:pPr>
            <a:r>
              <a:rPr lang="en-US" dirty="0">
                <a:cs typeface="+mn-cs"/>
              </a:rPr>
              <a:t>few are brave enough to adopt all the practices in extreme programming</a:t>
            </a:r>
          </a:p>
          <a:p>
            <a:pPr marL="171450" indent="-171450">
              <a:buFontTx/>
              <a:buChar char="-"/>
              <a:defRPr/>
            </a:pPr>
            <a:r>
              <a:rPr lang="en-US" dirty="0">
                <a:cs typeface="+mn-cs"/>
              </a:rPr>
              <a:t>diluted</a:t>
            </a:r>
            <a:r>
              <a:rPr lang="en-US" baseline="0" dirty="0">
                <a:cs typeface="+mn-cs"/>
              </a:rPr>
              <a:t> forms</a:t>
            </a:r>
          </a:p>
          <a:p>
            <a:pPr>
              <a:defRPr/>
            </a:pPr>
            <a:endParaRPr lang="en-US" dirty="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12 practices that work together</a:t>
            </a:r>
          </a:p>
          <a:p>
            <a:pPr marL="171450" indent="-171450">
              <a:buFontTx/>
              <a:buChar char="-"/>
            </a:pPr>
            <a:r>
              <a:rPr lang="en-US" dirty="0"/>
              <a:t>fairly simple, but lots of implications</a:t>
            </a:r>
          </a:p>
          <a:p>
            <a:pPr marL="171450" indent="-171450">
              <a:buFontTx/>
              <a:buChar char="-"/>
            </a:pPr>
            <a:r>
              <a:rPr lang="en-US" dirty="0"/>
              <a:t>typically try to work with people’s instincts</a:t>
            </a:r>
          </a:p>
          <a:p>
            <a:endParaRPr lang="en-US" dirty="0"/>
          </a:p>
          <a:p>
            <a:r>
              <a:rPr lang="en-US" dirty="0"/>
              <a:t>some more contentious than others</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53</a:t>
            </a:fld>
            <a:endParaRPr lang="en-US"/>
          </a:p>
        </p:txBody>
      </p:sp>
    </p:spTree>
    <p:extLst>
      <p:ext uri="{BB962C8B-B14F-4D97-AF65-F5344CB8AC3E}">
        <p14:creationId xmlns:p14="http://schemas.microsoft.com/office/powerpoint/2010/main" val="35155157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being fresh</a:t>
            </a:r>
          </a:p>
          <a:p>
            <a:endParaRPr lang="en-US" dirty="0"/>
          </a:p>
          <a:p>
            <a:r>
              <a:rPr lang="en-US" dirty="0"/>
              <a:t>overtime is symptomatic of a troubled project</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54</a:t>
            </a:fld>
            <a:endParaRPr lang="en-US"/>
          </a:p>
        </p:txBody>
      </p:sp>
    </p:spTree>
    <p:extLst>
      <p:ext uri="{BB962C8B-B14F-4D97-AF65-F5344CB8AC3E}">
        <p14:creationId xmlns:p14="http://schemas.microsoft.com/office/powerpoint/2010/main" val="15349231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metaphor replaces “architecture”</a:t>
            </a:r>
          </a:p>
          <a:p>
            <a:pPr marL="171450" indent="-171450">
              <a:buFontTx/>
              <a:buChar char="-"/>
            </a:pPr>
            <a:r>
              <a:rPr lang="en-US" baseline="0" dirty="0"/>
              <a:t>just some coherent vision</a:t>
            </a:r>
          </a:p>
          <a:p>
            <a:pPr marL="171450" indent="-171450">
              <a:buFontTx/>
              <a:buChar char="-"/>
            </a:pPr>
            <a:r>
              <a:rPr lang="en-US" baseline="0" dirty="0"/>
              <a:t>shared between developers and users</a:t>
            </a:r>
          </a:p>
          <a:p>
            <a:pPr marL="171450" indent="-171450">
              <a:buFontTx/>
              <a:buChar char="-"/>
            </a:pPr>
            <a:endParaRPr lang="en-US" baseline="0" dirty="0"/>
          </a:p>
          <a:p>
            <a:pPr marL="0" indent="0">
              <a:buFontTx/>
              <a:buNone/>
            </a:pPr>
            <a:r>
              <a:rPr lang="en-US" baseline="0" dirty="0"/>
              <a:t>simplest possible thing that works (passes the tests)</a:t>
            </a:r>
          </a:p>
          <a:p>
            <a:pPr marL="0" indent="0">
              <a:buFontTx/>
              <a:buNone/>
            </a:pPr>
            <a:endParaRPr lang="en-US" baseline="0" dirty="0"/>
          </a:p>
          <a:p>
            <a:pPr marL="0" indent="0">
              <a:buFontTx/>
              <a:buNone/>
            </a:pPr>
            <a:r>
              <a:rPr lang="en-US" dirty="0"/>
              <a:t>“Make everything as simple as possible, but not simpler.”</a:t>
            </a:r>
            <a:br>
              <a:rPr lang="en-US" dirty="0"/>
            </a:br>
            <a:r>
              <a:rPr lang="en-US" dirty="0"/>
              <a:t>— </a:t>
            </a:r>
            <a:r>
              <a:rPr lang="en-US"/>
              <a:t>Albert Einstein</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55</a:t>
            </a:fld>
            <a:endParaRPr lang="en-US"/>
          </a:p>
        </p:txBody>
      </p:sp>
    </p:spTree>
    <p:extLst>
      <p:ext uri="{BB962C8B-B14F-4D97-AF65-F5344CB8AC3E}">
        <p14:creationId xmlns:p14="http://schemas.microsoft.com/office/powerpoint/2010/main" val="29326560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follow Kotlin code standard</a:t>
            </a:r>
          </a:p>
          <a:p>
            <a:r>
              <a:rPr lang="en-US" dirty="0"/>
              <a:t>- style, not just that the code compiles</a:t>
            </a:r>
          </a:p>
          <a:p>
            <a:endParaRPr lang="en-US" dirty="0"/>
          </a:p>
          <a:p>
            <a:r>
              <a:rPr lang="en-US" dirty="0"/>
              <a:t>informal</a:t>
            </a:r>
            <a:r>
              <a:rPr lang="en-US" baseline="0" dirty="0"/>
              <a:t> code inspection</a:t>
            </a:r>
            <a:endParaRPr lang="en-US" dirty="0"/>
          </a:p>
          <a:p>
            <a:endParaRPr lang="en-US" dirty="0"/>
          </a:p>
          <a:p>
            <a:r>
              <a:rPr lang="en-US" dirty="0"/>
              <a:t>control the number of WTFs in the code</a:t>
            </a:r>
          </a:p>
          <a:p>
            <a:r>
              <a:rPr lang="en-US" dirty="0"/>
              <a:t>-</a:t>
            </a:r>
            <a:r>
              <a:rPr lang="en-US" baseline="0" dirty="0"/>
              <a:t> you might realize you actually wrote the code</a:t>
            </a:r>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56</a:t>
            </a:fld>
            <a:endParaRPr lang="en-US"/>
          </a:p>
        </p:txBody>
      </p:sp>
    </p:spTree>
    <p:extLst>
      <p:ext uri="{BB962C8B-B14F-4D97-AF65-F5344CB8AC3E}">
        <p14:creationId xmlns:p14="http://schemas.microsoft.com/office/powerpoint/2010/main" val="13714232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easier</a:t>
            </a:r>
            <a:r>
              <a:rPr lang="en-US" baseline="0" dirty="0"/>
              <a:t> to make big changes as a series of lots of little ones</a:t>
            </a:r>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57</a:t>
            </a:fld>
            <a:endParaRPr lang="en-US"/>
          </a:p>
        </p:txBody>
      </p:sp>
    </p:spTree>
    <p:extLst>
      <p:ext uri="{BB962C8B-B14F-4D97-AF65-F5344CB8AC3E}">
        <p14:creationId xmlns:p14="http://schemas.microsoft.com/office/powerpoint/2010/main" val="2556127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user stories backlog</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form of requirements, written by user</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includes test case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time boxing</a:t>
            </a:r>
          </a:p>
          <a:p>
            <a:pPr marL="171450" indent="-171450">
              <a:buFontTx/>
              <a:buChar char="-"/>
            </a:pPr>
            <a:r>
              <a:rPr lang="en-US" dirty="0"/>
              <a:t>typically</a:t>
            </a:r>
            <a:r>
              <a:rPr lang="en-US" baseline="0" dirty="0"/>
              <a:t> two to three weeks for an iteration</a:t>
            </a:r>
          </a:p>
          <a:p>
            <a:pPr marL="171450" indent="-171450">
              <a:buFontTx/>
              <a:buChar char="-"/>
            </a:pPr>
            <a:r>
              <a:rPr lang="en-US" baseline="0" dirty="0"/>
              <a:t>release planning by assigning stories into iterations</a:t>
            </a:r>
          </a:p>
          <a:p>
            <a:pPr marL="171450" indent="-171450">
              <a:buFontTx/>
              <a:buChar char="-"/>
            </a:pPr>
            <a:r>
              <a:rPr lang="en-US" baseline="0" dirty="0"/>
              <a:t>iteration planning by refining stories into tasks</a:t>
            </a:r>
          </a:p>
          <a:p>
            <a:pPr marL="171450" indent="-171450">
              <a:buFontTx/>
              <a:buChar char="-"/>
            </a:pPr>
            <a:r>
              <a:rPr lang="en-US" baseline="0" dirty="0"/>
              <a:t>a story is done when it passes the tests, and it is documented (done done)</a:t>
            </a:r>
          </a:p>
          <a:p>
            <a:pPr marL="171450" indent="-171450">
              <a:buFontTx/>
              <a:buChar char="-"/>
            </a:pPr>
            <a:endParaRPr lang="en-US" baseline="0" dirty="0"/>
          </a:p>
          <a:p>
            <a:pPr marL="0" indent="0">
              <a:buFontTx/>
              <a:buNone/>
            </a:pPr>
            <a:r>
              <a:rPr lang="en-US" baseline="0" dirty="0"/>
              <a:t>testing</a:t>
            </a:r>
          </a:p>
          <a:p>
            <a:pPr marL="171450" indent="-171450">
              <a:buFontTx/>
              <a:buChar char="-"/>
            </a:pPr>
            <a:r>
              <a:rPr lang="en-US" baseline="0" dirty="0"/>
              <a:t>build confidence</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58</a:t>
            </a:fld>
            <a:endParaRPr lang="en-US"/>
          </a:p>
        </p:txBody>
      </p:sp>
    </p:spTree>
    <p:extLst>
      <p:ext uri="{BB962C8B-B14F-4D97-AF65-F5344CB8AC3E}">
        <p14:creationId xmlns:p14="http://schemas.microsoft.com/office/powerpoint/2010/main" val="12583385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very contentious and outrageous idea</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59</a:t>
            </a:fld>
            <a:endParaRPr lang="en-US"/>
          </a:p>
        </p:txBody>
      </p:sp>
    </p:spTree>
    <p:extLst>
      <p:ext uri="{BB962C8B-B14F-4D97-AF65-F5344CB8AC3E}">
        <p14:creationId xmlns:p14="http://schemas.microsoft.com/office/powerpoint/2010/main" val="24231447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dialing it to the extreme</a:t>
            </a:r>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60</a:t>
            </a:fld>
            <a:endParaRPr lang="en-US"/>
          </a:p>
        </p:txBody>
      </p:sp>
    </p:spTree>
    <p:extLst>
      <p:ext uri="{BB962C8B-B14F-4D97-AF65-F5344CB8AC3E}">
        <p14:creationId xmlns:p14="http://schemas.microsoft.com/office/powerpoint/2010/main" val="29242160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why should they not</a:t>
            </a:r>
          </a:p>
          <a:p>
            <a:pPr marL="171450" indent="-171450">
              <a:buFontTx/>
              <a:buChar char="-"/>
            </a:pPr>
            <a:r>
              <a:rPr lang="en-US" dirty="0"/>
              <a:t>personality conflicts</a:t>
            </a:r>
          </a:p>
          <a:p>
            <a:pPr marL="171450" indent="-171450">
              <a:buFontTx/>
              <a:buChar char="-"/>
            </a:pPr>
            <a:r>
              <a:rPr lang="en-US" dirty="0"/>
              <a:t>ergonomics</a:t>
            </a:r>
          </a:p>
          <a:p>
            <a:pPr marL="171450" indent="-171450">
              <a:buFontTx/>
              <a:buChar char="-"/>
            </a:pPr>
            <a:r>
              <a:rPr lang="en-US" dirty="0"/>
              <a:t>blind leading the blind</a:t>
            </a:r>
          </a:p>
          <a:p>
            <a:endParaRPr lang="en-US" dirty="0"/>
          </a:p>
          <a:p>
            <a:r>
              <a:rPr lang="en-US" dirty="0"/>
              <a:t>improved</a:t>
            </a:r>
            <a:r>
              <a:rPr lang="en-US" baseline="0" dirty="0"/>
              <a:t> communication</a:t>
            </a:r>
          </a:p>
          <a:p>
            <a:r>
              <a:rPr lang="en-US" baseline="0" dirty="0"/>
              <a:t>focused, reinforcing minds</a:t>
            </a:r>
          </a:p>
          <a:p>
            <a:r>
              <a:rPr lang="en-US" baseline="0" dirty="0"/>
              <a:t>code inspection and peer review</a:t>
            </a:r>
          </a:p>
          <a:p>
            <a:r>
              <a:rPr lang="en-US" baseline="0" dirty="0"/>
              <a:t>shared code knowledge</a:t>
            </a:r>
          </a:p>
          <a:p>
            <a:r>
              <a:rPr lang="en-US" baseline="0" dirty="0"/>
              <a:t>improved morale</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62</a:t>
            </a:fld>
            <a:endParaRPr lang="en-US"/>
          </a:p>
        </p:txBody>
      </p:sp>
    </p:spTree>
    <p:extLst>
      <p:ext uri="{BB962C8B-B14F-4D97-AF65-F5344CB8AC3E}">
        <p14:creationId xmlns:p14="http://schemas.microsoft.com/office/powerpoint/2010/main" val="1691295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124F6B-A661-6749-BF30-0CEAC5B26642}" type="slidenum">
              <a:rPr lang="en-US"/>
              <a:pPr>
                <a:defRPr/>
              </a:pPr>
              <a:t>63</a:t>
            </a:fld>
            <a:endParaRPr lang="en-US"/>
          </a:p>
        </p:txBody>
      </p:sp>
      <p:sp>
        <p:nvSpPr>
          <p:cNvPr id="483330"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833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dirty="0">
                <a:cs typeface="+mn-cs"/>
              </a:rPr>
              <a:t>mentorship</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124F6B-A661-6749-BF30-0CEAC5B26642}" type="slidenum">
              <a:rPr lang="en-US"/>
              <a:pPr>
                <a:defRPr/>
              </a:pPr>
              <a:t>64</a:t>
            </a:fld>
            <a:endParaRPr lang="en-US"/>
          </a:p>
        </p:txBody>
      </p:sp>
      <p:sp>
        <p:nvSpPr>
          <p:cNvPr id="483330"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833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dirty="0">
                <a:cs typeface="+mn-cs"/>
              </a:rPr>
              <a:t>haunted houses are more scary when you’re alone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B8E3BB8-B77E-414E-B22F-AA44085CC967}" type="slidenum">
              <a:rPr lang="en-US"/>
              <a:pPr>
                <a:defRPr/>
              </a:pPr>
              <a:t>65</a:t>
            </a:fld>
            <a:endParaRPr lang="en-US"/>
          </a:p>
        </p:txBody>
      </p:sp>
      <p:sp>
        <p:nvSpPr>
          <p:cNvPr id="485378" name="Rectangle 2"/>
          <p:cNvSpPr>
            <a:spLocks noGrp="1" noRot="1" noChangeAspect="1" noChangeArrowheads="1"/>
          </p:cNvSpPr>
          <p:nvPr>
            <p:ph type="sldImg"/>
          </p:nvPr>
        </p:nvSpPr>
        <p:spPr>
          <a:xfrm>
            <a:off x="381000" y="685800"/>
            <a:ext cx="6096000" cy="3429000"/>
          </a:xfrm>
          <a:solidFill>
            <a:srgbClr val="FFFFFF"/>
          </a:solidFill>
          <a:ln/>
          <a:extLst>
            <a:ext uri="{FAA26D3D-D897-4be2-8F04-BA451C77F1D7}">
              <ma14:placeholderFlag xmlns="" xmlns:ma14="http://schemas.microsoft.com/office/mac/drawingml/2011/main" val="1"/>
            </a:ext>
          </a:extLst>
        </p:spPr>
      </p:sp>
      <p:sp>
        <p:nvSpPr>
          <p:cNvPr id="4853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dirty="0">
                <a:cs typeface="+mn-cs"/>
              </a:rPr>
              <a:t>rotating</a:t>
            </a:r>
            <a:r>
              <a:rPr lang="en-US" baseline="0" dirty="0">
                <a:cs typeface="+mn-cs"/>
              </a:rPr>
              <a:t> pairs</a:t>
            </a:r>
            <a:endParaRPr lang="en-US" dirty="0">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2F3C9C6-B73A-7440-9503-970942BD1FD9}" type="slidenum">
              <a:rPr lang="en-US" smtClean="0"/>
              <a:pPr>
                <a:defRPr/>
              </a:pPr>
              <a:t>70</a:t>
            </a:fld>
            <a:endParaRPr lang="en-US"/>
          </a:p>
        </p:txBody>
      </p:sp>
    </p:spTree>
    <p:extLst>
      <p:ext uri="{BB962C8B-B14F-4D97-AF65-F5344CB8AC3E}">
        <p14:creationId xmlns:p14="http://schemas.microsoft.com/office/powerpoint/2010/main" val="33616544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the planning meeting (Sprint Planning?) is to set the stage for work to be done. </a:t>
            </a:r>
          </a:p>
          <a:p>
            <a:r>
              <a:rPr lang="en-US" dirty="0"/>
              <a:t>-  Makes sure everyone understands the goal and how their work contributes to the goal</a:t>
            </a:r>
          </a:p>
          <a:p>
            <a:pPr marL="171450" indent="-171450">
              <a:buFontTx/>
              <a:buChar char="-"/>
            </a:pPr>
            <a:r>
              <a:rPr lang="en-US" dirty="0"/>
              <a:t>Planning helps create a rhythm to keep progress steady</a:t>
            </a:r>
          </a:p>
          <a:p>
            <a:pPr marL="171450" indent="-171450">
              <a:buFontTx/>
              <a:buChar char="-"/>
            </a:pPr>
            <a:r>
              <a:rPr lang="en-US" dirty="0"/>
              <a:t>Set the agenda and focus of each sprint</a:t>
            </a:r>
          </a:p>
          <a:p>
            <a:pPr marL="171450" indent="-171450">
              <a:buFontTx/>
              <a:buChar char="-"/>
            </a:pPr>
            <a:endParaRPr lang="en-US" dirty="0"/>
          </a:p>
          <a:p>
            <a:pPr marL="0" indent="0">
              <a:buFontTx/>
              <a:buNone/>
            </a:pPr>
            <a:r>
              <a:rPr lang="en-US" dirty="0"/>
              <a:t>Planning meetings make sure that the team knows what needs to be done, which helps increase focus and break down the complex work into smaller tasks</a:t>
            </a:r>
          </a:p>
          <a:p>
            <a:pPr marL="171450" indent="-171450">
              <a:buFontTx/>
              <a:buChar char="-"/>
            </a:pPr>
            <a:r>
              <a:rPr lang="en-US" dirty="0"/>
              <a:t>Helps to plan the deliverables for the next meeting </a:t>
            </a:r>
          </a:p>
          <a:p>
            <a:pPr marL="171450" indent="-171450">
              <a:buFontTx/>
              <a:buChar char="-"/>
            </a:pPr>
            <a:endParaRPr lang="en-US" dirty="0"/>
          </a:p>
          <a:p>
            <a:pPr marL="0" indent="0">
              <a:buFontTx/>
              <a:buNone/>
            </a:pPr>
            <a:r>
              <a:rPr lang="en-US" dirty="0"/>
              <a:t>Easy to get stuck on details of the plan</a:t>
            </a:r>
          </a:p>
          <a:p>
            <a:pPr marL="171450" indent="-171450">
              <a:buFontTx/>
              <a:buChar char="-"/>
            </a:pPr>
            <a:r>
              <a:rPr lang="en-US" dirty="0"/>
              <a:t>Focus on planning just enough that your team can deliver some output </a:t>
            </a:r>
          </a:p>
          <a:p>
            <a:pPr marL="171450" indent="-171450">
              <a:buFontTx/>
              <a:buChar char="-"/>
            </a:pPr>
            <a:r>
              <a:rPr lang="en-US" dirty="0"/>
              <a:t>Don’t get too specific</a:t>
            </a:r>
          </a:p>
          <a:p>
            <a:pPr marL="171450" indent="-171450">
              <a:buFontTx/>
              <a:buChar char="-"/>
            </a:pPr>
            <a:r>
              <a:rPr lang="en-US" dirty="0"/>
              <a:t>Allow for safeguards for self-organization</a:t>
            </a:r>
          </a:p>
        </p:txBody>
      </p:sp>
      <p:sp>
        <p:nvSpPr>
          <p:cNvPr id="4" name="Slide Number Placeholder 3"/>
          <p:cNvSpPr>
            <a:spLocks noGrp="1"/>
          </p:cNvSpPr>
          <p:nvPr>
            <p:ph type="sldNum" sz="quarter" idx="5"/>
          </p:nvPr>
        </p:nvSpPr>
        <p:spPr/>
        <p:txBody>
          <a:bodyPr/>
          <a:lstStyle/>
          <a:p>
            <a:pPr>
              <a:defRPr/>
            </a:pPr>
            <a:fld id="{02F3C9C6-B73A-7440-9503-970942BD1FD9}" type="slidenum">
              <a:rPr lang="en-US" smtClean="0"/>
              <a:pPr>
                <a:defRPr/>
              </a:pPr>
              <a:t>71</a:t>
            </a:fld>
            <a:endParaRPr lang="en-US"/>
          </a:p>
        </p:txBody>
      </p:sp>
    </p:spTree>
    <p:extLst>
      <p:ext uri="{BB962C8B-B14F-4D97-AF65-F5344CB8AC3E}">
        <p14:creationId xmlns:p14="http://schemas.microsoft.com/office/powerpoint/2010/main" val="1139176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322B-3CC6-9C66-DF51-43B26A9168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EC610B3-FC85-0C50-4C86-4D3DF8CC2B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7BF89B5-6F1C-20EA-B30F-E0F5C70A56C5}"/>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33A63EAF-B026-277C-22AE-4798010E242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40C1F28-F7CB-ED62-C5A9-BA98266017BF}"/>
              </a:ext>
            </a:extLst>
          </p:cNvPr>
          <p:cNvSpPr>
            <a:spLocks noGrp="1"/>
          </p:cNvSpPr>
          <p:nvPr>
            <p:ph type="sldNum" sz="quarter" idx="12"/>
          </p:nvPr>
        </p:nvSpPr>
        <p:spPr/>
        <p:txBody>
          <a:bodyPr/>
          <a:lstStyle/>
          <a:p>
            <a:pPr>
              <a:defRPr/>
            </a:pPr>
            <a:fld id="{D4F1381E-24E2-2E48-A324-46075ED45E48}" type="slidenum">
              <a:rPr lang="en-US" smtClean="0"/>
              <a:pPr>
                <a:defRPr/>
              </a:pPr>
              <a:t>‹#›</a:t>
            </a:fld>
            <a:endParaRPr lang="en-US"/>
          </a:p>
        </p:txBody>
      </p:sp>
    </p:spTree>
    <p:extLst>
      <p:ext uri="{BB962C8B-B14F-4D97-AF65-F5344CB8AC3E}">
        <p14:creationId xmlns:p14="http://schemas.microsoft.com/office/powerpoint/2010/main" val="251505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5D306-26EB-FF6F-B46A-11A15143D039}"/>
              </a:ext>
            </a:extLst>
          </p:cNvPr>
          <p:cNvSpPr>
            <a:spLocks noGrp="1"/>
          </p:cNvSpPr>
          <p:nvPr>
            <p:ph type="title"/>
          </p:nvPr>
        </p:nvSpPr>
        <p:spPr/>
        <p:txBody>
          <a:bodyPr/>
          <a:lstStyle>
            <a:lvl1pPr>
              <a:defRPr>
                <a:solidFill>
                  <a:schemeClr val="tx1"/>
                </a:solidFill>
              </a:defRPr>
            </a:lvl1p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99F40F3F-7703-99CE-8F49-50C42F55E37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3755A486-CA74-4734-EADD-9719061ABAD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21D603E-A79B-4381-C06C-60CA36C2014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151FBDF-EE4E-190B-505C-0F7D7700C26A}"/>
              </a:ext>
            </a:extLst>
          </p:cNvPr>
          <p:cNvSpPr>
            <a:spLocks noGrp="1"/>
          </p:cNvSpPr>
          <p:nvPr>
            <p:ph type="sldNum" sz="quarter" idx="12"/>
          </p:nvPr>
        </p:nvSpPr>
        <p:spPr/>
        <p:txBody>
          <a:bodyPr/>
          <a:lstStyle/>
          <a:p>
            <a:pPr>
              <a:defRPr/>
            </a:pPr>
            <a:fld id="{919D8D21-FB71-5C4A-B7A1-9C348DF30C80}" type="slidenum">
              <a:rPr lang="en-US" smtClean="0"/>
              <a:pPr>
                <a:defRPr/>
              </a:pPr>
              <a:t>‹#›</a:t>
            </a:fld>
            <a:endParaRPr lang="en-US"/>
          </a:p>
        </p:txBody>
      </p:sp>
    </p:spTree>
    <p:extLst>
      <p:ext uri="{BB962C8B-B14F-4D97-AF65-F5344CB8AC3E}">
        <p14:creationId xmlns:p14="http://schemas.microsoft.com/office/powerpoint/2010/main" val="3730840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BDEDF-9ACD-1771-074E-8933781451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2A91650-B858-8E42-D487-2C69A01547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4D6652-7D9B-6945-349D-03234AA0764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38DF24D9-6835-D3D9-A5C5-52595F73568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E86EBA8-4A9D-C412-AA96-CFF26D4040EF}"/>
              </a:ext>
            </a:extLst>
          </p:cNvPr>
          <p:cNvSpPr>
            <a:spLocks noGrp="1"/>
          </p:cNvSpPr>
          <p:nvPr>
            <p:ph type="sldNum" sz="quarter" idx="12"/>
          </p:nvPr>
        </p:nvSpPr>
        <p:spPr/>
        <p:txBody>
          <a:bodyPr/>
          <a:lstStyle/>
          <a:p>
            <a:pPr>
              <a:defRPr/>
            </a:pPr>
            <a:fld id="{703CFF19-5A96-5640-AC08-892D1C270A16}" type="slidenum">
              <a:rPr lang="en-US" smtClean="0"/>
              <a:pPr>
                <a:defRPr/>
              </a:pPr>
              <a:t>‹#›</a:t>
            </a:fld>
            <a:endParaRPr lang="en-US"/>
          </a:p>
        </p:txBody>
      </p:sp>
    </p:spTree>
    <p:extLst>
      <p:ext uri="{BB962C8B-B14F-4D97-AF65-F5344CB8AC3E}">
        <p14:creationId xmlns:p14="http://schemas.microsoft.com/office/powerpoint/2010/main" val="389757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3A11-8E75-06C7-CDC7-563AAE10D13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47F3994-1AFE-F5CC-96AA-A6F70E35E5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4B6CC76-8FD5-DAC4-6A8F-05B4750143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1BBAFAF-284A-7F3E-46FD-9C134220436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24908581-A85B-D0B7-384B-C440AAC6800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97ECC03-3C1C-996E-D7B7-8C667DC60E94}"/>
              </a:ext>
            </a:extLst>
          </p:cNvPr>
          <p:cNvSpPr>
            <a:spLocks noGrp="1"/>
          </p:cNvSpPr>
          <p:nvPr>
            <p:ph type="sldNum" sz="quarter" idx="12"/>
          </p:nvPr>
        </p:nvSpPr>
        <p:spPr/>
        <p:txBody>
          <a:bodyPr/>
          <a:lstStyle/>
          <a:p>
            <a:pPr>
              <a:defRPr/>
            </a:pPr>
            <a:fld id="{805BEA22-6A83-9E4F-A42E-52090053D998}" type="slidenum">
              <a:rPr lang="en-US" smtClean="0"/>
              <a:pPr>
                <a:defRPr/>
              </a:pPr>
              <a:t>‹#›</a:t>
            </a:fld>
            <a:endParaRPr lang="en-US"/>
          </a:p>
        </p:txBody>
      </p:sp>
    </p:spTree>
    <p:extLst>
      <p:ext uri="{BB962C8B-B14F-4D97-AF65-F5344CB8AC3E}">
        <p14:creationId xmlns:p14="http://schemas.microsoft.com/office/powerpoint/2010/main" val="2376324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58E0-4F85-8C24-5F1B-F8317E6975A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AFDB70C-55F1-787E-2D24-25D5183029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30F4BB-96B9-9873-F708-310179B94C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CE85611-03DE-FFDD-80A2-781B3685B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62E9F9-9BB8-6B44-2690-0C5854ED76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A965739-795F-693F-BFC0-EDB7A38AE223}"/>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E90BC50B-7DC1-CCBE-17AD-BC21BFE9D4FC}"/>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6A396B54-2313-FC5E-BF24-7CDADDA8704D}"/>
              </a:ext>
            </a:extLst>
          </p:cNvPr>
          <p:cNvSpPr>
            <a:spLocks noGrp="1"/>
          </p:cNvSpPr>
          <p:nvPr>
            <p:ph type="sldNum" sz="quarter" idx="12"/>
          </p:nvPr>
        </p:nvSpPr>
        <p:spPr/>
        <p:txBody>
          <a:bodyPr/>
          <a:lstStyle/>
          <a:p>
            <a:pPr>
              <a:defRPr/>
            </a:pPr>
            <a:fld id="{6AD02D4E-DA09-1948-A551-580DB1CE5211}" type="slidenum">
              <a:rPr lang="en-US" smtClean="0"/>
              <a:pPr>
                <a:defRPr/>
              </a:pPr>
              <a:t>‹#›</a:t>
            </a:fld>
            <a:endParaRPr lang="en-US"/>
          </a:p>
        </p:txBody>
      </p:sp>
    </p:spTree>
    <p:extLst>
      <p:ext uri="{BB962C8B-B14F-4D97-AF65-F5344CB8AC3E}">
        <p14:creationId xmlns:p14="http://schemas.microsoft.com/office/powerpoint/2010/main" val="2096431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69AC-EC4D-6A22-20F6-E61BD577890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6DCA008-C23B-4A64-D3C0-09526F4B1E69}"/>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1F4CE633-6EDA-7676-29EC-A19F67E9F59B}"/>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C4B9C71A-D814-C4FB-67A1-80776E7307BF}"/>
              </a:ext>
            </a:extLst>
          </p:cNvPr>
          <p:cNvSpPr>
            <a:spLocks noGrp="1"/>
          </p:cNvSpPr>
          <p:nvPr>
            <p:ph type="sldNum" sz="quarter" idx="12"/>
          </p:nvPr>
        </p:nvSpPr>
        <p:spPr/>
        <p:txBody>
          <a:bodyPr/>
          <a:lstStyle/>
          <a:p>
            <a:pPr>
              <a:defRPr/>
            </a:pPr>
            <a:fld id="{03B69FDA-E394-3748-900C-7F5FF6FC80AD}" type="slidenum">
              <a:rPr lang="en-US" smtClean="0"/>
              <a:pPr>
                <a:defRPr/>
              </a:pPr>
              <a:t>‹#›</a:t>
            </a:fld>
            <a:endParaRPr lang="en-US"/>
          </a:p>
        </p:txBody>
      </p:sp>
    </p:spTree>
    <p:extLst>
      <p:ext uri="{BB962C8B-B14F-4D97-AF65-F5344CB8AC3E}">
        <p14:creationId xmlns:p14="http://schemas.microsoft.com/office/powerpoint/2010/main" val="1201347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7CACC-3FA9-0D83-F2DE-F66313FF1E35}"/>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C0E63CEF-D620-B235-B940-320746E28EAC}"/>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CB41D74E-0C5A-DFF8-E5A4-71F88B454E70}"/>
              </a:ext>
            </a:extLst>
          </p:cNvPr>
          <p:cNvSpPr>
            <a:spLocks noGrp="1"/>
          </p:cNvSpPr>
          <p:nvPr>
            <p:ph type="sldNum" sz="quarter" idx="12"/>
          </p:nvPr>
        </p:nvSpPr>
        <p:spPr/>
        <p:txBody>
          <a:bodyPr/>
          <a:lstStyle/>
          <a:p>
            <a:pPr>
              <a:defRPr/>
            </a:pPr>
            <a:fld id="{4A4C4060-F423-4140-B611-45C699500E42}" type="slidenum">
              <a:rPr lang="en-US" smtClean="0"/>
              <a:pPr>
                <a:defRPr/>
              </a:pPr>
              <a:t>‹#›</a:t>
            </a:fld>
            <a:endParaRPr lang="en-US"/>
          </a:p>
        </p:txBody>
      </p:sp>
    </p:spTree>
    <p:extLst>
      <p:ext uri="{BB962C8B-B14F-4D97-AF65-F5344CB8AC3E}">
        <p14:creationId xmlns:p14="http://schemas.microsoft.com/office/powerpoint/2010/main" val="2946637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1DD1B-0859-E1B5-A5D5-298DD8E60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6104590-1A54-D335-CFC9-DBC9C2E567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097F364-16CB-81E8-153E-E3D647D4D0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690D38-D596-3B59-3249-2D90D6573958}"/>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7AAF54F-0F9E-DF25-9E5B-AEA5728BA38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F602A75-F3CD-B7A9-EE63-EB5E5AE90A0C}"/>
              </a:ext>
            </a:extLst>
          </p:cNvPr>
          <p:cNvSpPr>
            <a:spLocks noGrp="1"/>
          </p:cNvSpPr>
          <p:nvPr>
            <p:ph type="sldNum" sz="quarter" idx="12"/>
          </p:nvPr>
        </p:nvSpPr>
        <p:spPr/>
        <p:txBody>
          <a:bodyPr/>
          <a:lstStyle/>
          <a:p>
            <a:pPr>
              <a:defRPr/>
            </a:pPr>
            <a:fld id="{E31ACE41-9CC5-3741-9229-B8FEB909DE1F}" type="slidenum">
              <a:rPr lang="en-US" smtClean="0"/>
              <a:pPr>
                <a:defRPr/>
              </a:pPr>
              <a:t>‹#›</a:t>
            </a:fld>
            <a:endParaRPr lang="en-US"/>
          </a:p>
        </p:txBody>
      </p:sp>
    </p:spTree>
    <p:extLst>
      <p:ext uri="{BB962C8B-B14F-4D97-AF65-F5344CB8AC3E}">
        <p14:creationId xmlns:p14="http://schemas.microsoft.com/office/powerpoint/2010/main" val="3427899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A221D-3E89-D841-D2E0-96A9B0D06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071A3DF-9B51-27AE-E7C5-75FE6A1FA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E805E74-1A47-3A59-15EC-D14694989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77BC38-C84F-08C7-4F71-95CBEC043CC7}"/>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8EF966CD-778E-A1D4-3EA9-F2149CF414A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0CE7C489-992F-95E0-8BB7-2D3913C31B67}"/>
              </a:ext>
            </a:extLst>
          </p:cNvPr>
          <p:cNvSpPr>
            <a:spLocks noGrp="1"/>
          </p:cNvSpPr>
          <p:nvPr>
            <p:ph type="sldNum" sz="quarter" idx="12"/>
          </p:nvPr>
        </p:nvSpPr>
        <p:spPr/>
        <p:txBody>
          <a:bodyPr/>
          <a:lstStyle/>
          <a:p>
            <a:pPr>
              <a:defRPr/>
            </a:pPr>
            <a:fld id="{5D22DA6A-43E7-1B4E-AD96-C5F773153C2D}" type="slidenum">
              <a:rPr lang="en-US" smtClean="0"/>
              <a:pPr>
                <a:defRPr/>
              </a:pPr>
              <a:t>‹#›</a:t>
            </a:fld>
            <a:endParaRPr lang="en-US"/>
          </a:p>
        </p:txBody>
      </p:sp>
    </p:spTree>
    <p:extLst>
      <p:ext uri="{BB962C8B-B14F-4D97-AF65-F5344CB8AC3E}">
        <p14:creationId xmlns:p14="http://schemas.microsoft.com/office/powerpoint/2010/main" val="3314212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A172F-A98E-CF8D-9FCE-04D8F8F30DD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D8947B1-FBC3-C2DE-C530-CC7DF61348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892E238-8BF6-0E57-28B8-DF81A11C4F5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6FF4EF5E-B7E0-658B-08DC-A4D2261341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8F2F132-C729-D334-1784-E9ACE1F6FA0B}"/>
              </a:ext>
            </a:extLst>
          </p:cNvPr>
          <p:cNvSpPr>
            <a:spLocks noGrp="1"/>
          </p:cNvSpPr>
          <p:nvPr>
            <p:ph type="sldNum" sz="quarter" idx="12"/>
          </p:nvPr>
        </p:nvSpPr>
        <p:spPr/>
        <p:txBody>
          <a:bodyPr/>
          <a:lstStyle/>
          <a:p>
            <a:pPr>
              <a:defRPr/>
            </a:pPr>
            <a:fld id="{073754D4-B05D-7048-9C45-57EAFD29E019}" type="slidenum">
              <a:rPr lang="en-US" smtClean="0"/>
              <a:pPr>
                <a:defRPr/>
              </a:pPr>
              <a:t>‹#›</a:t>
            </a:fld>
            <a:endParaRPr lang="en-US"/>
          </a:p>
        </p:txBody>
      </p:sp>
    </p:spTree>
    <p:extLst>
      <p:ext uri="{BB962C8B-B14F-4D97-AF65-F5344CB8AC3E}">
        <p14:creationId xmlns:p14="http://schemas.microsoft.com/office/powerpoint/2010/main" val="1452003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50D59-89C4-AF33-EC7A-FEDE75F507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2A72A87-182E-17BC-5DE5-8D909080E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E9BA101-3E0F-F1EE-DFB7-2F828C659E8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F453DC5-1EF5-B32C-E41E-D7ECE8589FA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AEA415C-4109-F6CE-4D31-F1236D3550CA}"/>
              </a:ext>
            </a:extLst>
          </p:cNvPr>
          <p:cNvSpPr>
            <a:spLocks noGrp="1"/>
          </p:cNvSpPr>
          <p:nvPr>
            <p:ph type="sldNum" sz="quarter" idx="12"/>
          </p:nvPr>
        </p:nvSpPr>
        <p:spPr/>
        <p:txBody>
          <a:bodyPr/>
          <a:lstStyle/>
          <a:p>
            <a:pPr>
              <a:defRPr/>
            </a:pPr>
            <a:fld id="{A6181B21-F175-564B-87E2-34A00E63C01B}" type="slidenum">
              <a:rPr lang="en-US" smtClean="0"/>
              <a:pPr>
                <a:defRPr/>
              </a:pPr>
              <a:t>‹#›</a:t>
            </a:fld>
            <a:endParaRPr lang="en-US"/>
          </a:p>
        </p:txBody>
      </p:sp>
    </p:spTree>
    <p:extLst>
      <p:ext uri="{BB962C8B-B14F-4D97-AF65-F5344CB8AC3E}">
        <p14:creationId xmlns:p14="http://schemas.microsoft.com/office/powerpoint/2010/main" val="1883475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5F7B5D-9D0B-299E-C549-252DFC4AC8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546C91F-2711-B9D9-9310-BE88D24B4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132ABA-CC4F-A6F3-1003-5E9B1CFEDC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endParaRPr lang="en-US"/>
          </a:p>
        </p:txBody>
      </p:sp>
      <p:sp>
        <p:nvSpPr>
          <p:cNvPr id="5" name="Footer Placeholder 4">
            <a:extLst>
              <a:ext uri="{FF2B5EF4-FFF2-40B4-BE49-F238E27FC236}">
                <a16:creationId xmlns:a16="http://schemas.microsoft.com/office/drawing/2014/main" id="{DFC5DCDB-26A8-24ED-9AE7-4DFC2B8CE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E70C7A2E-9D02-8B69-EC20-C2B41FF638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7D6E9A4E-D2EA-CC40-9B2A-BCD7D73CED45}" type="slidenum">
              <a:rPr lang="en-US" smtClean="0"/>
              <a:pPr>
                <a:defRPr/>
              </a:pPr>
              <a:t>‹#›</a:t>
            </a:fld>
            <a:endParaRPr lang="en-US"/>
          </a:p>
        </p:txBody>
      </p:sp>
    </p:spTree>
    <p:extLst>
      <p:ext uri="{BB962C8B-B14F-4D97-AF65-F5344CB8AC3E}">
        <p14:creationId xmlns:p14="http://schemas.microsoft.com/office/powerpoint/2010/main" val="134651919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agilemanifesto.org/"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extremeprogramming.org/"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E5A1-D681-F83A-1E09-3A34736D0D92}"/>
              </a:ext>
            </a:extLst>
          </p:cNvPr>
          <p:cNvSpPr>
            <a:spLocks noGrp="1"/>
          </p:cNvSpPr>
          <p:nvPr>
            <p:ph type="ctrTitle"/>
          </p:nvPr>
        </p:nvSpPr>
        <p:spPr>
          <a:xfrm>
            <a:off x="-1" y="939892"/>
            <a:ext cx="12192000" cy="2387600"/>
          </a:xfrm>
        </p:spPr>
        <p:txBody>
          <a:bodyPr>
            <a:normAutofit/>
          </a:bodyPr>
          <a:lstStyle/>
          <a:p>
            <a:r>
              <a:rPr lang="en-US" sz="6000" dirty="0"/>
              <a:t>Software Process</a:t>
            </a:r>
            <a:endParaRPr lang="en-CA" dirty="0"/>
          </a:p>
        </p:txBody>
      </p:sp>
      <p:sp>
        <p:nvSpPr>
          <p:cNvPr id="3" name="Subtitle 2">
            <a:extLst>
              <a:ext uri="{FF2B5EF4-FFF2-40B4-BE49-F238E27FC236}">
                <a16:creationId xmlns:a16="http://schemas.microsoft.com/office/drawing/2014/main" id="{E36CDD20-8240-91D2-CA62-7FAF83ECCDCA}"/>
              </a:ext>
            </a:extLst>
          </p:cNvPr>
          <p:cNvSpPr>
            <a:spLocks noGrp="1"/>
          </p:cNvSpPr>
          <p:nvPr>
            <p:ph type="subTitle" idx="1"/>
          </p:nvPr>
        </p:nvSpPr>
        <p:spPr>
          <a:xfrm>
            <a:off x="1524000" y="3602038"/>
            <a:ext cx="9144000" cy="1866074"/>
          </a:xfrm>
        </p:spPr>
        <p:txBody>
          <a:bodyPr>
            <a:noAutofit/>
          </a:bodyPr>
          <a:lstStyle/>
          <a:p>
            <a:pPr>
              <a:lnSpc>
                <a:spcPct val="50000"/>
              </a:lnSpc>
            </a:pPr>
            <a:r>
              <a:rPr lang="en-US" sz="1800" dirty="0"/>
              <a:t>Abram Hindle				Henry Tang</a:t>
            </a:r>
          </a:p>
          <a:p>
            <a:pPr>
              <a:lnSpc>
                <a:spcPct val="50000"/>
              </a:lnSpc>
            </a:pPr>
            <a:r>
              <a:rPr lang="en-US" sz="1800" dirty="0"/>
              <a:t>hindle1 @</a:t>
            </a:r>
            <a:r>
              <a:rPr lang="en-US" sz="1800" dirty="0" err="1"/>
              <a:t>ualberta.ca</a:t>
            </a:r>
            <a:r>
              <a:rPr lang="en-US" sz="1800" dirty="0"/>
              <a:t> 			hktang@ualberta.ca</a:t>
            </a:r>
          </a:p>
          <a:p>
            <a:pPr>
              <a:lnSpc>
                <a:spcPct val="50000"/>
              </a:lnSpc>
            </a:pPr>
            <a:r>
              <a:rPr lang="en-US" sz="1800" dirty="0"/>
              <a:t>Department of Computing Science</a:t>
            </a:r>
          </a:p>
          <a:p>
            <a:pPr>
              <a:lnSpc>
                <a:spcPct val="50000"/>
              </a:lnSpc>
            </a:pPr>
            <a:r>
              <a:rPr lang="en-US" sz="1800" dirty="0"/>
              <a:t>University of Alberta</a:t>
            </a:r>
          </a:p>
          <a:p>
            <a:pPr>
              <a:lnSpc>
                <a:spcPct val="50000"/>
              </a:lnSpc>
            </a:pPr>
            <a:endParaRPr lang="en-US" sz="1800" dirty="0"/>
          </a:p>
          <a:p>
            <a:pPr>
              <a:lnSpc>
                <a:spcPct val="50000"/>
              </a:lnSpc>
            </a:pPr>
            <a:r>
              <a:rPr lang="en-US" sz="1800" dirty="0"/>
              <a:t>CMPUT  301 – Introduction to Software Engineering</a:t>
            </a:r>
          </a:p>
          <a:p>
            <a:pPr>
              <a:lnSpc>
                <a:spcPct val="50000"/>
              </a:lnSpc>
            </a:pPr>
            <a:r>
              <a:rPr lang="en-CA" sz="1800" dirty="0"/>
              <a:t>Slides adapted from Dr. Hazel Campbell, Dr. Ken Wong, and Dr. Abram Hindle</a:t>
            </a:r>
            <a:endParaRPr lang="en-US" sz="1800" dirty="0"/>
          </a:p>
        </p:txBody>
      </p:sp>
      <p:pic>
        <p:nvPicPr>
          <p:cNvPr id="6" name="UA-COLOUR.png" descr="UA-COLOUR.png">
            <a:extLst>
              <a:ext uri="{FF2B5EF4-FFF2-40B4-BE49-F238E27FC236}">
                <a16:creationId xmlns:a16="http://schemas.microsoft.com/office/drawing/2014/main" id="{685CE709-56F6-C1CA-7176-E9AE3428D1CA}"/>
              </a:ext>
            </a:extLst>
          </p:cNvPr>
          <p:cNvPicPr>
            <a:picLocks noChangeAspect="1"/>
          </p:cNvPicPr>
          <p:nvPr/>
        </p:nvPicPr>
        <p:blipFill>
          <a:blip r:embed="rId2"/>
          <a:stretch>
            <a:fillRect/>
          </a:stretch>
        </p:blipFill>
        <p:spPr>
          <a:xfrm>
            <a:off x="4175831" y="5532346"/>
            <a:ext cx="3840339" cy="900357"/>
          </a:xfrm>
          <a:prstGeom prst="rect">
            <a:avLst/>
          </a:prstGeom>
          <a:ln w="12700">
            <a:miter lim="400000"/>
          </a:ln>
        </p:spPr>
      </p:pic>
      <p:sp>
        <p:nvSpPr>
          <p:cNvPr id="5" name="TextBox 4">
            <a:extLst>
              <a:ext uri="{FF2B5EF4-FFF2-40B4-BE49-F238E27FC236}">
                <a16:creationId xmlns:a16="http://schemas.microsoft.com/office/drawing/2014/main" id="{90A96C20-FFFD-6997-461D-735F88863728}"/>
              </a:ext>
            </a:extLst>
          </p:cNvPr>
          <p:cNvSpPr txBox="1"/>
          <p:nvPr/>
        </p:nvSpPr>
        <p:spPr>
          <a:xfrm>
            <a:off x="-777" y="6596390"/>
            <a:ext cx="12190477" cy="261610"/>
          </a:xfrm>
          <a:prstGeom prst="rect">
            <a:avLst/>
          </a:prstGeom>
          <a:noFill/>
        </p:spPr>
        <p:txBody>
          <a:bodyPr wrap="square">
            <a:spAutoFit/>
          </a:bodyPr>
          <a:lstStyle/>
          <a:p>
            <a:r>
              <a:rPr lang="en-US" sz="1100" dirty="0">
                <a:solidFill>
                  <a:schemeClr val="bg1">
                    <a:lumMod val="50000"/>
                  </a:schemeClr>
                </a:solidFill>
                <a:latin typeface="Gill Sans MT" charset="0"/>
              </a:rPr>
              <a:t>Images reproduced in these slides have been included under section 29 of the Copyright Act, as fair dealing for research, private study, criticism, or review. Further distribution or uses may infringe copyright.</a:t>
            </a:r>
          </a:p>
        </p:txBody>
      </p:sp>
    </p:spTree>
    <p:extLst>
      <p:ext uri="{BB962C8B-B14F-4D97-AF65-F5344CB8AC3E}">
        <p14:creationId xmlns:p14="http://schemas.microsoft.com/office/powerpoint/2010/main" val="399105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208F5-8B1A-296E-A6A2-258DE430F47F}"/>
              </a:ext>
            </a:extLst>
          </p:cNvPr>
          <p:cNvSpPr>
            <a:spLocks noGrp="1"/>
          </p:cNvSpPr>
          <p:nvPr>
            <p:ph type="title"/>
          </p:nvPr>
        </p:nvSpPr>
        <p:spPr/>
        <p:txBody>
          <a:bodyPr/>
          <a:lstStyle/>
          <a:p>
            <a:r>
              <a:rPr lang="en-CA" dirty="0"/>
              <a:t>What Makes a Process?</a:t>
            </a:r>
          </a:p>
        </p:txBody>
      </p:sp>
      <p:sp>
        <p:nvSpPr>
          <p:cNvPr id="4" name="Slide Number Placeholder 3">
            <a:extLst>
              <a:ext uri="{FF2B5EF4-FFF2-40B4-BE49-F238E27FC236}">
                <a16:creationId xmlns:a16="http://schemas.microsoft.com/office/drawing/2014/main" id="{1D55D3B7-F8A2-3EA9-9A68-DF1404D897A1}"/>
              </a:ext>
            </a:extLst>
          </p:cNvPr>
          <p:cNvSpPr>
            <a:spLocks noGrp="1"/>
          </p:cNvSpPr>
          <p:nvPr>
            <p:ph type="sldNum" sz="quarter" idx="12"/>
          </p:nvPr>
        </p:nvSpPr>
        <p:spPr/>
        <p:txBody>
          <a:bodyPr/>
          <a:lstStyle/>
          <a:p>
            <a:pPr>
              <a:defRPr/>
            </a:pPr>
            <a:fld id="{919D8D21-FB71-5C4A-B7A1-9C348DF30C80}" type="slidenum">
              <a:rPr lang="en-US" smtClean="0"/>
              <a:pPr>
                <a:defRPr/>
              </a:pPr>
              <a:t>2</a:t>
            </a:fld>
            <a:endParaRPr lang="en-US"/>
          </a:p>
        </p:txBody>
      </p:sp>
      <p:pic>
        <p:nvPicPr>
          <p:cNvPr id="6" name="Picture 5">
            <a:extLst>
              <a:ext uri="{FF2B5EF4-FFF2-40B4-BE49-F238E27FC236}">
                <a16:creationId xmlns:a16="http://schemas.microsoft.com/office/drawing/2014/main" id="{AE291982-B55D-FB36-49D1-090402E16A86}"/>
              </a:ext>
            </a:extLst>
          </p:cNvPr>
          <p:cNvPicPr>
            <a:picLocks noChangeAspect="1"/>
          </p:cNvPicPr>
          <p:nvPr/>
        </p:nvPicPr>
        <p:blipFill>
          <a:blip r:embed="rId2"/>
          <a:stretch>
            <a:fillRect/>
          </a:stretch>
        </p:blipFill>
        <p:spPr>
          <a:xfrm>
            <a:off x="4223792" y="1563822"/>
            <a:ext cx="3365321" cy="4961522"/>
          </a:xfrm>
          <a:prstGeom prst="rect">
            <a:avLst/>
          </a:prstGeom>
        </p:spPr>
      </p:pic>
    </p:spTree>
    <p:extLst>
      <p:ext uri="{BB962C8B-B14F-4D97-AF65-F5344CB8AC3E}">
        <p14:creationId xmlns:p14="http://schemas.microsoft.com/office/powerpoint/2010/main" val="63800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31A6-6696-2FC3-0EBB-B2CD270D1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DC00C-0C36-6A09-B1D6-77F8EE5178F7}"/>
              </a:ext>
            </a:extLst>
          </p:cNvPr>
          <p:cNvSpPr>
            <a:spLocks noGrp="1"/>
          </p:cNvSpPr>
          <p:nvPr>
            <p:ph type="title"/>
          </p:nvPr>
        </p:nvSpPr>
        <p:spPr/>
        <p:txBody>
          <a:bodyPr/>
          <a:lstStyle/>
          <a:p>
            <a:r>
              <a:rPr lang="en-CA" dirty="0"/>
              <a:t>Software Development Processes</a:t>
            </a:r>
          </a:p>
        </p:txBody>
      </p:sp>
      <p:sp>
        <p:nvSpPr>
          <p:cNvPr id="4" name="Slide Number Placeholder 3">
            <a:extLst>
              <a:ext uri="{FF2B5EF4-FFF2-40B4-BE49-F238E27FC236}">
                <a16:creationId xmlns:a16="http://schemas.microsoft.com/office/drawing/2014/main" id="{3FD58E48-F5A7-42F6-3EBA-5EB78E9AD55B}"/>
              </a:ext>
            </a:extLst>
          </p:cNvPr>
          <p:cNvSpPr>
            <a:spLocks noGrp="1"/>
          </p:cNvSpPr>
          <p:nvPr>
            <p:ph type="sldNum" sz="quarter" idx="12"/>
          </p:nvPr>
        </p:nvSpPr>
        <p:spPr/>
        <p:txBody>
          <a:bodyPr/>
          <a:lstStyle/>
          <a:p>
            <a:pPr>
              <a:defRPr/>
            </a:pPr>
            <a:fld id="{919D8D21-FB71-5C4A-B7A1-9C348DF30C80}" type="slidenum">
              <a:rPr lang="en-US" smtClean="0"/>
              <a:pPr>
                <a:defRPr/>
              </a:pPr>
              <a:t>3</a:t>
            </a:fld>
            <a:endParaRPr lang="en-US"/>
          </a:p>
        </p:txBody>
      </p:sp>
      <p:pic>
        <p:nvPicPr>
          <p:cNvPr id="5" name="Picture 4">
            <a:extLst>
              <a:ext uri="{FF2B5EF4-FFF2-40B4-BE49-F238E27FC236}">
                <a16:creationId xmlns:a16="http://schemas.microsoft.com/office/drawing/2014/main" id="{83B057DE-0F11-664C-E6A7-7F9AEF94FB1C}"/>
              </a:ext>
            </a:extLst>
          </p:cNvPr>
          <p:cNvPicPr>
            <a:picLocks noChangeAspect="1"/>
          </p:cNvPicPr>
          <p:nvPr/>
        </p:nvPicPr>
        <p:blipFill>
          <a:blip r:embed="rId2"/>
          <a:stretch>
            <a:fillRect/>
          </a:stretch>
        </p:blipFill>
        <p:spPr>
          <a:xfrm>
            <a:off x="2503494" y="1614356"/>
            <a:ext cx="7185011" cy="4818327"/>
          </a:xfrm>
          <a:prstGeom prst="rect">
            <a:avLst/>
          </a:prstGeom>
        </p:spPr>
      </p:pic>
    </p:spTree>
    <p:extLst>
      <p:ext uri="{BB962C8B-B14F-4D97-AF65-F5344CB8AC3E}">
        <p14:creationId xmlns:p14="http://schemas.microsoft.com/office/powerpoint/2010/main" val="39945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Developer Perspective</a:t>
            </a:r>
          </a:p>
        </p:txBody>
      </p:sp>
      <p:sp>
        <p:nvSpPr>
          <p:cNvPr id="19458" name="Rectangle 3"/>
          <p:cNvSpPr>
            <a:spLocks noGrp="1" noChangeArrowheads="1"/>
          </p:cNvSpPr>
          <p:nvPr>
            <p:ph idx="1"/>
          </p:nvPr>
        </p:nvSpPr>
        <p:spPr/>
        <p:txBody>
          <a:bodyPr/>
          <a:lstStyle/>
          <a:p>
            <a:pPr eaLnBrk="1" hangingPunct="1"/>
            <a:r>
              <a:rPr lang="en-US" dirty="0">
                <a:latin typeface="+mj-lt"/>
              </a:rPr>
              <a:t>Software engineering:</a:t>
            </a:r>
          </a:p>
          <a:p>
            <a:pPr lvl="1" eaLnBrk="1" hangingPunct="1"/>
            <a:r>
              <a:rPr lang="en-US" dirty="0">
                <a:latin typeface="+mj-lt"/>
              </a:rPr>
              <a:t>Manage complexity, scale, lifetime</a:t>
            </a:r>
          </a:p>
          <a:p>
            <a:pPr lvl="1" eaLnBrk="1" hangingPunct="1"/>
            <a:r>
              <a:rPr lang="en-US" dirty="0">
                <a:latin typeface="+mj-lt"/>
              </a:rPr>
              <a:t>Increase quality</a:t>
            </a:r>
          </a:p>
          <a:p>
            <a:pPr lvl="1" eaLnBrk="1" hangingPunct="1"/>
            <a:r>
              <a:rPr lang="en-US" dirty="0">
                <a:latin typeface="+mj-lt"/>
              </a:rPr>
              <a:t>Reduce defects</a:t>
            </a:r>
          </a:p>
          <a:p>
            <a:pPr lvl="1" eaLnBrk="1" hangingPunct="1"/>
            <a:r>
              <a:rPr lang="en-US" dirty="0">
                <a:latin typeface="+mj-lt"/>
              </a:rPr>
              <a:t>Reduce maintenance and support costs</a:t>
            </a:r>
          </a:p>
          <a:p>
            <a:pPr lvl="1" eaLnBrk="1" hangingPunct="1"/>
            <a:r>
              <a:rPr lang="en-US" dirty="0">
                <a:latin typeface="+mj-lt"/>
              </a:rPr>
              <a:t>Reduce time-to-market</a:t>
            </a:r>
          </a:p>
          <a:p>
            <a:pPr lvl="1" eaLnBrk="1" hangingPunct="1"/>
            <a:r>
              <a:rPr lang="en-US" dirty="0">
                <a:latin typeface="+mj-lt"/>
              </a:rPr>
              <a:t>Reuse successful solutions</a:t>
            </a:r>
          </a:p>
          <a:p>
            <a:pPr lvl="1" eaLnBrk="1" hangingPunct="1"/>
            <a:r>
              <a:rPr lang="en-US" dirty="0">
                <a:latin typeface="+mj-lt"/>
              </a:rPr>
              <a:t>Apply methods and tools</a:t>
            </a:r>
          </a:p>
          <a:p>
            <a:pPr lvl="1" eaLnBrk="1" hangingPunct="1"/>
            <a:r>
              <a:rPr lang="en-US" dirty="0">
                <a:latin typeface="+mj-lt"/>
              </a:rPr>
              <a:t>Iterate and optimize</a:t>
            </a:r>
          </a:p>
        </p:txBody>
      </p:sp>
      <p:sp>
        <p:nvSpPr>
          <p:cNvPr id="5" name="Slide Number Placeholder 5"/>
          <p:cNvSpPr>
            <a:spLocks noGrp="1"/>
          </p:cNvSpPr>
          <p:nvPr>
            <p:ph type="sldNum" sz="quarter" idx="12"/>
          </p:nvPr>
        </p:nvSpPr>
        <p:spPr/>
        <p:txBody>
          <a:bodyPr/>
          <a:lstStyle/>
          <a:p>
            <a:pPr>
              <a:defRPr/>
            </a:pPr>
            <a:fld id="{121957E6-C369-BE41-BD41-A0F6E8A0DCF2}" type="slidenum">
              <a:rPr lang="en-US"/>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User Perspective</a:t>
            </a:r>
          </a:p>
        </p:txBody>
      </p:sp>
      <p:sp>
        <p:nvSpPr>
          <p:cNvPr id="20482" name="Rectangle 3"/>
          <p:cNvSpPr>
            <a:spLocks noGrp="1" noChangeArrowheads="1"/>
          </p:cNvSpPr>
          <p:nvPr>
            <p:ph idx="1"/>
          </p:nvPr>
        </p:nvSpPr>
        <p:spPr/>
        <p:txBody>
          <a:bodyPr/>
          <a:lstStyle/>
          <a:p>
            <a:pPr eaLnBrk="1" hangingPunct="1"/>
            <a:r>
              <a:rPr lang="en-US" dirty="0">
                <a:latin typeface="+mj-lt"/>
              </a:rPr>
              <a:t>Software usability:</a:t>
            </a:r>
          </a:p>
          <a:p>
            <a:pPr lvl="1" eaLnBrk="1" hangingPunct="1"/>
            <a:r>
              <a:rPr lang="en-US" dirty="0">
                <a:latin typeface="+mj-lt"/>
              </a:rPr>
              <a:t>Meets needs</a:t>
            </a:r>
          </a:p>
          <a:p>
            <a:pPr lvl="1" eaLnBrk="1" hangingPunct="1"/>
            <a:r>
              <a:rPr lang="en-US" dirty="0">
                <a:latin typeface="+mj-lt"/>
              </a:rPr>
              <a:t>Increase productivity</a:t>
            </a:r>
          </a:p>
          <a:p>
            <a:pPr lvl="1" eaLnBrk="1" hangingPunct="1"/>
            <a:r>
              <a:rPr lang="en-US" dirty="0">
                <a:latin typeface="+mj-lt"/>
              </a:rPr>
              <a:t>Easy to learn</a:t>
            </a:r>
          </a:p>
          <a:p>
            <a:pPr lvl="1" eaLnBrk="1" hangingPunct="1"/>
            <a:r>
              <a:rPr lang="en-US" dirty="0">
                <a:latin typeface="+mj-lt"/>
              </a:rPr>
              <a:t>Effective to use</a:t>
            </a:r>
          </a:p>
          <a:p>
            <a:pPr lvl="1" eaLnBrk="1" hangingPunct="1"/>
            <a:r>
              <a:rPr lang="en-US" dirty="0">
                <a:latin typeface="+mj-lt"/>
              </a:rPr>
              <a:t>Reduce errors</a:t>
            </a:r>
          </a:p>
          <a:p>
            <a:pPr lvl="1" eaLnBrk="1" hangingPunct="1"/>
            <a:r>
              <a:rPr lang="en-US" dirty="0">
                <a:latin typeface="+mj-lt"/>
              </a:rPr>
              <a:t>Safe to use</a:t>
            </a:r>
          </a:p>
        </p:txBody>
      </p:sp>
      <p:sp>
        <p:nvSpPr>
          <p:cNvPr id="5" name="Slide Number Placeholder 6"/>
          <p:cNvSpPr>
            <a:spLocks noGrp="1"/>
          </p:cNvSpPr>
          <p:nvPr>
            <p:ph type="sldNum" sz="quarter" idx="12"/>
          </p:nvPr>
        </p:nvSpPr>
        <p:spPr/>
        <p:txBody>
          <a:bodyPr/>
          <a:lstStyle/>
          <a:p>
            <a:pPr>
              <a:defRPr/>
            </a:pPr>
            <a:fld id="{7E42A0AB-72D2-BF49-B1A9-ED042C3EE040}"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User Perspective</a:t>
            </a:r>
          </a:p>
        </p:txBody>
      </p:sp>
      <p:sp>
        <p:nvSpPr>
          <p:cNvPr id="21506" name="Rectangle 3"/>
          <p:cNvSpPr>
            <a:spLocks noGrp="1" noChangeArrowheads="1"/>
          </p:cNvSpPr>
          <p:nvPr>
            <p:ph idx="1"/>
          </p:nvPr>
        </p:nvSpPr>
        <p:spPr/>
        <p:txBody>
          <a:bodyPr/>
          <a:lstStyle/>
          <a:p>
            <a:pPr eaLnBrk="1" hangingPunct="1"/>
            <a:r>
              <a:rPr lang="en-US" dirty="0">
                <a:latin typeface="+mj-lt"/>
              </a:rPr>
              <a:t>Experience:</a:t>
            </a:r>
          </a:p>
          <a:p>
            <a:pPr lvl="1" eaLnBrk="1" hangingPunct="1"/>
            <a:r>
              <a:rPr lang="en-US" dirty="0">
                <a:latin typeface="+mj-lt"/>
              </a:rPr>
              <a:t>Satisfying</a:t>
            </a:r>
          </a:p>
          <a:p>
            <a:pPr lvl="1" eaLnBrk="1" hangingPunct="1"/>
            <a:r>
              <a:rPr lang="en-US" dirty="0">
                <a:latin typeface="+mj-lt"/>
              </a:rPr>
              <a:t>Motivating</a:t>
            </a:r>
          </a:p>
          <a:p>
            <a:pPr lvl="1" eaLnBrk="1" hangingPunct="1"/>
            <a:r>
              <a:rPr lang="en-US" dirty="0">
                <a:latin typeface="+mj-lt"/>
              </a:rPr>
              <a:t>Looks nice</a:t>
            </a:r>
          </a:p>
          <a:p>
            <a:pPr lvl="1" eaLnBrk="1" hangingPunct="1"/>
            <a:r>
              <a:rPr lang="en-US" dirty="0">
                <a:latin typeface="+mj-lt"/>
              </a:rPr>
              <a:t>Enjoyable</a:t>
            </a:r>
          </a:p>
          <a:p>
            <a:pPr lvl="1" eaLnBrk="1" hangingPunct="1"/>
            <a:r>
              <a:rPr lang="en-US" dirty="0">
                <a:latin typeface="+mj-lt"/>
              </a:rPr>
              <a:t>Fun</a:t>
            </a:r>
          </a:p>
        </p:txBody>
      </p:sp>
      <p:sp>
        <p:nvSpPr>
          <p:cNvPr id="5" name="Slide Number Placeholder 6"/>
          <p:cNvSpPr>
            <a:spLocks noGrp="1"/>
          </p:cNvSpPr>
          <p:nvPr>
            <p:ph type="sldNum" sz="quarter" idx="12"/>
          </p:nvPr>
        </p:nvSpPr>
        <p:spPr/>
        <p:txBody>
          <a:bodyPr/>
          <a:lstStyle/>
          <a:p>
            <a:pPr>
              <a:defRPr/>
            </a:pPr>
            <a:fld id="{0CDC9348-DC98-244F-AAE1-41C410AA6B70}"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6" name="Rectangle 4"/>
          <p:cNvSpPr>
            <a:spLocks noGrp="1" noChangeArrowheads="1"/>
          </p:cNvSpPr>
          <p:nvPr>
            <p:ph type="title"/>
          </p:nvPr>
        </p:nvSpPr>
        <p:spPr/>
        <p:txBody>
          <a:bodyPr/>
          <a:lstStyle/>
          <a:p>
            <a:pPr>
              <a:defRPr/>
            </a:pPr>
            <a:r>
              <a:rPr lang="en-US" dirty="0">
                <a:solidFill>
                  <a:schemeClr val="tx2">
                    <a:satMod val="130000"/>
                  </a:schemeClr>
                </a:solidFill>
                <a:ea typeface="+mj-ea"/>
                <a:cs typeface="+mj-cs"/>
              </a:rPr>
              <a:t>Meeting Needs</a:t>
            </a:r>
          </a:p>
        </p:txBody>
      </p:sp>
      <p:sp>
        <p:nvSpPr>
          <p:cNvPr id="207877" name="Rectangle 5"/>
          <p:cNvSpPr>
            <a:spLocks noGrp="1" noChangeArrowheads="1"/>
          </p:cNvSpPr>
          <p:nvPr>
            <p:ph idx="1"/>
          </p:nvPr>
        </p:nvSpPr>
        <p:spPr/>
        <p:txBody>
          <a:bodyPr/>
          <a:lstStyle/>
          <a:p>
            <a:pPr eaLnBrk="1" hangingPunct="1"/>
            <a:r>
              <a:rPr lang="en-US" dirty="0">
                <a:latin typeface="+mj-lt"/>
              </a:rPr>
              <a:t>Verification</a:t>
            </a:r>
          </a:p>
          <a:p>
            <a:pPr lvl="1" eaLnBrk="1" hangingPunct="1"/>
            <a:r>
              <a:rPr lang="en-US" dirty="0">
                <a:latin typeface="+mj-lt"/>
              </a:rPr>
              <a:t>Making sure you develop the </a:t>
            </a:r>
            <a:r>
              <a:rPr lang="en-US" i="1" dirty="0">
                <a:latin typeface="+mj-lt"/>
              </a:rPr>
              <a:t>system right </a:t>
            </a:r>
            <a:r>
              <a:rPr lang="en-US" dirty="0">
                <a:latin typeface="+mj-lt"/>
              </a:rPr>
              <a:t>(i.e., according to the requirements)</a:t>
            </a:r>
          </a:p>
        </p:txBody>
      </p:sp>
      <p:sp>
        <p:nvSpPr>
          <p:cNvPr id="4" name="Slide Number Placeholder 5"/>
          <p:cNvSpPr>
            <a:spLocks noGrp="1"/>
          </p:cNvSpPr>
          <p:nvPr>
            <p:ph type="sldNum" sz="quarter" idx="12"/>
          </p:nvPr>
        </p:nvSpPr>
        <p:spPr/>
        <p:txBody>
          <a:bodyPr/>
          <a:lstStyle/>
          <a:p>
            <a:pPr>
              <a:defRPr/>
            </a:pPr>
            <a:fld id="{26AE026E-4BBC-5B4A-BB30-173DD93DBA45}"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Discussion</a:t>
            </a:r>
          </a:p>
        </p:txBody>
      </p:sp>
      <p:sp>
        <p:nvSpPr>
          <p:cNvPr id="200707" name="Rectangle 3"/>
          <p:cNvSpPr>
            <a:spLocks noGrp="1" noChangeArrowheads="1"/>
          </p:cNvSpPr>
          <p:nvPr>
            <p:ph idx="1"/>
          </p:nvPr>
        </p:nvSpPr>
        <p:spPr/>
        <p:txBody>
          <a:bodyPr/>
          <a:lstStyle/>
          <a:p>
            <a:r>
              <a:rPr lang="en-US" dirty="0">
                <a:latin typeface="+mj-lt"/>
              </a:rPr>
              <a:t>What are some major activities in developing software?</a:t>
            </a:r>
          </a:p>
          <a:p>
            <a:r>
              <a:rPr lang="en-US" dirty="0">
                <a:latin typeface="+mj-lt"/>
              </a:rPr>
              <a:t>Is there an effective order on these activities?</a:t>
            </a:r>
          </a:p>
        </p:txBody>
      </p:sp>
      <p:sp>
        <p:nvSpPr>
          <p:cNvPr id="4" name="Slide Number Placeholder 5"/>
          <p:cNvSpPr>
            <a:spLocks noGrp="1"/>
          </p:cNvSpPr>
          <p:nvPr>
            <p:ph type="sldNum" sz="quarter" idx="12"/>
          </p:nvPr>
        </p:nvSpPr>
        <p:spPr/>
        <p:txBody>
          <a:bodyPr/>
          <a:lstStyle/>
          <a:p>
            <a:pPr>
              <a:defRPr/>
            </a:pPr>
            <a:fld id="{239A46E0-F1EC-7946-AD47-231FCFDF6117}"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Waterfall</a:t>
            </a:r>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9</a:t>
            </a:fld>
            <a:endParaRPr lang="en-US"/>
          </a:p>
        </p:txBody>
      </p:sp>
    </p:spTree>
    <p:extLst>
      <p:ext uri="{BB962C8B-B14F-4D97-AF65-F5344CB8AC3E}">
        <p14:creationId xmlns:p14="http://schemas.microsoft.com/office/powerpoint/2010/main" val="379798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Waterfall Lifecycle Model</a:t>
            </a:r>
          </a:p>
        </p:txBody>
      </p:sp>
      <p:sp>
        <p:nvSpPr>
          <p:cNvPr id="4" name="Slide Number Placeholder 3"/>
          <p:cNvSpPr>
            <a:spLocks noGrp="1"/>
          </p:cNvSpPr>
          <p:nvPr>
            <p:ph type="sldNum" sz="quarter" idx="12"/>
          </p:nvPr>
        </p:nvSpPr>
        <p:spPr/>
        <p:txBody>
          <a:bodyPr/>
          <a:lstStyle/>
          <a:p>
            <a:pPr>
              <a:defRPr/>
            </a:pPr>
            <a:fld id="{703CFF19-5A96-5640-AC08-892D1C270A16}" type="slidenum">
              <a:rPr lang="en-US" smtClean="0"/>
              <a:pPr>
                <a:defRPr/>
              </a:pPr>
              <a:t>10</a:t>
            </a:fld>
            <a:endParaRPr lang="en-US"/>
          </a:p>
        </p:txBody>
      </p:sp>
      <p:grpSp>
        <p:nvGrpSpPr>
          <p:cNvPr id="2" name="Group 1">
            <a:extLst>
              <a:ext uri="{FF2B5EF4-FFF2-40B4-BE49-F238E27FC236}">
                <a16:creationId xmlns:a16="http://schemas.microsoft.com/office/drawing/2014/main" id="{F21E693E-99A5-27CA-9835-E7875F7FE62D}"/>
              </a:ext>
            </a:extLst>
          </p:cNvPr>
          <p:cNvGrpSpPr/>
          <p:nvPr/>
        </p:nvGrpSpPr>
        <p:grpSpPr>
          <a:xfrm>
            <a:off x="2566788" y="1412777"/>
            <a:ext cx="7058425" cy="4905255"/>
            <a:chOff x="2927649" y="1412777"/>
            <a:chExt cx="7058425" cy="4905255"/>
          </a:xfrm>
        </p:grpSpPr>
        <p:sp>
          <p:nvSpPr>
            <p:cNvPr id="8" name="TextBox 7"/>
            <p:cNvSpPr txBox="1"/>
            <p:nvPr/>
          </p:nvSpPr>
          <p:spPr>
            <a:xfrm>
              <a:off x="2927649" y="1412777"/>
              <a:ext cx="1373261" cy="584775"/>
            </a:xfrm>
            <a:prstGeom prst="rect">
              <a:avLst/>
            </a:prstGeom>
            <a:noFill/>
            <a:ln w="19050" cmpd="sng">
              <a:solidFill>
                <a:schemeClr val="tx1"/>
              </a:solidFill>
            </a:ln>
          </p:spPr>
          <p:txBody>
            <a:bodyPr wrap="none" rtlCol="0">
              <a:spAutoFit/>
            </a:bodyPr>
            <a:lstStyle/>
            <a:p>
              <a:r>
                <a:rPr lang="en-US" sz="1600" dirty="0"/>
                <a:t>Requirements</a:t>
              </a:r>
            </a:p>
            <a:p>
              <a:r>
                <a:rPr lang="en-US" sz="1600" dirty="0"/>
                <a:t>Specification</a:t>
              </a:r>
            </a:p>
          </p:txBody>
        </p:sp>
        <p:sp>
          <p:nvSpPr>
            <p:cNvPr id="10" name="TextBox 9"/>
            <p:cNvSpPr txBox="1"/>
            <p:nvPr/>
          </p:nvSpPr>
          <p:spPr>
            <a:xfrm>
              <a:off x="4007768" y="2132857"/>
              <a:ext cx="1287532" cy="584775"/>
            </a:xfrm>
            <a:prstGeom prst="rect">
              <a:avLst/>
            </a:prstGeom>
            <a:noFill/>
            <a:ln w="19050" cmpd="sng">
              <a:solidFill>
                <a:schemeClr val="tx1"/>
              </a:solidFill>
            </a:ln>
          </p:spPr>
          <p:txBody>
            <a:bodyPr wrap="none" rtlCol="0">
              <a:spAutoFit/>
            </a:bodyPr>
            <a:lstStyle/>
            <a:p>
              <a:r>
                <a:rPr lang="en-US" sz="1600" dirty="0"/>
                <a:t>Architectural</a:t>
              </a:r>
              <a:br>
                <a:rPr lang="en-US" sz="1600" dirty="0"/>
              </a:br>
              <a:r>
                <a:rPr lang="en-US" sz="1600" dirty="0"/>
                <a:t>Design</a:t>
              </a:r>
            </a:p>
          </p:txBody>
        </p:sp>
        <p:cxnSp>
          <p:nvCxnSpPr>
            <p:cNvPr id="14" name="Elbow Connector 13"/>
            <p:cNvCxnSpPr>
              <a:stCxn id="8" idx="3"/>
              <a:endCxn id="10" idx="0"/>
            </p:cNvCxnSpPr>
            <p:nvPr/>
          </p:nvCxnSpPr>
          <p:spPr>
            <a:xfrm>
              <a:off x="4300910" y="1705164"/>
              <a:ext cx="350625" cy="427692"/>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159897" y="2852361"/>
              <a:ext cx="906017" cy="584775"/>
            </a:xfrm>
            <a:prstGeom prst="rect">
              <a:avLst/>
            </a:prstGeom>
            <a:noFill/>
            <a:ln w="19050" cmpd="sng">
              <a:solidFill>
                <a:schemeClr val="tx1"/>
              </a:solidFill>
            </a:ln>
          </p:spPr>
          <p:txBody>
            <a:bodyPr wrap="none" rtlCol="0">
              <a:spAutoFit/>
            </a:bodyPr>
            <a:lstStyle/>
            <a:p>
              <a:r>
                <a:rPr lang="en-US" sz="1600" dirty="0"/>
                <a:t>Detailed</a:t>
              </a:r>
              <a:br>
                <a:rPr lang="en-US" sz="1600" dirty="0"/>
              </a:br>
              <a:r>
                <a:rPr lang="en-US" sz="1600" dirty="0"/>
                <a:t>Design</a:t>
              </a:r>
            </a:p>
          </p:txBody>
        </p:sp>
        <p:cxnSp>
          <p:nvCxnSpPr>
            <p:cNvPr id="18" name="Elbow Connector 17"/>
            <p:cNvCxnSpPr>
              <a:stCxn id="10" idx="3"/>
              <a:endCxn id="17" idx="0"/>
            </p:cNvCxnSpPr>
            <p:nvPr/>
          </p:nvCxnSpPr>
          <p:spPr>
            <a:xfrm>
              <a:off x="5295301" y="2425244"/>
              <a:ext cx="317605" cy="427116"/>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82859" y="3573017"/>
              <a:ext cx="1201163" cy="584775"/>
            </a:xfrm>
            <a:prstGeom prst="rect">
              <a:avLst/>
            </a:prstGeom>
            <a:noFill/>
            <a:ln w="19050" cmpd="sng">
              <a:solidFill>
                <a:schemeClr val="tx1"/>
              </a:solidFill>
            </a:ln>
          </p:spPr>
          <p:txBody>
            <a:bodyPr wrap="none" rtlCol="0">
              <a:spAutoFit/>
            </a:bodyPr>
            <a:lstStyle/>
            <a:p>
              <a:r>
                <a:rPr lang="en-US" sz="1600" dirty="0"/>
                <a:t>Coding and</a:t>
              </a:r>
              <a:br>
                <a:rPr lang="en-US" sz="1600" dirty="0"/>
              </a:br>
              <a:r>
                <a:rPr lang="en-US" sz="1600" dirty="0"/>
                <a:t>Unit Testing</a:t>
              </a:r>
            </a:p>
          </p:txBody>
        </p:sp>
        <p:cxnSp>
          <p:nvCxnSpPr>
            <p:cNvPr id="23" name="Elbow Connector 22"/>
            <p:cNvCxnSpPr>
              <a:stCxn id="17" idx="3"/>
              <a:endCxn id="22" idx="0"/>
            </p:cNvCxnSpPr>
            <p:nvPr/>
          </p:nvCxnSpPr>
          <p:spPr>
            <a:xfrm>
              <a:off x="6065914" y="3144748"/>
              <a:ext cx="217527" cy="428268"/>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80832" y="4293097"/>
              <a:ext cx="1494320" cy="584775"/>
            </a:xfrm>
            <a:prstGeom prst="rect">
              <a:avLst/>
            </a:prstGeom>
            <a:noFill/>
            <a:ln w="19050" cmpd="sng">
              <a:solidFill>
                <a:schemeClr val="tx1"/>
              </a:solidFill>
            </a:ln>
          </p:spPr>
          <p:txBody>
            <a:bodyPr wrap="none" rtlCol="0">
              <a:spAutoFit/>
            </a:bodyPr>
            <a:lstStyle/>
            <a:p>
              <a:r>
                <a:rPr lang="en-US" sz="1600" dirty="0"/>
                <a:t>Integration and</a:t>
              </a:r>
              <a:br>
                <a:rPr lang="en-US" sz="1600" dirty="0"/>
              </a:br>
              <a:r>
                <a:rPr lang="en-US" sz="1600" dirty="0"/>
                <a:t>Testing</a:t>
              </a:r>
            </a:p>
          </p:txBody>
        </p:sp>
        <p:cxnSp>
          <p:nvCxnSpPr>
            <p:cNvPr id="28" name="Elbow Connector 27"/>
            <p:cNvCxnSpPr>
              <a:stCxn id="22" idx="3"/>
              <a:endCxn id="27" idx="0"/>
            </p:cNvCxnSpPr>
            <p:nvPr/>
          </p:nvCxnSpPr>
          <p:spPr>
            <a:xfrm>
              <a:off x="6884022" y="3865404"/>
              <a:ext cx="243971" cy="427692"/>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608169" y="5013177"/>
              <a:ext cx="1247457" cy="584775"/>
            </a:xfrm>
            <a:prstGeom prst="rect">
              <a:avLst/>
            </a:prstGeom>
            <a:noFill/>
            <a:ln w="19050" cmpd="sng">
              <a:solidFill>
                <a:schemeClr val="tx1"/>
              </a:solidFill>
            </a:ln>
          </p:spPr>
          <p:txBody>
            <a:bodyPr wrap="none" rtlCol="0">
              <a:spAutoFit/>
            </a:bodyPr>
            <a:lstStyle/>
            <a:p>
              <a:r>
                <a:rPr lang="en-US" sz="1600" dirty="0"/>
                <a:t>Delivery and</a:t>
              </a:r>
              <a:br>
                <a:rPr lang="en-US" sz="1600" dirty="0"/>
              </a:br>
              <a:r>
                <a:rPr lang="en-US" sz="1600" dirty="0"/>
                <a:t>Operation</a:t>
              </a:r>
            </a:p>
          </p:txBody>
        </p:sp>
        <p:sp>
          <p:nvSpPr>
            <p:cNvPr id="33" name="TextBox 32"/>
            <p:cNvSpPr txBox="1"/>
            <p:nvPr/>
          </p:nvSpPr>
          <p:spPr>
            <a:xfrm>
              <a:off x="8328248" y="5733257"/>
              <a:ext cx="1657826" cy="584775"/>
            </a:xfrm>
            <a:prstGeom prst="rect">
              <a:avLst/>
            </a:prstGeom>
            <a:noFill/>
            <a:ln w="19050" cmpd="sng">
              <a:solidFill>
                <a:schemeClr val="tx1"/>
              </a:solidFill>
            </a:ln>
          </p:spPr>
          <p:txBody>
            <a:bodyPr wrap="none" rtlCol="0">
              <a:spAutoFit/>
            </a:bodyPr>
            <a:lstStyle/>
            <a:p>
              <a:r>
                <a:rPr lang="en-US" sz="1600" dirty="0"/>
                <a:t>Maintenance and</a:t>
              </a:r>
              <a:br>
                <a:rPr lang="en-US" sz="1600" dirty="0"/>
              </a:br>
              <a:r>
                <a:rPr lang="en-US" sz="1600" dirty="0"/>
                <a:t>Support</a:t>
              </a:r>
            </a:p>
          </p:txBody>
        </p:sp>
        <p:cxnSp>
          <p:nvCxnSpPr>
            <p:cNvPr id="34" name="Elbow Connector 33"/>
            <p:cNvCxnSpPr>
              <a:stCxn id="27" idx="3"/>
              <a:endCxn id="32" idx="0"/>
            </p:cNvCxnSpPr>
            <p:nvPr/>
          </p:nvCxnSpPr>
          <p:spPr>
            <a:xfrm>
              <a:off x="7875153" y="4585484"/>
              <a:ext cx="356745" cy="427692"/>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7" name="Elbow Connector 36"/>
            <p:cNvCxnSpPr>
              <a:stCxn id="32" idx="3"/>
              <a:endCxn id="33" idx="0"/>
            </p:cNvCxnSpPr>
            <p:nvPr/>
          </p:nvCxnSpPr>
          <p:spPr>
            <a:xfrm>
              <a:off x="8855625" y="5305564"/>
              <a:ext cx="301536" cy="427692"/>
            </a:xfrm>
            <a:prstGeom prst="bentConnector2">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87987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Discussion</a:t>
            </a:r>
          </a:p>
        </p:txBody>
      </p:sp>
      <p:sp>
        <p:nvSpPr>
          <p:cNvPr id="30722" name="Rectangle 3"/>
          <p:cNvSpPr>
            <a:spLocks noGrp="1" noChangeArrowheads="1"/>
          </p:cNvSpPr>
          <p:nvPr>
            <p:ph idx="1"/>
          </p:nvPr>
        </p:nvSpPr>
        <p:spPr/>
        <p:txBody>
          <a:bodyPr/>
          <a:lstStyle/>
          <a:p>
            <a:r>
              <a:rPr lang="en-US" dirty="0">
                <a:latin typeface="+mj-lt"/>
              </a:rPr>
              <a:t>What are some pros and cons of the waterfall model?</a:t>
            </a:r>
          </a:p>
        </p:txBody>
      </p:sp>
      <p:sp>
        <p:nvSpPr>
          <p:cNvPr id="4" name="Slide Number Placeholder 5"/>
          <p:cNvSpPr>
            <a:spLocks noGrp="1"/>
          </p:cNvSpPr>
          <p:nvPr>
            <p:ph type="sldNum" sz="quarter" idx="12"/>
          </p:nvPr>
        </p:nvSpPr>
        <p:spPr/>
        <p:txBody>
          <a:bodyPr/>
          <a:lstStyle/>
          <a:p>
            <a:pPr>
              <a:defRPr/>
            </a:pPr>
            <a:fld id="{3A16D4DF-16EC-F246-BD31-82D5569C7515}"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Waterfall</a:t>
            </a:r>
          </a:p>
        </p:txBody>
      </p:sp>
      <p:sp>
        <p:nvSpPr>
          <p:cNvPr id="31746" name="Rectangle 3"/>
          <p:cNvSpPr>
            <a:spLocks noGrp="1" noChangeArrowheads="1"/>
          </p:cNvSpPr>
          <p:nvPr>
            <p:ph idx="1"/>
          </p:nvPr>
        </p:nvSpPr>
        <p:spPr/>
        <p:txBody>
          <a:bodyPr/>
          <a:lstStyle/>
          <a:p>
            <a:pPr eaLnBrk="1" hangingPunct="1"/>
            <a:r>
              <a:rPr lang="en-US" dirty="0">
                <a:latin typeface="+mj-lt"/>
              </a:rPr>
              <a:t>Pros:</a:t>
            </a:r>
          </a:p>
          <a:p>
            <a:pPr lvl="1" eaLnBrk="1" hangingPunct="1"/>
            <a:r>
              <a:rPr lang="en-US" dirty="0">
                <a:latin typeface="+mj-lt"/>
              </a:rPr>
              <a:t>Easily understood</a:t>
            </a:r>
          </a:p>
          <a:p>
            <a:pPr lvl="1" eaLnBrk="1" hangingPunct="1"/>
            <a:r>
              <a:rPr lang="en-US" dirty="0">
                <a:latin typeface="+mj-lt"/>
              </a:rPr>
              <a:t>Enforces discipline</a:t>
            </a:r>
          </a:p>
          <a:p>
            <a:pPr lvl="1" eaLnBrk="1" hangingPunct="1"/>
            <a:r>
              <a:rPr lang="en-US" dirty="0">
                <a:latin typeface="+mj-lt"/>
              </a:rPr>
              <a:t>Verification at every phase</a:t>
            </a:r>
          </a:p>
          <a:p>
            <a:pPr lvl="1" eaLnBrk="1" hangingPunct="1"/>
            <a:r>
              <a:rPr lang="en-US" dirty="0">
                <a:latin typeface="+mj-lt"/>
              </a:rPr>
              <a:t>Well-documented product</a:t>
            </a:r>
          </a:p>
        </p:txBody>
      </p:sp>
      <p:sp>
        <p:nvSpPr>
          <p:cNvPr id="4" name="Slide Number Placeholder 5"/>
          <p:cNvSpPr>
            <a:spLocks noGrp="1"/>
          </p:cNvSpPr>
          <p:nvPr>
            <p:ph type="sldNum" sz="quarter" idx="12"/>
          </p:nvPr>
        </p:nvSpPr>
        <p:spPr/>
        <p:txBody>
          <a:bodyPr/>
          <a:lstStyle/>
          <a:p>
            <a:pPr>
              <a:defRPr/>
            </a:pPr>
            <a:fld id="{6A7E9B02-3FF8-AD46-A693-9A1BD9845A33}"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8" name="Rectangle 4"/>
          <p:cNvSpPr>
            <a:spLocks noGrp="1" noChangeArrowheads="1"/>
          </p:cNvSpPr>
          <p:nvPr>
            <p:ph type="title"/>
          </p:nvPr>
        </p:nvSpPr>
        <p:spPr/>
        <p:txBody>
          <a:bodyPr/>
          <a:lstStyle/>
          <a:p>
            <a:pPr>
              <a:defRPr/>
            </a:pPr>
            <a:r>
              <a:rPr lang="en-US" dirty="0">
                <a:solidFill>
                  <a:schemeClr val="tx2">
                    <a:satMod val="130000"/>
                  </a:schemeClr>
                </a:solidFill>
                <a:ea typeface="+mj-ea"/>
                <a:cs typeface="+mj-cs"/>
              </a:rPr>
              <a:t>Waterfall</a:t>
            </a:r>
          </a:p>
        </p:txBody>
      </p:sp>
      <p:sp>
        <p:nvSpPr>
          <p:cNvPr id="32770" name="Rectangle 5"/>
          <p:cNvSpPr>
            <a:spLocks noGrp="1" noChangeArrowheads="1"/>
          </p:cNvSpPr>
          <p:nvPr>
            <p:ph idx="1"/>
          </p:nvPr>
        </p:nvSpPr>
        <p:spPr/>
        <p:txBody>
          <a:bodyPr/>
          <a:lstStyle/>
          <a:p>
            <a:pPr eaLnBrk="1" hangingPunct="1"/>
            <a:r>
              <a:rPr lang="en-US" dirty="0">
                <a:latin typeface="+mj-lt"/>
              </a:rPr>
              <a:t>Cons:</a:t>
            </a:r>
          </a:p>
          <a:p>
            <a:pPr lvl="1" eaLnBrk="1" hangingPunct="1"/>
            <a:r>
              <a:rPr lang="en-US" dirty="0">
                <a:latin typeface="+mj-lt"/>
              </a:rPr>
              <a:t>Uses a manufacturing view of software</a:t>
            </a:r>
          </a:p>
          <a:p>
            <a:pPr lvl="2" eaLnBrk="1" hangingPunct="1"/>
            <a:r>
              <a:rPr lang="en-US" dirty="0">
                <a:latin typeface="+mj-lt"/>
              </a:rPr>
              <a:t>Most software is not made as a “final” product</a:t>
            </a:r>
          </a:p>
          <a:p>
            <a:pPr lvl="1" eaLnBrk="1" hangingPunct="1"/>
            <a:r>
              <a:rPr lang="en-US" dirty="0">
                <a:latin typeface="+mj-lt"/>
              </a:rPr>
              <a:t>Customer must be patient</a:t>
            </a:r>
          </a:p>
          <a:p>
            <a:pPr lvl="2" eaLnBrk="1" hangingPunct="1"/>
            <a:r>
              <a:rPr lang="en-US" dirty="0">
                <a:latin typeface="+mj-lt"/>
              </a:rPr>
              <a:t>But time-to-market is critical</a:t>
            </a:r>
          </a:p>
          <a:p>
            <a:pPr lvl="1" eaLnBrk="1" hangingPunct="1"/>
            <a:r>
              <a:rPr lang="en-US" dirty="0">
                <a:latin typeface="+mj-lt"/>
              </a:rPr>
              <a:t>Customer sees the system only at the end</a:t>
            </a:r>
          </a:p>
          <a:p>
            <a:pPr lvl="2" eaLnBrk="1" hangingPunct="1"/>
            <a:r>
              <a:rPr lang="en-US" dirty="0">
                <a:latin typeface="+mj-lt"/>
              </a:rPr>
              <a:t>May not satisfy their real needs</a:t>
            </a:r>
          </a:p>
          <a:p>
            <a:pPr lvl="2" eaLnBrk="1" hangingPunct="1"/>
            <a:r>
              <a:rPr lang="en-US" dirty="0">
                <a:latin typeface="+mj-lt"/>
              </a:rPr>
              <a:t>No early feedback</a:t>
            </a:r>
          </a:p>
          <a:p>
            <a:pPr lvl="2" eaLnBrk="1" hangingPunct="1"/>
            <a:r>
              <a:rPr lang="en-US" dirty="0">
                <a:latin typeface="+mj-lt"/>
              </a:rPr>
              <a:t>In-house testing does not involve the user until near the end</a:t>
            </a:r>
          </a:p>
        </p:txBody>
      </p:sp>
      <p:sp>
        <p:nvSpPr>
          <p:cNvPr id="4" name="Slide Number Placeholder 5"/>
          <p:cNvSpPr>
            <a:spLocks noGrp="1"/>
          </p:cNvSpPr>
          <p:nvPr>
            <p:ph type="sldNum" sz="quarter" idx="12"/>
          </p:nvPr>
        </p:nvSpPr>
        <p:spPr/>
        <p:txBody>
          <a:bodyPr/>
          <a:lstStyle/>
          <a:p>
            <a:pPr>
              <a:defRPr/>
            </a:pPr>
            <a:fld id="{383AE13F-20AB-094B-B46E-FB5AD72FE222}" type="slidenum">
              <a:rPr lang="en-US"/>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8" name="Rectangle 6"/>
          <p:cNvSpPr>
            <a:spLocks noGrp="1" noChangeArrowheads="1"/>
          </p:cNvSpPr>
          <p:nvPr>
            <p:ph type="title"/>
          </p:nvPr>
        </p:nvSpPr>
        <p:spPr/>
        <p:txBody>
          <a:bodyPr/>
          <a:lstStyle/>
          <a:p>
            <a:pPr>
              <a:defRPr/>
            </a:pPr>
            <a:r>
              <a:rPr lang="en-US" dirty="0">
                <a:solidFill>
                  <a:schemeClr val="tx2">
                    <a:satMod val="130000"/>
                  </a:schemeClr>
                </a:solidFill>
                <a:ea typeface="+mj-ea"/>
                <a:cs typeface="+mj-cs"/>
              </a:rPr>
              <a:t>Waterfall</a:t>
            </a:r>
          </a:p>
        </p:txBody>
      </p:sp>
      <p:sp>
        <p:nvSpPr>
          <p:cNvPr id="33794" name="Rectangle 7"/>
          <p:cNvSpPr>
            <a:spLocks noGrp="1" noChangeArrowheads="1"/>
          </p:cNvSpPr>
          <p:nvPr>
            <p:ph idx="1"/>
          </p:nvPr>
        </p:nvSpPr>
        <p:spPr/>
        <p:txBody>
          <a:bodyPr/>
          <a:lstStyle/>
          <a:p>
            <a:pPr eaLnBrk="1" hangingPunct="1"/>
            <a:r>
              <a:rPr lang="en-US" dirty="0">
                <a:latin typeface="+mj-lt"/>
              </a:rPr>
              <a:t>Cons:</a:t>
            </a:r>
          </a:p>
          <a:p>
            <a:pPr lvl="1" eaLnBrk="1" hangingPunct="1"/>
            <a:r>
              <a:rPr lang="en-US" dirty="0">
                <a:latin typeface="+mj-lt"/>
              </a:rPr>
              <a:t>Dependence on requirements being “</a:t>
            </a:r>
            <a:r>
              <a:rPr lang="en-US" altLang="ja-JP" dirty="0">
                <a:latin typeface="+mj-lt"/>
              </a:rPr>
              <a:t>right” </a:t>
            </a:r>
            <a:r>
              <a:rPr lang="en-CA" altLang="ja-JP" dirty="0">
                <a:latin typeface="+mj-lt"/>
                <a:ea typeface="ＭＳ ゴシック" charset="0"/>
                <a:cs typeface="ＭＳ ゴシック" charset="0"/>
              </a:rPr>
              <a:t>at the start</a:t>
            </a:r>
            <a:endParaRPr lang="en-US" altLang="ja-JP" dirty="0">
              <a:latin typeface="+mj-lt"/>
            </a:endParaRPr>
          </a:p>
          <a:p>
            <a:pPr lvl="2" eaLnBrk="1" hangingPunct="1"/>
            <a:r>
              <a:rPr lang="en-US" dirty="0">
                <a:latin typeface="+mj-lt"/>
              </a:rPr>
              <a:t>This is almost never the case</a:t>
            </a:r>
          </a:p>
          <a:p>
            <a:pPr lvl="2" eaLnBrk="1" hangingPunct="1"/>
            <a:r>
              <a:rPr lang="en-US" dirty="0">
                <a:latin typeface="+mj-lt"/>
              </a:rPr>
              <a:t>Could end up building the wrong system</a:t>
            </a:r>
          </a:p>
          <a:p>
            <a:pPr lvl="1" eaLnBrk="1" hangingPunct="1"/>
            <a:r>
              <a:rPr lang="en-US" dirty="0">
                <a:latin typeface="+mj-lt"/>
              </a:rPr>
              <a:t>Requirements must all be known up front</a:t>
            </a:r>
          </a:p>
          <a:p>
            <a:pPr lvl="2" eaLnBrk="1" hangingPunct="1"/>
            <a:r>
              <a:rPr lang="en-US" dirty="0">
                <a:latin typeface="+mj-lt"/>
              </a:rPr>
              <a:t>But cannot always foresee all the necessary and changing requirements</a:t>
            </a:r>
          </a:p>
          <a:p>
            <a:pPr eaLnBrk="1" hangingPunct="1"/>
            <a:r>
              <a:rPr lang="en-US" dirty="0">
                <a:latin typeface="+mj-lt"/>
              </a:rPr>
              <a:t>Summary</a:t>
            </a:r>
          </a:p>
          <a:p>
            <a:pPr lvl="1" eaLnBrk="1" hangingPunct="1"/>
            <a:r>
              <a:rPr lang="en-US" dirty="0">
                <a:latin typeface="+mj-lt"/>
              </a:rPr>
              <a:t>Need to be able to iterate – waterfall is not effective</a:t>
            </a:r>
          </a:p>
        </p:txBody>
      </p:sp>
      <p:sp>
        <p:nvSpPr>
          <p:cNvPr id="4" name="Slide Number Placeholder 5"/>
          <p:cNvSpPr>
            <a:spLocks noGrp="1"/>
          </p:cNvSpPr>
          <p:nvPr>
            <p:ph type="sldNum" sz="quarter" idx="12"/>
          </p:nvPr>
        </p:nvSpPr>
        <p:spPr/>
        <p:txBody>
          <a:bodyPr/>
          <a:lstStyle/>
          <a:p>
            <a:pPr>
              <a:defRPr/>
            </a:pPr>
            <a:fld id="{418AC0D9-984B-D840-A4AC-F3316C7EED76}"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Prototyping</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703CFF19-5A96-5640-AC08-892D1C270A16}" type="slidenum">
              <a:rPr lang="en-US" smtClean="0"/>
              <a:pPr>
                <a:defRPr/>
              </a:pPr>
              <a:t>15</a:t>
            </a:fld>
            <a:endParaRPr lang="en-US"/>
          </a:p>
        </p:txBody>
      </p:sp>
    </p:spTree>
    <p:extLst>
      <p:ext uri="{BB962C8B-B14F-4D97-AF65-F5344CB8AC3E}">
        <p14:creationId xmlns:p14="http://schemas.microsoft.com/office/powerpoint/2010/main" val="2625745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6" name="Rectangle 4"/>
          <p:cNvSpPr>
            <a:spLocks noGrp="1" noChangeArrowheads="1"/>
          </p:cNvSpPr>
          <p:nvPr>
            <p:ph type="title"/>
          </p:nvPr>
        </p:nvSpPr>
        <p:spPr/>
        <p:txBody>
          <a:bodyPr/>
          <a:lstStyle/>
          <a:p>
            <a:pPr>
              <a:defRPr/>
            </a:pPr>
            <a:r>
              <a:rPr lang="en-US" dirty="0">
                <a:solidFill>
                  <a:schemeClr val="tx2">
                    <a:satMod val="130000"/>
                  </a:schemeClr>
                </a:solidFill>
                <a:ea typeface="+mj-ea"/>
                <a:cs typeface="+mj-cs"/>
              </a:rPr>
              <a:t>Meeting Needs</a:t>
            </a:r>
          </a:p>
        </p:txBody>
      </p:sp>
      <p:sp>
        <p:nvSpPr>
          <p:cNvPr id="207877" name="Rectangle 5"/>
          <p:cNvSpPr>
            <a:spLocks noGrp="1" noChangeArrowheads="1"/>
          </p:cNvSpPr>
          <p:nvPr>
            <p:ph idx="1"/>
          </p:nvPr>
        </p:nvSpPr>
        <p:spPr/>
        <p:txBody>
          <a:bodyPr/>
          <a:lstStyle/>
          <a:p>
            <a:pPr eaLnBrk="1" hangingPunct="1"/>
            <a:r>
              <a:rPr lang="en-US" dirty="0">
                <a:solidFill>
                  <a:srgbClr val="000000"/>
                </a:solidFill>
                <a:latin typeface="+mj-lt"/>
              </a:rPr>
              <a:t>Validation</a:t>
            </a:r>
          </a:p>
          <a:p>
            <a:pPr lvl="1" eaLnBrk="1" hangingPunct="1"/>
            <a:r>
              <a:rPr lang="en-US" dirty="0">
                <a:solidFill>
                  <a:srgbClr val="000000"/>
                </a:solidFill>
                <a:latin typeface="+mj-lt"/>
              </a:rPr>
              <a:t>Making sure you develop the </a:t>
            </a:r>
            <a:r>
              <a:rPr lang="en-US" i="1" dirty="0">
                <a:solidFill>
                  <a:srgbClr val="000000"/>
                </a:solidFill>
                <a:latin typeface="+mj-lt"/>
              </a:rPr>
              <a:t>right system </a:t>
            </a:r>
            <a:r>
              <a:rPr lang="en-US" dirty="0">
                <a:solidFill>
                  <a:srgbClr val="000000"/>
                </a:solidFill>
                <a:latin typeface="+mj-lt"/>
              </a:rPr>
              <a:t>(i.e., what the customer really needed)</a:t>
            </a:r>
          </a:p>
        </p:txBody>
      </p:sp>
      <p:sp>
        <p:nvSpPr>
          <p:cNvPr id="4" name="Slide Number Placeholder 5"/>
          <p:cNvSpPr>
            <a:spLocks noGrp="1"/>
          </p:cNvSpPr>
          <p:nvPr>
            <p:ph type="sldNum" sz="quarter" idx="12"/>
          </p:nvPr>
        </p:nvSpPr>
        <p:spPr/>
        <p:txBody>
          <a:bodyPr/>
          <a:lstStyle/>
          <a:p>
            <a:pPr>
              <a:defRPr/>
            </a:pPr>
            <a:fld id="{26AE026E-4BBC-5B4A-BB30-173DD93DBA45}" type="slidenum">
              <a:rPr lang="en-US"/>
              <a:pPr>
                <a:defRPr/>
              </a:pPr>
              <a:t>16</a:t>
            </a:fld>
            <a:endParaRPr lang="en-US"/>
          </a:p>
        </p:txBody>
      </p:sp>
    </p:spTree>
    <p:extLst>
      <p:ext uri="{BB962C8B-B14F-4D97-AF65-F5344CB8AC3E}">
        <p14:creationId xmlns:p14="http://schemas.microsoft.com/office/powerpoint/2010/main" val="64574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Prototyping</a:t>
            </a:r>
          </a:p>
        </p:txBody>
      </p:sp>
      <p:sp>
        <p:nvSpPr>
          <p:cNvPr id="35842" name="Rectangle 3"/>
          <p:cNvSpPr>
            <a:spLocks noGrp="1" noChangeArrowheads="1"/>
          </p:cNvSpPr>
          <p:nvPr>
            <p:ph idx="1"/>
          </p:nvPr>
        </p:nvSpPr>
        <p:spPr/>
        <p:txBody>
          <a:bodyPr/>
          <a:lstStyle/>
          <a:p>
            <a:pPr eaLnBrk="1" hangingPunct="1"/>
            <a:r>
              <a:rPr lang="en-US" dirty="0">
                <a:latin typeface="+mj-lt"/>
              </a:rPr>
              <a:t>Iterative design:</a:t>
            </a:r>
          </a:p>
          <a:p>
            <a:pPr lvl="1" eaLnBrk="1" hangingPunct="1"/>
            <a:r>
              <a:rPr lang="en-US" dirty="0">
                <a:latin typeface="+mj-lt"/>
              </a:rPr>
              <a:t>Cycling through several designs</a:t>
            </a:r>
          </a:p>
          <a:p>
            <a:pPr lvl="1" eaLnBrk="1" hangingPunct="1"/>
            <a:r>
              <a:rPr lang="en-US" dirty="0">
                <a:latin typeface="+mj-lt"/>
              </a:rPr>
              <a:t>Improving the product with each pass</a:t>
            </a:r>
          </a:p>
          <a:p>
            <a:pPr eaLnBrk="1" hangingPunct="1"/>
            <a:r>
              <a:rPr lang="en-US" dirty="0">
                <a:latin typeface="+mj-lt"/>
              </a:rPr>
              <a:t>Various approaches (in combination):</a:t>
            </a:r>
          </a:p>
          <a:p>
            <a:pPr lvl="1" eaLnBrk="1" hangingPunct="1"/>
            <a:r>
              <a:rPr lang="en-US" dirty="0">
                <a:latin typeface="+mj-lt"/>
              </a:rPr>
              <a:t>Throwaway</a:t>
            </a:r>
          </a:p>
          <a:p>
            <a:pPr lvl="1" eaLnBrk="1" hangingPunct="1"/>
            <a:r>
              <a:rPr lang="en-US" dirty="0">
                <a:latin typeface="+mj-lt"/>
              </a:rPr>
              <a:t>Incremental</a:t>
            </a:r>
          </a:p>
          <a:p>
            <a:pPr lvl="1" eaLnBrk="1" hangingPunct="1"/>
            <a:r>
              <a:rPr lang="en-US" dirty="0">
                <a:latin typeface="+mj-lt"/>
              </a:rPr>
              <a:t>Evolutionary</a:t>
            </a:r>
          </a:p>
        </p:txBody>
      </p:sp>
      <p:sp>
        <p:nvSpPr>
          <p:cNvPr id="4" name="Slide Number Placeholder 5"/>
          <p:cNvSpPr>
            <a:spLocks noGrp="1"/>
          </p:cNvSpPr>
          <p:nvPr>
            <p:ph type="sldNum" sz="quarter" idx="12"/>
          </p:nvPr>
        </p:nvSpPr>
        <p:spPr/>
        <p:txBody>
          <a:bodyPr/>
          <a:lstStyle/>
          <a:p>
            <a:pPr>
              <a:defRPr/>
            </a:pPr>
            <a:fld id="{F6B134E4-3052-B84E-88F2-DF4DE15092A7}"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3" name="Rectangle 5"/>
          <p:cNvSpPr>
            <a:spLocks noGrp="1" noChangeArrowheads="1"/>
          </p:cNvSpPr>
          <p:nvPr>
            <p:ph type="title"/>
          </p:nvPr>
        </p:nvSpPr>
        <p:spPr/>
        <p:txBody>
          <a:bodyPr/>
          <a:lstStyle/>
          <a:p>
            <a:pPr>
              <a:defRPr/>
            </a:pPr>
            <a:r>
              <a:rPr lang="en-US" dirty="0">
                <a:solidFill>
                  <a:schemeClr val="tx2">
                    <a:satMod val="130000"/>
                  </a:schemeClr>
                </a:solidFill>
                <a:ea typeface="+mj-ea"/>
                <a:cs typeface="+mj-cs"/>
              </a:rPr>
              <a:t>Throwaway Prototyping</a:t>
            </a:r>
          </a:p>
        </p:txBody>
      </p:sp>
      <p:sp>
        <p:nvSpPr>
          <p:cNvPr id="37890" name="Rectangle 6"/>
          <p:cNvSpPr>
            <a:spLocks noGrp="1" noChangeArrowheads="1"/>
          </p:cNvSpPr>
          <p:nvPr>
            <p:ph idx="1"/>
          </p:nvPr>
        </p:nvSpPr>
        <p:spPr/>
        <p:txBody>
          <a:bodyPr/>
          <a:lstStyle/>
          <a:p>
            <a:pPr eaLnBrk="1" hangingPunct="1"/>
            <a:r>
              <a:rPr lang="en-US" dirty="0">
                <a:latin typeface="+mj-lt"/>
              </a:rPr>
              <a:t>Process:</a:t>
            </a:r>
          </a:p>
          <a:p>
            <a:pPr lvl="1"/>
            <a:r>
              <a:rPr lang="en-US" dirty="0"/>
              <a:t>Heavily involve real users</a:t>
            </a:r>
            <a:endParaRPr lang="en-US" dirty="0">
              <a:latin typeface="+mj-lt"/>
            </a:endParaRPr>
          </a:p>
          <a:p>
            <a:pPr lvl="1" eaLnBrk="1" hangingPunct="1"/>
            <a:r>
              <a:rPr lang="en-US" dirty="0">
                <a:latin typeface="+mj-lt"/>
              </a:rPr>
              <a:t>Build and test prototype</a:t>
            </a:r>
          </a:p>
          <a:p>
            <a:pPr lvl="1" eaLnBrk="1" hangingPunct="1"/>
            <a:r>
              <a:rPr lang="en-US" dirty="0">
                <a:latin typeface="+mj-lt"/>
              </a:rPr>
              <a:t>Gain knowledge for the real product</a:t>
            </a:r>
          </a:p>
          <a:p>
            <a:pPr lvl="2"/>
            <a:r>
              <a:rPr lang="en-US" dirty="0">
                <a:latin typeface="+mj-lt"/>
              </a:rPr>
              <a:t>What is necessary</a:t>
            </a:r>
          </a:p>
          <a:p>
            <a:pPr lvl="2"/>
            <a:r>
              <a:rPr lang="en-US" dirty="0">
                <a:latin typeface="+mj-lt"/>
              </a:rPr>
              <a:t>What works</a:t>
            </a:r>
          </a:p>
          <a:p>
            <a:pPr lvl="2"/>
            <a:r>
              <a:rPr lang="en-US" dirty="0">
                <a:latin typeface="+mj-lt"/>
              </a:rPr>
              <a:t>What does not work</a:t>
            </a:r>
          </a:p>
          <a:p>
            <a:pPr lvl="1" eaLnBrk="1" hangingPunct="1"/>
            <a:r>
              <a:rPr lang="en-US" dirty="0">
                <a:latin typeface="+mj-lt"/>
              </a:rPr>
              <a:t>“Throw away” the prototype, then “develop” the product for real</a:t>
            </a:r>
          </a:p>
        </p:txBody>
      </p:sp>
      <p:sp>
        <p:nvSpPr>
          <p:cNvPr id="5" name="Slide Number Placeholder 5"/>
          <p:cNvSpPr>
            <a:spLocks noGrp="1"/>
          </p:cNvSpPr>
          <p:nvPr>
            <p:ph type="sldNum" sz="quarter" idx="12"/>
          </p:nvPr>
        </p:nvSpPr>
        <p:spPr/>
        <p:txBody>
          <a:bodyPr/>
          <a:lstStyle/>
          <a:p>
            <a:pPr>
              <a:defRPr/>
            </a:pPr>
            <a:fld id="{02BAE135-4E1A-F94F-AAFB-CE49BC502511}"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Throwaway Prototyping</a:t>
            </a:r>
          </a:p>
        </p:txBody>
      </p:sp>
      <p:sp>
        <p:nvSpPr>
          <p:cNvPr id="38914" name="Rectangle 3"/>
          <p:cNvSpPr>
            <a:spLocks noGrp="1" noChangeArrowheads="1"/>
          </p:cNvSpPr>
          <p:nvPr>
            <p:ph idx="1"/>
          </p:nvPr>
        </p:nvSpPr>
        <p:spPr/>
        <p:txBody>
          <a:bodyPr/>
          <a:lstStyle/>
          <a:p>
            <a:pPr eaLnBrk="1" hangingPunct="1"/>
            <a:r>
              <a:rPr lang="en-US" dirty="0">
                <a:latin typeface="+mj-lt"/>
              </a:rPr>
              <a:t>Pros:</a:t>
            </a:r>
          </a:p>
          <a:p>
            <a:pPr lvl="1" eaLnBrk="1" hangingPunct="1"/>
            <a:r>
              <a:rPr lang="en-US" dirty="0">
                <a:latin typeface="+mj-lt"/>
              </a:rPr>
              <a:t>More communication between users and developers</a:t>
            </a:r>
          </a:p>
          <a:p>
            <a:pPr lvl="1" eaLnBrk="1" hangingPunct="1"/>
            <a:r>
              <a:rPr lang="en-US" dirty="0">
                <a:latin typeface="+mj-lt"/>
              </a:rPr>
              <a:t>Functionality is introduced earlier, which is good for morale</a:t>
            </a:r>
          </a:p>
        </p:txBody>
      </p:sp>
      <p:sp>
        <p:nvSpPr>
          <p:cNvPr id="4" name="Slide Number Placeholder 5"/>
          <p:cNvSpPr>
            <a:spLocks noGrp="1"/>
          </p:cNvSpPr>
          <p:nvPr>
            <p:ph type="sldNum" sz="quarter" idx="12"/>
          </p:nvPr>
        </p:nvSpPr>
        <p:spPr/>
        <p:txBody>
          <a:bodyPr/>
          <a:lstStyle/>
          <a:p>
            <a:pPr>
              <a:defRPr/>
            </a:pPr>
            <a:fld id="{5DB4AD91-2DA9-7244-B516-B9745D9A5791}" type="slidenum">
              <a:rPr lang="en-US"/>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pPr>
              <a:defRPr/>
            </a:pPr>
            <a:r>
              <a:rPr lang="en-US">
                <a:solidFill>
                  <a:schemeClr val="tx2">
                    <a:satMod val="130000"/>
                  </a:schemeClr>
                </a:solidFill>
                <a:ea typeface="+mj-ea"/>
                <a:cs typeface="+mj-cs"/>
              </a:rPr>
              <a:t>Throwaway Prototyping</a:t>
            </a:r>
          </a:p>
        </p:txBody>
      </p:sp>
      <p:sp>
        <p:nvSpPr>
          <p:cNvPr id="39938" name="Rectangle 3"/>
          <p:cNvSpPr>
            <a:spLocks noGrp="1" noChangeArrowheads="1"/>
          </p:cNvSpPr>
          <p:nvPr>
            <p:ph idx="1"/>
          </p:nvPr>
        </p:nvSpPr>
        <p:spPr/>
        <p:txBody>
          <a:bodyPr/>
          <a:lstStyle/>
          <a:p>
            <a:pPr eaLnBrk="1" hangingPunct="1"/>
            <a:r>
              <a:rPr lang="en-US" dirty="0">
                <a:latin typeface="+mj-lt"/>
              </a:rPr>
              <a:t>Cons:</a:t>
            </a:r>
          </a:p>
          <a:p>
            <a:pPr lvl="1" eaLnBrk="1" hangingPunct="1"/>
            <a:r>
              <a:rPr lang="en-US" dirty="0">
                <a:latin typeface="+mj-lt"/>
              </a:rPr>
              <a:t>Building the prototype must be rapid</a:t>
            </a:r>
          </a:p>
          <a:p>
            <a:pPr lvl="1" eaLnBrk="1" hangingPunct="1"/>
            <a:r>
              <a:rPr lang="en-US" dirty="0">
                <a:latin typeface="+mj-lt"/>
              </a:rPr>
              <a:t>Some qualities may be sacrificed, like security, reliability, etc.</a:t>
            </a:r>
          </a:p>
          <a:p>
            <a:pPr lvl="1" eaLnBrk="1" hangingPunct="1"/>
            <a:r>
              <a:rPr lang="en-US" dirty="0">
                <a:latin typeface="+mj-lt"/>
              </a:rPr>
              <a:t>Temptation to use the throwaway prototype in the final product</a:t>
            </a:r>
          </a:p>
        </p:txBody>
      </p:sp>
      <p:sp>
        <p:nvSpPr>
          <p:cNvPr id="4" name="Slide Number Placeholder 5"/>
          <p:cNvSpPr>
            <a:spLocks noGrp="1"/>
          </p:cNvSpPr>
          <p:nvPr>
            <p:ph type="sldNum" sz="quarter" idx="12"/>
          </p:nvPr>
        </p:nvSpPr>
        <p:spPr/>
        <p:txBody>
          <a:bodyPr/>
          <a:lstStyle/>
          <a:p>
            <a:pPr>
              <a:defRPr/>
            </a:pPr>
            <a:fld id="{5EF485BA-6933-004C-BE6C-A7E733FDAEE3}" type="slidenum">
              <a:rPr lang="en-US"/>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Incremental Prototyping</a:t>
            </a:r>
          </a:p>
        </p:txBody>
      </p:sp>
      <p:sp>
        <p:nvSpPr>
          <p:cNvPr id="40962" name="Rectangle 3"/>
          <p:cNvSpPr>
            <a:spLocks noGrp="1" noChangeArrowheads="1"/>
          </p:cNvSpPr>
          <p:nvPr>
            <p:ph idx="1"/>
          </p:nvPr>
        </p:nvSpPr>
        <p:spPr/>
        <p:txBody>
          <a:bodyPr/>
          <a:lstStyle/>
          <a:p>
            <a:pPr eaLnBrk="1" hangingPunct="1"/>
            <a:r>
              <a:rPr lang="en-US" dirty="0">
                <a:latin typeface="+mj-lt"/>
              </a:rPr>
              <a:t>Process:</a:t>
            </a:r>
          </a:p>
          <a:p>
            <a:pPr lvl="1" eaLnBrk="1" hangingPunct="1"/>
            <a:r>
              <a:rPr lang="en-US" dirty="0">
                <a:latin typeface="+mj-lt"/>
              </a:rPr>
              <a:t>Triage system into separate “increments”</a:t>
            </a:r>
          </a:p>
          <a:p>
            <a:pPr lvl="2" eaLnBrk="1" hangingPunct="1"/>
            <a:r>
              <a:rPr lang="en-US" dirty="0">
                <a:latin typeface="+mj-lt"/>
              </a:rPr>
              <a:t>I.e., “must do”, “should do”, “could do”</a:t>
            </a:r>
          </a:p>
          <a:p>
            <a:pPr lvl="1" eaLnBrk="1" hangingPunct="1"/>
            <a:r>
              <a:rPr lang="en-US" dirty="0">
                <a:latin typeface="+mj-lt"/>
              </a:rPr>
              <a:t>Develop and </a:t>
            </a:r>
            <a:r>
              <a:rPr lang="en-US" b="1" dirty="0">
                <a:latin typeface="+mj-lt"/>
              </a:rPr>
              <a:t>add one increment at a time</a:t>
            </a:r>
          </a:p>
          <a:p>
            <a:pPr eaLnBrk="1" hangingPunct="1"/>
            <a:r>
              <a:rPr lang="en-US" dirty="0">
                <a:latin typeface="+mj-lt"/>
              </a:rPr>
              <a:t>Example: Accounting system</a:t>
            </a:r>
          </a:p>
          <a:p>
            <a:pPr lvl="1" eaLnBrk="1" hangingPunct="1"/>
            <a:r>
              <a:rPr lang="en-US" dirty="0">
                <a:latin typeface="+mj-lt"/>
              </a:rPr>
              <a:t>Prototype 1 – general ledger</a:t>
            </a:r>
          </a:p>
          <a:p>
            <a:pPr lvl="1"/>
            <a:r>
              <a:rPr lang="en-US" dirty="0">
                <a:latin typeface="+mj-lt"/>
              </a:rPr>
              <a:t>Prototype 2 </a:t>
            </a:r>
            <a:r>
              <a:rPr lang="en-US" sz="2000" dirty="0"/>
              <a:t>–</a:t>
            </a:r>
            <a:r>
              <a:rPr lang="en-US" dirty="0">
                <a:latin typeface="+mj-lt"/>
              </a:rPr>
              <a:t> accounts receivable/payable</a:t>
            </a:r>
          </a:p>
          <a:p>
            <a:pPr lvl="1"/>
            <a:r>
              <a:rPr lang="en-US" dirty="0">
                <a:latin typeface="+mj-lt"/>
              </a:rPr>
              <a:t>Prototype 3 </a:t>
            </a:r>
            <a:r>
              <a:rPr lang="en-US" sz="2000" dirty="0"/>
              <a:t>–</a:t>
            </a:r>
            <a:r>
              <a:rPr lang="en-US" dirty="0">
                <a:latin typeface="+mj-lt"/>
              </a:rPr>
              <a:t> payroll</a:t>
            </a:r>
          </a:p>
        </p:txBody>
      </p:sp>
      <p:sp>
        <p:nvSpPr>
          <p:cNvPr id="5" name="Slide Number Placeholder 5"/>
          <p:cNvSpPr>
            <a:spLocks noGrp="1"/>
          </p:cNvSpPr>
          <p:nvPr>
            <p:ph type="sldNum" sz="quarter" idx="12"/>
          </p:nvPr>
        </p:nvSpPr>
        <p:spPr/>
        <p:txBody>
          <a:bodyPr/>
          <a:lstStyle/>
          <a:p>
            <a:pPr>
              <a:defRPr/>
            </a:pPr>
            <a:fld id="{256273D8-9912-3144-BE65-7E73CF3DEA42}"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pPr>
              <a:defRPr/>
            </a:pPr>
            <a:r>
              <a:rPr lang="en-US">
                <a:solidFill>
                  <a:schemeClr val="tx2">
                    <a:satMod val="130000"/>
                  </a:schemeClr>
                </a:solidFill>
                <a:ea typeface="+mj-ea"/>
                <a:cs typeface="+mj-cs"/>
              </a:rPr>
              <a:t>Evolutionary Prototyping</a:t>
            </a:r>
          </a:p>
        </p:txBody>
      </p:sp>
      <p:sp>
        <p:nvSpPr>
          <p:cNvPr id="43010" name="Rectangle 3"/>
          <p:cNvSpPr>
            <a:spLocks noGrp="1" noChangeArrowheads="1"/>
          </p:cNvSpPr>
          <p:nvPr>
            <p:ph idx="1"/>
          </p:nvPr>
        </p:nvSpPr>
        <p:spPr/>
        <p:txBody>
          <a:bodyPr/>
          <a:lstStyle/>
          <a:p>
            <a:pPr eaLnBrk="1" hangingPunct="1"/>
            <a:r>
              <a:rPr lang="en-US" dirty="0">
                <a:latin typeface="+mj-lt"/>
              </a:rPr>
              <a:t>Process:</a:t>
            </a:r>
          </a:p>
          <a:p>
            <a:pPr lvl="1" eaLnBrk="1" hangingPunct="1"/>
            <a:r>
              <a:rPr lang="en-US" dirty="0">
                <a:latin typeface="+mj-lt"/>
              </a:rPr>
              <a:t>Feature is refined or “evolved” over time</a:t>
            </a:r>
          </a:p>
          <a:p>
            <a:pPr eaLnBrk="1" hangingPunct="1"/>
            <a:r>
              <a:rPr lang="en-US" dirty="0">
                <a:latin typeface="+mj-lt"/>
              </a:rPr>
              <a:t>Example: Text editor</a:t>
            </a:r>
          </a:p>
          <a:p>
            <a:pPr lvl="1"/>
            <a:r>
              <a:rPr lang="en-US" dirty="0">
                <a:latin typeface="+mj-lt"/>
              </a:rPr>
              <a:t>Prototype 1 </a:t>
            </a:r>
            <a:r>
              <a:rPr lang="en-US" sz="2000" dirty="0"/>
              <a:t>–</a:t>
            </a:r>
            <a:r>
              <a:rPr lang="en-US" dirty="0">
                <a:latin typeface="+mj-lt"/>
              </a:rPr>
              <a:t> keyboard Cut and Paste</a:t>
            </a:r>
          </a:p>
          <a:p>
            <a:pPr lvl="1"/>
            <a:r>
              <a:rPr lang="en-US" dirty="0">
                <a:latin typeface="+mj-lt"/>
              </a:rPr>
              <a:t>Prototype 2 </a:t>
            </a:r>
            <a:r>
              <a:rPr lang="en-US" sz="2000" dirty="0"/>
              <a:t>– </a:t>
            </a:r>
            <a:r>
              <a:rPr lang="en-US" dirty="0">
                <a:latin typeface="+mj-lt"/>
              </a:rPr>
              <a:t>touchscreen Cut and Paste</a:t>
            </a:r>
          </a:p>
          <a:p>
            <a:pPr lvl="1"/>
            <a:r>
              <a:rPr lang="en-US" dirty="0">
                <a:latin typeface="+mj-lt"/>
              </a:rPr>
              <a:t>Prototype 3 </a:t>
            </a:r>
            <a:r>
              <a:rPr lang="en-US" sz="2000" dirty="0"/>
              <a:t>–</a:t>
            </a:r>
            <a:r>
              <a:rPr lang="en-US" dirty="0">
                <a:latin typeface="+mj-lt"/>
              </a:rPr>
              <a:t> Cut and Paste works with Undo</a:t>
            </a:r>
          </a:p>
          <a:p>
            <a:pPr lvl="1" eaLnBrk="1" hangingPunct="1"/>
            <a:endParaRPr lang="en-US" dirty="0">
              <a:latin typeface="+mj-lt"/>
            </a:endParaRPr>
          </a:p>
        </p:txBody>
      </p:sp>
      <p:sp>
        <p:nvSpPr>
          <p:cNvPr id="5" name="Slide Number Placeholder 5"/>
          <p:cNvSpPr>
            <a:spLocks noGrp="1"/>
          </p:cNvSpPr>
          <p:nvPr>
            <p:ph type="sldNum" sz="quarter" idx="12"/>
          </p:nvPr>
        </p:nvSpPr>
        <p:spPr/>
        <p:txBody>
          <a:bodyPr/>
          <a:lstStyle/>
          <a:p>
            <a:pPr>
              <a:defRPr/>
            </a:pPr>
            <a:fld id="{FDA20C54-9960-654C-A6B4-980BD3EDC89E}" type="slidenum">
              <a:rPr lang="en-US"/>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82" name="Rectangle 6"/>
          <p:cNvSpPr>
            <a:spLocks noGrp="1" noChangeArrowheads="1"/>
          </p:cNvSpPr>
          <p:nvPr>
            <p:ph type="title"/>
          </p:nvPr>
        </p:nvSpPr>
        <p:spPr/>
        <p:txBody>
          <a:bodyPr/>
          <a:lstStyle/>
          <a:p>
            <a:pPr>
              <a:defRPr/>
            </a:pPr>
            <a:r>
              <a:rPr lang="en-US" dirty="0">
                <a:solidFill>
                  <a:schemeClr val="tx2">
                    <a:satMod val="130000"/>
                  </a:schemeClr>
                </a:solidFill>
                <a:ea typeface="+mj-ea"/>
                <a:cs typeface="+mj-cs"/>
              </a:rPr>
              <a:t>Other Kinds of Prototypes</a:t>
            </a:r>
          </a:p>
        </p:txBody>
      </p:sp>
      <p:sp>
        <p:nvSpPr>
          <p:cNvPr id="45058" name="Rectangle 7"/>
          <p:cNvSpPr>
            <a:spLocks noGrp="1" noChangeArrowheads="1"/>
          </p:cNvSpPr>
          <p:nvPr>
            <p:ph idx="1"/>
          </p:nvPr>
        </p:nvSpPr>
        <p:spPr/>
        <p:txBody>
          <a:bodyPr/>
          <a:lstStyle/>
          <a:p>
            <a:pPr eaLnBrk="1" hangingPunct="1"/>
            <a:r>
              <a:rPr lang="en-US" dirty="0">
                <a:latin typeface="+mj-lt"/>
              </a:rPr>
              <a:t>User interface sketches</a:t>
            </a:r>
          </a:p>
          <a:p>
            <a:pPr lvl="1" eaLnBrk="1" hangingPunct="1"/>
            <a:r>
              <a:rPr lang="en-US" dirty="0">
                <a:latin typeface="+mj-lt"/>
              </a:rPr>
              <a:t>Hand-drawn or using drawing tool</a:t>
            </a:r>
          </a:p>
          <a:p>
            <a:pPr eaLnBrk="1" hangingPunct="1"/>
            <a:r>
              <a:rPr lang="en-US" dirty="0">
                <a:latin typeface="+mj-lt"/>
              </a:rPr>
              <a:t>Storyboards</a:t>
            </a:r>
          </a:p>
          <a:p>
            <a:pPr lvl="1" eaLnBrk="1" hangingPunct="1"/>
            <a:r>
              <a:rPr lang="en-US" dirty="0">
                <a:latin typeface="+mj-lt"/>
              </a:rPr>
              <a:t>Graphical depiction of user interface</a:t>
            </a:r>
          </a:p>
          <a:p>
            <a:pPr lvl="1" eaLnBrk="1" hangingPunct="1"/>
            <a:r>
              <a:rPr lang="en-US" dirty="0">
                <a:latin typeface="+mj-lt"/>
              </a:rPr>
              <a:t>Like a comic strip, but only draw the UI</a:t>
            </a:r>
          </a:p>
        </p:txBody>
      </p:sp>
      <p:sp>
        <p:nvSpPr>
          <p:cNvPr id="4" name="Slide Number Placeholder 5"/>
          <p:cNvSpPr>
            <a:spLocks noGrp="1"/>
          </p:cNvSpPr>
          <p:nvPr>
            <p:ph type="sldNum" sz="quarter" idx="12"/>
          </p:nvPr>
        </p:nvSpPr>
        <p:spPr/>
        <p:txBody>
          <a:bodyPr/>
          <a:lstStyle/>
          <a:p>
            <a:pPr>
              <a:defRPr/>
            </a:pPr>
            <a:fld id="{5477B3DA-4CFA-D240-8A3A-1E76C05A1430}"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82" name="Rectangle 6"/>
          <p:cNvSpPr>
            <a:spLocks noGrp="1" noChangeArrowheads="1"/>
          </p:cNvSpPr>
          <p:nvPr>
            <p:ph type="title"/>
          </p:nvPr>
        </p:nvSpPr>
        <p:spPr/>
        <p:txBody>
          <a:bodyPr/>
          <a:lstStyle/>
          <a:p>
            <a:pPr>
              <a:defRPr/>
            </a:pPr>
            <a:r>
              <a:rPr lang="en-US" dirty="0">
                <a:solidFill>
                  <a:schemeClr val="tx2">
                    <a:satMod val="130000"/>
                  </a:schemeClr>
                </a:solidFill>
                <a:ea typeface="+mj-ea"/>
                <a:cs typeface="+mj-cs"/>
              </a:rPr>
              <a:t>Other Kinds of Prototypes</a:t>
            </a:r>
          </a:p>
        </p:txBody>
      </p:sp>
      <p:sp>
        <p:nvSpPr>
          <p:cNvPr id="45058" name="Rectangle 7"/>
          <p:cNvSpPr>
            <a:spLocks noGrp="1" noChangeArrowheads="1"/>
          </p:cNvSpPr>
          <p:nvPr>
            <p:ph idx="1"/>
          </p:nvPr>
        </p:nvSpPr>
        <p:spPr/>
        <p:txBody>
          <a:bodyPr/>
          <a:lstStyle/>
          <a:p>
            <a:pPr eaLnBrk="1" hangingPunct="1"/>
            <a:r>
              <a:rPr lang="en-US" dirty="0">
                <a:latin typeface="+mj-lt"/>
              </a:rPr>
              <a:t>Index cards, Post-It</a:t>
            </a:r>
            <a:r>
              <a:rPr lang="en-US" baseline="30000" dirty="0">
                <a:latin typeface="+mj-lt"/>
              </a:rPr>
              <a:t>®</a:t>
            </a:r>
            <a:r>
              <a:rPr lang="en-US" dirty="0">
                <a:latin typeface="+mj-lt"/>
              </a:rPr>
              <a:t> notes</a:t>
            </a:r>
          </a:p>
          <a:p>
            <a:pPr lvl="1" eaLnBrk="1" hangingPunct="1"/>
            <a:r>
              <a:rPr lang="en-US" dirty="0">
                <a:latin typeface="+mj-lt"/>
              </a:rPr>
              <a:t>E.g., tasks in a project plan</a:t>
            </a:r>
          </a:p>
          <a:p>
            <a:pPr lvl="1" eaLnBrk="1" hangingPunct="1"/>
            <a:r>
              <a:rPr lang="en-US" dirty="0">
                <a:latin typeface="+mj-lt"/>
              </a:rPr>
              <a:t>E.g., classes in an object-oriented analysis</a:t>
            </a:r>
          </a:p>
          <a:p>
            <a:pPr lvl="1" eaLnBrk="1" hangingPunct="1"/>
            <a:r>
              <a:rPr lang="en-US" dirty="0">
                <a:latin typeface="+mj-lt"/>
              </a:rPr>
              <a:t>E.g., pages in a web site structure</a:t>
            </a:r>
          </a:p>
          <a:p>
            <a:pPr eaLnBrk="1" hangingPunct="1"/>
            <a:endParaRPr lang="en-US" dirty="0">
              <a:latin typeface="+mj-lt"/>
            </a:endParaRPr>
          </a:p>
        </p:txBody>
      </p:sp>
      <p:sp>
        <p:nvSpPr>
          <p:cNvPr id="4" name="Slide Number Placeholder 5"/>
          <p:cNvSpPr>
            <a:spLocks noGrp="1"/>
          </p:cNvSpPr>
          <p:nvPr>
            <p:ph type="sldNum" sz="quarter" idx="12"/>
          </p:nvPr>
        </p:nvSpPr>
        <p:spPr/>
        <p:txBody>
          <a:bodyPr/>
          <a:lstStyle/>
          <a:p>
            <a:pPr>
              <a:defRPr/>
            </a:pPr>
            <a:fld id="{5477B3DA-4CFA-D240-8A3A-1E76C05A1430}" type="slidenum">
              <a:rPr lang="en-US"/>
              <a:pPr>
                <a:defRPr/>
              </a:pPr>
              <a:t>24</a:t>
            </a:fld>
            <a:endParaRPr lang="en-US"/>
          </a:p>
        </p:txBody>
      </p:sp>
    </p:spTree>
    <p:extLst>
      <p:ext uri="{BB962C8B-B14F-4D97-AF65-F5344CB8AC3E}">
        <p14:creationId xmlns:p14="http://schemas.microsoft.com/office/powerpoint/2010/main" val="1986861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25</a:t>
            </a:fld>
            <a:endParaRPr lang="en-US"/>
          </a:p>
        </p:txBody>
      </p:sp>
      <p:pic>
        <p:nvPicPr>
          <p:cNvPr id="5" name="Picture 4" descr="Lesson Backlog.jpg"/>
          <p:cNvPicPr>
            <a:picLocks noChangeAspect="1"/>
          </p:cNvPicPr>
          <p:nvPr/>
        </p:nvPicPr>
        <p:blipFill>
          <a:blip r:embed="rId2">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val="0"/>
              </a:ext>
            </a:extLst>
          </a:blip>
          <a:stretch>
            <a:fillRect/>
          </a:stretch>
        </p:blipFill>
        <p:spPr>
          <a:xfrm>
            <a:off x="1524000" y="558801"/>
            <a:ext cx="9144000" cy="5715739"/>
          </a:xfrm>
          <a:prstGeom prst="rect">
            <a:avLst/>
          </a:prstGeom>
        </p:spPr>
      </p:pic>
    </p:spTree>
    <p:extLst>
      <p:ext uri="{BB962C8B-B14F-4D97-AF65-F5344CB8AC3E}">
        <p14:creationId xmlns:p14="http://schemas.microsoft.com/office/powerpoint/2010/main" val="2601625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Other Kinds of Prototypes</a:t>
            </a:r>
          </a:p>
        </p:txBody>
      </p:sp>
      <p:sp>
        <p:nvSpPr>
          <p:cNvPr id="47106" name="Rectangle 3"/>
          <p:cNvSpPr>
            <a:spLocks noGrp="1" noChangeArrowheads="1"/>
          </p:cNvSpPr>
          <p:nvPr>
            <p:ph idx="1"/>
          </p:nvPr>
        </p:nvSpPr>
        <p:spPr/>
        <p:txBody>
          <a:bodyPr/>
          <a:lstStyle/>
          <a:p>
            <a:pPr eaLnBrk="1" hangingPunct="1"/>
            <a:r>
              <a:rPr lang="en-US" dirty="0">
                <a:latin typeface="+mj-lt"/>
              </a:rPr>
              <a:t>Physical mockups:</a:t>
            </a:r>
          </a:p>
          <a:p>
            <a:pPr lvl="1" eaLnBrk="1" hangingPunct="1"/>
            <a:r>
              <a:rPr lang="en-US" dirty="0">
                <a:latin typeface="+mj-lt"/>
              </a:rPr>
              <a:t>E.g., made from wood, clay, or foam</a:t>
            </a:r>
          </a:p>
        </p:txBody>
      </p:sp>
      <p:sp>
        <p:nvSpPr>
          <p:cNvPr id="8" name="Slide Number Placeholder 5"/>
          <p:cNvSpPr>
            <a:spLocks noGrp="1"/>
          </p:cNvSpPr>
          <p:nvPr>
            <p:ph type="sldNum" sz="quarter" idx="12"/>
          </p:nvPr>
        </p:nvSpPr>
        <p:spPr/>
        <p:txBody>
          <a:bodyPr/>
          <a:lstStyle/>
          <a:p>
            <a:pPr>
              <a:defRPr/>
            </a:pPr>
            <a:fld id="{46EC428C-A9DD-8745-9D68-AD51981A7F72}" type="slidenum">
              <a:rPr lang="en-US"/>
              <a:pPr>
                <a:defRPr/>
              </a:pPr>
              <a:t>26</a:t>
            </a:fld>
            <a:endParaRPr lang="en-US"/>
          </a:p>
        </p:txBody>
      </p:sp>
      <p:grpSp>
        <p:nvGrpSpPr>
          <p:cNvPr id="2" name="Group 1">
            <a:extLst>
              <a:ext uri="{FF2B5EF4-FFF2-40B4-BE49-F238E27FC236}">
                <a16:creationId xmlns:a16="http://schemas.microsoft.com/office/drawing/2014/main" id="{8D11AA74-A122-BDB7-9FC6-45FD49E71976}"/>
              </a:ext>
            </a:extLst>
          </p:cNvPr>
          <p:cNvGrpSpPr/>
          <p:nvPr/>
        </p:nvGrpSpPr>
        <p:grpSpPr>
          <a:xfrm>
            <a:off x="2197894" y="3140968"/>
            <a:ext cx="7796213" cy="1804987"/>
            <a:chOff x="2636466" y="3140968"/>
            <a:chExt cx="7796213" cy="1804987"/>
          </a:xfrm>
        </p:grpSpPr>
        <p:pic>
          <p:nvPicPr>
            <p:cNvPr id="47108" name="Picture 4" descr="img_9-g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6466" y="3155255"/>
              <a:ext cx="2157413" cy="1776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109" name="Picture 5" descr="img_9-g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7929" y="3140968"/>
              <a:ext cx="2147887" cy="1804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110" name="Picture 6" descr="img_9-g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266" y="3155255"/>
              <a:ext cx="2157413" cy="1776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513031" name="Text Box 7"/>
          <p:cNvSpPr txBox="1">
            <a:spLocks noChangeArrowheads="1"/>
          </p:cNvSpPr>
          <p:nvPr/>
        </p:nvSpPr>
        <p:spPr bwMode="auto">
          <a:xfrm>
            <a:off x="5487193" y="5157192"/>
            <a:ext cx="103002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t>© Canon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27</a:t>
            </a:fld>
            <a:endParaRPr lang="en-US"/>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6770" y="1384300"/>
            <a:ext cx="5458460" cy="4089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 Box 7"/>
          <p:cNvSpPr txBox="1">
            <a:spLocks noChangeArrowheads="1"/>
          </p:cNvSpPr>
          <p:nvPr/>
        </p:nvSpPr>
        <p:spPr bwMode="auto">
          <a:xfrm>
            <a:off x="5467719" y="5579948"/>
            <a:ext cx="125656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t>© Alan Kay</a:t>
            </a:r>
          </a:p>
        </p:txBody>
      </p:sp>
    </p:spTree>
    <p:extLst>
      <p:ext uri="{BB962C8B-B14F-4D97-AF65-F5344CB8AC3E}">
        <p14:creationId xmlns:p14="http://schemas.microsoft.com/office/powerpoint/2010/main" val="3029264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Other Kinds of Prototypes</a:t>
            </a:r>
          </a:p>
        </p:txBody>
      </p:sp>
      <p:sp>
        <p:nvSpPr>
          <p:cNvPr id="4" name="Content Placeholder 3"/>
          <p:cNvSpPr>
            <a:spLocks noGrp="1"/>
          </p:cNvSpPr>
          <p:nvPr>
            <p:ph idx="1"/>
          </p:nvPr>
        </p:nvSpPr>
        <p:spPr/>
        <p:txBody>
          <a:bodyPr/>
          <a:lstStyle/>
          <a:p>
            <a:r>
              <a:rPr lang="en-US" dirty="0"/>
              <a:t>Wizard of Oz:</a:t>
            </a:r>
          </a:p>
          <a:p>
            <a:pPr lvl="1"/>
            <a:r>
              <a:rPr lang="en-US" dirty="0"/>
              <a:t>“Pay no attention to that man behind the curtain!”</a:t>
            </a:r>
          </a:p>
          <a:p>
            <a:pPr lvl="1"/>
            <a:r>
              <a:rPr lang="en-US" dirty="0"/>
              <a:t>Feature is “implemented” through human intervention “behind the scenes”</a:t>
            </a:r>
          </a:p>
        </p:txBody>
      </p:sp>
      <p:sp>
        <p:nvSpPr>
          <p:cNvPr id="2" name="Slide Number Placeholder 1"/>
          <p:cNvSpPr>
            <a:spLocks noGrp="1"/>
          </p:cNvSpPr>
          <p:nvPr>
            <p:ph type="sldNum" sz="quarter" idx="12"/>
          </p:nvPr>
        </p:nvSpPr>
        <p:spPr/>
        <p:txBody>
          <a:bodyPr/>
          <a:lstStyle/>
          <a:p>
            <a:pPr>
              <a:defRPr/>
            </a:pPr>
            <a:fld id="{4A4C4060-F423-4140-B611-45C699500E42}" type="slidenum">
              <a:rPr lang="en-US" smtClean="0"/>
              <a:pPr>
                <a:defRPr/>
              </a:pPr>
              <a:t>28</a:t>
            </a:fld>
            <a:endParaRPr lang="en-US"/>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420" y="3185985"/>
            <a:ext cx="4035160" cy="31644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 Box 7"/>
          <p:cNvSpPr txBox="1">
            <a:spLocks noChangeArrowheads="1"/>
          </p:cNvSpPr>
          <p:nvPr/>
        </p:nvSpPr>
        <p:spPr bwMode="auto">
          <a:xfrm>
            <a:off x="5618946" y="6538912"/>
            <a:ext cx="95410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t>© MGM</a:t>
            </a:r>
          </a:p>
        </p:txBody>
      </p:sp>
    </p:spTree>
    <p:extLst>
      <p:ext uri="{BB962C8B-B14F-4D97-AF65-F5344CB8AC3E}">
        <p14:creationId xmlns:p14="http://schemas.microsoft.com/office/powerpoint/2010/main" val="2265097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Staged Delivery</a:t>
            </a:r>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29</a:t>
            </a:fld>
            <a:endParaRPr lang="en-US"/>
          </a:p>
        </p:txBody>
      </p:sp>
    </p:spTree>
    <p:extLst>
      <p:ext uri="{BB962C8B-B14F-4D97-AF65-F5344CB8AC3E}">
        <p14:creationId xmlns:p14="http://schemas.microsoft.com/office/powerpoint/2010/main" val="1261273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Staged Delivery</a:t>
            </a:r>
          </a:p>
        </p:txBody>
      </p:sp>
      <p:sp>
        <p:nvSpPr>
          <p:cNvPr id="50178" name="Rectangle 3"/>
          <p:cNvSpPr>
            <a:spLocks noGrp="1" noChangeArrowheads="1"/>
          </p:cNvSpPr>
          <p:nvPr>
            <p:ph idx="1"/>
          </p:nvPr>
        </p:nvSpPr>
        <p:spPr/>
        <p:txBody>
          <a:bodyPr/>
          <a:lstStyle/>
          <a:p>
            <a:pPr eaLnBrk="1" hangingPunct="1"/>
            <a:r>
              <a:rPr lang="en-US" dirty="0">
                <a:latin typeface="+mj-lt"/>
              </a:rPr>
              <a:t>Developers:</a:t>
            </a:r>
          </a:p>
          <a:p>
            <a:pPr lvl="1" eaLnBrk="1" hangingPunct="1"/>
            <a:r>
              <a:rPr lang="en-US" dirty="0">
                <a:latin typeface="+mj-lt"/>
              </a:rPr>
              <a:t>Deliver the system in a series of working releases or builds</a:t>
            </a:r>
          </a:p>
          <a:p>
            <a:pPr eaLnBrk="1" hangingPunct="1"/>
            <a:r>
              <a:rPr lang="en-US" dirty="0">
                <a:latin typeface="+mj-lt"/>
              </a:rPr>
              <a:t>Users:</a:t>
            </a:r>
          </a:p>
          <a:p>
            <a:pPr lvl="1" eaLnBrk="1" hangingPunct="1"/>
            <a:r>
              <a:rPr lang="en-US" dirty="0">
                <a:latin typeface="+mj-lt"/>
              </a:rPr>
              <a:t>Use some functionality while the rest continues to be developed</a:t>
            </a:r>
          </a:p>
          <a:p>
            <a:pPr eaLnBrk="1" hangingPunct="1"/>
            <a:r>
              <a:rPr lang="en-US" dirty="0">
                <a:latin typeface="+mj-lt"/>
              </a:rPr>
              <a:t>Possible parallelism:</a:t>
            </a:r>
          </a:p>
          <a:p>
            <a:pPr lvl="1" eaLnBrk="1" hangingPunct="1"/>
            <a:r>
              <a:rPr lang="en-US" dirty="0">
                <a:latin typeface="+mj-lt"/>
              </a:rPr>
              <a:t>Production and development systems</a:t>
            </a:r>
          </a:p>
          <a:p>
            <a:pPr lvl="1" eaLnBrk="1" hangingPunct="1"/>
            <a:r>
              <a:rPr lang="en-US" dirty="0">
                <a:latin typeface="+mj-lt"/>
              </a:rPr>
              <a:t>Staggered development streams</a:t>
            </a:r>
          </a:p>
        </p:txBody>
      </p:sp>
      <p:sp>
        <p:nvSpPr>
          <p:cNvPr id="4" name="Slide Number Placeholder 5"/>
          <p:cNvSpPr>
            <a:spLocks noGrp="1"/>
          </p:cNvSpPr>
          <p:nvPr>
            <p:ph type="sldNum" sz="quarter" idx="12"/>
          </p:nvPr>
        </p:nvSpPr>
        <p:spPr/>
        <p:txBody>
          <a:bodyPr/>
          <a:lstStyle/>
          <a:p>
            <a:pPr>
              <a:defRPr/>
            </a:pPr>
            <a:fld id="{5759457C-4EE4-3148-AE31-9BDC44B63BC9}" type="slidenum">
              <a:rPr lang="en-US"/>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Staggered Builds</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31</a:t>
            </a:fld>
            <a:endParaRPr lang="en-US"/>
          </a:p>
        </p:txBody>
      </p:sp>
      <p:grpSp>
        <p:nvGrpSpPr>
          <p:cNvPr id="32" name="Group 31"/>
          <p:cNvGrpSpPr/>
          <p:nvPr/>
        </p:nvGrpSpPr>
        <p:grpSpPr>
          <a:xfrm>
            <a:off x="2607804" y="2276872"/>
            <a:ext cx="4142343" cy="338554"/>
            <a:chOff x="1547664" y="2204864"/>
            <a:chExt cx="4142343" cy="338554"/>
          </a:xfrm>
        </p:grpSpPr>
        <p:sp>
          <p:nvSpPr>
            <p:cNvPr id="6" name="TextBox 5"/>
            <p:cNvSpPr txBox="1"/>
            <p:nvPr/>
          </p:nvSpPr>
          <p:spPr>
            <a:xfrm>
              <a:off x="1547664" y="2204864"/>
              <a:ext cx="885179" cy="338554"/>
            </a:xfrm>
            <a:prstGeom prst="rect">
              <a:avLst/>
            </a:prstGeom>
            <a:noFill/>
            <a:ln w="19050" cmpd="sng">
              <a:solidFill>
                <a:schemeClr val="tx1"/>
              </a:solidFill>
            </a:ln>
          </p:spPr>
          <p:txBody>
            <a:bodyPr wrap="none" rtlCol="0">
              <a:spAutoFit/>
            </a:bodyPr>
            <a:lstStyle/>
            <a:p>
              <a:r>
                <a:rPr lang="en-US" sz="1600" dirty="0"/>
                <a:t>Analysis</a:t>
              </a:r>
            </a:p>
          </p:txBody>
        </p:sp>
        <p:sp>
          <p:nvSpPr>
            <p:cNvPr id="8" name="TextBox 7"/>
            <p:cNvSpPr txBox="1"/>
            <p:nvPr/>
          </p:nvSpPr>
          <p:spPr>
            <a:xfrm>
              <a:off x="2915816" y="2204864"/>
              <a:ext cx="774571" cy="338554"/>
            </a:xfrm>
            <a:prstGeom prst="rect">
              <a:avLst/>
            </a:prstGeom>
            <a:noFill/>
            <a:ln w="19050" cmpd="sng">
              <a:solidFill>
                <a:schemeClr val="tx1"/>
              </a:solidFill>
            </a:ln>
          </p:spPr>
          <p:txBody>
            <a:bodyPr wrap="none" rtlCol="0">
              <a:spAutoFit/>
            </a:bodyPr>
            <a:lstStyle/>
            <a:p>
              <a:r>
                <a:rPr lang="en-US" sz="1600" dirty="0"/>
                <a:t>Design</a:t>
              </a:r>
            </a:p>
          </p:txBody>
        </p:sp>
        <p:sp>
          <p:nvSpPr>
            <p:cNvPr id="9" name="TextBox 8"/>
            <p:cNvSpPr txBox="1"/>
            <p:nvPr/>
          </p:nvSpPr>
          <p:spPr>
            <a:xfrm>
              <a:off x="4129060" y="2204864"/>
              <a:ext cx="627095" cy="338554"/>
            </a:xfrm>
            <a:prstGeom prst="rect">
              <a:avLst/>
            </a:prstGeom>
            <a:noFill/>
            <a:ln w="19050" cmpd="sng">
              <a:solidFill>
                <a:schemeClr val="tx1"/>
              </a:solidFill>
            </a:ln>
          </p:spPr>
          <p:txBody>
            <a:bodyPr wrap="none" rtlCol="0">
              <a:spAutoFit/>
            </a:bodyPr>
            <a:lstStyle/>
            <a:p>
              <a:r>
                <a:rPr lang="en-US" sz="1600" dirty="0"/>
                <a:t>Code</a:t>
              </a:r>
            </a:p>
          </p:txBody>
        </p:sp>
        <p:sp>
          <p:nvSpPr>
            <p:cNvPr id="10" name="TextBox 9"/>
            <p:cNvSpPr txBox="1"/>
            <p:nvPr/>
          </p:nvSpPr>
          <p:spPr>
            <a:xfrm>
              <a:off x="5148064" y="2204864"/>
              <a:ext cx="541943" cy="338554"/>
            </a:xfrm>
            <a:prstGeom prst="rect">
              <a:avLst/>
            </a:prstGeom>
            <a:noFill/>
            <a:ln w="19050" cmpd="sng">
              <a:solidFill>
                <a:schemeClr val="tx1"/>
              </a:solidFill>
            </a:ln>
          </p:spPr>
          <p:txBody>
            <a:bodyPr wrap="none" rtlCol="0">
              <a:spAutoFit/>
            </a:bodyPr>
            <a:lstStyle/>
            <a:p>
              <a:r>
                <a:rPr lang="en-US" sz="1600" dirty="0"/>
                <a:t>Test</a:t>
              </a:r>
            </a:p>
          </p:txBody>
        </p:sp>
        <p:cxnSp>
          <p:nvCxnSpPr>
            <p:cNvPr id="22" name="Straight Arrow Connector 21"/>
            <p:cNvCxnSpPr>
              <a:stCxn id="6" idx="3"/>
              <a:endCxn id="8" idx="1"/>
            </p:cNvCxnSpPr>
            <p:nvPr/>
          </p:nvCxnSpPr>
          <p:spPr>
            <a:xfrm>
              <a:off x="2432843" y="2374141"/>
              <a:ext cx="4829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8" idx="3"/>
              <a:endCxn id="9" idx="1"/>
            </p:cNvCxnSpPr>
            <p:nvPr/>
          </p:nvCxnSpPr>
          <p:spPr>
            <a:xfrm>
              <a:off x="3690387" y="2374141"/>
              <a:ext cx="4386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9" idx="3"/>
              <a:endCxn id="10" idx="1"/>
            </p:cNvCxnSpPr>
            <p:nvPr/>
          </p:nvCxnSpPr>
          <p:spPr>
            <a:xfrm>
              <a:off x="4756155" y="2374141"/>
              <a:ext cx="391909"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33" name="Group 32"/>
          <p:cNvGrpSpPr/>
          <p:nvPr/>
        </p:nvGrpSpPr>
        <p:grpSpPr>
          <a:xfrm>
            <a:off x="4263988" y="3259723"/>
            <a:ext cx="4142343" cy="338554"/>
            <a:chOff x="1547664" y="2204864"/>
            <a:chExt cx="4142343" cy="338554"/>
          </a:xfrm>
        </p:grpSpPr>
        <p:sp>
          <p:nvSpPr>
            <p:cNvPr id="34" name="TextBox 33"/>
            <p:cNvSpPr txBox="1"/>
            <p:nvPr/>
          </p:nvSpPr>
          <p:spPr>
            <a:xfrm>
              <a:off x="1547664" y="2204864"/>
              <a:ext cx="885179" cy="338554"/>
            </a:xfrm>
            <a:prstGeom prst="rect">
              <a:avLst/>
            </a:prstGeom>
            <a:noFill/>
            <a:ln w="19050" cmpd="sng">
              <a:solidFill>
                <a:schemeClr val="tx1"/>
              </a:solidFill>
            </a:ln>
          </p:spPr>
          <p:txBody>
            <a:bodyPr wrap="none" rtlCol="0">
              <a:spAutoFit/>
            </a:bodyPr>
            <a:lstStyle/>
            <a:p>
              <a:r>
                <a:rPr lang="en-US" sz="1600" dirty="0"/>
                <a:t>Analysis</a:t>
              </a:r>
            </a:p>
          </p:txBody>
        </p:sp>
        <p:sp>
          <p:nvSpPr>
            <p:cNvPr id="35" name="TextBox 34"/>
            <p:cNvSpPr txBox="1"/>
            <p:nvPr/>
          </p:nvSpPr>
          <p:spPr>
            <a:xfrm>
              <a:off x="2915816" y="2204864"/>
              <a:ext cx="774571" cy="338554"/>
            </a:xfrm>
            <a:prstGeom prst="rect">
              <a:avLst/>
            </a:prstGeom>
            <a:noFill/>
            <a:ln w="19050" cmpd="sng">
              <a:solidFill>
                <a:schemeClr val="tx1"/>
              </a:solidFill>
            </a:ln>
          </p:spPr>
          <p:txBody>
            <a:bodyPr wrap="none" rtlCol="0">
              <a:spAutoFit/>
            </a:bodyPr>
            <a:lstStyle/>
            <a:p>
              <a:r>
                <a:rPr lang="en-US" sz="1600" dirty="0"/>
                <a:t>Design</a:t>
              </a:r>
            </a:p>
          </p:txBody>
        </p:sp>
        <p:sp>
          <p:nvSpPr>
            <p:cNvPr id="36" name="TextBox 35"/>
            <p:cNvSpPr txBox="1"/>
            <p:nvPr/>
          </p:nvSpPr>
          <p:spPr>
            <a:xfrm>
              <a:off x="4129060" y="2204864"/>
              <a:ext cx="627095" cy="338554"/>
            </a:xfrm>
            <a:prstGeom prst="rect">
              <a:avLst/>
            </a:prstGeom>
            <a:noFill/>
            <a:ln w="19050" cmpd="sng">
              <a:solidFill>
                <a:schemeClr val="tx1"/>
              </a:solidFill>
            </a:ln>
          </p:spPr>
          <p:txBody>
            <a:bodyPr wrap="none" rtlCol="0">
              <a:spAutoFit/>
            </a:bodyPr>
            <a:lstStyle/>
            <a:p>
              <a:r>
                <a:rPr lang="en-US" sz="1600" dirty="0"/>
                <a:t>Code</a:t>
              </a:r>
            </a:p>
          </p:txBody>
        </p:sp>
        <p:sp>
          <p:nvSpPr>
            <p:cNvPr id="37" name="TextBox 36"/>
            <p:cNvSpPr txBox="1"/>
            <p:nvPr/>
          </p:nvSpPr>
          <p:spPr>
            <a:xfrm>
              <a:off x="5148064" y="2204864"/>
              <a:ext cx="541943" cy="338554"/>
            </a:xfrm>
            <a:prstGeom prst="rect">
              <a:avLst/>
            </a:prstGeom>
            <a:noFill/>
            <a:ln w="19050" cmpd="sng">
              <a:solidFill>
                <a:schemeClr val="tx1"/>
              </a:solidFill>
            </a:ln>
          </p:spPr>
          <p:txBody>
            <a:bodyPr wrap="none" rtlCol="0">
              <a:spAutoFit/>
            </a:bodyPr>
            <a:lstStyle/>
            <a:p>
              <a:r>
                <a:rPr lang="en-US" sz="1600" dirty="0"/>
                <a:t>Test</a:t>
              </a:r>
            </a:p>
          </p:txBody>
        </p:sp>
        <p:cxnSp>
          <p:nvCxnSpPr>
            <p:cNvPr id="38" name="Straight Arrow Connector 37"/>
            <p:cNvCxnSpPr>
              <a:stCxn id="34" idx="3"/>
              <a:endCxn id="35" idx="1"/>
            </p:cNvCxnSpPr>
            <p:nvPr/>
          </p:nvCxnSpPr>
          <p:spPr>
            <a:xfrm>
              <a:off x="2432843" y="2374141"/>
              <a:ext cx="4829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35" idx="3"/>
              <a:endCxn id="36" idx="1"/>
            </p:cNvCxnSpPr>
            <p:nvPr/>
          </p:nvCxnSpPr>
          <p:spPr>
            <a:xfrm>
              <a:off x="3690387" y="2374141"/>
              <a:ext cx="4386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36" idx="3"/>
              <a:endCxn id="37" idx="1"/>
            </p:cNvCxnSpPr>
            <p:nvPr/>
          </p:nvCxnSpPr>
          <p:spPr>
            <a:xfrm>
              <a:off x="4756155" y="2374141"/>
              <a:ext cx="391909"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41" name="Group 40"/>
          <p:cNvGrpSpPr/>
          <p:nvPr/>
        </p:nvGrpSpPr>
        <p:grpSpPr>
          <a:xfrm>
            <a:off x="5848164" y="4221088"/>
            <a:ext cx="4142343" cy="338554"/>
            <a:chOff x="1547664" y="2204864"/>
            <a:chExt cx="4142343" cy="338554"/>
          </a:xfrm>
        </p:grpSpPr>
        <p:sp>
          <p:nvSpPr>
            <p:cNvPr id="42" name="TextBox 41"/>
            <p:cNvSpPr txBox="1"/>
            <p:nvPr/>
          </p:nvSpPr>
          <p:spPr>
            <a:xfrm>
              <a:off x="1547664" y="2204864"/>
              <a:ext cx="885179" cy="338554"/>
            </a:xfrm>
            <a:prstGeom prst="rect">
              <a:avLst/>
            </a:prstGeom>
            <a:noFill/>
            <a:ln w="19050" cmpd="sng">
              <a:solidFill>
                <a:schemeClr val="tx1"/>
              </a:solidFill>
            </a:ln>
          </p:spPr>
          <p:txBody>
            <a:bodyPr wrap="none" rtlCol="0">
              <a:spAutoFit/>
            </a:bodyPr>
            <a:lstStyle/>
            <a:p>
              <a:r>
                <a:rPr lang="en-US" sz="1600" dirty="0"/>
                <a:t>Analysis</a:t>
              </a:r>
            </a:p>
          </p:txBody>
        </p:sp>
        <p:sp>
          <p:nvSpPr>
            <p:cNvPr id="43" name="TextBox 42"/>
            <p:cNvSpPr txBox="1"/>
            <p:nvPr/>
          </p:nvSpPr>
          <p:spPr>
            <a:xfrm>
              <a:off x="2915816" y="2204864"/>
              <a:ext cx="774571" cy="338554"/>
            </a:xfrm>
            <a:prstGeom prst="rect">
              <a:avLst/>
            </a:prstGeom>
            <a:noFill/>
            <a:ln w="19050" cmpd="sng">
              <a:solidFill>
                <a:schemeClr val="tx1"/>
              </a:solidFill>
            </a:ln>
          </p:spPr>
          <p:txBody>
            <a:bodyPr wrap="none" rtlCol="0">
              <a:spAutoFit/>
            </a:bodyPr>
            <a:lstStyle/>
            <a:p>
              <a:r>
                <a:rPr lang="en-US" sz="1600" dirty="0"/>
                <a:t>Design</a:t>
              </a:r>
            </a:p>
          </p:txBody>
        </p:sp>
        <p:sp>
          <p:nvSpPr>
            <p:cNvPr id="44" name="TextBox 43"/>
            <p:cNvSpPr txBox="1"/>
            <p:nvPr/>
          </p:nvSpPr>
          <p:spPr>
            <a:xfrm>
              <a:off x="4129060" y="2204864"/>
              <a:ext cx="627095" cy="338554"/>
            </a:xfrm>
            <a:prstGeom prst="rect">
              <a:avLst/>
            </a:prstGeom>
            <a:noFill/>
            <a:ln w="19050" cmpd="sng">
              <a:solidFill>
                <a:schemeClr val="tx1"/>
              </a:solidFill>
            </a:ln>
          </p:spPr>
          <p:txBody>
            <a:bodyPr wrap="none" rtlCol="0">
              <a:spAutoFit/>
            </a:bodyPr>
            <a:lstStyle/>
            <a:p>
              <a:r>
                <a:rPr lang="en-US" sz="1600" dirty="0"/>
                <a:t>Code</a:t>
              </a:r>
            </a:p>
          </p:txBody>
        </p:sp>
        <p:sp>
          <p:nvSpPr>
            <p:cNvPr id="45" name="TextBox 44"/>
            <p:cNvSpPr txBox="1"/>
            <p:nvPr/>
          </p:nvSpPr>
          <p:spPr>
            <a:xfrm>
              <a:off x="5148064" y="2204864"/>
              <a:ext cx="541943" cy="338554"/>
            </a:xfrm>
            <a:prstGeom prst="rect">
              <a:avLst/>
            </a:prstGeom>
            <a:noFill/>
            <a:ln w="19050" cmpd="sng">
              <a:solidFill>
                <a:schemeClr val="tx1"/>
              </a:solidFill>
            </a:ln>
          </p:spPr>
          <p:txBody>
            <a:bodyPr wrap="none" rtlCol="0">
              <a:spAutoFit/>
            </a:bodyPr>
            <a:lstStyle/>
            <a:p>
              <a:r>
                <a:rPr lang="en-US" sz="1600" dirty="0"/>
                <a:t>Test</a:t>
              </a:r>
            </a:p>
          </p:txBody>
        </p:sp>
        <p:cxnSp>
          <p:nvCxnSpPr>
            <p:cNvPr id="46" name="Straight Arrow Connector 45"/>
            <p:cNvCxnSpPr>
              <a:stCxn id="42" idx="3"/>
              <a:endCxn id="43" idx="1"/>
            </p:cNvCxnSpPr>
            <p:nvPr/>
          </p:nvCxnSpPr>
          <p:spPr>
            <a:xfrm>
              <a:off x="2432843" y="2374141"/>
              <a:ext cx="4829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43" idx="3"/>
              <a:endCxn id="44" idx="1"/>
            </p:cNvCxnSpPr>
            <p:nvPr/>
          </p:nvCxnSpPr>
          <p:spPr>
            <a:xfrm>
              <a:off x="3690387" y="2374141"/>
              <a:ext cx="438673"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44" idx="3"/>
              <a:endCxn id="45" idx="1"/>
            </p:cNvCxnSpPr>
            <p:nvPr/>
          </p:nvCxnSpPr>
          <p:spPr>
            <a:xfrm>
              <a:off x="4756155" y="2374141"/>
              <a:ext cx="391909"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cxnSp>
        <p:nvCxnSpPr>
          <p:cNvPr id="54" name="Straight Arrow Connector 53"/>
          <p:cNvCxnSpPr/>
          <p:nvPr/>
        </p:nvCxnSpPr>
        <p:spPr>
          <a:xfrm>
            <a:off x="2535795" y="5085184"/>
            <a:ext cx="7560840"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952619" y="5301208"/>
            <a:ext cx="255198" cy="338554"/>
          </a:xfrm>
          <a:prstGeom prst="rect">
            <a:avLst/>
          </a:prstGeom>
          <a:noFill/>
        </p:spPr>
        <p:txBody>
          <a:bodyPr wrap="none" rtlCol="0">
            <a:spAutoFit/>
          </a:bodyPr>
          <a:lstStyle/>
          <a:p>
            <a:r>
              <a:rPr lang="en-US" sz="1600" dirty="0"/>
              <a:t>t</a:t>
            </a:r>
          </a:p>
        </p:txBody>
      </p:sp>
      <p:sp>
        <p:nvSpPr>
          <p:cNvPr id="56" name="TextBox 55"/>
          <p:cNvSpPr txBox="1"/>
          <p:nvPr/>
        </p:nvSpPr>
        <p:spPr>
          <a:xfrm>
            <a:off x="5735960" y="1844824"/>
            <a:ext cx="1314784" cy="338554"/>
          </a:xfrm>
          <a:prstGeom prst="rect">
            <a:avLst/>
          </a:prstGeom>
          <a:noFill/>
        </p:spPr>
        <p:txBody>
          <a:bodyPr wrap="none" rtlCol="0">
            <a:spAutoFit/>
          </a:bodyPr>
          <a:lstStyle/>
          <a:p>
            <a:r>
              <a:rPr lang="en-US" sz="1600" dirty="0"/>
              <a:t>deliver build </a:t>
            </a:r>
            <a:r>
              <a:rPr lang="en-US" sz="1600" dirty="0" err="1"/>
              <a:t>i</a:t>
            </a:r>
            <a:endParaRPr lang="en-US" sz="1600" dirty="0"/>
          </a:p>
        </p:txBody>
      </p:sp>
      <p:sp>
        <p:nvSpPr>
          <p:cNvPr id="57" name="TextBox 56"/>
          <p:cNvSpPr txBox="1"/>
          <p:nvPr/>
        </p:nvSpPr>
        <p:spPr>
          <a:xfrm>
            <a:off x="7248128" y="2852936"/>
            <a:ext cx="1511952" cy="338554"/>
          </a:xfrm>
          <a:prstGeom prst="rect">
            <a:avLst/>
          </a:prstGeom>
          <a:noFill/>
        </p:spPr>
        <p:txBody>
          <a:bodyPr wrap="none" rtlCol="0">
            <a:spAutoFit/>
          </a:bodyPr>
          <a:lstStyle/>
          <a:p>
            <a:r>
              <a:rPr lang="en-US" sz="1600" dirty="0"/>
              <a:t>deliver build i+1</a:t>
            </a:r>
          </a:p>
        </p:txBody>
      </p:sp>
      <p:sp>
        <p:nvSpPr>
          <p:cNvPr id="58" name="TextBox 57"/>
          <p:cNvSpPr txBox="1"/>
          <p:nvPr/>
        </p:nvSpPr>
        <p:spPr>
          <a:xfrm>
            <a:off x="8794170" y="3789040"/>
            <a:ext cx="1524776" cy="338554"/>
          </a:xfrm>
          <a:prstGeom prst="rect">
            <a:avLst/>
          </a:prstGeom>
          <a:noFill/>
        </p:spPr>
        <p:txBody>
          <a:bodyPr wrap="none" rtlCol="0">
            <a:spAutoFit/>
          </a:bodyPr>
          <a:lstStyle/>
          <a:p>
            <a:r>
              <a:rPr lang="en-US" sz="1600" dirty="0"/>
              <a:t>deliver build i+2</a:t>
            </a:r>
          </a:p>
        </p:txBody>
      </p:sp>
    </p:spTree>
    <p:extLst>
      <p:ext uri="{BB962C8B-B14F-4D97-AF65-F5344CB8AC3E}">
        <p14:creationId xmlns:p14="http://schemas.microsoft.com/office/powerpoint/2010/main" val="135345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Staged Delivery</a:t>
            </a:r>
          </a:p>
        </p:txBody>
      </p:sp>
      <p:sp>
        <p:nvSpPr>
          <p:cNvPr id="52226" name="Rectangle 3"/>
          <p:cNvSpPr>
            <a:spLocks noGrp="1" noChangeArrowheads="1"/>
          </p:cNvSpPr>
          <p:nvPr>
            <p:ph idx="1"/>
          </p:nvPr>
        </p:nvSpPr>
        <p:spPr/>
        <p:txBody>
          <a:bodyPr/>
          <a:lstStyle/>
          <a:p>
            <a:pPr eaLnBrk="1" hangingPunct="1"/>
            <a:r>
              <a:rPr lang="en-US" dirty="0">
                <a:latin typeface="+mj-lt"/>
              </a:rPr>
              <a:t>Pros:</a:t>
            </a:r>
          </a:p>
          <a:p>
            <a:pPr lvl="1" eaLnBrk="1" hangingPunct="1"/>
            <a:r>
              <a:rPr lang="en-US" dirty="0">
                <a:latin typeface="+mj-lt"/>
              </a:rPr>
              <a:t>Provides more options</a:t>
            </a:r>
          </a:p>
          <a:p>
            <a:pPr lvl="1" eaLnBrk="1" hangingPunct="1"/>
            <a:r>
              <a:rPr lang="en-US" dirty="0">
                <a:latin typeface="+mj-lt"/>
              </a:rPr>
              <a:t>Different builds focus on specific features</a:t>
            </a:r>
          </a:p>
          <a:p>
            <a:pPr lvl="1" eaLnBrk="1" hangingPunct="1"/>
            <a:r>
              <a:rPr lang="en-US" dirty="0">
                <a:latin typeface="+mj-lt"/>
              </a:rPr>
              <a:t>Reduces estimation errors</a:t>
            </a:r>
          </a:p>
          <a:p>
            <a:pPr lvl="1" eaLnBrk="1" hangingPunct="1"/>
            <a:r>
              <a:rPr lang="en-US" dirty="0">
                <a:latin typeface="+mj-lt"/>
              </a:rPr>
              <a:t>Risks are reduced earlier</a:t>
            </a:r>
          </a:p>
        </p:txBody>
      </p:sp>
      <p:sp>
        <p:nvSpPr>
          <p:cNvPr id="4" name="Slide Number Placeholder 5"/>
          <p:cNvSpPr>
            <a:spLocks noGrp="1"/>
          </p:cNvSpPr>
          <p:nvPr>
            <p:ph type="sldNum" sz="quarter" idx="12"/>
          </p:nvPr>
        </p:nvSpPr>
        <p:spPr/>
        <p:txBody>
          <a:bodyPr/>
          <a:lstStyle/>
          <a:p>
            <a:pPr>
              <a:defRPr/>
            </a:pPr>
            <a:fld id="{D258AF42-DA4E-7044-9CEF-84EE37E6E8C1}" type="slidenum">
              <a:rPr lang="en-US"/>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6" name="Rectangle 4"/>
          <p:cNvSpPr>
            <a:spLocks noGrp="1" noChangeArrowheads="1"/>
          </p:cNvSpPr>
          <p:nvPr>
            <p:ph type="title"/>
          </p:nvPr>
        </p:nvSpPr>
        <p:spPr/>
        <p:txBody>
          <a:bodyPr/>
          <a:lstStyle/>
          <a:p>
            <a:pPr>
              <a:defRPr/>
            </a:pPr>
            <a:r>
              <a:rPr lang="en-US" dirty="0">
                <a:solidFill>
                  <a:schemeClr val="tx2">
                    <a:satMod val="130000"/>
                  </a:schemeClr>
                </a:solidFill>
                <a:ea typeface="+mj-ea"/>
                <a:cs typeface="+mj-cs"/>
              </a:rPr>
              <a:t>Staged Delivery</a:t>
            </a:r>
          </a:p>
        </p:txBody>
      </p:sp>
      <p:sp>
        <p:nvSpPr>
          <p:cNvPr id="53250" name="Rectangle 5"/>
          <p:cNvSpPr>
            <a:spLocks noGrp="1" noChangeArrowheads="1"/>
          </p:cNvSpPr>
          <p:nvPr>
            <p:ph idx="1"/>
          </p:nvPr>
        </p:nvSpPr>
        <p:spPr/>
        <p:txBody>
          <a:bodyPr/>
          <a:lstStyle/>
          <a:p>
            <a:pPr eaLnBrk="1" hangingPunct="1"/>
            <a:r>
              <a:rPr lang="en-US" dirty="0">
                <a:latin typeface="+mj-lt"/>
              </a:rPr>
              <a:t>Cons:</a:t>
            </a:r>
          </a:p>
          <a:p>
            <a:pPr lvl="1" eaLnBrk="1" hangingPunct="1"/>
            <a:r>
              <a:rPr lang="en-US" dirty="0">
                <a:latin typeface="+mj-lt"/>
              </a:rPr>
              <a:t>Overhead needed to plan and drive the product toward staged releases</a:t>
            </a:r>
          </a:p>
          <a:p>
            <a:pPr lvl="1" eaLnBrk="1" hangingPunct="1"/>
            <a:r>
              <a:rPr lang="en-US" dirty="0">
                <a:latin typeface="+mj-lt"/>
              </a:rPr>
              <a:t>Extra complexity of supporting multiple versions in the field</a:t>
            </a:r>
          </a:p>
        </p:txBody>
      </p:sp>
      <p:sp>
        <p:nvSpPr>
          <p:cNvPr id="4" name="Slide Number Placeholder 5"/>
          <p:cNvSpPr>
            <a:spLocks noGrp="1"/>
          </p:cNvSpPr>
          <p:nvPr>
            <p:ph type="sldNum" sz="quarter" idx="12"/>
          </p:nvPr>
        </p:nvSpPr>
        <p:spPr/>
        <p:txBody>
          <a:bodyPr/>
          <a:lstStyle/>
          <a:p>
            <a:pPr>
              <a:defRPr/>
            </a:pPr>
            <a:fld id="{42144558-7387-EB43-B5C4-9D7C59197A96}" type="slidenum">
              <a:rPr lang="en-US"/>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F1769F62-088B-4349-8492-0566A7936599}" type="slidenum">
              <a:rPr lang="en-US"/>
              <a:pPr>
                <a:defRPr/>
              </a:pPr>
              <a:t>34</a:t>
            </a:fld>
            <a:endParaRPr lang="en-US"/>
          </a:p>
        </p:txBody>
      </p:sp>
      <p:sp>
        <p:nvSpPr>
          <p:cNvPr id="5" name="Text Box 7"/>
          <p:cNvSpPr txBox="1">
            <a:spLocks noChangeArrowheads="1"/>
          </p:cNvSpPr>
          <p:nvPr/>
        </p:nvSpPr>
        <p:spPr bwMode="auto">
          <a:xfrm>
            <a:off x="5323061" y="6381328"/>
            <a:ext cx="133562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t>© Microsoft</a:t>
            </a:r>
          </a:p>
        </p:txBody>
      </p:sp>
      <p:pic>
        <p:nvPicPr>
          <p:cNvPr id="7" name="Picture 6" descr="Microsoft Group 1978.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2680" y="960120"/>
            <a:ext cx="7406640" cy="4937760"/>
          </a:xfrm>
          <a:prstGeom prst="rect">
            <a:avLst/>
          </a:prstGeom>
        </p:spPr>
      </p:pic>
      <p:pic>
        <p:nvPicPr>
          <p:cNvPr id="8" name="Picture 7" descr="Microsoft Crew Reunited.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8700" y="914400"/>
            <a:ext cx="7594600" cy="5029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Microsoft Daily Build</a:t>
            </a:r>
          </a:p>
        </p:txBody>
      </p:sp>
      <p:sp>
        <p:nvSpPr>
          <p:cNvPr id="55298" name="Rectangle 3"/>
          <p:cNvSpPr>
            <a:spLocks noGrp="1" noChangeArrowheads="1"/>
          </p:cNvSpPr>
          <p:nvPr>
            <p:ph idx="1"/>
          </p:nvPr>
        </p:nvSpPr>
        <p:spPr/>
        <p:txBody>
          <a:bodyPr/>
          <a:lstStyle/>
          <a:p>
            <a:pPr eaLnBrk="1" hangingPunct="1"/>
            <a:r>
              <a:rPr lang="en-US" dirty="0">
                <a:latin typeface="+mj-lt"/>
              </a:rPr>
              <a:t>Process:</a:t>
            </a:r>
          </a:p>
          <a:p>
            <a:pPr lvl="1" eaLnBrk="1" hangingPunct="1"/>
            <a:r>
              <a:rPr lang="en-US" dirty="0">
                <a:latin typeface="+mj-lt"/>
              </a:rPr>
              <a:t>Software product is built every day</a:t>
            </a:r>
          </a:p>
          <a:p>
            <a:pPr lvl="1" eaLnBrk="1" hangingPunct="1"/>
            <a:r>
              <a:rPr lang="en-US" dirty="0">
                <a:latin typeface="+mj-lt"/>
              </a:rPr>
              <a:t>Build cycle becomes the heartbeat of the project; everyone knows the status</a:t>
            </a:r>
          </a:p>
          <a:p>
            <a:pPr lvl="1" eaLnBrk="1" hangingPunct="1"/>
            <a:r>
              <a:rPr lang="en-US" dirty="0">
                <a:latin typeface="+mj-lt"/>
              </a:rPr>
              <a:t>Built system must be runnable for overnight testing</a:t>
            </a:r>
          </a:p>
        </p:txBody>
      </p:sp>
      <p:sp>
        <p:nvSpPr>
          <p:cNvPr id="4" name="Slide Number Placeholder 5"/>
          <p:cNvSpPr>
            <a:spLocks noGrp="1"/>
          </p:cNvSpPr>
          <p:nvPr>
            <p:ph type="sldNum" sz="quarter" idx="12"/>
          </p:nvPr>
        </p:nvSpPr>
        <p:spPr/>
        <p:txBody>
          <a:bodyPr/>
          <a:lstStyle/>
          <a:p>
            <a:pPr>
              <a:defRPr/>
            </a:pPr>
            <a:fld id="{A59D0079-FB4B-9B48-AB70-DBED003B5C90}" type="slidenum">
              <a:rPr lang="en-US"/>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Microsoft Daily Build</a:t>
            </a:r>
          </a:p>
        </p:txBody>
      </p:sp>
      <p:sp>
        <p:nvSpPr>
          <p:cNvPr id="56322" name="Rectangle 3"/>
          <p:cNvSpPr>
            <a:spLocks noGrp="1" noChangeArrowheads="1"/>
          </p:cNvSpPr>
          <p:nvPr>
            <p:ph idx="1"/>
          </p:nvPr>
        </p:nvSpPr>
        <p:spPr/>
        <p:txBody>
          <a:bodyPr/>
          <a:lstStyle/>
          <a:p>
            <a:pPr eaLnBrk="1" hangingPunct="1"/>
            <a:r>
              <a:rPr lang="en-US" dirty="0">
                <a:latin typeface="+mj-lt"/>
              </a:rPr>
              <a:t>Testing:</a:t>
            </a:r>
          </a:p>
          <a:p>
            <a:pPr lvl="1" eaLnBrk="1" hangingPunct="1"/>
            <a:r>
              <a:rPr lang="en-US" dirty="0">
                <a:latin typeface="+mj-lt"/>
              </a:rPr>
              <a:t>If the build breaks (not runnable nor testable), the whole process is stopped until the problem is found</a:t>
            </a:r>
          </a:p>
          <a:p>
            <a:pPr lvl="1" eaLnBrk="1" hangingPunct="1"/>
            <a:r>
              <a:rPr lang="en-US" dirty="0">
                <a:latin typeface="+mj-lt"/>
              </a:rPr>
              <a:t>Failures detected during testing are available and broadcast next morning</a:t>
            </a:r>
          </a:p>
          <a:p>
            <a:pPr lvl="1" eaLnBrk="1" hangingPunct="1"/>
            <a:r>
              <a:rPr lang="en-US" dirty="0">
                <a:latin typeface="+mj-lt"/>
              </a:rPr>
              <a:t>Huge incentive not to break the build</a:t>
            </a:r>
          </a:p>
          <a:p>
            <a:pPr lvl="1" eaLnBrk="1" hangingPunct="1"/>
            <a:endParaRPr lang="en-US" dirty="0">
              <a:latin typeface="+mj-lt"/>
            </a:endParaRPr>
          </a:p>
          <a:p>
            <a:pPr lvl="1" eaLnBrk="1" hangingPunct="1"/>
            <a:endParaRPr lang="en-US" dirty="0">
              <a:latin typeface="+mj-lt"/>
            </a:endParaRPr>
          </a:p>
        </p:txBody>
      </p:sp>
      <p:sp>
        <p:nvSpPr>
          <p:cNvPr id="4" name="Slide Number Placeholder 5"/>
          <p:cNvSpPr>
            <a:spLocks noGrp="1"/>
          </p:cNvSpPr>
          <p:nvPr>
            <p:ph type="sldNum" sz="quarter" idx="12"/>
          </p:nvPr>
        </p:nvSpPr>
        <p:spPr/>
        <p:txBody>
          <a:bodyPr/>
          <a:lstStyle/>
          <a:p>
            <a:pPr>
              <a:defRPr/>
            </a:pPr>
            <a:fld id="{BC876851-9F4A-3841-8B82-10D0C22DB783}" type="slidenum">
              <a:rPr lang="en-US"/>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Process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703CFF19-5A96-5640-AC08-892D1C270A16}" type="slidenum">
              <a:rPr lang="en-US" smtClean="0"/>
              <a:pPr>
                <a:defRPr/>
              </a:pPr>
              <a:t>37</a:t>
            </a:fld>
            <a:endParaRPr lang="en-US"/>
          </a:p>
        </p:txBody>
      </p:sp>
    </p:spTree>
    <p:extLst>
      <p:ext uri="{BB962C8B-B14F-4D97-AF65-F5344CB8AC3E}">
        <p14:creationId xmlns:p14="http://schemas.microsoft.com/office/powerpoint/2010/main" val="4235325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Practices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703CFF19-5A96-5640-AC08-892D1C270A16}" type="slidenum">
              <a:rPr lang="en-US" smtClean="0"/>
              <a:pPr>
                <a:defRPr/>
              </a:pPr>
              <a:t>38</a:t>
            </a:fld>
            <a:endParaRPr lang="en-US"/>
          </a:p>
        </p:txBody>
      </p:sp>
    </p:spTree>
    <p:extLst>
      <p:ext uri="{BB962C8B-B14F-4D97-AF65-F5344CB8AC3E}">
        <p14:creationId xmlns:p14="http://schemas.microsoft.com/office/powerpoint/2010/main" val="3236590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“Agile Manifesto”</a:t>
            </a:r>
          </a:p>
        </p:txBody>
      </p:sp>
      <p:sp>
        <p:nvSpPr>
          <p:cNvPr id="6" name="Content Placeholder 5"/>
          <p:cNvSpPr>
            <a:spLocks noGrp="1"/>
          </p:cNvSpPr>
          <p:nvPr>
            <p:ph idx="1"/>
          </p:nvPr>
        </p:nvSpPr>
        <p:spPr/>
        <p:txBody>
          <a:bodyPr/>
          <a:lstStyle/>
          <a:p>
            <a:r>
              <a:rPr lang="en-US" dirty="0"/>
              <a:t>A short set of values for building software in a flexible, iterative way</a:t>
            </a:r>
            <a:endParaRPr lang="en-US" dirty="0">
              <a:hlinkClick r:id="rId3"/>
            </a:endParaRPr>
          </a:p>
          <a:p>
            <a:r>
              <a:rPr lang="en-US" dirty="0">
                <a:hlinkClick r:id="rId3"/>
              </a:rPr>
              <a:t>http://agilemanifesto.org/</a:t>
            </a:r>
            <a:endParaRPr lang="en-US" dirty="0"/>
          </a:p>
        </p:txBody>
      </p:sp>
      <p:sp>
        <p:nvSpPr>
          <p:cNvPr id="4" name="Slide Number Placeholder 3"/>
          <p:cNvSpPr>
            <a:spLocks noGrp="1"/>
          </p:cNvSpPr>
          <p:nvPr>
            <p:ph type="sldNum" sz="quarter" idx="12"/>
          </p:nvPr>
        </p:nvSpPr>
        <p:spPr/>
        <p:txBody>
          <a:bodyPr/>
          <a:lstStyle/>
          <a:p>
            <a:pPr>
              <a:defRPr/>
            </a:pPr>
            <a:fld id="{703CFF19-5A96-5640-AC08-892D1C270A16}" type="slidenum">
              <a:rPr lang="en-US" smtClean="0"/>
              <a:pPr>
                <a:defRPr/>
              </a:pPr>
              <a:t>39</a:t>
            </a:fld>
            <a:endParaRPr lang="en-US"/>
          </a:p>
        </p:txBody>
      </p:sp>
    </p:spTree>
    <p:extLst>
      <p:ext uri="{BB962C8B-B14F-4D97-AF65-F5344CB8AC3E}">
        <p14:creationId xmlns:p14="http://schemas.microsoft.com/office/powerpoint/2010/main" val="7323136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Agile Principles</a:t>
            </a:r>
          </a:p>
        </p:txBody>
      </p:sp>
      <p:sp>
        <p:nvSpPr>
          <p:cNvPr id="72706" name="Rectangle 3"/>
          <p:cNvSpPr>
            <a:spLocks noGrp="1" noChangeArrowheads="1"/>
          </p:cNvSpPr>
          <p:nvPr>
            <p:ph idx="1"/>
          </p:nvPr>
        </p:nvSpPr>
        <p:spPr/>
        <p:txBody>
          <a:bodyPr/>
          <a:lstStyle/>
          <a:p>
            <a:pPr eaLnBrk="1" hangingPunct="1"/>
            <a:r>
              <a:rPr lang="en-US" dirty="0">
                <a:latin typeface="+mj-lt"/>
              </a:rPr>
              <a:t>Individuals and interactions over processes and tools</a:t>
            </a:r>
          </a:p>
          <a:p>
            <a:pPr eaLnBrk="1" hangingPunct="1"/>
            <a:r>
              <a:rPr lang="en-US" dirty="0">
                <a:latin typeface="+mj-lt"/>
              </a:rPr>
              <a:t>Working software over comprehensive documentation</a:t>
            </a:r>
          </a:p>
          <a:p>
            <a:pPr eaLnBrk="1" hangingPunct="1"/>
            <a:r>
              <a:rPr lang="en-US" dirty="0">
                <a:latin typeface="+mj-lt"/>
              </a:rPr>
              <a:t>Customer collaboration over contract negotiation</a:t>
            </a:r>
          </a:p>
          <a:p>
            <a:pPr eaLnBrk="1" hangingPunct="1"/>
            <a:r>
              <a:rPr lang="en-US" dirty="0">
                <a:latin typeface="+mj-lt"/>
              </a:rPr>
              <a:t>Responding to change over following a fixed plan</a:t>
            </a:r>
          </a:p>
        </p:txBody>
      </p:sp>
      <p:sp>
        <p:nvSpPr>
          <p:cNvPr id="4" name="Slide Number Placeholder 5"/>
          <p:cNvSpPr>
            <a:spLocks noGrp="1"/>
          </p:cNvSpPr>
          <p:nvPr>
            <p:ph type="sldNum" sz="quarter" idx="12"/>
          </p:nvPr>
        </p:nvSpPr>
        <p:spPr/>
        <p:txBody>
          <a:bodyPr/>
          <a:lstStyle/>
          <a:p>
            <a:pPr>
              <a:defRPr/>
            </a:pPr>
            <a:fld id="{AB1AAE36-5366-B44D-9B4F-2C4365732BEA}" type="slidenum">
              <a:rPr lang="en-US"/>
              <a:pPr>
                <a:defRPr/>
              </a:pPr>
              <a:t>40</a:t>
            </a:fld>
            <a:endParaRPr lang="en-US"/>
          </a:p>
        </p:txBody>
      </p:sp>
    </p:spTree>
    <p:extLst>
      <p:ext uri="{BB962C8B-B14F-4D97-AF65-F5344CB8AC3E}">
        <p14:creationId xmlns:p14="http://schemas.microsoft.com/office/powerpoint/2010/main" val="1187351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4039-4070-4AE8-D69C-050853B69A44}"/>
            </a:ext>
          </a:extLst>
        </p:cNvPr>
        <p:cNvGrpSpPr/>
        <p:nvPr/>
      </p:nvGrpSpPr>
      <p:grpSpPr>
        <a:xfrm>
          <a:off x="0" y="0"/>
          <a:ext cx="0" cy="0"/>
          <a:chOff x="0" y="0"/>
          <a:chExt cx="0" cy="0"/>
        </a:xfrm>
      </p:grpSpPr>
      <p:sp>
        <p:nvSpPr>
          <p:cNvPr id="496642" name="Rectangle 2">
            <a:extLst>
              <a:ext uri="{FF2B5EF4-FFF2-40B4-BE49-F238E27FC236}">
                <a16:creationId xmlns:a16="http://schemas.microsoft.com/office/drawing/2014/main" id="{55CC858B-48FF-64D0-66CE-A7C85582BAA8}"/>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Agile Principles</a:t>
            </a:r>
          </a:p>
        </p:txBody>
      </p:sp>
      <p:sp>
        <p:nvSpPr>
          <p:cNvPr id="72706" name="Rectangle 3">
            <a:extLst>
              <a:ext uri="{FF2B5EF4-FFF2-40B4-BE49-F238E27FC236}">
                <a16:creationId xmlns:a16="http://schemas.microsoft.com/office/drawing/2014/main" id="{A4CFC103-3103-05E2-C955-379112D75662}"/>
              </a:ext>
            </a:extLst>
          </p:cNvPr>
          <p:cNvSpPr>
            <a:spLocks noGrp="1" noChangeArrowheads="1"/>
          </p:cNvSpPr>
          <p:nvPr>
            <p:ph idx="1"/>
          </p:nvPr>
        </p:nvSpPr>
        <p:spPr/>
        <p:txBody>
          <a:bodyPr/>
          <a:lstStyle/>
          <a:p>
            <a:pPr eaLnBrk="1" hangingPunct="1"/>
            <a:r>
              <a:rPr lang="en-US" dirty="0">
                <a:latin typeface="+mj-lt"/>
              </a:rPr>
              <a:t>Individuals and interactions:</a:t>
            </a:r>
          </a:p>
          <a:p>
            <a:pPr lvl="1" eaLnBrk="1" hangingPunct="1"/>
            <a:r>
              <a:rPr lang="en-US" dirty="0">
                <a:latin typeface="+mj-lt"/>
              </a:rPr>
              <a:t>Trust motivated individuals</a:t>
            </a:r>
          </a:p>
          <a:p>
            <a:pPr lvl="1" eaLnBrk="1" hangingPunct="1"/>
            <a:r>
              <a:rPr lang="en-US" dirty="0">
                <a:latin typeface="+mj-lt"/>
              </a:rPr>
              <a:t>Face-to-face conversation</a:t>
            </a:r>
          </a:p>
          <a:p>
            <a:pPr lvl="1" eaLnBrk="1" hangingPunct="1"/>
            <a:r>
              <a:rPr lang="en-US" dirty="0">
                <a:latin typeface="+mj-lt"/>
              </a:rPr>
              <a:t>Best work emerges from self-organizing teams</a:t>
            </a:r>
          </a:p>
          <a:p>
            <a:pPr lvl="1" eaLnBrk="1" hangingPunct="1"/>
            <a:r>
              <a:rPr lang="en-US" dirty="0">
                <a:latin typeface="+mj-lt"/>
              </a:rPr>
              <a:t>Team reflects on and adjusts their behavior</a:t>
            </a:r>
          </a:p>
          <a:p>
            <a:pPr lvl="1" eaLnBrk="1" hangingPunct="1"/>
            <a:r>
              <a:rPr lang="en-US" dirty="0">
                <a:latin typeface="+mj-lt"/>
              </a:rPr>
              <a:t>Promote constant, sustainable pace</a:t>
            </a:r>
          </a:p>
        </p:txBody>
      </p:sp>
      <p:sp>
        <p:nvSpPr>
          <p:cNvPr id="4" name="Slide Number Placeholder 5">
            <a:extLst>
              <a:ext uri="{FF2B5EF4-FFF2-40B4-BE49-F238E27FC236}">
                <a16:creationId xmlns:a16="http://schemas.microsoft.com/office/drawing/2014/main" id="{01D7CFC1-383E-1EAE-D625-D36B34AC5D2B}"/>
              </a:ext>
            </a:extLst>
          </p:cNvPr>
          <p:cNvSpPr>
            <a:spLocks noGrp="1"/>
          </p:cNvSpPr>
          <p:nvPr>
            <p:ph type="sldNum" sz="quarter" idx="12"/>
          </p:nvPr>
        </p:nvSpPr>
        <p:spPr/>
        <p:txBody>
          <a:bodyPr/>
          <a:lstStyle/>
          <a:p>
            <a:pPr>
              <a:defRPr/>
            </a:pPr>
            <a:fld id="{AB1AAE36-5366-B44D-9B4F-2C4365732BEA}" type="slidenum">
              <a:rPr lang="en-US"/>
              <a:pPr>
                <a:defRPr/>
              </a:pPr>
              <a:t>41</a:t>
            </a:fld>
            <a:endParaRPr lang="en-US"/>
          </a:p>
        </p:txBody>
      </p:sp>
    </p:spTree>
    <p:extLst>
      <p:ext uri="{BB962C8B-B14F-4D97-AF65-F5344CB8AC3E}">
        <p14:creationId xmlns:p14="http://schemas.microsoft.com/office/powerpoint/2010/main" val="26402189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Agile Principles</a:t>
            </a:r>
          </a:p>
        </p:txBody>
      </p:sp>
      <p:sp>
        <p:nvSpPr>
          <p:cNvPr id="72706" name="Rectangle 3"/>
          <p:cNvSpPr>
            <a:spLocks noGrp="1" noChangeArrowheads="1"/>
          </p:cNvSpPr>
          <p:nvPr>
            <p:ph idx="1"/>
          </p:nvPr>
        </p:nvSpPr>
        <p:spPr/>
        <p:txBody>
          <a:bodyPr/>
          <a:lstStyle/>
          <a:p>
            <a:pPr eaLnBrk="1" hangingPunct="1"/>
            <a:r>
              <a:rPr lang="en-US" dirty="0">
                <a:latin typeface="+mj-lt"/>
              </a:rPr>
              <a:t>Working software:</a:t>
            </a:r>
          </a:p>
          <a:p>
            <a:pPr lvl="1" eaLnBrk="1" hangingPunct="1"/>
            <a:r>
              <a:rPr lang="en-US" dirty="0">
                <a:latin typeface="+mj-lt"/>
              </a:rPr>
              <a:t>The main measure of progress</a:t>
            </a:r>
          </a:p>
          <a:p>
            <a:pPr lvl="1" eaLnBrk="1" hangingPunct="1"/>
            <a:r>
              <a:rPr lang="en-US" dirty="0">
                <a:latin typeface="+mj-lt"/>
              </a:rPr>
              <a:t>Continuous, frequent delivery of value</a:t>
            </a:r>
          </a:p>
        </p:txBody>
      </p:sp>
      <p:sp>
        <p:nvSpPr>
          <p:cNvPr id="4" name="Slide Number Placeholder 5"/>
          <p:cNvSpPr>
            <a:spLocks noGrp="1"/>
          </p:cNvSpPr>
          <p:nvPr>
            <p:ph type="sldNum" sz="quarter" idx="12"/>
          </p:nvPr>
        </p:nvSpPr>
        <p:spPr/>
        <p:txBody>
          <a:bodyPr/>
          <a:lstStyle/>
          <a:p>
            <a:pPr>
              <a:defRPr/>
            </a:pPr>
            <a:fld id="{AB1AAE36-5366-B44D-9B4F-2C4365732BEA}" type="slidenum">
              <a:rPr lang="en-US"/>
              <a:pPr>
                <a:defRPr/>
              </a:pPr>
              <a:t>42</a:t>
            </a:fld>
            <a:endParaRPr lang="en-US"/>
          </a:p>
        </p:txBody>
      </p:sp>
    </p:spTree>
    <p:extLst>
      <p:ext uri="{BB962C8B-B14F-4D97-AF65-F5344CB8AC3E}">
        <p14:creationId xmlns:p14="http://schemas.microsoft.com/office/powerpoint/2010/main" val="3565231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Agile Principles</a:t>
            </a:r>
          </a:p>
        </p:txBody>
      </p:sp>
      <p:sp>
        <p:nvSpPr>
          <p:cNvPr id="74754" name="Rectangle 3"/>
          <p:cNvSpPr>
            <a:spLocks noGrp="1" noChangeArrowheads="1"/>
          </p:cNvSpPr>
          <p:nvPr>
            <p:ph idx="1"/>
          </p:nvPr>
        </p:nvSpPr>
        <p:spPr/>
        <p:txBody>
          <a:bodyPr/>
          <a:lstStyle/>
          <a:p>
            <a:pPr eaLnBrk="1" hangingPunct="1"/>
            <a:r>
              <a:rPr lang="en-US" dirty="0">
                <a:latin typeface="+mj-lt"/>
              </a:rPr>
              <a:t>Customer collaboration:</a:t>
            </a:r>
          </a:p>
          <a:p>
            <a:pPr lvl="1" eaLnBrk="1" hangingPunct="1"/>
            <a:r>
              <a:rPr lang="en-US" dirty="0">
                <a:latin typeface="+mj-lt"/>
              </a:rPr>
              <a:t>Customers and developers work together</a:t>
            </a:r>
          </a:p>
          <a:p>
            <a:pPr lvl="1" eaLnBrk="1" hangingPunct="1"/>
            <a:r>
              <a:rPr lang="en-US" dirty="0">
                <a:latin typeface="+mj-lt"/>
              </a:rPr>
              <a:t>Satisfy customer early</a:t>
            </a:r>
          </a:p>
        </p:txBody>
      </p:sp>
      <p:sp>
        <p:nvSpPr>
          <p:cNvPr id="4" name="Slide Number Placeholder 5"/>
          <p:cNvSpPr>
            <a:spLocks noGrp="1"/>
          </p:cNvSpPr>
          <p:nvPr>
            <p:ph type="sldNum" sz="quarter" idx="12"/>
          </p:nvPr>
        </p:nvSpPr>
        <p:spPr/>
        <p:txBody>
          <a:bodyPr/>
          <a:lstStyle/>
          <a:p>
            <a:pPr>
              <a:defRPr/>
            </a:pPr>
            <a:fld id="{C45EDFF2-4DA3-CC46-A882-E6282A11B63E}" type="slidenum">
              <a:rPr lang="en-US"/>
              <a:pPr>
                <a:defRPr/>
              </a:pPr>
              <a:t>43</a:t>
            </a:fld>
            <a:endParaRPr lang="en-US"/>
          </a:p>
        </p:txBody>
      </p:sp>
    </p:spTree>
    <p:extLst>
      <p:ext uri="{BB962C8B-B14F-4D97-AF65-F5344CB8AC3E}">
        <p14:creationId xmlns:p14="http://schemas.microsoft.com/office/powerpoint/2010/main" val="13056602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Agile Principles</a:t>
            </a:r>
          </a:p>
        </p:txBody>
      </p:sp>
      <p:sp>
        <p:nvSpPr>
          <p:cNvPr id="74754" name="Rectangle 3"/>
          <p:cNvSpPr>
            <a:spLocks noGrp="1" noChangeArrowheads="1"/>
          </p:cNvSpPr>
          <p:nvPr>
            <p:ph idx="1"/>
          </p:nvPr>
        </p:nvSpPr>
        <p:spPr/>
        <p:txBody>
          <a:bodyPr/>
          <a:lstStyle/>
          <a:p>
            <a:pPr eaLnBrk="1" hangingPunct="1"/>
            <a:r>
              <a:rPr lang="en-US" dirty="0">
                <a:latin typeface="+mj-lt"/>
              </a:rPr>
              <a:t>Responding to change:</a:t>
            </a:r>
          </a:p>
          <a:p>
            <a:pPr lvl="1" eaLnBrk="1" hangingPunct="1"/>
            <a:r>
              <a:rPr lang="en-US" dirty="0">
                <a:latin typeface="+mj-lt"/>
              </a:rPr>
              <a:t>Welcome changing requirements, even if late</a:t>
            </a:r>
          </a:p>
          <a:p>
            <a:pPr lvl="1" eaLnBrk="1" hangingPunct="1"/>
            <a:r>
              <a:rPr lang="en-US" dirty="0">
                <a:latin typeface="+mj-lt"/>
              </a:rPr>
              <a:t>Technical excellence and good design</a:t>
            </a:r>
          </a:p>
          <a:p>
            <a:pPr lvl="1" eaLnBrk="1" hangingPunct="1"/>
            <a:r>
              <a:rPr lang="en-US" dirty="0">
                <a:latin typeface="+mj-lt"/>
              </a:rPr>
              <a:t>Simplicity – art of maximizing work not done</a:t>
            </a:r>
          </a:p>
        </p:txBody>
      </p:sp>
      <p:sp>
        <p:nvSpPr>
          <p:cNvPr id="4" name="Slide Number Placeholder 5"/>
          <p:cNvSpPr>
            <a:spLocks noGrp="1"/>
          </p:cNvSpPr>
          <p:nvPr>
            <p:ph type="sldNum" sz="quarter" idx="12"/>
          </p:nvPr>
        </p:nvSpPr>
        <p:spPr/>
        <p:txBody>
          <a:bodyPr/>
          <a:lstStyle/>
          <a:p>
            <a:pPr>
              <a:defRPr/>
            </a:pPr>
            <a:fld id="{C45EDFF2-4DA3-CC46-A882-E6282A11B63E}" type="slidenum">
              <a:rPr lang="en-US"/>
              <a:pPr>
                <a:defRPr/>
              </a:pPr>
              <a:t>44</a:t>
            </a:fld>
            <a:endParaRPr lang="en-US"/>
          </a:p>
        </p:txBody>
      </p:sp>
    </p:spTree>
    <p:extLst>
      <p:ext uri="{BB962C8B-B14F-4D97-AF65-F5344CB8AC3E}">
        <p14:creationId xmlns:p14="http://schemas.microsoft.com/office/powerpoint/2010/main" val="3586693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D878B-921A-F74C-1B19-D08BA00835CF}"/>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DDB2ABAB-6FFA-AB6D-63C3-FEFA7BCFCE96}"/>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Prioritizing Stories (Features)</a:t>
            </a:r>
          </a:p>
        </p:txBody>
      </p:sp>
      <p:sp>
        <p:nvSpPr>
          <p:cNvPr id="74754" name="Rectangle 3">
            <a:extLst>
              <a:ext uri="{FF2B5EF4-FFF2-40B4-BE49-F238E27FC236}">
                <a16:creationId xmlns:a16="http://schemas.microsoft.com/office/drawing/2014/main" id="{6F4CC1E2-72A6-E84A-56A3-E4CCC70A9734}"/>
              </a:ext>
            </a:extLst>
          </p:cNvPr>
          <p:cNvSpPr>
            <a:spLocks noGrp="1" noChangeArrowheads="1"/>
          </p:cNvSpPr>
          <p:nvPr>
            <p:ph idx="1"/>
          </p:nvPr>
        </p:nvSpPr>
        <p:spPr/>
        <p:txBody>
          <a:bodyPr/>
          <a:lstStyle/>
          <a:p>
            <a:pPr eaLnBrk="1" hangingPunct="1"/>
            <a:r>
              <a:rPr lang="en-US" dirty="0">
                <a:latin typeface="+mj-lt"/>
              </a:rPr>
              <a:t>High priority</a:t>
            </a:r>
          </a:p>
          <a:p>
            <a:pPr lvl="1"/>
            <a:r>
              <a:rPr lang="en-US" b="1" dirty="0">
                <a:latin typeface="+mj-lt"/>
              </a:rPr>
              <a:t>Must</a:t>
            </a:r>
            <a:r>
              <a:rPr lang="en-US" dirty="0">
                <a:latin typeface="+mj-lt"/>
              </a:rPr>
              <a:t> be done</a:t>
            </a:r>
          </a:p>
          <a:p>
            <a:pPr lvl="1"/>
            <a:r>
              <a:rPr lang="en-US" dirty="0">
                <a:latin typeface="+mj-lt"/>
              </a:rPr>
              <a:t>Complete first</a:t>
            </a:r>
          </a:p>
          <a:p>
            <a:pPr lvl="1"/>
            <a:r>
              <a:rPr lang="en-US" dirty="0">
                <a:latin typeface="+mj-lt"/>
              </a:rPr>
              <a:t>Risk level:</a:t>
            </a:r>
          </a:p>
          <a:p>
            <a:pPr lvl="2"/>
            <a:r>
              <a:rPr lang="en-US" dirty="0">
                <a:latin typeface="+mj-lt"/>
              </a:rPr>
              <a:t>Will cause big problems if not done (first)</a:t>
            </a:r>
          </a:p>
          <a:p>
            <a:pPr lvl="2"/>
            <a:r>
              <a:rPr lang="en-US" dirty="0">
                <a:latin typeface="+mj-lt"/>
              </a:rPr>
              <a:t>Will cause big problems if it breaks</a:t>
            </a:r>
          </a:p>
        </p:txBody>
      </p:sp>
      <p:sp>
        <p:nvSpPr>
          <p:cNvPr id="4" name="Slide Number Placeholder 5">
            <a:extLst>
              <a:ext uri="{FF2B5EF4-FFF2-40B4-BE49-F238E27FC236}">
                <a16:creationId xmlns:a16="http://schemas.microsoft.com/office/drawing/2014/main" id="{EA578B79-89A5-969B-2211-2C299BD0975D}"/>
              </a:ext>
            </a:extLst>
          </p:cNvPr>
          <p:cNvSpPr>
            <a:spLocks noGrp="1"/>
          </p:cNvSpPr>
          <p:nvPr>
            <p:ph type="sldNum" sz="quarter" idx="12"/>
          </p:nvPr>
        </p:nvSpPr>
        <p:spPr/>
        <p:txBody>
          <a:bodyPr/>
          <a:lstStyle/>
          <a:p>
            <a:pPr>
              <a:defRPr/>
            </a:pPr>
            <a:fld id="{C45EDFF2-4DA3-CC46-A882-E6282A11B63E}" type="slidenum">
              <a:rPr lang="en-US"/>
              <a:pPr>
                <a:defRPr/>
              </a:pPr>
              <a:t>45</a:t>
            </a:fld>
            <a:endParaRPr lang="en-US"/>
          </a:p>
        </p:txBody>
      </p:sp>
    </p:spTree>
    <p:extLst>
      <p:ext uri="{BB962C8B-B14F-4D97-AF65-F5344CB8AC3E}">
        <p14:creationId xmlns:p14="http://schemas.microsoft.com/office/powerpoint/2010/main" val="2403698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FA3A5-1A0D-7B7F-0795-E30312094F94}"/>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22D89046-01F9-8E1F-FE56-15F44102A2D5}"/>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Prioritizing Stories (Features)</a:t>
            </a:r>
          </a:p>
        </p:txBody>
      </p:sp>
      <p:sp>
        <p:nvSpPr>
          <p:cNvPr id="74754" name="Rectangle 3">
            <a:extLst>
              <a:ext uri="{FF2B5EF4-FFF2-40B4-BE49-F238E27FC236}">
                <a16:creationId xmlns:a16="http://schemas.microsoft.com/office/drawing/2014/main" id="{A4A322E3-1818-881C-C2E1-C6DBCA538559}"/>
              </a:ext>
            </a:extLst>
          </p:cNvPr>
          <p:cNvSpPr>
            <a:spLocks noGrp="1" noChangeArrowheads="1"/>
          </p:cNvSpPr>
          <p:nvPr>
            <p:ph idx="1"/>
          </p:nvPr>
        </p:nvSpPr>
        <p:spPr/>
        <p:txBody>
          <a:bodyPr/>
          <a:lstStyle/>
          <a:p>
            <a:pPr eaLnBrk="1" hangingPunct="1"/>
            <a:r>
              <a:rPr lang="en-US" dirty="0">
                <a:latin typeface="+mj-lt"/>
              </a:rPr>
              <a:t>Medium priority</a:t>
            </a:r>
          </a:p>
          <a:p>
            <a:pPr lvl="1"/>
            <a:r>
              <a:rPr lang="en-US" b="1" dirty="0">
                <a:latin typeface="+mj-lt"/>
              </a:rPr>
              <a:t>Should </a:t>
            </a:r>
            <a:r>
              <a:rPr lang="en-US" dirty="0">
                <a:latin typeface="+mj-lt"/>
              </a:rPr>
              <a:t>be done</a:t>
            </a:r>
          </a:p>
          <a:p>
            <a:pPr lvl="1"/>
            <a:r>
              <a:rPr lang="en-US" dirty="0">
                <a:latin typeface="+mj-lt"/>
              </a:rPr>
              <a:t>Complete second</a:t>
            </a:r>
          </a:p>
          <a:p>
            <a:pPr lvl="1"/>
            <a:r>
              <a:rPr lang="en-US" dirty="0">
                <a:latin typeface="+mj-lt"/>
              </a:rPr>
              <a:t>Risk level:</a:t>
            </a:r>
          </a:p>
          <a:p>
            <a:pPr lvl="2"/>
            <a:r>
              <a:rPr lang="en-US" dirty="0">
                <a:latin typeface="+mj-lt"/>
              </a:rPr>
              <a:t>Will cause some problems if not done (before other user stories)</a:t>
            </a:r>
          </a:p>
          <a:p>
            <a:pPr lvl="2"/>
            <a:r>
              <a:rPr lang="en-US" dirty="0">
                <a:latin typeface="+mj-lt"/>
              </a:rPr>
              <a:t>Will cause some problems if it breaks</a:t>
            </a:r>
          </a:p>
        </p:txBody>
      </p:sp>
      <p:sp>
        <p:nvSpPr>
          <p:cNvPr id="4" name="Slide Number Placeholder 5">
            <a:extLst>
              <a:ext uri="{FF2B5EF4-FFF2-40B4-BE49-F238E27FC236}">
                <a16:creationId xmlns:a16="http://schemas.microsoft.com/office/drawing/2014/main" id="{8D9BA9D9-3C63-E498-78D7-0229E0E2A851}"/>
              </a:ext>
            </a:extLst>
          </p:cNvPr>
          <p:cNvSpPr>
            <a:spLocks noGrp="1"/>
          </p:cNvSpPr>
          <p:nvPr>
            <p:ph type="sldNum" sz="quarter" idx="12"/>
          </p:nvPr>
        </p:nvSpPr>
        <p:spPr/>
        <p:txBody>
          <a:bodyPr/>
          <a:lstStyle/>
          <a:p>
            <a:pPr>
              <a:defRPr/>
            </a:pPr>
            <a:fld id="{C45EDFF2-4DA3-CC46-A882-E6282A11B63E}" type="slidenum">
              <a:rPr lang="en-US"/>
              <a:pPr>
                <a:defRPr/>
              </a:pPr>
              <a:t>46</a:t>
            </a:fld>
            <a:endParaRPr lang="en-US"/>
          </a:p>
        </p:txBody>
      </p:sp>
    </p:spTree>
    <p:extLst>
      <p:ext uri="{BB962C8B-B14F-4D97-AF65-F5344CB8AC3E}">
        <p14:creationId xmlns:p14="http://schemas.microsoft.com/office/powerpoint/2010/main" val="4075895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A0478-A47B-06CD-4B88-F9B510779837}"/>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4BC6991B-85CA-4FD6-50EC-58F8FC3F9F2A}"/>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Prioritizing Stories (Features)</a:t>
            </a:r>
          </a:p>
        </p:txBody>
      </p:sp>
      <p:sp>
        <p:nvSpPr>
          <p:cNvPr id="74754" name="Rectangle 3">
            <a:extLst>
              <a:ext uri="{FF2B5EF4-FFF2-40B4-BE49-F238E27FC236}">
                <a16:creationId xmlns:a16="http://schemas.microsoft.com/office/drawing/2014/main" id="{3B92E64F-7140-20B1-5A98-8B01EECA7136}"/>
              </a:ext>
            </a:extLst>
          </p:cNvPr>
          <p:cNvSpPr>
            <a:spLocks noGrp="1" noChangeArrowheads="1"/>
          </p:cNvSpPr>
          <p:nvPr>
            <p:ph idx="1"/>
          </p:nvPr>
        </p:nvSpPr>
        <p:spPr/>
        <p:txBody>
          <a:bodyPr/>
          <a:lstStyle/>
          <a:p>
            <a:pPr eaLnBrk="1" hangingPunct="1"/>
            <a:r>
              <a:rPr lang="en-US" dirty="0">
                <a:latin typeface="+mj-lt"/>
              </a:rPr>
              <a:t>Low priority</a:t>
            </a:r>
          </a:p>
          <a:p>
            <a:pPr lvl="1"/>
            <a:r>
              <a:rPr lang="en-US" b="1" dirty="0">
                <a:latin typeface="+mj-lt"/>
              </a:rPr>
              <a:t>Could </a:t>
            </a:r>
            <a:r>
              <a:rPr lang="en-US" dirty="0">
                <a:latin typeface="+mj-lt"/>
              </a:rPr>
              <a:t>be done</a:t>
            </a:r>
          </a:p>
          <a:p>
            <a:pPr lvl="1"/>
            <a:r>
              <a:rPr lang="en-US" dirty="0">
                <a:latin typeface="+mj-lt"/>
              </a:rPr>
              <a:t>Complete third</a:t>
            </a:r>
          </a:p>
          <a:p>
            <a:pPr lvl="1"/>
            <a:r>
              <a:rPr lang="en-US" dirty="0">
                <a:latin typeface="+mj-lt"/>
              </a:rPr>
              <a:t>Risk level:</a:t>
            </a:r>
          </a:p>
          <a:p>
            <a:pPr lvl="2"/>
            <a:r>
              <a:rPr lang="en-US" dirty="0">
                <a:latin typeface="+mj-lt"/>
              </a:rPr>
              <a:t>Only minor problems if not done (before other user stories)</a:t>
            </a:r>
          </a:p>
          <a:p>
            <a:pPr lvl="2"/>
            <a:r>
              <a:rPr lang="en-US" dirty="0">
                <a:latin typeface="+mj-lt"/>
              </a:rPr>
              <a:t>Only minor problems if it breaks</a:t>
            </a:r>
          </a:p>
        </p:txBody>
      </p:sp>
      <p:sp>
        <p:nvSpPr>
          <p:cNvPr id="4" name="Slide Number Placeholder 5">
            <a:extLst>
              <a:ext uri="{FF2B5EF4-FFF2-40B4-BE49-F238E27FC236}">
                <a16:creationId xmlns:a16="http://schemas.microsoft.com/office/drawing/2014/main" id="{123716C4-83E9-4974-EF53-A0C7A8B1CA37}"/>
              </a:ext>
            </a:extLst>
          </p:cNvPr>
          <p:cNvSpPr>
            <a:spLocks noGrp="1"/>
          </p:cNvSpPr>
          <p:nvPr>
            <p:ph type="sldNum" sz="quarter" idx="12"/>
          </p:nvPr>
        </p:nvSpPr>
        <p:spPr/>
        <p:txBody>
          <a:bodyPr/>
          <a:lstStyle/>
          <a:p>
            <a:pPr>
              <a:defRPr/>
            </a:pPr>
            <a:fld id="{C45EDFF2-4DA3-CC46-A882-E6282A11B63E}" type="slidenum">
              <a:rPr lang="en-US"/>
              <a:pPr>
                <a:defRPr/>
              </a:pPr>
              <a:t>47</a:t>
            </a:fld>
            <a:endParaRPr lang="en-US"/>
          </a:p>
        </p:txBody>
      </p:sp>
    </p:spTree>
    <p:extLst>
      <p:ext uri="{BB962C8B-B14F-4D97-AF65-F5344CB8AC3E}">
        <p14:creationId xmlns:p14="http://schemas.microsoft.com/office/powerpoint/2010/main" val="3027704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3368-485E-58D8-E582-3BEC6B38CFD6}"/>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1BBF5FB5-A11E-5CF1-0C66-C8085A1773E5}"/>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Prioritizing Stories (Features)</a:t>
            </a:r>
          </a:p>
        </p:txBody>
      </p:sp>
      <p:sp>
        <p:nvSpPr>
          <p:cNvPr id="74754" name="Rectangle 3">
            <a:extLst>
              <a:ext uri="{FF2B5EF4-FFF2-40B4-BE49-F238E27FC236}">
                <a16:creationId xmlns:a16="http://schemas.microsoft.com/office/drawing/2014/main" id="{C542279B-9E4C-01C1-757E-0D64B4AB1982}"/>
              </a:ext>
            </a:extLst>
          </p:cNvPr>
          <p:cNvSpPr>
            <a:spLocks noGrp="1" noChangeArrowheads="1"/>
          </p:cNvSpPr>
          <p:nvPr>
            <p:ph idx="1"/>
          </p:nvPr>
        </p:nvSpPr>
        <p:spPr/>
        <p:txBody>
          <a:bodyPr/>
          <a:lstStyle/>
          <a:p>
            <a:pPr eaLnBrk="1" hangingPunct="1"/>
            <a:r>
              <a:rPr lang="en-US" dirty="0">
                <a:latin typeface="+mj-lt"/>
              </a:rPr>
              <a:t>No priority</a:t>
            </a:r>
          </a:p>
          <a:p>
            <a:pPr lvl="1"/>
            <a:r>
              <a:rPr lang="en-US" dirty="0">
                <a:latin typeface="+mj-lt"/>
              </a:rPr>
              <a:t>Nice to have but not needed</a:t>
            </a:r>
          </a:p>
          <a:p>
            <a:pPr lvl="1"/>
            <a:r>
              <a:rPr lang="en-US" dirty="0">
                <a:latin typeface="+mj-lt"/>
              </a:rPr>
              <a:t>Do it last</a:t>
            </a:r>
          </a:p>
          <a:p>
            <a:pPr lvl="1"/>
            <a:r>
              <a:rPr lang="en-US" dirty="0">
                <a:latin typeface="+mj-lt"/>
              </a:rPr>
              <a:t>Risk level:</a:t>
            </a:r>
          </a:p>
          <a:p>
            <a:pPr lvl="2"/>
            <a:r>
              <a:rPr lang="en-US" dirty="0">
                <a:latin typeface="+mj-lt"/>
              </a:rPr>
              <a:t>No problems if not done (before other user stories)</a:t>
            </a:r>
          </a:p>
        </p:txBody>
      </p:sp>
      <p:sp>
        <p:nvSpPr>
          <p:cNvPr id="4" name="Slide Number Placeholder 5">
            <a:extLst>
              <a:ext uri="{FF2B5EF4-FFF2-40B4-BE49-F238E27FC236}">
                <a16:creationId xmlns:a16="http://schemas.microsoft.com/office/drawing/2014/main" id="{C36E61D5-DCF1-4077-0F21-40683E3975B2}"/>
              </a:ext>
            </a:extLst>
          </p:cNvPr>
          <p:cNvSpPr>
            <a:spLocks noGrp="1"/>
          </p:cNvSpPr>
          <p:nvPr>
            <p:ph type="sldNum" sz="quarter" idx="12"/>
          </p:nvPr>
        </p:nvSpPr>
        <p:spPr/>
        <p:txBody>
          <a:bodyPr/>
          <a:lstStyle/>
          <a:p>
            <a:pPr>
              <a:defRPr/>
            </a:pPr>
            <a:fld id="{C45EDFF2-4DA3-CC46-A882-E6282A11B63E}" type="slidenum">
              <a:rPr lang="en-US"/>
              <a:pPr>
                <a:defRPr/>
              </a:pPr>
              <a:t>48</a:t>
            </a:fld>
            <a:endParaRPr lang="en-US"/>
          </a:p>
        </p:txBody>
      </p:sp>
    </p:spTree>
    <p:extLst>
      <p:ext uri="{BB962C8B-B14F-4D97-AF65-F5344CB8AC3E}">
        <p14:creationId xmlns:p14="http://schemas.microsoft.com/office/powerpoint/2010/main" val="3579205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865BE-2817-C9E1-53AB-465239D1F24D}"/>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B949E991-4DEE-FAE0-D841-64E12C0002EA}"/>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Estimating Cost</a:t>
            </a:r>
          </a:p>
        </p:txBody>
      </p:sp>
      <p:sp>
        <p:nvSpPr>
          <p:cNvPr id="74754" name="Rectangle 3">
            <a:extLst>
              <a:ext uri="{FF2B5EF4-FFF2-40B4-BE49-F238E27FC236}">
                <a16:creationId xmlns:a16="http://schemas.microsoft.com/office/drawing/2014/main" id="{0C561739-3807-66B2-EF4F-CAD636C8A344}"/>
              </a:ext>
            </a:extLst>
          </p:cNvPr>
          <p:cNvSpPr>
            <a:spLocks noGrp="1" noChangeArrowheads="1"/>
          </p:cNvSpPr>
          <p:nvPr>
            <p:ph idx="1"/>
          </p:nvPr>
        </p:nvSpPr>
        <p:spPr/>
        <p:txBody>
          <a:bodyPr/>
          <a:lstStyle/>
          <a:p>
            <a:pPr eaLnBrk="1" hangingPunct="1"/>
            <a:r>
              <a:rPr lang="en-US" dirty="0">
                <a:latin typeface="+mj-lt"/>
              </a:rPr>
              <a:t>A story’s cost is estimated by the effort required to complete it</a:t>
            </a:r>
          </a:p>
          <a:p>
            <a:pPr eaLnBrk="1" hangingPunct="1"/>
            <a:r>
              <a:rPr lang="en-US" dirty="0">
                <a:latin typeface="+mj-lt"/>
              </a:rPr>
              <a:t>Effort depends on:</a:t>
            </a:r>
          </a:p>
          <a:p>
            <a:pPr lvl="1"/>
            <a:r>
              <a:rPr lang="en-US" dirty="0">
                <a:latin typeface="+mj-lt"/>
              </a:rPr>
              <a:t>The amount of work involved </a:t>
            </a:r>
          </a:p>
          <a:p>
            <a:pPr lvl="1"/>
            <a:r>
              <a:rPr lang="en-US" dirty="0">
                <a:latin typeface="+mj-lt"/>
              </a:rPr>
              <a:t>The complexity of the work</a:t>
            </a:r>
          </a:p>
          <a:p>
            <a:pPr lvl="1"/>
            <a:r>
              <a:rPr lang="en-US" dirty="0">
                <a:latin typeface="+mj-lt"/>
              </a:rPr>
              <a:t>How much risk or uncertainty that work requires</a:t>
            </a:r>
          </a:p>
          <a:p>
            <a:r>
              <a:rPr lang="en-US" dirty="0">
                <a:latin typeface="+mj-lt"/>
              </a:rPr>
              <a:t>Development team should participate in estimation</a:t>
            </a:r>
          </a:p>
          <a:p>
            <a:pPr lvl="1"/>
            <a:r>
              <a:rPr lang="en-US" dirty="0">
                <a:latin typeface="+mj-lt"/>
              </a:rPr>
              <a:t>Individual estimates carry bias</a:t>
            </a:r>
          </a:p>
          <a:p>
            <a:pPr lvl="1"/>
            <a:r>
              <a:rPr lang="en-US" dirty="0">
                <a:latin typeface="+mj-lt"/>
              </a:rPr>
              <a:t>Team discussion surfaces hidden complexities</a:t>
            </a:r>
          </a:p>
        </p:txBody>
      </p:sp>
      <p:sp>
        <p:nvSpPr>
          <p:cNvPr id="4" name="Slide Number Placeholder 5">
            <a:extLst>
              <a:ext uri="{FF2B5EF4-FFF2-40B4-BE49-F238E27FC236}">
                <a16:creationId xmlns:a16="http://schemas.microsoft.com/office/drawing/2014/main" id="{7E48A2BE-7F33-050A-4C42-93D2731A64C1}"/>
              </a:ext>
            </a:extLst>
          </p:cNvPr>
          <p:cNvSpPr>
            <a:spLocks noGrp="1"/>
          </p:cNvSpPr>
          <p:nvPr>
            <p:ph type="sldNum" sz="quarter" idx="12"/>
          </p:nvPr>
        </p:nvSpPr>
        <p:spPr/>
        <p:txBody>
          <a:bodyPr/>
          <a:lstStyle/>
          <a:p>
            <a:pPr>
              <a:defRPr/>
            </a:pPr>
            <a:fld id="{C45EDFF2-4DA3-CC46-A882-E6282A11B63E}" type="slidenum">
              <a:rPr lang="en-US"/>
              <a:pPr>
                <a:defRPr/>
              </a:pPr>
              <a:t>49</a:t>
            </a:fld>
            <a:endParaRPr lang="en-US"/>
          </a:p>
        </p:txBody>
      </p:sp>
    </p:spTree>
    <p:extLst>
      <p:ext uri="{BB962C8B-B14F-4D97-AF65-F5344CB8AC3E}">
        <p14:creationId xmlns:p14="http://schemas.microsoft.com/office/powerpoint/2010/main" val="3325161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DC6BB5-F23C-E4DE-B080-7CCA8CE99D48}"/>
            </a:ext>
          </a:extLst>
        </p:cNvPr>
        <p:cNvGrpSpPr/>
        <p:nvPr/>
      </p:nvGrpSpPr>
      <p:grpSpPr>
        <a:xfrm>
          <a:off x="0" y="0"/>
          <a:ext cx="0" cy="0"/>
          <a:chOff x="0" y="0"/>
          <a:chExt cx="0" cy="0"/>
        </a:xfrm>
      </p:grpSpPr>
      <p:sp>
        <p:nvSpPr>
          <p:cNvPr id="498690" name="Rectangle 2">
            <a:extLst>
              <a:ext uri="{FF2B5EF4-FFF2-40B4-BE49-F238E27FC236}">
                <a16:creationId xmlns:a16="http://schemas.microsoft.com/office/drawing/2014/main" id="{8B77C31F-7B73-B11A-F11E-A8959215C9FD}"/>
              </a:ext>
            </a:extLst>
          </p:cNvPr>
          <p:cNvSpPr>
            <a:spLocks noGrp="1" noChangeArrowheads="1"/>
          </p:cNvSpPr>
          <p:nvPr>
            <p:ph type="title"/>
          </p:nvPr>
        </p:nvSpPr>
        <p:spPr/>
        <p:txBody>
          <a:bodyPr/>
          <a:lstStyle/>
          <a:p>
            <a:pPr>
              <a:defRPr/>
            </a:pPr>
            <a:r>
              <a:rPr lang="en-US" dirty="0">
                <a:solidFill>
                  <a:schemeClr val="tx2">
                    <a:satMod val="130000"/>
                  </a:schemeClr>
                </a:solidFill>
                <a:ea typeface="+mj-ea"/>
                <a:cs typeface="+mj-cs"/>
              </a:rPr>
              <a:t>Estimating Cost</a:t>
            </a:r>
          </a:p>
        </p:txBody>
      </p:sp>
      <p:sp>
        <p:nvSpPr>
          <p:cNvPr id="74754" name="Rectangle 3">
            <a:extLst>
              <a:ext uri="{FF2B5EF4-FFF2-40B4-BE49-F238E27FC236}">
                <a16:creationId xmlns:a16="http://schemas.microsoft.com/office/drawing/2014/main" id="{B20779CD-2143-A92A-7AB2-6259BDA61036}"/>
              </a:ext>
            </a:extLst>
          </p:cNvPr>
          <p:cNvSpPr>
            <a:spLocks noGrp="1" noChangeArrowheads="1"/>
          </p:cNvSpPr>
          <p:nvPr>
            <p:ph idx="1"/>
          </p:nvPr>
        </p:nvSpPr>
        <p:spPr/>
        <p:txBody>
          <a:bodyPr/>
          <a:lstStyle/>
          <a:p>
            <a:pPr eaLnBrk="1" hangingPunct="1"/>
            <a:r>
              <a:rPr lang="en-US" dirty="0">
                <a:latin typeface="+mj-lt"/>
              </a:rPr>
              <a:t>Agile “flying fingers” method – wisdom of the crowd</a:t>
            </a:r>
          </a:p>
          <a:p>
            <a:pPr lvl="1"/>
            <a:r>
              <a:rPr lang="en-US" dirty="0">
                <a:latin typeface="+mj-lt"/>
              </a:rPr>
              <a:t>Read a user story, discuss if necessary</a:t>
            </a:r>
          </a:p>
          <a:p>
            <a:pPr lvl="1"/>
            <a:r>
              <a:rPr lang="en-US" dirty="0">
                <a:latin typeface="+mj-lt"/>
              </a:rPr>
              <a:t>Everyone puts their hand behind their back, out of sight, holding up the number of fingers for the user story</a:t>
            </a:r>
          </a:p>
          <a:p>
            <a:pPr lvl="1"/>
            <a:r>
              <a:rPr lang="en-US" dirty="0">
                <a:latin typeface="+mj-lt"/>
              </a:rPr>
              <a:t>Someone counts: one... two... three...</a:t>
            </a:r>
          </a:p>
          <a:p>
            <a:pPr lvl="1"/>
            <a:r>
              <a:rPr lang="en-US" dirty="0">
                <a:latin typeface="+mj-lt"/>
              </a:rPr>
              <a:t>All the fingers come flying out at once!</a:t>
            </a:r>
          </a:p>
          <a:p>
            <a:pPr lvl="1"/>
            <a:r>
              <a:rPr lang="en-US" dirty="0">
                <a:latin typeface="+mj-lt"/>
              </a:rPr>
              <a:t>If the deviation is small – choose a mean and write it down. Move to the next story.</a:t>
            </a:r>
          </a:p>
          <a:p>
            <a:pPr lvl="1"/>
            <a:r>
              <a:rPr lang="en-US" dirty="0">
                <a:latin typeface="+mj-lt"/>
              </a:rPr>
              <a:t>If there is substantial disagreement – discuss and repeat!</a:t>
            </a:r>
          </a:p>
        </p:txBody>
      </p:sp>
      <p:sp>
        <p:nvSpPr>
          <p:cNvPr id="4" name="Slide Number Placeholder 5">
            <a:extLst>
              <a:ext uri="{FF2B5EF4-FFF2-40B4-BE49-F238E27FC236}">
                <a16:creationId xmlns:a16="http://schemas.microsoft.com/office/drawing/2014/main" id="{13354A37-BCAD-2AF2-9FB1-B494D578DB6B}"/>
              </a:ext>
            </a:extLst>
          </p:cNvPr>
          <p:cNvSpPr>
            <a:spLocks noGrp="1"/>
          </p:cNvSpPr>
          <p:nvPr>
            <p:ph type="sldNum" sz="quarter" idx="12"/>
          </p:nvPr>
        </p:nvSpPr>
        <p:spPr/>
        <p:txBody>
          <a:bodyPr/>
          <a:lstStyle/>
          <a:p>
            <a:pPr>
              <a:defRPr/>
            </a:pPr>
            <a:fld id="{C45EDFF2-4DA3-CC46-A882-E6282A11B63E}" type="slidenum">
              <a:rPr lang="en-US"/>
              <a:pPr>
                <a:defRPr/>
              </a:pPr>
              <a:t>50</a:t>
            </a:fld>
            <a:endParaRPr lang="en-US"/>
          </a:p>
        </p:txBody>
      </p:sp>
    </p:spTree>
    <p:extLst>
      <p:ext uri="{BB962C8B-B14F-4D97-AF65-F5344CB8AC3E}">
        <p14:creationId xmlns:p14="http://schemas.microsoft.com/office/powerpoint/2010/main" val="1457531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eXtreme</a:t>
            </a:r>
            <a:r>
              <a:rPr lang="en-US" dirty="0"/>
              <a:t> Programming (XP)</a:t>
            </a:r>
          </a:p>
        </p:txBody>
      </p:sp>
      <p:sp>
        <p:nvSpPr>
          <p:cNvPr id="3" name="Content Placeholder 2"/>
          <p:cNvSpPr>
            <a:spLocks noGrp="1"/>
          </p:cNvSpPr>
          <p:nvPr>
            <p:ph idx="1"/>
          </p:nvPr>
        </p:nvSpPr>
        <p:spPr/>
        <p:txBody>
          <a:bodyPr/>
          <a:lstStyle/>
          <a:p>
            <a:r>
              <a:rPr lang="en-US" dirty="0">
                <a:hlinkClick r:id="rId3"/>
              </a:rPr>
              <a:t>http://www.extremeprogramming.org/</a:t>
            </a:r>
            <a:endParaRPr lang="en-US" dirty="0"/>
          </a:p>
          <a:p>
            <a:r>
              <a:rPr lang="en-US" dirty="0"/>
              <a:t>Predecessor to Agile</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51</a:t>
            </a:fld>
            <a:endParaRPr lang="en-US"/>
          </a:p>
        </p:txBody>
      </p:sp>
    </p:spTree>
    <p:extLst>
      <p:ext uri="{BB962C8B-B14F-4D97-AF65-F5344CB8AC3E}">
        <p14:creationId xmlns:p14="http://schemas.microsoft.com/office/powerpoint/2010/main" val="3526088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XP</a:t>
            </a:r>
          </a:p>
        </p:txBody>
      </p:sp>
      <p:sp>
        <p:nvSpPr>
          <p:cNvPr id="60418" name="Rectangle 3"/>
          <p:cNvSpPr>
            <a:spLocks noGrp="1" noChangeArrowheads="1"/>
          </p:cNvSpPr>
          <p:nvPr>
            <p:ph idx="1"/>
          </p:nvPr>
        </p:nvSpPr>
        <p:spPr/>
        <p:txBody>
          <a:bodyPr/>
          <a:lstStyle/>
          <a:p>
            <a:pPr eaLnBrk="1" hangingPunct="1"/>
            <a:r>
              <a:rPr lang="en-US" dirty="0">
                <a:latin typeface="+mj-lt"/>
              </a:rPr>
              <a:t>Philosophy:</a:t>
            </a:r>
          </a:p>
          <a:p>
            <a:pPr lvl="1" eaLnBrk="1" hangingPunct="1"/>
            <a:r>
              <a:rPr lang="en-US" b="1" dirty="0">
                <a:latin typeface="+mj-lt"/>
              </a:rPr>
              <a:t>Communication</a:t>
            </a:r>
          </a:p>
          <a:p>
            <a:pPr lvl="1" eaLnBrk="1" hangingPunct="1"/>
            <a:r>
              <a:rPr lang="en-US" b="1" dirty="0">
                <a:latin typeface="+mj-lt"/>
              </a:rPr>
              <a:t>Feedback</a:t>
            </a:r>
          </a:p>
          <a:p>
            <a:pPr lvl="1" eaLnBrk="1" hangingPunct="1"/>
            <a:r>
              <a:rPr lang="en-US" b="1" dirty="0">
                <a:latin typeface="+mj-lt"/>
              </a:rPr>
              <a:t>Simplicity</a:t>
            </a:r>
          </a:p>
          <a:p>
            <a:pPr lvl="1" eaLnBrk="1" hangingPunct="1"/>
            <a:r>
              <a:rPr lang="en-US" b="1" dirty="0">
                <a:latin typeface="+mj-lt"/>
              </a:rPr>
              <a:t>Programmer friendly</a:t>
            </a:r>
          </a:p>
          <a:p>
            <a:pPr lvl="1" eaLnBrk="1" hangingPunct="1"/>
            <a:r>
              <a:rPr lang="en-US" b="1" dirty="0">
                <a:latin typeface="+mj-lt"/>
              </a:rPr>
              <a:t>For small teams (up to about 20)</a:t>
            </a:r>
          </a:p>
          <a:p>
            <a:pPr lvl="1"/>
            <a:r>
              <a:rPr lang="en-US" dirty="0"/>
              <a:t>Code-centric</a:t>
            </a:r>
          </a:p>
          <a:p>
            <a:pPr lvl="1" eaLnBrk="1" hangingPunct="1"/>
            <a:r>
              <a:rPr lang="en-US" dirty="0">
                <a:latin typeface="+mj-lt"/>
              </a:rPr>
              <a:t>Requires courage</a:t>
            </a:r>
          </a:p>
        </p:txBody>
      </p:sp>
      <p:sp>
        <p:nvSpPr>
          <p:cNvPr id="4" name="Slide Number Placeholder 5"/>
          <p:cNvSpPr>
            <a:spLocks noGrp="1"/>
          </p:cNvSpPr>
          <p:nvPr>
            <p:ph type="sldNum" sz="quarter" idx="12"/>
          </p:nvPr>
        </p:nvSpPr>
        <p:spPr/>
        <p:txBody>
          <a:bodyPr/>
          <a:lstStyle/>
          <a:p>
            <a:pPr>
              <a:defRPr/>
            </a:pPr>
            <a:fld id="{2804EE08-E0B0-F04B-BEC5-373543598AD2}" type="slidenum">
              <a:rPr lang="en-US"/>
              <a:pPr>
                <a:defRPr/>
              </a:pPr>
              <a:t>52</a:t>
            </a:fld>
            <a:endParaRPr lang="en-US"/>
          </a:p>
        </p:txBody>
      </p:sp>
      <p:sp>
        <p:nvSpPr>
          <p:cNvPr id="2" name="Right Brace 1">
            <a:extLst>
              <a:ext uri="{FF2B5EF4-FFF2-40B4-BE49-F238E27FC236}">
                <a16:creationId xmlns:a16="http://schemas.microsoft.com/office/drawing/2014/main" id="{E02763BE-8AA9-91D8-ED97-9749082D2257}"/>
              </a:ext>
            </a:extLst>
          </p:cNvPr>
          <p:cNvSpPr/>
          <p:nvPr/>
        </p:nvSpPr>
        <p:spPr>
          <a:xfrm>
            <a:off x="5591944" y="2204864"/>
            <a:ext cx="1224136" cy="2160240"/>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3" name="TextBox 2">
            <a:extLst>
              <a:ext uri="{FF2B5EF4-FFF2-40B4-BE49-F238E27FC236}">
                <a16:creationId xmlns:a16="http://schemas.microsoft.com/office/drawing/2014/main" id="{94030C92-F1ED-5DBA-D920-FC727F389EBB}"/>
              </a:ext>
            </a:extLst>
          </p:cNvPr>
          <p:cNvSpPr txBox="1"/>
          <p:nvPr/>
        </p:nvSpPr>
        <p:spPr>
          <a:xfrm>
            <a:off x="6816080" y="3108846"/>
            <a:ext cx="1509837" cy="369332"/>
          </a:xfrm>
          <a:prstGeom prst="rect">
            <a:avLst/>
          </a:prstGeom>
          <a:noFill/>
        </p:spPr>
        <p:txBody>
          <a:bodyPr wrap="none" rtlCol="0">
            <a:spAutoFit/>
          </a:bodyPr>
          <a:lstStyle/>
          <a:p>
            <a:r>
              <a:rPr lang="en-CA" dirty="0"/>
              <a:t>Same as Agile</a:t>
            </a:r>
          </a:p>
        </p:txBody>
      </p:sp>
    </p:spTree>
    <p:extLst>
      <p:ext uri="{BB962C8B-B14F-4D97-AF65-F5344CB8AC3E}">
        <p14:creationId xmlns:p14="http://schemas.microsoft.com/office/powerpoint/2010/main" val="20269511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sz="half" idx="1"/>
          </p:nvPr>
        </p:nvSpPr>
        <p:spPr>
          <a:xfrm>
            <a:off x="838200" y="1825625"/>
            <a:ext cx="5181600" cy="4351338"/>
          </a:xfrm>
        </p:spPr>
        <p:txBody>
          <a:bodyPr numCol="1">
            <a:normAutofit/>
          </a:bodyPr>
          <a:lstStyle/>
          <a:p>
            <a:r>
              <a:rPr lang="en-US" dirty="0"/>
              <a:t>12 practices:</a:t>
            </a:r>
          </a:p>
          <a:p>
            <a:pPr lvl="1"/>
            <a:r>
              <a:rPr lang="en-US" dirty="0"/>
              <a:t>40-hour week</a:t>
            </a:r>
          </a:p>
          <a:p>
            <a:pPr lvl="1"/>
            <a:r>
              <a:rPr lang="en-US" dirty="0"/>
              <a:t>Metaphor</a:t>
            </a:r>
          </a:p>
          <a:p>
            <a:pPr lvl="1"/>
            <a:r>
              <a:rPr lang="en-US" dirty="0"/>
              <a:t>Simple design</a:t>
            </a:r>
          </a:p>
          <a:p>
            <a:pPr lvl="1"/>
            <a:r>
              <a:rPr lang="en-US" dirty="0"/>
              <a:t>Collective ownership</a:t>
            </a:r>
          </a:p>
          <a:p>
            <a:pPr lvl="1"/>
            <a:r>
              <a:rPr lang="en-US" dirty="0"/>
              <a:t>Coding standards</a:t>
            </a:r>
          </a:p>
          <a:p>
            <a:pPr lvl="1"/>
            <a:r>
              <a:rPr lang="en-US" dirty="0"/>
              <a:t>Small releases</a:t>
            </a:r>
          </a:p>
        </p:txBody>
      </p:sp>
      <p:sp>
        <p:nvSpPr>
          <p:cNvPr id="5" name="Content Placeholder 4"/>
          <p:cNvSpPr>
            <a:spLocks noGrp="1"/>
          </p:cNvSpPr>
          <p:nvPr>
            <p:ph sz="half" idx="2"/>
          </p:nvPr>
        </p:nvSpPr>
        <p:spPr>
          <a:xfrm>
            <a:off x="6387008" y="2276872"/>
            <a:ext cx="5181600" cy="2683495"/>
          </a:xfrm>
        </p:spPr>
        <p:txBody>
          <a:bodyPr>
            <a:normAutofit/>
          </a:bodyPr>
          <a:lstStyle/>
          <a:p>
            <a:pPr lvl="1"/>
            <a:r>
              <a:rPr lang="en-US" dirty="0"/>
              <a:t>Continuous Integration</a:t>
            </a:r>
          </a:p>
          <a:p>
            <a:pPr lvl="1"/>
            <a:r>
              <a:rPr lang="en-US" dirty="0"/>
              <a:t>Refactoring</a:t>
            </a:r>
          </a:p>
          <a:p>
            <a:pPr lvl="1"/>
            <a:r>
              <a:rPr lang="en-US" dirty="0"/>
              <a:t>Planning game</a:t>
            </a:r>
          </a:p>
          <a:p>
            <a:pPr lvl="1"/>
            <a:r>
              <a:rPr lang="en-US" dirty="0"/>
              <a:t>Testing</a:t>
            </a:r>
          </a:p>
          <a:p>
            <a:pPr lvl="1"/>
            <a:r>
              <a:rPr lang="en-US" dirty="0"/>
              <a:t>On-site customer</a:t>
            </a:r>
          </a:p>
          <a:p>
            <a:pPr lvl="1"/>
            <a:r>
              <a:rPr lang="en-US" dirty="0"/>
              <a:t>Pair programming</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53</a:t>
            </a:fld>
            <a:endParaRPr lang="en-US"/>
          </a:p>
        </p:txBody>
      </p:sp>
    </p:spTree>
    <p:extLst>
      <p:ext uri="{BB962C8B-B14F-4D97-AF65-F5344CB8AC3E}">
        <p14:creationId xmlns:p14="http://schemas.microsoft.com/office/powerpoint/2010/main" val="2615047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programmer welfare:</a:t>
            </a:r>
          </a:p>
          <a:p>
            <a:pPr lvl="1"/>
            <a:r>
              <a:rPr lang="en-US" dirty="0"/>
              <a:t>40-hour week</a:t>
            </a:r>
          </a:p>
          <a:p>
            <a:pPr lvl="2"/>
            <a:r>
              <a:rPr lang="en-US" dirty="0"/>
              <a:t>Work no more than 40 hours a week</a:t>
            </a:r>
          </a:p>
          <a:p>
            <a:pPr lvl="2"/>
            <a:r>
              <a:rPr lang="en-US" dirty="0"/>
              <a:t>Never work overtime a second week in a row</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54</a:t>
            </a:fld>
            <a:endParaRPr lang="en-US"/>
          </a:p>
        </p:txBody>
      </p:sp>
    </p:spTree>
    <p:extLst>
      <p:ext uri="{BB962C8B-B14F-4D97-AF65-F5344CB8AC3E}">
        <p14:creationId xmlns:p14="http://schemas.microsoft.com/office/powerpoint/2010/main" val="3987363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shared understanding:</a:t>
            </a:r>
          </a:p>
          <a:p>
            <a:pPr lvl="1"/>
            <a:r>
              <a:rPr lang="en-US" dirty="0"/>
              <a:t>Metaphor</a:t>
            </a:r>
          </a:p>
          <a:p>
            <a:pPr lvl="2"/>
            <a:r>
              <a:rPr lang="en-US" dirty="0"/>
              <a:t>Guide development with a shared story of how the system works</a:t>
            </a:r>
          </a:p>
          <a:p>
            <a:pPr lvl="1"/>
            <a:r>
              <a:rPr lang="en-US" dirty="0"/>
              <a:t>Simple design</a:t>
            </a:r>
          </a:p>
          <a:p>
            <a:pPr lvl="2"/>
            <a:r>
              <a:rPr lang="en-US" dirty="0"/>
              <a:t>Design the system as simply as possible; remove extra complexity when discovered</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55</a:t>
            </a:fld>
            <a:endParaRPr lang="en-US"/>
          </a:p>
        </p:txBody>
      </p:sp>
    </p:spTree>
    <p:extLst>
      <p:ext uri="{BB962C8B-B14F-4D97-AF65-F5344CB8AC3E}">
        <p14:creationId xmlns:p14="http://schemas.microsoft.com/office/powerpoint/2010/main" val="33307867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shared development:</a:t>
            </a:r>
          </a:p>
          <a:p>
            <a:pPr lvl="1"/>
            <a:r>
              <a:rPr lang="en-US" dirty="0"/>
              <a:t>Collective ownership</a:t>
            </a:r>
          </a:p>
          <a:p>
            <a:pPr lvl="2"/>
            <a:r>
              <a:rPr lang="en-US" dirty="0"/>
              <a:t>Anyone can change any code anywhere in the system at any time</a:t>
            </a:r>
          </a:p>
          <a:p>
            <a:pPr lvl="1"/>
            <a:r>
              <a:rPr lang="en-US" dirty="0"/>
              <a:t>Coding standards</a:t>
            </a:r>
          </a:p>
          <a:p>
            <a:pPr lvl="2"/>
            <a:r>
              <a:rPr lang="en-US" dirty="0"/>
              <a:t>Write all code according to rules that enhance communication and understanding through code</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56</a:t>
            </a:fld>
            <a:endParaRPr lang="en-US"/>
          </a:p>
        </p:txBody>
      </p:sp>
    </p:spTree>
    <p:extLst>
      <p:ext uri="{BB962C8B-B14F-4D97-AF65-F5344CB8AC3E}">
        <p14:creationId xmlns:p14="http://schemas.microsoft.com/office/powerpoint/2010/main" val="3352562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continuity:</a:t>
            </a:r>
          </a:p>
          <a:p>
            <a:pPr lvl="1"/>
            <a:r>
              <a:rPr lang="en-US" dirty="0"/>
              <a:t>Small releases</a:t>
            </a:r>
          </a:p>
          <a:p>
            <a:pPr lvl="2"/>
            <a:r>
              <a:rPr lang="en-US" dirty="0"/>
              <a:t>Put simple system into production quickly, then release new versions on a very short cycle</a:t>
            </a:r>
          </a:p>
          <a:p>
            <a:pPr lvl="1"/>
            <a:r>
              <a:rPr lang="en-US" dirty="0"/>
              <a:t>Continuous integration</a:t>
            </a:r>
          </a:p>
          <a:p>
            <a:pPr lvl="2"/>
            <a:r>
              <a:rPr lang="en-US" dirty="0"/>
              <a:t>Integrate and build the system many times a day</a:t>
            </a:r>
          </a:p>
          <a:p>
            <a:pPr lvl="1"/>
            <a:r>
              <a:rPr lang="en-US" dirty="0"/>
              <a:t>Refactoring</a:t>
            </a:r>
          </a:p>
          <a:p>
            <a:pPr lvl="2"/>
            <a:r>
              <a:rPr lang="en-US" dirty="0"/>
              <a:t>Restructure the system to improve its design, simplicity, or flexibility</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57</a:t>
            </a:fld>
            <a:endParaRPr lang="en-US"/>
          </a:p>
        </p:txBody>
      </p:sp>
    </p:spTree>
    <p:extLst>
      <p:ext uri="{BB962C8B-B14F-4D97-AF65-F5344CB8AC3E}">
        <p14:creationId xmlns:p14="http://schemas.microsoft.com/office/powerpoint/2010/main" val="1412098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feedback:</a:t>
            </a:r>
          </a:p>
          <a:p>
            <a:pPr lvl="1"/>
            <a:r>
              <a:rPr lang="en-US" dirty="0"/>
              <a:t>Planning game</a:t>
            </a:r>
          </a:p>
          <a:p>
            <a:pPr lvl="2"/>
            <a:r>
              <a:rPr lang="en-US" dirty="0"/>
              <a:t>Determine scope of the next iteration and overall release together with customer</a:t>
            </a:r>
          </a:p>
          <a:p>
            <a:pPr lvl="1"/>
            <a:r>
              <a:rPr lang="en-US" dirty="0"/>
              <a:t>Testing</a:t>
            </a:r>
          </a:p>
          <a:p>
            <a:pPr lvl="2"/>
            <a:r>
              <a:rPr lang="en-US" dirty="0"/>
              <a:t>Write automated unit tests first before the code; customer writes tests in requirements</a:t>
            </a:r>
          </a:p>
          <a:p>
            <a:pPr lvl="1"/>
            <a:r>
              <a:rPr lang="en-US" dirty="0"/>
              <a:t>On-site customer</a:t>
            </a:r>
          </a:p>
          <a:p>
            <a:pPr lvl="2"/>
            <a:r>
              <a:rPr lang="en-US" dirty="0"/>
              <a:t>Include a real, live user on the team, available full-time to answer questions quickly</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58</a:t>
            </a:fld>
            <a:endParaRPr lang="en-US"/>
          </a:p>
        </p:txBody>
      </p:sp>
    </p:spTree>
    <p:extLst>
      <p:ext uri="{BB962C8B-B14F-4D97-AF65-F5344CB8AC3E}">
        <p14:creationId xmlns:p14="http://schemas.microsoft.com/office/powerpoint/2010/main" val="13915761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For synergy:</a:t>
            </a:r>
          </a:p>
          <a:p>
            <a:pPr lvl="1"/>
            <a:r>
              <a:rPr lang="en-US" dirty="0"/>
              <a:t>Pair programming</a:t>
            </a:r>
          </a:p>
          <a:p>
            <a:pPr lvl="2"/>
            <a:r>
              <a:rPr lang="en-US" dirty="0"/>
              <a:t>Have all production code written with two programmers actively at one machine</a:t>
            </a:r>
          </a:p>
          <a:p>
            <a:pPr lvl="2"/>
            <a:r>
              <a:rPr lang="en-US" dirty="0"/>
              <a:t>Prevents individual code ownership</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59</a:t>
            </a:fld>
            <a:endParaRPr lang="en-US"/>
          </a:p>
        </p:txBody>
      </p:sp>
    </p:spTree>
    <p:extLst>
      <p:ext uri="{BB962C8B-B14F-4D97-AF65-F5344CB8AC3E}">
        <p14:creationId xmlns:p14="http://schemas.microsoft.com/office/powerpoint/2010/main" val="1216703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p>
        </p:txBody>
      </p:sp>
      <p:sp>
        <p:nvSpPr>
          <p:cNvPr id="3" name="Content Placeholder 2"/>
          <p:cNvSpPr>
            <a:spLocks noGrp="1"/>
          </p:cNvSpPr>
          <p:nvPr>
            <p:ph idx="1"/>
          </p:nvPr>
        </p:nvSpPr>
        <p:spPr/>
        <p:txBody>
          <a:bodyPr/>
          <a:lstStyle/>
          <a:p>
            <a:r>
              <a:rPr lang="en-US" dirty="0"/>
              <a:t>So why is it called “extreme”?</a:t>
            </a:r>
          </a:p>
          <a:p>
            <a:pPr lvl="1"/>
            <a:r>
              <a:rPr lang="en-US" dirty="0"/>
              <a:t>If short iterations are good, make them as short as possible</a:t>
            </a:r>
          </a:p>
          <a:p>
            <a:pPr lvl="1"/>
            <a:r>
              <a:rPr lang="en-US" dirty="0"/>
              <a:t>If simplicity is good, make the simplest thing that works</a:t>
            </a:r>
          </a:p>
          <a:p>
            <a:pPr lvl="1"/>
            <a:r>
              <a:rPr lang="en-US" dirty="0"/>
              <a:t>If design is good, do it all the time (refactoring)</a:t>
            </a:r>
          </a:p>
          <a:p>
            <a:pPr lvl="1"/>
            <a:r>
              <a:rPr lang="en-US" dirty="0"/>
              <a:t>If testing is good, write tests first, and do it all the time (test-driven development)</a:t>
            </a:r>
          </a:p>
          <a:p>
            <a:pPr lvl="1"/>
            <a:r>
              <a:rPr lang="en-US" dirty="0"/>
              <a:t>If code reviews are good, do it all the time (pair programming)</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60</a:t>
            </a:fld>
            <a:endParaRPr lang="en-US"/>
          </a:p>
        </p:txBody>
      </p:sp>
    </p:spTree>
    <p:extLst>
      <p:ext uri="{BB962C8B-B14F-4D97-AF65-F5344CB8AC3E}">
        <p14:creationId xmlns:p14="http://schemas.microsoft.com/office/powerpoint/2010/main" val="752002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61</a:t>
            </a:fld>
            <a:endParaRPr lang="en-US"/>
          </a:p>
        </p:txBody>
      </p:sp>
      <p:pic>
        <p:nvPicPr>
          <p:cNvPr id="8" name="Picture 7" descr="A cartoon of two people working on a computer&#10;&#10;Description automatically generated">
            <a:extLst>
              <a:ext uri="{FF2B5EF4-FFF2-40B4-BE49-F238E27FC236}">
                <a16:creationId xmlns:a16="http://schemas.microsoft.com/office/drawing/2014/main" id="{75B688E8-349F-DE66-3ECF-A2363CA121B3}"/>
              </a:ext>
            </a:extLst>
          </p:cNvPr>
          <p:cNvPicPr>
            <a:picLocks noChangeAspect="1"/>
          </p:cNvPicPr>
          <p:nvPr/>
        </p:nvPicPr>
        <p:blipFill>
          <a:blip r:embed="rId2"/>
          <a:stretch>
            <a:fillRect/>
          </a:stretch>
        </p:blipFill>
        <p:spPr>
          <a:xfrm>
            <a:off x="551384" y="1657350"/>
            <a:ext cx="5238750" cy="3543300"/>
          </a:xfrm>
          <a:prstGeom prst="rect">
            <a:avLst/>
          </a:prstGeom>
        </p:spPr>
      </p:pic>
      <p:sp>
        <p:nvSpPr>
          <p:cNvPr id="10" name="TextBox 9">
            <a:extLst>
              <a:ext uri="{FF2B5EF4-FFF2-40B4-BE49-F238E27FC236}">
                <a16:creationId xmlns:a16="http://schemas.microsoft.com/office/drawing/2014/main" id="{BAEFF93D-DCCD-00D9-DD34-7289FD530084}"/>
              </a:ext>
            </a:extLst>
          </p:cNvPr>
          <p:cNvSpPr txBox="1"/>
          <p:nvPr/>
        </p:nvSpPr>
        <p:spPr>
          <a:xfrm>
            <a:off x="902507" y="5096212"/>
            <a:ext cx="4536504" cy="276999"/>
          </a:xfrm>
          <a:prstGeom prst="rect">
            <a:avLst/>
          </a:prstGeom>
          <a:noFill/>
        </p:spPr>
        <p:txBody>
          <a:bodyPr wrap="square">
            <a:spAutoFit/>
          </a:bodyPr>
          <a:lstStyle/>
          <a:p>
            <a:r>
              <a:rPr lang="en-CA" sz="1200" dirty="0"/>
              <a:t>https://www.commitstrip.com/en/2012/08/14/pair-programming/?</a:t>
            </a:r>
          </a:p>
        </p:txBody>
      </p:sp>
      <p:sp>
        <p:nvSpPr>
          <p:cNvPr id="13" name="Text Box 7">
            <a:extLst>
              <a:ext uri="{FF2B5EF4-FFF2-40B4-BE49-F238E27FC236}">
                <a16:creationId xmlns:a16="http://schemas.microsoft.com/office/drawing/2014/main" id="{584DEBB7-0770-9CB6-4C75-E890DFF77BE5}"/>
              </a:ext>
            </a:extLst>
          </p:cNvPr>
          <p:cNvSpPr txBox="1">
            <a:spLocks noChangeArrowheads="1"/>
          </p:cNvSpPr>
          <p:nvPr/>
        </p:nvSpPr>
        <p:spPr bwMode="auto">
          <a:xfrm>
            <a:off x="8700641" y="5796961"/>
            <a:ext cx="116429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200" dirty="0"/>
              <a:t>© Geek &amp; Poke</a:t>
            </a:r>
          </a:p>
        </p:txBody>
      </p:sp>
      <p:pic>
        <p:nvPicPr>
          <p:cNvPr id="15" name="Picture 14">
            <a:extLst>
              <a:ext uri="{FF2B5EF4-FFF2-40B4-BE49-F238E27FC236}">
                <a16:creationId xmlns:a16="http://schemas.microsoft.com/office/drawing/2014/main" id="{8615F2E9-37BC-7224-159E-70918F2E9B13}"/>
              </a:ext>
            </a:extLst>
          </p:cNvPr>
          <p:cNvPicPr>
            <a:picLocks noChangeAspect="1"/>
          </p:cNvPicPr>
          <p:nvPr/>
        </p:nvPicPr>
        <p:blipFill>
          <a:blip r:embed="rId3"/>
          <a:stretch>
            <a:fillRect/>
          </a:stretch>
        </p:blipFill>
        <p:spPr>
          <a:xfrm>
            <a:off x="7330286" y="1010112"/>
            <a:ext cx="3905002" cy="4837776"/>
          </a:xfrm>
          <a:prstGeom prst="rect">
            <a:avLst/>
          </a:prstGeom>
        </p:spPr>
      </p:pic>
    </p:spTree>
    <p:extLst>
      <p:ext uri="{BB962C8B-B14F-4D97-AF65-F5344CB8AC3E}">
        <p14:creationId xmlns:p14="http://schemas.microsoft.com/office/powerpoint/2010/main" val="1923107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sp>
        <p:nvSpPr>
          <p:cNvPr id="3" name="Content Placeholder 2"/>
          <p:cNvSpPr>
            <a:spLocks noGrp="1"/>
          </p:cNvSpPr>
          <p:nvPr>
            <p:ph idx="1"/>
          </p:nvPr>
        </p:nvSpPr>
        <p:spPr/>
        <p:txBody>
          <a:bodyPr/>
          <a:lstStyle/>
          <a:p>
            <a:r>
              <a:rPr lang="en-US" dirty="0"/>
              <a:t>What are reasons for having programmers working in pairs?</a:t>
            </a:r>
          </a:p>
          <a:p>
            <a:r>
              <a:rPr lang="en-US" dirty="0"/>
              <a:t>What are reasons they shouldn’t?</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62</a:t>
            </a:fld>
            <a:endParaRPr lang="en-US"/>
          </a:p>
        </p:txBody>
      </p:sp>
    </p:spTree>
    <p:extLst>
      <p:ext uri="{BB962C8B-B14F-4D97-AF65-F5344CB8AC3E}">
        <p14:creationId xmlns:p14="http://schemas.microsoft.com/office/powerpoint/2010/main" val="981238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Pair Programming</a:t>
            </a:r>
          </a:p>
        </p:txBody>
      </p:sp>
      <p:sp>
        <p:nvSpPr>
          <p:cNvPr id="62466" name="Rectangle 3"/>
          <p:cNvSpPr>
            <a:spLocks noGrp="1" noChangeArrowheads="1"/>
          </p:cNvSpPr>
          <p:nvPr>
            <p:ph idx="1"/>
          </p:nvPr>
        </p:nvSpPr>
        <p:spPr/>
        <p:txBody>
          <a:bodyPr/>
          <a:lstStyle/>
          <a:p>
            <a:pPr eaLnBrk="1" hangingPunct="1"/>
            <a:r>
              <a:rPr lang="en-US" dirty="0">
                <a:latin typeface="+mj-lt"/>
              </a:rPr>
              <a:t>Synergies:</a:t>
            </a:r>
          </a:p>
          <a:p>
            <a:pPr lvl="1" eaLnBrk="1" hangingPunct="1"/>
            <a:r>
              <a:rPr lang="en-US" dirty="0">
                <a:latin typeface="+mj-lt"/>
              </a:rPr>
              <a:t>More ideas</a:t>
            </a:r>
          </a:p>
          <a:p>
            <a:pPr lvl="2" eaLnBrk="1" hangingPunct="1"/>
            <a:r>
              <a:rPr lang="en-US" dirty="0">
                <a:latin typeface="+mj-lt"/>
              </a:rPr>
              <a:t>Complementary skills</a:t>
            </a:r>
          </a:p>
          <a:p>
            <a:pPr lvl="2" eaLnBrk="1" hangingPunct="1"/>
            <a:r>
              <a:rPr lang="en-US" dirty="0">
                <a:latin typeface="+mj-lt"/>
              </a:rPr>
              <a:t>Better consideration of alternative solutions</a:t>
            </a:r>
          </a:p>
          <a:p>
            <a:pPr lvl="1" eaLnBrk="1" hangingPunct="1"/>
            <a:r>
              <a:rPr lang="en-US" dirty="0">
                <a:latin typeface="+mj-lt"/>
              </a:rPr>
              <a:t>Learning</a:t>
            </a:r>
          </a:p>
          <a:p>
            <a:pPr lvl="2" eaLnBrk="1" hangingPunct="1"/>
            <a:r>
              <a:rPr lang="en-US" dirty="0">
                <a:latin typeface="+mj-lt"/>
              </a:rPr>
              <a:t>Expert/student apprenticeship</a:t>
            </a:r>
          </a:p>
          <a:p>
            <a:pPr lvl="2" eaLnBrk="1" hangingPunct="1"/>
            <a:r>
              <a:rPr lang="en-US" dirty="0">
                <a:latin typeface="+mj-lt"/>
              </a:rPr>
              <a:t>Continuous critique to learn new things</a:t>
            </a:r>
          </a:p>
        </p:txBody>
      </p:sp>
      <p:sp>
        <p:nvSpPr>
          <p:cNvPr id="4" name="Slide Number Placeholder 5"/>
          <p:cNvSpPr>
            <a:spLocks noGrp="1"/>
          </p:cNvSpPr>
          <p:nvPr>
            <p:ph type="sldNum" sz="quarter" idx="12"/>
          </p:nvPr>
        </p:nvSpPr>
        <p:spPr/>
        <p:txBody>
          <a:bodyPr/>
          <a:lstStyle/>
          <a:p>
            <a:pPr>
              <a:defRPr/>
            </a:pPr>
            <a:fld id="{5AB76B48-5910-B443-8EE1-DB368A087B04}" type="slidenum">
              <a:rPr lang="en-US"/>
              <a:pPr>
                <a:defRPr/>
              </a:pPr>
              <a:t>63</a:t>
            </a:fld>
            <a:endParaRPr lang="en-US"/>
          </a:p>
        </p:txBody>
      </p:sp>
    </p:spTree>
    <p:extLst>
      <p:ext uri="{BB962C8B-B14F-4D97-AF65-F5344CB8AC3E}">
        <p14:creationId xmlns:p14="http://schemas.microsoft.com/office/powerpoint/2010/main" val="12120451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pPr>
              <a:defRPr/>
            </a:pPr>
            <a:r>
              <a:rPr lang="en-US" dirty="0">
                <a:solidFill>
                  <a:schemeClr val="tx2">
                    <a:satMod val="130000"/>
                  </a:schemeClr>
                </a:solidFill>
                <a:ea typeface="+mj-ea"/>
                <a:cs typeface="+mj-cs"/>
              </a:rPr>
              <a:t>Pair Programming</a:t>
            </a:r>
          </a:p>
        </p:txBody>
      </p:sp>
      <p:sp>
        <p:nvSpPr>
          <p:cNvPr id="62466" name="Rectangle 3"/>
          <p:cNvSpPr>
            <a:spLocks noGrp="1" noChangeArrowheads="1"/>
          </p:cNvSpPr>
          <p:nvPr>
            <p:ph idx="1"/>
          </p:nvPr>
        </p:nvSpPr>
        <p:spPr/>
        <p:txBody>
          <a:bodyPr/>
          <a:lstStyle/>
          <a:p>
            <a:pPr eaLnBrk="1" hangingPunct="1"/>
            <a:r>
              <a:rPr lang="en-US" dirty="0">
                <a:latin typeface="+mj-lt"/>
              </a:rPr>
              <a:t>Synergies:</a:t>
            </a:r>
          </a:p>
          <a:p>
            <a:pPr lvl="1" eaLnBrk="1" hangingPunct="1"/>
            <a:r>
              <a:rPr lang="en-US" dirty="0">
                <a:latin typeface="+mj-lt"/>
              </a:rPr>
              <a:t>Pressure</a:t>
            </a:r>
          </a:p>
          <a:p>
            <a:pPr lvl="2" eaLnBrk="1" hangingPunct="1"/>
            <a:r>
              <a:rPr lang="en-US" dirty="0">
                <a:latin typeface="+mj-lt"/>
              </a:rPr>
              <a:t>They do not want to let each other down, or waste each other</a:t>
            </a:r>
            <a:r>
              <a:rPr lang="en-CA" dirty="0">
                <a:latin typeface="+mj-lt"/>
                <a:ea typeface="ＭＳ ゴシック" charset="0"/>
                <a:cs typeface="ＭＳ ゴシック" charset="0"/>
              </a:rPr>
              <a:t>’</a:t>
            </a:r>
            <a:r>
              <a:rPr lang="en-US" altLang="ja-JP" dirty="0">
                <a:latin typeface="+mj-lt"/>
              </a:rPr>
              <a:t>s time</a:t>
            </a:r>
          </a:p>
          <a:p>
            <a:pPr lvl="1" eaLnBrk="1" hangingPunct="1"/>
            <a:r>
              <a:rPr lang="en-US" dirty="0">
                <a:latin typeface="+mj-lt"/>
              </a:rPr>
              <a:t>Courage</a:t>
            </a:r>
          </a:p>
          <a:p>
            <a:pPr lvl="2" eaLnBrk="1" hangingPunct="1"/>
            <a:r>
              <a:rPr lang="en-US" dirty="0">
                <a:latin typeface="+mj-lt"/>
              </a:rPr>
              <a:t>They give each other confidence to do things they might avoid if alone</a:t>
            </a:r>
          </a:p>
        </p:txBody>
      </p:sp>
      <p:sp>
        <p:nvSpPr>
          <p:cNvPr id="4" name="Slide Number Placeholder 5"/>
          <p:cNvSpPr>
            <a:spLocks noGrp="1"/>
          </p:cNvSpPr>
          <p:nvPr>
            <p:ph type="sldNum" sz="quarter" idx="12"/>
          </p:nvPr>
        </p:nvSpPr>
        <p:spPr/>
        <p:txBody>
          <a:bodyPr/>
          <a:lstStyle/>
          <a:p>
            <a:pPr>
              <a:defRPr/>
            </a:pPr>
            <a:fld id="{5AB76B48-5910-B443-8EE1-DB368A087B04}" type="slidenum">
              <a:rPr lang="en-US"/>
              <a:pPr>
                <a:defRPr/>
              </a:pPr>
              <a:t>64</a:t>
            </a:fld>
            <a:endParaRPr lang="en-US"/>
          </a:p>
        </p:txBody>
      </p:sp>
    </p:spTree>
    <p:extLst>
      <p:ext uri="{BB962C8B-B14F-4D97-AF65-F5344CB8AC3E}">
        <p14:creationId xmlns:p14="http://schemas.microsoft.com/office/powerpoint/2010/main" val="27159971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pPr>
              <a:defRPr/>
            </a:pPr>
            <a:r>
              <a:rPr lang="en-US">
                <a:solidFill>
                  <a:schemeClr val="tx2">
                    <a:satMod val="130000"/>
                  </a:schemeClr>
                </a:solidFill>
                <a:ea typeface="+mj-ea"/>
                <a:cs typeface="+mj-cs"/>
              </a:rPr>
              <a:t>Pair Programming</a:t>
            </a:r>
          </a:p>
        </p:txBody>
      </p:sp>
      <p:sp>
        <p:nvSpPr>
          <p:cNvPr id="64514" name="Rectangle 3"/>
          <p:cNvSpPr>
            <a:spLocks noGrp="1" noChangeArrowheads="1"/>
          </p:cNvSpPr>
          <p:nvPr>
            <p:ph idx="1"/>
          </p:nvPr>
        </p:nvSpPr>
        <p:spPr/>
        <p:txBody>
          <a:bodyPr/>
          <a:lstStyle/>
          <a:p>
            <a:pPr eaLnBrk="1" hangingPunct="1"/>
            <a:r>
              <a:rPr lang="en-US" dirty="0">
                <a:latin typeface="+mj-lt"/>
              </a:rPr>
              <a:t>Synergies:</a:t>
            </a:r>
          </a:p>
          <a:p>
            <a:pPr lvl="1" eaLnBrk="1" hangingPunct="1"/>
            <a:r>
              <a:rPr lang="en-US" dirty="0">
                <a:latin typeface="+mj-lt"/>
              </a:rPr>
              <a:t>Reviews</a:t>
            </a:r>
          </a:p>
          <a:p>
            <a:pPr lvl="2" eaLnBrk="1" hangingPunct="1"/>
            <a:r>
              <a:rPr lang="en-US" dirty="0">
                <a:latin typeface="+mj-lt"/>
              </a:rPr>
              <a:t>Better able to reveal defects with more eyes looking at the code</a:t>
            </a:r>
          </a:p>
          <a:p>
            <a:pPr lvl="1" eaLnBrk="1" hangingPunct="1"/>
            <a:r>
              <a:rPr lang="en-US" dirty="0">
                <a:latin typeface="+mj-lt"/>
              </a:rPr>
              <a:t>Debugging</a:t>
            </a:r>
          </a:p>
          <a:p>
            <a:pPr lvl="2" eaLnBrk="1" hangingPunct="1"/>
            <a:r>
              <a:rPr lang="en-US" dirty="0">
                <a:latin typeface="+mj-lt"/>
              </a:rPr>
              <a:t>Bugs reveal themselves when one explains the misbehaving code to the other</a:t>
            </a:r>
          </a:p>
        </p:txBody>
      </p:sp>
      <p:sp>
        <p:nvSpPr>
          <p:cNvPr id="4" name="Slide Number Placeholder 5"/>
          <p:cNvSpPr>
            <a:spLocks noGrp="1"/>
          </p:cNvSpPr>
          <p:nvPr>
            <p:ph type="sldNum" sz="quarter" idx="12"/>
          </p:nvPr>
        </p:nvSpPr>
        <p:spPr/>
        <p:txBody>
          <a:bodyPr/>
          <a:lstStyle/>
          <a:p>
            <a:pPr>
              <a:defRPr/>
            </a:pPr>
            <a:fld id="{10FE6ADC-54D8-D242-808C-09A15C64976E}" type="slidenum">
              <a:rPr lang="en-US"/>
              <a:pPr>
                <a:defRPr/>
              </a:pPr>
              <a:t>65</a:t>
            </a:fld>
            <a:endParaRPr lang="en-US"/>
          </a:p>
        </p:txBody>
      </p:sp>
    </p:spTree>
    <p:extLst>
      <p:ext uri="{BB962C8B-B14F-4D97-AF65-F5344CB8AC3E}">
        <p14:creationId xmlns:p14="http://schemas.microsoft.com/office/powerpoint/2010/main" val="402694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Programming”</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66</a:t>
            </a:fld>
            <a:endParaRPr lang="en-US"/>
          </a:p>
        </p:txBody>
      </p:sp>
      <p:pic>
        <p:nvPicPr>
          <p:cNvPr id="8" name="Picture 7" descr="Cartoon of a person in a blue suit and tie&#10;&#10;Description automatically generated">
            <a:extLst>
              <a:ext uri="{FF2B5EF4-FFF2-40B4-BE49-F238E27FC236}">
                <a16:creationId xmlns:a16="http://schemas.microsoft.com/office/drawing/2014/main" id="{37435C21-8FAD-60EC-B5C9-82B13E9AA762}"/>
              </a:ext>
            </a:extLst>
          </p:cNvPr>
          <p:cNvPicPr>
            <a:picLocks noChangeAspect="1"/>
          </p:cNvPicPr>
          <p:nvPr/>
        </p:nvPicPr>
        <p:blipFill>
          <a:blip r:embed="rId2"/>
          <a:stretch>
            <a:fillRect/>
          </a:stretch>
        </p:blipFill>
        <p:spPr>
          <a:xfrm>
            <a:off x="3162294" y="2510102"/>
            <a:ext cx="5867412" cy="1845568"/>
          </a:xfrm>
          <a:prstGeom prst="rect">
            <a:avLst/>
          </a:prstGeom>
        </p:spPr>
      </p:pic>
      <p:sp>
        <p:nvSpPr>
          <p:cNvPr id="10" name="TextBox 9">
            <a:extLst>
              <a:ext uri="{FF2B5EF4-FFF2-40B4-BE49-F238E27FC236}">
                <a16:creationId xmlns:a16="http://schemas.microsoft.com/office/drawing/2014/main" id="{BC552ED5-561C-14CF-37B6-8A2D6FE42619}"/>
              </a:ext>
            </a:extLst>
          </p:cNvPr>
          <p:cNvSpPr txBox="1"/>
          <p:nvPr/>
        </p:nvSpPr>
        <p:spPr>
          <a:xfrm>
            <a:off x="5051884" y="4355670"/>
            <a:ext cx="2088232" cy="276999"/>
          </a:xfrm>
          <a:prstGeom prst="rect">
            <a:avLst/>
          </a:prstGeom>
          <a:noFill/>
        </p:spPr>
        <p:txBody>
          <a:bodyPr wrap="square">
            <a:spAutoFit/>
          </a:bodyPr>
          <a:lstStyle/>
          <a:p>
            <a:r>
              <a:rPr lang="en-CA" sz="1200" dirty="0">
                <a:effectLst/>
              </a:rPr>
              <a:t>DILBERT © 2003 Scott Adams</a:t>
            </a:r>
            <a:endParaRPr lang="en-CA" sz="1200" dirty="0"/>
          </a:p>
        </p:txBody>
      </p:sp>
    </p:spTree>
    <p:extLst>
      <p:ext uri="{BB962C8B-B14F-4D97-AF65-F5344CB8AC3E}">
        <p14:creationId xmlns:p14="http://schemas.microsoft.com/office/powerpoint/2010/main" val="9300522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One part of the Agile development process</a:t>
            </a:r>
          </a:p>
          <a:p>
            <a:r>
              <a:rPr lang="en-US" dirty="0"/>
              <a:t>Based on:</a:t>
            </a:r>
          </a:p>
          <a:p>
            <a:pPr lvl="1"/>
            <a:r>
              <a:rPr lang="en-US" dirty="0"/>
              <a:t>Feedback, roles, transparency, meetings, prioritization and planning</a:t>
            </a:r>
          </a:p>
          <a:p>
            <a:r>
              <a:rPr lang="en-US" dirty="0"/>
              <a:t>Like classic engineering management, and is often used onsite in civil engineering and software development</a:t>
            </a:r>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67</a:t>
            </a:fld>
            <a:endParaRPr lang="en-US"/>
          </a:p>
        </p:txBody>
      </p:sp>
    </p:spTree>
    <p:extLst>
      <p:ext uri="{BB962C8B-B14F-4D97-AF65-F5344CB8AC3E}">
        <p14:creationId xmlns:p14="http://schemas.microsoft.com/office/powerpoint/2010/main" val="18018203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Roles:</a:t>
            </a:r>
          </a:p>
          <a:p>
            <a:pPr lvl="1"/>
            <a:r>
              <a:rPr lang="en-US" dirty="0"/>
              <a:t>Scrum master</a:t>
            </a:r>
          </a:p>
          <a:p>
            <a:pPr lvl="2"/>
            <a:r>
              <a:rPr lang="en-US" dirty="0"/>
              <a:t>Acts as a coach, meeting facilitator, and administrator</a:t>
            </a:r>
          </a:p>
          <a:p>
            <a:pPr lvl="2"/>
            <a:r>
              <a:rPr lang="en-US" dirty="0"/>
              <a:t>Knows the process (Agile, XP, etc.)</a:t>
            </a:r>
          </a:p>
          <a:p>
            <a:pPr lvl="2"/>
            <a:r>
              <a:rPr lang="en-US" dirty="0"/>
              <a:t>Protects the team from distractions and helps them follow Scrum</a:t>
            </a:r>
          </a:p>
          <a:p>
            <a:pPr lvl="1"/>
            <a:r>
              <a:rPr lang="en-US" dirty="0"/>
              <a:t>Product owner</a:t>
            </a:r>
          </a:p>
          <a:p>
            <a:pPr lvl="2"/>
            <a:r>
              <a:rPr lang="en-US" dirty="0"/>
              <a:t>Represents the customer</a:t>
            </a:r>
          </a:p>
          <a:p>
            <a:pPr lvl="2"/>
            <a:r>
              <a:rPr lang="en-US" dirty="0"/>
              <a:t>Defines product backlog</a:t>
            </a:r>
          </a:p>
          <a:p>
            <a:pPr lvl="1"/>
            <a:r>
              <a:rPr lang="en-US" dirty="0"/>
              <a:t>Team members</a:t>
            </a:r>
          </a:p>
          <a:p>
            <a:pPr lvl="2"/>
            <a:r>
              <a:rPr lang="en-US" dirty="0"/>
              <a:t>Write code</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68</a:t>
            </a:fld>
            <a:endParaRPr lang="en-US"/>
          </a:p>
        </p:txBody>
      </p:sp>
    </p:spTree>
    <p:extLst>
      <p:ext uri="{BB962C8B-B14F-4D97-AF65-F5344CB8AC3E}">
        <p14:creationId xmlns:p14="http://schemas.microsoft.com/office/powerpoint/2010/main" val="35949347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Meetings:</a:t>
            </a:r>
          </a:p>
          <a:p>
            <a:pPr lvl="1"/>
            <a:r>
              <a:rPr lang="en-US" dirty="0"/>
              <a:t>Many per iteration</a:t>
            </a:r>
          </a:p>
          <a:p>
            <a:pPr lvl="2"/>
            <a:r>
              <a:rPr lang="en-US" dirty="0"/>
              <a:t>Daily scrum</a:t>
            </a:r>
          </a:p>
          <a:p>
            <a:pPr lvl="1"/>
            <a:r>
              <a:rPr lang="en-US" dirty="0"/>
              <a:t>Once per iteration</a:t>
            </a:r>
          </a:p>
          <a:p>
            <a:pPr lvl="2"/>
            <a:r>
              <a:rPr lang="en-US" dirty="0"/>
              <a:t>Planning meeting</a:t>
            </a:r>
          </a:p>
          <a:p>
            <a:pPr lvl="2"/>
            <a:r>
              <a:rPr lang="en-US" dirty="0"/>
              <a:t>Review</a:t>
            </a:r>
          </a:p>
          <a:p>
            <a:pPr lvl="2"/>
            <a:r>
              <a:rPr lang="en-US" dirty="0"/>
              <a:t>Retrospective</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69</a:t>
            </a:fld>
            <a:endParaRPr lang="en-US"/>
          </a:p>
        </p:txBody>
      </p:sp>
    </p:spTree>
    <p:extLst>
      <p:ext uri="{BB962C8B-B14F-4D97-AF65-F5344CB8AC3E}">
        <p14:creationId xmlns:p14="http://schemas.microsoft.com/office/powerpoint/2010/main" val="42062888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Daily scrum:</a:t>
            </a:r>
          </a:p>
          <a:p>
            <a:pPr lvl="1"/>
            <a:r>
              <a:rPr lang="en-US" dirty="0"/>
              <a:t>AKA daily “standup”</a:t>
            </a:r>
          </a:p>
          <a:p>
            <a:pPr lvl="2"/>
            <a:r>
              <a:rPr lang="en-US" dirty="0"/>
              <a:t>Time limited</a:t>
            </a:r>
          </a:p>
          <a:p>
            <a:pPr lvl="2"/>
            <a:r>
              <a:rPr lang="en-US" dirty="0"/>
              <a:t>Everyone is standing, so they are more uncomfortable and want to finish soon</a:t>
            </a:r>
          </a:p>
          <a:p>
            <a:pPr lvl="1"/>
            <a:r>
              <a:rPr lang="en-US" dirty="0"/>
              <a:t>Each team member answers 3 questions:</a:t>
            </a:r>
          </a:p>
          <a:p>
            <a:pPr lvl="2"/>
            <a:r>
              <a:rPr lang="en-US" dirty="0"/>
              <a:t>What did you do?</a:t>
            </a:r>
          </a:p>
          <a:p>
            <a:pPr lvl="2"/>
            <a:r>
              <a:rPr lang="en-US" dirty="0"/>
              <a:t>What are you going to do?</a:t>
            </a:r>
          </a:p>
          <a:p>
            <a:pPr lvl="2"/>
            <a:r>
              <a:rPr lang="en-US" dirty="0"/>
              <a:t>What is blocking you?</a:t>
            </a:r>
          </a:p>
          <a:p>
            <a:pPr lvl="1"/>
            <a:endParaRPr lang="en-US" dirty="0"/>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70</a:t>
            </a:fld>
            <a:endParaRPr lang="en-US"/>
          </a:p>
        </p:txBody>
      </p:sp>
    </p:spTree>
    <p:extLst>
      <p:ext uri="{BB962C8B-B14F-4D97-AF65-F5344CB8AC3E}">
        <p14:creationId xmlns:p14="http://schemas.microsoft.com/office/powerpoint/2010/main" val="32177570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Planning meeting:</a:t>
            </a:r>
          </a:p>
          <a:p>
            <a:pPr lvl="1"/>
            <a:r>
              <a:rPr lang="en-US" dirty="0"/>
              <a:t>First meeting of the iteration (only on first day)</a:t>
            </a:r>
          </a:p>
          <a:p>
            <a:pPr lvl="1"/>
            <a:r>
              <a:rPr lang="en-US" dirty="0"/>
              <a:t>Input: requirements and user stories</a:t>
            </a:r>
          </a:p>
          <a:p>
            <a:pPr lvl="1"/>
            <a:r>
              <a:rPr lang="en-US" dirty="0"/>
              <a:t>Output: choose appropriate stories to work on next</a:t>
            </a:r>
          </a:p>
          <a:p>
            <a:pPr lvl="2"/>
            <a:r>
              <a:rPr lang="en-US" dirty="0"/>
              <a:t>Estimate their cost in time</a:t>
            </a:r>
          </a:p>
          <a:p>
            <a:pPr lvl="2"/>
            <a:r>
              <a:rPr lang="en-US" dirty="0"/>
              <a:t>Prioritize them</a:t>
            </a:r>
          </a:p>
          <a:p>
            <a:pPr lvl="2"/>
            <a:r>
              <a:rPr lang="en-US" dirty="0"/>
              <a:t>Fit them into the time left for the iteration</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71</a:t>
            </a:fld>
            <a:endParaRPr lang="en-US"/>
          </a:p>
        </p:txBody>
      </p:sp>
    </p:spTree>
    <p:extLst>
      <p:ext uri="{BB962C8B-B14F-4D97-AF65-F5344CB8AC3E}">
        <p14:creationId xmlns:p14="http://schemas.microsoft.com/office/powerpoint/2010/main" val="6994083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Review:</a:t>
            </a:r>
          </a:p>
          <a:p>
            <a:pPr lvl="1"/>
            <a:r>
              <a:rPr lang="en-US" dirty="0"/>
              <a:t>Review work completed</a:t>
            </a:r>
          </a:p>
          <a:p>
            <a:pPr lvl="1"/>
            <a:r>
              <a:rPr lang="en-US" dirty="0"/>
              <a:t>Review work not completed</a:t>
            </a:r>
          </a:p>
          <a:p>
            <a:pPr lvl="1"/>
            <a:r>
              <a:rPr lang="en-US" dirty="0"/>
              <a:t>Adjust and prioritize </a:t>
            </a:r>
          </a:p>
          <a:p>
            <a:pPr lvl="1"/>
            <a:r>
              <a:rPr lang="en-US" dirty="0"/>
              <a:t>Demonstrate current system</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72</a:t>
            </a:fld>
            <a:endParaRPr lang="en-US"/>
          </a:p>
        </p:txBody>
      </p:sp>
    </p:spTree>
    <p:extLst>
      <p:ext uri="{BB962C8B-B14F-4D97-AF65-F5344CB8AC3E}">
        <p14:creationId xmlns:p14="http://schemas.microsoft.com/office/powerpoint/2010/main" val="12993222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dirty="0"/>
              <a:t>Retrospective:</a:t>
            </a:r>
          </a:p>
          <a:p>
            <a:pPr lvl="1"/>
            <a:r>
              <a:rPr lang="en-US" dirty="0"/>
              <a:t>Review issues faced with quality and personnel</a:t>
            </a:r>
          </a:p>
          <a:p>
            <a:pPr lvl="1"/>
            <a:r>
              <a:rPr lang="en-US" dirty="0"/>
              <a:t>Try to improve the process</a:t>
            </a:r>
          </a:p>
          <a:p>
            <a:pPr lvl="1"/>
            <a:r>
              <a:rPr lang="en-US" dirty="0"/>
              <a:t>What went well?</a:t>
            </a:r>
          </a:p>
          <a:p>
            <a:pPr lvl="1"/>
            <a:r>
              <a:rPr lang="en-US" dirty="0"/>
              <a:t>What could be improved?</a:t>
            </a:r>
          </a:p>
          <a:p>
            <a:pPr lvl="1"/>
            <a:r>
              <a:rPr lang="en-US" dirty="0"/>
              <a:t>Stay calm</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73</a:t>
            </a:fld>
            <a:endParaRPr lang="en-US"/>
          </a:p>
        </p:txBody>
      </p:sp>
    </p:spTree>
    <p:extLst>
      <p:ext uri="{BB962C8B-B14F-4D97-AF65-F5344CB8AC3E}">
        <p14:creationId xmlns:p14="http://schemas.microsoft.com/office/powerpoint/2010/main" val="879202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Information</a:t>
            </a:r>
          </a:p>
        </p:txBody>
      </p:sp>
      <p:sp>
        <p:nvSpPr>
          <p:cNvPr id="3" name="Content Placeholder 2"/>
          <p:cNvSpPr>
            <a:spLocks noGrp="1"/>
          </p:cNvSpPr>
          <p:nvPr>
            <p:ph idx="1"/>
          </p:nvPr>
        </p:nvSpPr>
        <p:spPr/>
        <p:txBody>
          <a:bodyPr/>
          <a:lstStyle/>
          <a:p>
            <a:r>
              <a:rPr lang="en-US" dirty="0"/>
              <a:t>Articles:</a:t>
            </a:r>
          </a:p>
          <a:p>
            <a:pPr lvl="1"/>
            <a:r>
              <a:rPr lang="en-US" dirty="0"/>
              <a:t>“A Rational Design Process: How and Why to Fake It”</a:t>
            </a:r>
          </a:p>
          <a:p>
            <a:pPr lvl="2"/>
            <a:r>
              <a:rPr lang="en-US" dirty="0"/>
              <a:t>D. L. </a:t>
            </a:r>
            <a:r>
              <a:rPr lang="en-US" dirty="0" err="1"/>
              <a:t>Parnas</a:t>
            </a:r>
            <a:r>
              <a:rPr lang="en-US" dirty="0"/>
              <a:t> and P. C. Clements</a:t>
            </a:r>
          </a:p>
          <a:p>
            <a:pPr lvl="2"/>
            <a:r>
              <a:rPr lang="en-US" dirty="0"/>
              <a:t>IEEE TSE, 12(2), 1986</a:t>
            </a:r>
          </a:p>
          <a:p>
            <a:pPr lvl="1"/>
            <a:r>
              <a:rPr lang="en-US" dirty="0"/>
              <a:t>“Software Development Worldwide: The State of the Practice”</a:t>
            </a:r>
          </a:p>
          <a:p>
            <a:pPr lvl="2"/>
            <a:r>
              <a:rPr lang="en-US" dirty="0"/>
              <a:t>M. </a:t>
            </a:r>
            <a:r>
              <a:rPr lang="en-US" dirty="0" err="1"/>
              <a:t>Cusumano</a:t>
            </a:r>
            <a:r>
              <a:rPr lang="en-US" dirty="0"/>
              <a:t>, A. MacCormack, C. F. </a:t>
            </a:r>
            <a:r>
              <a:rPr lang="en-US" dirty="0" err="1"/>
              <a:t>Kemerer</a:t>
            </a:r>
            <a:r>
              <a:rPr lang="en-US" dirty="0"/>
              <a:t>, and W. Crandall</a:t>
            </a:r>
          </a:p>
          <a:p>
            <a:pPr lvl="2"/>
            <a:r>
              <a:rPr lang="en-US" dirty="0"/>
              <a:t>IEEE Software, November/December 2003</a:t>
            </a:r>
          </a:p>
          <a:p>
            <a:pPr lvl="1"/>
            <a:r>
              <a:rPr lang="en-US" dirty="0"/>
              <a:t>“How Microsoft Builds Software”</a:t>
            </a:r>
          </a:p>
          <a:p>
            <a:pPr lvl="2"/>
            <a:r>
              <a:rPr lang="en-US" dirty="0"/>
              <a:t>M.A. Cusumano and R.W. Selby</a:t>
            </a:r>
          </a:p>
          <a:p>
            <a:pPr lvl="2"/>
            <a:r>
              <a:rPr lang="en-US" dirty="0"/>
              <a:t>Comm. ACM, 4(6), 1997</a:t>
            </a:r>
          </a:p>
          <a:p>
            <a:pPr lvl="1"/>
            <a:endParaRPr lang="en-US" dirty="0"/>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74</a:t>
            </a:fld>
            <a:endParaRPr lang="en-US"/>
          </a:p>
        </p:txBody>
      </p:sp>
    </p:spTree>
    <p:extLst>
      <p:ext uri="{BB962C8B-B14F-4D97-AF65-F5344CB8AC3E}">
        <p14:creationId xmlns:p14="http://schemas.microsoft.com/office/powerpoint/2010/main" val="18348647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Information</a:t>
            </a:r>
          </a:p>
        </p:txBody>
      </p:sp>
      <p:sp>
        <p:nvSpPr>
          <p:cNvPr id="3" name="Content Placeholder 2"/>
          <p:cNvSpPr>
            <a:spLocks noGrp="1"/>
          </p:cNvSpPr>
          <p:nvPr>
            <p:ph idx="1"/>
          </p:nvPr>
        </p:nvSpPr>
        <p:spPr>
          <a:xfrm>
            <a:off x="838200" y="1825625"/>
            <a:ext cx="10515600" cy="4895850"/>
          </a:xfrm>
        </p:spPr>
        <p:txBody>
          <a:bodyPr>
            <a:normAutofit/>
          </a:bodyPr>
          <a:lstStyle/>
          <a:p>
            <a:r>
              <a:rPr lang="en-US" dirty="0"/>
              <a:t>Books:</a:t>
            </a:r>
          </a:p>
          <a:p>
            <a:pPr lvl="1"/>
            <a:r>
              <a:rPr lang="en-US" dirty="0"/>
              <a:t>Software Project Survival Guide</a:t>
            </a:r>
          </a:p>
          <a:p>
            <a:pPr lvl="2"/>
            <a:r>
              <a:rPr lang="en-US" dirty="0"/>
              <a:t>S. McConnell</a:t>
            </a:r>
          </a:p>
          <a:p>
            <a:pPr lvl="2"/>
            <a:r>
              <a:rPr lang="en-US" dirty="0"/>
              <a:t>Microsoft Press, 1998</a:t>
            </a:r>
          </a:p>
          <a:p>
            <a:pPr lvl="1"/>
            <a:r>
              <a:rPr lang="en-US" dirty="0"/>
              <a:t>The Build Master</a:t>
            </a:r>
          </a:p>
          <a:p>
            <a:pPr lvl="2"/>
            <a:r>
              <a:rPr lang="en-US" dirty="0"/>
              <a:t>V. </a:t>
            </a:r>
            <a:r>
              <a:rPr lang="en-US" dirty="0" err="1"/>
              <a:t>Maraia</a:t>
            </a:r>
            <a:endParaRPr lang="en-US" dirty="0"/>
          </a:p>
          <a:p>
            <a:pPr lvl="2"/>
            <a:r>
              <a:rPr lang="en-US" dirty="0"/>
              <a:t>Addison-Wesley, 2005</a:t>
            </a:r>
          </a:p>
          <a:p>
            <a:pPr lvl="1"/>
            <a:r>
              <a:rPr lang="en-US" dirty="0"/>
              <a:t>Extreme Programming Explained</a:t>
            </a:r>
          </a:p>
          <a:p>
            <a:pPr lvl="2"/>
            <a:r>
              <a:rPr lang="en-US" dirty="0"/>
              <a:t>K. Beck</a:t>
            </a:r>
          </a:p>
          <a:p>
            <a:pPr lvl="2"/>
            <a:r>
              <a:rPr lang="en-US" dirty="0"/>
              <a:t>Addison-Wesley, 2004</a:t>
            </a:r>
          </a:p>
          <a:p>
            <a:pPr lvl="1"/>
            <a:r>
              <a:rPr lang="en-US" dirty="0"/>
              <a:t>Pair Programming Illuminated</a:t>
            </a:r>
          </a:p>
          <a:p>
            <a:pPr lvl="2"/>
            <a:r>
              <a:rPr lang="en-US" dirty="0"/>
              <a:t>L. Williams and R. Kessler</a:t>
            </a:r>
          </a:p>
          <a:p>
            <a:pPr lvl="2"/>
            <a:r>
              <a:rPr lang="en-US" dirty="0"/>
              <a:t>Addison-Wesley, 2002</a:t>
            </a:r>
          </a:p>
        </p:txBody>
      </p:sp>
      <p:sp>
        <p:nvSpPr>
          <p:cNvPr id="4" name="Slide Number Placeholder 3"/>
          <p:cNvSpPr>
            <a:spLocks noGrp="1"/>
          </p:cNvSpPr>
          <p:nvPr>
            <p:ph type="sldNum" sz="quarter" idx="12"/>
          </p:nvPr>
        </p:nvSpPr>
        <p:spPr/>
        <p:txBody>
          <a:bodyPr/>
          <a:lstStyle/>
          <a:p>
            <a:pPr>
              <a:defRPr/>
            </a:pPr>
            <a:fld id="{919D8D21-FB71-5C4A-B7A1-9C348DF30C80}" type="slidenum">
              <a:rPr lang="en-US" smtClean="0"/>
              <a:pPr>
                <a:defRPr/>
              </a:pPr>
              <a:t>75</a:t>
            </a:fld>
            <a:endParaRPr lang="en-US"/>
          </a:p>
        </p:txBody>
      </p:sp>
    </p:spTree>
    <p:extLst>
      <p:ext uri="{BB962C8B-B14F-4D97-AF65-F5344CB8AC3E}">
        <p14:creationId xmlns:p14="http://schemas.microsoft.com/office/powerpoint/2010/main" val="1684987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29371</TotalTime>
  <Words>3725</Words>
  <Application>Microsoft Macintosh PowerPoint</Application>
  <PresentationFormat>Widescreen</PresentationFormat>
  <Paragraphs>881</Paragraphs>
  <Slides>75</Slides>
  <Notes>58</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Times</vt:lpstr>
      <vt:lpstr>Arial</vt:lpstr>
      <vt:lpstr>Corbel</vt:lpstr>
      <vt:lpstr>Gill Sans MT</vt:lpstr>
      <vt:lpstr>Verdana</vt:lpstr>
      <vt:lpstr>Office Theme</vt:lpstr>
      <vt:lpstr>Software Process</vt:lpstr>
      <vt:lpstr>What Makes a Process?</vt:lpstr>
      <vt:lpstr>Software Development Processes</vt:lpstr>
      <vt:lpstr>Developer Perspective</vt:lpstr>
      <vt:lpstr>User Perspective</vt:lpstr>
      <vt:lpstr>User Perspective</vt:lpstr>
      <vt:lpstr>Meeting Needs</vt:lpstr>
      <vt:lpstr>Discussion</vt:lpstr>
      <vt:lpstr>Waterfall</vt:lpstr>
      <vt:lpstr>Waterfall Lifecycle Model</vt:lpstr>
      <vt:lpstr>Discussion</vt:lpstr>
      <vt:lpstr>Waterfall</vt:lpstr>
      <vt:lpstr>Waterfall</vt:lpstr>
      <vt:lpstr>Waterfall</vt:lpstr>
      <vt:lpstr>Prototyping</vt:lpstr>
      <vt:lpstr>Meeting Needs</vt:lpstr>
      <vt:lpstr>Prototyping</vt:lpstr>
      <vt:lpstr>Throwaway Prototyping</vt:lpstr>
      <vt:lpstr>Throwaway Prototyping</vt:lpstr>
      <vt:lpstr>Throwaway Prototyping</vt:lpstr>
      <vt:lpstr>Incremental Prototyping</vt:lpstr>
      <vt:lpstr>Evolutionary Prototyping</vt:lpstr>
      <vt:lpstr>Other Kinds of Prototypes</vt:lpstr>
      <vt:lpstr>Other Kinds of Prototypes</vt:lpstr>
      <vt:lpstr>PowerPoint Presentation</vt:lpstr>
      <vt:lpstr>Other Kinds of Prototypes</vt:lpstr>
      <vt:lpstr>PowerPoint Presentation</vt:lpstr>
      <vt:lpstr>Other Kinds of Prototypes</vt:lpstr>
      <vt:lpstr>Staged Delivery</vt:lpstr>
      <vt:lpstr>Staged Delivery</vt:lpstr>
      <vt:lpstr>Staggered Builds</vt:lpstr>
      <vt:lpstr>Staged Delivery</vt:lpstr>
      <vt:lpstr>Staged Delivery</vt:lpstr>
      <vt:lpstr>PowerPoint Presentation</vt:lpstr>
      <vt:lpstr>Microsoft Daily Build</vt:lpstr>
      <vt:lpstr>Microsoft Daily Build</vt:lpstr>
      <vt:lpstr>Unified Process</vt:lpstr>
      <vt:lpstr>Agile Practices</vt:lpstr>
      <vt:lpstr>“Agile Manifesto”</vt:lpstr>
      <vt:lpstr>Agile Principles</vt:lpstr>
      <vt:lpstr>Agile Principles</vt:lpstr>
      <vt:lpstr>Agile Principles</vt:lpstr>
      <vt:lpstr>Agile Principles</vt:lpstr>
      <vt:lpstr>Agile Principles</vt:lpstr>
      <vt:lpstr>Prioritizing Stories (Features)</vt:lpstr>
      <vt:lpstr>Prioritizing Stories (Features)</vt:lpstr>
      <vt:lpstr>Prioritizing Stories (Features)</vt:lpstr>
      <vt:lpstr>Prioritizing Stories (Features)</vt:lpstr>
      <vt:lpstr>Estimating Cost</vt:lpstr>
      <vt:lpstr>Estimating Cost</vt:lpstr>
      <vt:lpstr>eXtreme Programming (XP)</vt:lpstr>
      <vt:lpstr>XP</vt:lpstr>
      <vt:lpstr>XP</vt:lpstr>
      <vt:lpstr>XP</vt:lpstr>
      <vt:lpstr>XP</vt:lpstr>
      <vt:lpstr>XP</vt:lpstr>
      <vt:lpstr>XP</vt:lpstr>
      <vt:lpstr>XP</vt:lpstr>
      <vt:lpstr>XP</vt:lpstr>
      <vt:lpstr>XP</vt:lpstr>
      <vt:lpstr>“Pair Programming”</vt:lpstr>
      <vt:lpstr>Discussion</vt:lpstr>
      <vt:lpstr>Pair Programming</vt:lpstr>
      <vt:lpstr>Pair Programming</vt:lpstr>
      <vt:lpstr>Pair Programming</vt:lpstr>
      <vt:lpstr>“Agile Programming”</vt:lpstr>
      <vt:lpstr>Scrum</vt:lpstr>
      <vt:lpstr>Scrum</vt:lpstr>
      <vt:lpstr>Scrum</vt:lpstr>
      <vt:lpstr>Scrum</vt:lpstr>
      <vt:lpstr>Scrum</vt:lpstr>
      <vt:lpstr>Scrum</vt:lpstr>
      <vt:lpstr>Scrum</vt:lpstr>
      <vt:lpstr>More Information</vt:lpstr>
      <vt:lpstr>More Information</vt:lpstr>
    </vt:vector>
  </TitlesOfParts>
  <Manager/>
  <Company>University of Alberta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dc:title>
  <dc:subject/>
  <dc:creator>Kenny Wong</dc:creator>
  <cp:keywords/>
  <dc:description/>
  <cp:lastModifiedBy>Raj Prasad</cp:lastModifiedBy>
  <cp:revision>428</cp:revision>
  <cp:lastPrinted>2000-01-17T05:36:58Z</cp:lastPrinted>
  <dcterms:created xsi:type="dcterms:W3CDTF">2000-10-10T21:38:40Z</dcterms:created>
  <dcterms:modified xsi:type="dcterms:W3CDTF">2026-05-12T17:48:35Z</dcterms:modified>
  <cp:category/>
</cp:coreProperties>
</file>